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18"/>
  </p:notesMasterIdLst>
  <p:sldIdLst>
    <p:sldId id="256" r:id="rId2"/>
    <p:sldId id="992" r:id="rId3"/>
    <p:sldId id="993" r:id="rId4"/>
    <p:sldId id="994" r:id="rId5"/>
    <p:sldId id="995" r:id="rId6"/>
    <p:sldId id="1003" r:id="rId7"/>
    <p:sldId id="996" r:id="rId8"/>
    <p:sldId id="997" r:id="rId9"/>
    <p:sldId id="1000" r:id="rId10"/>
    <p:sldId id="1002" r:id="rId11"/>
    <p:sldId id="1001" r:id="rId12"/>
    <p:sldId id="998" r:id="rId13"/>
    <p:sldId id="1004" r:id="rId14"/>
    <p:sldId id="1005" r:id="rId15"/>
    <p:sldId id="999" r:id="rId16"/>
    <p:sldId id="267" r:id="rId17"/>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7CB"/>
    <a:srgbClr val="F2CFEE"/>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380"/>
    <p:restoredTop sz="86928" autoAdjust="0"/>
  </p:normalViewPr>
  <p:slideViewPr>
    <p:cSldViewPr snapToGrid="0">
      <p:cViewPr varScale="1">
        <p:scale>
          <a:sx n="71" d="100"/>
          <a:sy n="71" d="100"/>
        </p:scale>
        <p:origin x="55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י"ד/תמוז/תשפ"ה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marL="0" indent="0">
              <a:buNone/>
            </a:pPr>
            <a:r>
              <a:rPr lang="he-IL" dirty="0"/>
              <a:t>שקופית 2 מתחילים משינויי רגולציה כי היום ידוע שרוב ההבדלים </a:t>
            </a:r>
            <a:r>
              <a:rPr lang="he-IL" dirty="0" err="1"/>
              <a:t>הפנוטיפיים</a:t>
            </a:r>
            <a:r>
              <a:rPr lang="he-IL" dirty="0"/>
              <a:t> בין מינים קרובים הם תוצאה של שינויי </a:t>
            </a:r>
            <a:r>
              <a:rPr lang="en-US" dirty="0"/>
              <a:t>expression</a:t>
            </a:r>
            <a:r>
              <a:rPr lang="he-IL" dirty="0"/>
              <a:t>. להסביר איך </a:t>
            </a:r>
            <a:r>
              <a:rPr lang="he-IL" dirty="0" err="1"/>
              <a:t>בודקיםש</a:t>
            </a:r>
            <a:r>
              <a:rPr lang="he-IL" dirty="0"/>
              <a:t> </a:t>
            </a:r>
            <a:r>
              <a:rPr lang="he-IL" dirty="0" err="1"/>
              <a:t>ינויי</a:t>
            </a:r>
            <a:r>
              <a:rPr lang="he-IL" dirty="0"/>
              <a:t> רגולציה – להציג את הדאטה של </a:t>
            </a:r>
            <a:r>
              <a:rPr lang="he-IL" dirty="0" err="1"/>
              <a:t>ההיברידיפ</a:t>
            </a:r>
            <a:r>
              <a:rPr lang="he-IL" dirty="0"/>
              <a:t>. למה ששינויי רגולציה יהיו הסיבה? מהיר מדי / </a:t>
            </a:r>
            <a:r>
              <a:rPr lang="en-US" dirty="0"/>
              <a:t>tradeoff</a:t>
            </a:r>
            <a:r>
              <a:rPr lang="he-IL" dirty="0"/>
              <a:t> / הצטברות של המון דברים שהם כמעט-</a:t>
            </a:r>
            <a:r>
              <a:rPr lang="he-IL" dirty="0" err="1"/>
              <a:t>ניטרלים</a:t>
            </a:r>
            <a:r>
              <a:rPr lang="he-IL" dirty="0"/>
              <a:t>. במה זה מתבטא? מחלות אולי יהיו עם יותר שינויים לעומת שאר הגנום, או שינויים קיצוניים יותר ולכן קשה לתקן (להוסיף קונטרול – כמה </a:t>
            </a:r>
            <a:r>
              <a:rPr lang="en-US" dirty="0"/>
              <a:t>ASE </a:t>
            </a:r>
            <a:r>
              <a:rPr lang="he-IL" dirty="0"/>
              <a:t>לעומת כל הגנים שקשורים לסוכרת? = כדי להבדיל בין הבדלים שקשורים למחלה סתם לבין דברים שקשורים דווקא </a:t>
            </a:r>
            <a:r>
              <a:rPr lang="he-IL" dirty="0" err="1"/>
              <a:t>להיומן</a:t>
            </a:r>
            <a:r>
              <a:rPr lang="he-IL" dirty="0"/>
              <a:t> </a:t>
            </a:r>
            <a:r>
              <a:rPr lang="he-IL" dirty="0" err="1"/>
              <a:t>ספסיפיק</a:t>
            </a:r>
            <a:r>
              <a:rPr lang="he-IL" dirty="0"/>
              <a:t>) </a:t>
            </a:r>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marL="0" indent="0">
              <a:buNone/>
            </a:pPr>
            <a:r>
              <a:rPr lang="he-IL" dirty="0"/>
              <a:t>הסתכלנו על כל המחלות, מצאנו מה </a:t>
            </a:r>
            <a:r>
              <a:rPr lang="en-US" dirty="0" err="1"/>
              <a:t>celltype</a:t>
            </a:r>
            <a:r>
              <a:rPr lang="he-IL" dirty="0"/>
              <a:t> רלוונטי, המשכנו רק עם אלה שיש דאטה של היברידים מתאים.</a:t>
            </a:r>
          </a:p>
          <a:p>
            <a:pPr marL="0" indent="0">
              <a:buNone/>
            </a:pPr>
            <a:r>
              <a:rPr lang="he-IL" dirty="0"/>
              <a:t>זו שקופית קצרה – לקח הרבה זמן אבל לא מאוד מעניין מבחינת הקורס אז אין שום סיבה להתעכב על זה יותר מדי. </a:t>
            </a:r>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marL="0" indent="0">
              <a:buNone/>
            </a:pPr>
            <a:r>
              <a:rPr lang="he-IL" dirty="0"/>
              <a:t>מה מחפשים? שינויי ביטוי שהם שונים מהטרנד הכללי של כל הדאטה  = מחפשים סיגנלים של עודף שינויים (יותר </a:t>
            </a:r>
            <a:r>
              <a:rPr lang="en-US" dirty="0"/>
              <a:t>ASE</a:t>
            </a:r>
            <a:r>
              <a:rPr lang="he-IL" dirty="0"/>
              <a:t>). יכול להיות </a:t>
            </a:r>
            <a:r>
              <a:rPr lang="he-IL" dirty="0" err="1"/>
              <a:t>שישארלו</a:t>
            </a:r>
            <a:r>
              <a:rPr lang="he-IL" dirty="0"/>
              <a:t> למה מה שגורם את המחלה זה לא הסניפים – להסביר שאנחנו מנסים להבין מה גורם לנו להיות רגישים לשינויים שב</a:t>
            </a:r>
            <a:r>
              <a:rPr lang="en-US" dirty="0"/>
              <a:t>GWAS</a:t>
            </a:r>
            <a:r>
              <a:rPr lang="he-IL" dirty="0"/>
              <a:t>. להשתמש </a:t>
            </a:r>
            <a:r>
              <a:rPr lang="he-IL" dirty="0" err="1"/>
              <a:t>באינפוגרפיקה</a:t>
            </a:r>
            <a:r>
              <a:rPr lang="he-IL" dirty="0"/>
              <a:t> של </a:t>
            </a:r>
            <a:r>
              <a:rPr lang="en-US" dirty="0" err="1"/>
              <a:t>cliffegde</a:t>
            </a:r>
            <a:r>
              <a:rPr lang="he-IL" dirty="0"/>
              <a:t> ובהסבר של </a:t>
            </a:r>
            <a:r>
              <a:rPr lang="en-US" dirty="0"/>
              <a:t>BRCA1</a:t>
            </a:r>
            <a:endParaRPr lang="he-IL"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en-US" dirty="0"/>
              <a:t>Show results of schizophrenia</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264229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jpe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0.jpeg"/></Relationships>
</file>

<file path=ppt/slides/_rels/slide16.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evolution of human-specific disease</a:t>
            </a:r>
            <a:endParaRPr lang="he-IL" b="1"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644506" y="2555978"/>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How to we study regulatory changes?</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3081932" y="3553316"/>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550070" y="3553316"/>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302290" y="86748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2914649" y="1066343"/>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938528" y="2495257"/>
            <a:ext cx="4245003" cy="4327997"/>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7474382" y="4621486"/>
            <a:ext cx="633409" cy="591601"/>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9126258" y="4849041"/>
            <a:ext cx="633409" cy="289793"/>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8184607" y="4621486"/>
            <a:ext cx="633409" cy="591601"/>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866983" y="4851128"/>
            <a:ext cx="633409" cy="289793"/>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4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0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Filter disease list based on our available data</a:t>
            </a:r>
            <a:endParaRPr lang="he-IL" dirty="0"/>
          </a:p>
        </p:txBody>
      </p:sp>
      <p:pic>
        <p:nvPicPr>
          <p:cNvPr id="4" name="Picture 6" descr="‪How to search for literature? – JEPS Bulletin‬‏">
            <a:extLst>
              <a:ext uri="{FF2B5EF4-FFF2-40B4-BE49-F238E27FC236}">
                <a16:creationId xmlns:a16="http://schemas.microsoft.com/office/drawing/2014/main" id="{5813BF8E-8145-29F4-BB85-BF402C068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26141" y="1880787"/>
            <a:ext cx="3999694" cy="4612088"/>
          </a:xfrm>
          <a:prstGeom prst="rect">
            <a:avLst/>
          </a:prstGeom>
          <a:noFill/>
          <a:extLst>
            <a:ext uri="{909E8E84-426E-40DD-AFC4-6F175D3DCCD1}">
              <a14:hiddenFill xmlns:a14="http://schemas.microsoft.com/office/drawing/2010/main">
                <a:solidFill>
                  <a:srgbClr val="FFFFFF"/>
                </a:solidFill>
              </a14:hiddenFill>
            </a:ext>
          </a:extLst>
        </p:spPr>
      </p:pic>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Get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Check if we have relevant hybrid data</a:t>
            </a:r>
          </a:p>
          <a:p>
            <a:pPr marL="514350" indent="-514350" algn="l" rtl="0">
              <a:buFont typeface="+mj-lt"/>
              <a:buAutoNum type="arabicPeriod"/>
            </a:pPr>
            <a:endParaRPr lang="en-US" b="1" i="1" dirty="0"/>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sp>
        <p:nvSpPr>
          <p:cNvPr id="3" name="מציין מיקום תוכן 2">
            <a:extLst>
              <a:ext uri="{FF2B5EF4-FFF2-40B4-BE49-F238E27FC236}">
                <a16:creationId xmlns:a16="http://schemas.microsoft.com/office/drawing/2014/main" id="{CA974644-EF9E-737F-9A7E-A2A7F80752E9}"/>
              </a:ext>
            </a:extLst>
          </p:cNvPr>
          <p:cNvSpPr>
            <a:spLocks noGrp="1"/>
          </p:cNvSpPr>
          <p:nvPr>
            <p:ph idx="1"/>
          </p:nvPr>
        </p:nvSpPr>
        <p:spPr/>
        <p:txBody>
          <a:bodyPr/>
          <a:lstStyle/>
          <a:p>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89788" y="2680352"/>
            <a:ext cx="6140103" cy="3692750"/>
          </a:xfrm>
          <a:prstGeom prst="rect">
            <a:avLst/>
          </a:prstGeom>
        </p:spPr>
      </p:pic>
      <p:pic>
        <p:nvPicPr>
          <p:cNvPr id="7" name="תמונה 6">
            <a:extLst>
              <a:ext uri="{FF2B5EF4-FFF2-40B4-BE49-F238E27FC236}">
                <a16:creationId xmlns:a16="http://schemas.microsoft.com/office/drawing/2014/main" id="{00868834-05B1-1473-0B4C-AF8EEC41275F}"/>
              </a:ext>
            </a:extLst>
          </p:cNvPr>
          <p:cNvPicPr>
            <a:picLocks noChangeAspect="1"/>
          </p:cNvPicPr>
          <p:nvPr/>
        </p:nvPicPr>
        <p:blipFill>
          <a:blip r:embed="rId4"/>
          <a:stretch>
            <a:fillRect/>
          </a:stretch>
        </p:blipFill>
        <p:spPr>
          <a:xfrm>
            <a:off x="822986" y="2680352"/>
            <a:ext cx="5273705" cy="3971897"/>
          </a:xfrm>
          <a:prstGeom prst="rect">
            <a:avLst/>
          </a:prstGeom>
        </p:spPr>
      </p:pic>
      <p:pic>
        <p:nvPicPr>
          <p:cNvPr id="8" name="Picture 4" descr="‪How to use ClinVar - A Tutorial for Beginners [JULY 2020]‬‏">
            <a:extLst>
              <a:ext uri="{FF2B5EF4-FFF2-40B4-BE49-F238E27FC236}">
                <a16:creationId xmlns:a16="http://schemas.microsoft.com/office/drawing/2014/main" id="{4350742F-32F6-EE05-35F3-09E9965869A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2280" y="1509713"/>
            <a:ext cx="3895725" cy="1171575"/>
          </a:xfrm>
          <a:prstGeom prst="rect">
            <a:avLst/>
          </a:prstGeom>
          <a:noFill/>
          <a:extLst>
            <a:ext uri="{909E8E84-426E-40DD-AFC4-6F175D3DCCD1}">
              <a14:hiddenFill xmlns:a14="http://schemas.microsoft.com/office/drawing/2010/main">
                <a:solidFill>
                  <a:srgbClr val="FFFFFF"/>
                </a:solidFill>
              </a14:hiddenFill>
            </a:ext>
          </a:extLst>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6"/>
          <a:stretch>
            <a:fillRect/>
          </a:stretch>
        </p:blipFill>
        <p:spPr>
          <a:xfrm>
            <a:off x="389789" y="1509713"/>
            <a:ext cx="6428258" cy="1035702"/>
          </a:xfrm>
          <a:prstGeom prst="rect">
            <a:avLst/>
          </a:prstGeom>
        </p:spPr>
      </p:pic>
      <p:pic>
        <p:nvPicPr>
          <p:cNvPr id="2050" name="Picture 2" descr="‪Taking and drawing a family history - Genomics Education Programme‬‏">
            <a:extLst>
              <a:ext uri="{FF2B5EF4-FFF2-40B4-BE49-F238E27FC236}">
                <a16:creationId xmlns:a16="http://schemas.microsoft.com/office/drawing/2014/main" id="{44393EA4-1339-CB9D-DD5D-0ED9C611F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69129" y="3118587"/>
            <a:ext cx="4533082" cy="35336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Identifying disease-associated genes</a:t>
            </a:r>
            <a:endParaRPr lang="he-IL" dirty="0"/>
          </a:p>
        </p:txBody>
      </p:sp>
      <p:pic>
        <p:nvPicPr>
          <p:cNvPr id="7" name="מציין מיקום תוכן 6" descr="תמונה שמכילה טקסט, צילום מסך, עלילה, תרשים&#10;&#10;תוכן שנוצר על-ידי בינה מלאכותית עשוי להיות שגוי.">
            <a:extLst>
              <a:ext uri="{FF2B5EF4-FFF2-40B4-BE49-F238E27FC236}">
                <a16:creationId xmlns:a16="http://schemas.microsoft.com/office/drawing/2014/main" id="{E1036967-F43A-2288-7E4F-800F469F6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090920" y="1690688"/>
            <a:ext cx="6010160" cy="4861673"/>
          </a:xfrm>
        </p:spPr>
      </p:pic>
      <p:sp>
        <p:nvSpPr>
          <p:cNvPr id="8" name="כותרת משנה 2">
            <a:extLst>
              <a:ext uri="{FF2B5EF4-FFF2-40B4-BE49-F238E27FC236}">
                <a16:creationId xmlns:a16="http://schemas.microsoft.com/office/drawing/2014/main" id="{590EB39A-A8C7-5D36-4E98-37FD12A74CA5}"/>
              </a:ext>
            </a:extLst>
          </p:cNvPr>
          <p:cNvSpPr txBox="1">
            <a:spLocks/>
          </p:cNvSpPr>
          <p:nvPr/>
        </p:nvSpPr>
        <p:spPr>
          <a:xfrm>
            <a:off x="3415865" y="1352925"/>
            <a:ext cx="568521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Total number of genes per disease</a:t>
            </a:r>
            <a:endParaRPr lang="he-IL" sz="2000" b="1" i="1" dirty="0"/>
          </a:p>
        </p:txBody>
      </p:sp>
      <p:sp>
        <p:nvSpPr>
          <p:cNvPr id="9" name="תיבת טקסט 8">
            <a:extLst>
              <a:ext uri="{FF2B5EF4-FFF2-40B4-BE49-F238E27FC236}">
                <a16:creationId xmlns:a16="http://schemas.microsoft.com/office/drawing/2014/main" id="{3C8DD660-2C8E-211E-B5C5-C665A775C7BD}"/>
              </a:ext>
            </a:extLst>
          </p:cNvPr>
          <p:cNvSpPr txBox="1"/>
          <p:nvPr/>
        </p:nvSpPr>
        <p:spPr>
          <a:xfrm rot="16200000">
            <a:off x="2220316" y="3477613"/>
            <a:ext cx="2018207" cy="276999"/>
          </a:xfrm>
          <a:prstGeom prst="rect">
            <a:avLst/>
          </a:prstGeom>
          <a:solidFill>
            <a:schemeClr val="bg1"/>
          </a:solidFill>
        </p:spPr>
        <p:txBody>
          <a:bodyPr wrap="square" rtlCol="1">
            <a:spAutoFit/>
          </a:bodyPr>
          <a:lstStyle/>
          <a:p>
            <a:pPr algn="ctr"/>
            <a:endParaRPr lang="he-IL" sz="1200" dirty="0"/>
          </a:p>
        </p:txBody>
      </p:sp>
    </p:spTree>
    <p:extLst>
      <p:ext uri="{BB962C8B-B14F-4D97-AF65-F5344CB8AC3E}">
        <p14:creationId xmlns:p14="http://schemas.microsoft.com/office/powerpoint/2010/main" val="23204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5263590"/>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882162"/>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744741"/>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692838"/>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635008"/>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583340"/>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5887145" y="1690688"/>
            <a:ext cx="5658640" cy="4658375"/>
          </a:xfrm>
          <a:prstGeom prst="rect">
            <a:avLst/>
          </a:prstGeom>
        </p:spPr>
      </p:pic>
      <p:sp>
        <p:nvSpPr>
          <p:cNvPr id="22" name="מציין מיקום תוכן 2">
            <a:extLst>
              <a:ext uri="{FF2B5EF4-FFF2-40B4-BE49-F238E27FC236}">
                <a16:creationId xmlns:a16="http://schemas.microsoft.com/office/drawing/2014/main" id="{AF016F97-61AA-886E-CBC6-E2070AC0D513}"/>
              </a:ext>
            </a:extLst>
          </p:cNvPr>
          <p:cNvSpPr txBox="1">
            <a:spLocks/>
          </p:cNvSpPr>
          <p:nvPr/>
        </p:nvSpPr>
        <p:spPr>
          <a:xfrm>
            <a:off x="0" y="0"/>
            <a:ext cx="12192000" cy="6870056"/>
          </a:xfrm>
          <a:prstGeom prst="rect">
            <a:avLst/>
          </a:prstGeom>
          <a:solidFill>
            <a:srgbClr val="E8E8E8">
              <a:alpha val="50196"/>
            </a:srgbClr>
          </a:solidFill>
        </p:spPr>
        <p:txBody>
          <a:bodyPr vert="horz" lIns="91440" tIns="45720" rIns="91440" bIns="45720" rtlCol="1" anchor="ctr">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4000" b="1" i="1" dirty="0"/>
              <a:t>Did the disease-associated genes undergo rapid regulatory changes in human evolution?</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Percentage of differentially expressed genes</a:t>
            </a:r>
            <a:endParaRPr lang="he-IL" dirty="0"/>
          </a:p>
        </p:txBody>
      </p:sp>
      <p:pic>
        <p:nvPicPr>
          <p:cNvPr id="5" name="מציין מיקום תוכן 4">
            <a:extLst>
              <a:ext uri="{FF2B5EF4-FFF2-40B4-BE49-F238E27FC236}">
                <a16:creationId xmlns:a16="http://schemas.microsoft.com/office/drawing/2014/main" id="{5C7F1D2F-6A9E-96A5-2F68-0E6372CD98C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4843" r="40717"/>
          <a:stretch/>
        </p:blipFill>
        <p:spPr>
          <a:xfrm>
            <a:off x="1239889" y="1817914"/>
            <a:ext cx="9324698" cy="2499366"/>
          </a:xfrm>
        </p:spPr>
      </p:pic>
      <p:pic>
        <p:nvPicPr>
          <p:cNvPr id="8" name="מציין מיקום תוכן 4">
            <a:extLst>
              <a:ext uri="{FF2B5EF4-FFF2-40B4-BE49-F238E27FC236}">
                <a16:creationId xmlns:a16="http://schemas.microsoft.com/office/drawing/2014/main" id="{A47BDE06-AEBA-5C85-4FB3-3120126407A5}"/>
              </a:ext>
            </a:extLst>
          </p:cNvPr>
          <p:cNvPicPr>
            <a:picLocks noChangeAspect="1"/>
          </p:cNvPicPr>
          <p:nvPr/>
        </p:nvPicPr>
        <p:blipFill>
          <a:blip r:embed="rId3">
            <a:extLst>
              <a:ext uri="{28A0092B-C50C-407E-A947-70E740481C1C}">
                <a14:useLocalDpi xmlns:a14="http://schemas.microsoft.com/office/drawing/2010/main" val="0"/>
              </a:ext>
            </a:extLst>
          </a:blip>
          <a:srcRect r="97294"/>
          <a:stretch/>
        </p:blipFill>
        <p:spPr>
          <a:xfrm>
            <a:off x="2654325" y="4231408"/>
            <a:ext cx="425625" cy="2626592"/>
          </a:xfrm>
          <a:prstGeom prst="rect">
            <a:avLst/>
          </a:prstGeom>
        </p:spPr>
      </p:pic>
      <p:pic>
        <p:nvPicPr>
          <p:cNvPr id="7" name="מציין מיקום תוכן 4">
            <a:extLst>
              <a:ext uri="{FF2B5EF4-FFF2-40B4-BE49-F238E27FC236}">
                <a16:creationId xmlns:a16="http://schemas.microsoft.com/office/drawing/2014/main" id="{13D80F3C-C0E2-BCD0-E512-8EFD74E68492}"/>
              </a:ext>
            </a:extLst>
          </p:cNvPr>
          <p:cNvPicPr>
            <a:picLocks noChangeAspect="1"/>
          </p:cNvPicPr>
          <p:nvPr/>
        </p:nvPicPr>
        <p:blipFill>
          <a:blip r:embed="rId3">
            <a:extLst>
              <a:ext uri="{28A0092B-C50C-407E-A947-70E740481C1C}">
                <a14:useLocalDpi xmlns:a14="http://schemas.microsoft.com/office/drawing/2010/main" val="0"/>
              </a:ext>
            </a:extLst>
          </a:blip>
          <a:srcRect l="59823"/>
          <a:stretch/>
        </p:blipFill>
        <p:spPr>
          <a:xfrm>
            <a:off x="3079950" y="4231408"/>
            <a:ext cx="6319488" cy="2626592"/>
          </a:xfrm>
          <a:prstGeom prst="rect">
            <a:avLst/>
          </a:prstGeom>
        </p:spPr>
      </p:pic>
      <p:sp>
        <p:nvSpPr>
          <p:cNvPr id="13" name="תיבת טקסט 12">
            <a:extLst>
              <a:ext uri="{FF2B5EF4-FFF2-40B4-BE49-F238E27FC236}">
                <a16:creationId xmlns:a16="http://schemas.microsoft.com/office/drawing/2014/main" id="{54BE5315-6E73-6C17-E872-8C6CF299DC3C}"/>
              </a:ext>
            </a:extLst>
          </p:cNvPr>
          <p:cNvSpPr txBox="1"/>
          <p:nvPr/>
        </p:nvSpPr>
        <p:spPr>
          <a:xfrm rot="16200000">
            <a:off x="1565795" y="5187882"/>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
        <p:nvSpPr>
          <p:cNvPr id="15" name="תיבת טקסט 14">
            <a:extLst>
              <a:ext uri="{FF2B5EF4-FFF2-40B4-BE49-F238E27FC236}">
                <a16:creationId xmlns:a16="http://schemas.microsoft.com/office/drawing/2014/main" id="{A9D984AC-CEAD-4EC8-5218-077F0A2AF4BB}"/>
              </a:ext>
            </a:extLst>
          </p:cNvPr>
          <p:cNvSpPr txBox="1"/>
          <p:nvPr/>
        </p:nvSpPr>
        <p:spPr>
          <a:xfrm rot="16200000">
            <a:off x="150281" y="2724578"/>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Tree>
    <p:extLst>
      <p:ext uri="{BB962C8B-B14F-4D97-AF65-F5344CB8AC3E}">
        <p14:creationId xmlns:p14="http://schemas.microsoft.com/office/powerpoint/2010/main" val="1669711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less differentially expressed genes</a:t>
            </a:r>
            <a:endParaRPr lang="he-IL" dirty="0"/>
          </a:p>
        </p:txBody>
      </p:sp>
      <p:pic>
        <p:nvPicPr>
          <p:cNvPr id="5" name="תמונה 4">
            <a:extLst>
              <a:ext uri="{FF2B5EF4-FFF2-40B4-BE49-F238E27FC236}">
                <a16:creationId xmlns:a16="http://schemas.microsoft.com/office/drawing/2014/main" id="{3BEB5E5B-D317-3B6A-EB02-E7A913EEA6E5}"/>
              </a:ext>
            </a:extLst>
          </p:cNvPr>
          <p:cNvPicPr>
            <a:picLocks noChangeAspect="1"/>
          </p:cNvPicPr>
          <p:nvPr/>
        </p:nvPicPr>
        <p:blipFill>
          <a:blip r:embed="rId3">
            <a:extLst>
              <a:ext uri="{28A0092B-C50C-407E-A947-70E740481C1C}">
                <a14:useLocalDpi xmlns:a14="http://schemas.microsoft.com/office/drawing/2010/main" val="0"/>
              </a:ext>
            </a:extLst>
          </a:blip>
          <a:srcRect t="11307"/>
          <a:stretch/>
        </p:blipFill>
        <p:spPr>
          <a:xfrm>
            <a:off x="1020528" y="2313317"/>
            <a:ext cx="5955748" cy="3961753"/>
          </a:xfrm>
          <a:prstGeom prst="rect">
            <a:avLst/>
          </a:prstGeom>
        </p:spPr>
      </p:pic>
      <p:pic>
        <p:nvPicPr>
          <p:cNvPr id="7" name="תמונה 6"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004252C9-488B-FE3C-3B2D-F77505C83E81}"/>
              </a:ext>
            </a:extLst>
          </p:cNvPr>
          <p:cNvPicPr>
            <a:picLocks noChangeAspect="1"/>
          </p:cNvPicPr>
          <p:nvPr/>
        </p:nvPicPr>
        <p:blipFill>
          <a:blip r:embed="rId4">
            <a:extLst>
              <a:ext uri="{28A0092B-C50C-407E-A947-70E740481C1C}">
                <a14:useLocalDpi xmlns:a14="http://schemas.microsoft.com/office/drawing/2010/main" val="0"/>
              </a:ext>
            </a:extLst>
          </a:blip>
          <a:srcRect t="11307"/>
          <a:stretch/>
        </p:blipFill>
        <p:spPr>
          <a:xfrm>
            <a:off x="5215724" y="2313316"/>
            <a:ext cx="5955749" cy="3961754"/>
          </a:xfrm>
          <a:prstGeom prst="rect">
            <a:avLst/>
          </a:prstGeom>
        </p:spPr>
      </p:pic>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fontScale="90000"/>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Chance of Differentially expressed genes to be disease-related</a:t>
            </a:r>
            <a:endParaRPr lang="he-IL" dirty="0"/>
          </a:p>
        </p:txBody>
      </p:sp>
      <p:sp>
        <p:nvSpPr>
          <p:cNvPr id="11" name="כותרת משנה 2">
            <a:extLst>
              <a:ext uri="{FF2B5EF4-FFF2-40B4-BE49-F238E27FC236}">
                <a16:creationId xmlns:a16="http://schemas.microsoft.com/office/drawing/2014/main" id="{B865B05A-3116-F8E9-0B61-506DE4A205F5}"/>
              </a:ext>
            </a:extLst>
          </p:cNvPr>
          <p:cNvSpPr txBox="1">
            <a:spLocks/>
          </p:cNvSpPr>
          <p:nvPr/>
        </p:nvSpPr>
        <p:spPr>
          <a:xfrm>
            <a:off x="605790" y="2068830"/>
            <a:ext cx="5217035" cy="1017270"/>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 for more negative changes (cortical organoids day 100)</a:t>
            </a:r>
            <a:endParaRPr lang="he-IL" sz="2000" b="1" i="1" dirty="0"/>
          </a:p>
        </p:txBody>
      </p:sp>
      <p:sp>
        <p:nvSpPr>
          <p:cNvPr id="12" name="כותרת משנה 2">
            <a:extLst>
              <a:ext uri="{FF2B5EF4-FFF2-40B4-BE49-F238E27FC236}">
                <a16:creationId xmlns:a16="http://schemas.microsoft.com/office/drawing/2014/main" id="{69E7ABBA-43DA-55E4-7CF9-3A9B6D9A9C23}"/>
              </a:ext>
            </a:extLst>
          </p:cNvPr>
          <p:cNvSpPr txBox="1">
            <a:spLocks/>
          </p:cNvSpPr>
          <p:nvPr/>
        </p:nvSpPr>
        <p:spPr>
          <a:xfrm>
            <a:off x="6412161" y="2136457"/>
            <a:ext cx="5174049" cy="949639"/>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decreases with larger change in expression</a:t>
            </a:r>
            <a:endParaRPr lang="he-IL" sz="2000" b="1" i="1" dirty="0"/>
          </a:p>
        </p:txBody>
      </p:sp>
      <p:pic>
        <p:nvPicPr>
          <p:cNvPr id="4" name="תמונה 3">
            <a:extLst>
              <a:ext uri="{FF2B5EF4-FFF2-40B4-BE49-F238E27FC236}">
                <a16:creationId xmlns:a16="http://schemas.microsoft.com/office/drawing/2014/main" id="{661E0150-953D-79D9-AD79-891140B10C6C}"/>
              </a:ext>
            </a:extLst>
          </p:cNvPr>
          <p:cNvPicPr>
            <a:picLocks noChangeAspect="1"/>
          </p:cNvPicPr>
          <p:nvPr/>
        </p:nvPicPr>
        <p:blipFill>
          <a:blip r:embed="rId3">
            <a:extLst>
              <a:ext uri="{28A0092B-C50C-407E-A947-70E740481C1C}">
                <a14:useLocalDpi xmlns:a14="http://schemas.microsoft.com/office/drawing/2010/main" val="0"/>
              </a:ext>
            </a:extLst>
          </a:blip>
          <a:srcRect t="18049"/>
          <a:stretch/>
        </p:blipFill>
        <p:spPr>
          <a:xfrm>
            <a:off x="16454" y="3086100"/>
            <a:ext cx="5938644" cy="3406774"/>
          </a:xfrm>
          <a:prstGeom prst="rect">
            <a:avLst/>
          </a:prstGeom>
        </p:spPr>
      </p:pic>
      <p:pic>
        <p:nvPicPr>
          <p:cNvPr id="8" name="תמונה 7">
            <a:extLst>
              <a:ext uri="{FF2B5EF4-FFF2-40B4-BE49-F238E27FC236}">
                <a16:creationId xmlns:a16="http://schemas.microsoft.com/office/drawing/2014/main" id="{EC259289-E440-46B4-AE96-2B43B5311203}"/>
              </a:ext>
            </a:extLst>
          </p:cNvPr>
          <p:cNvPicPr>
            <a:picLocks noChangeAspect="1"/>
          </p:cNvPicPr>
          <p:nvPr/>
        </p:nvPicPr>
        <p:blipFill>
          <a:blip r:embed="rId4">
            <a:extLst>
              <a:ext uri="{28A0092B-C50C-407E-A947-70E740481C1C}">
                <a14:useLocalDpi xmlns:a14="http://schemas.microsoft.com/office/drawing/2010/main" val="0"/>
              </a:ext>
            </a:extLst>
          </a:blip>
          <a:srcRect t="18049"/>
          <a:stretch/>
        </p:blipFill>
        <p:spPr>
          <a:xfrm>
            <a:off x="5822826" y="3086098"/>
            <a:ext cx="5938644" cy="3406775"/>
          </a:xfrm>
          <a:prstGeom prst="rect">
            <a:avLst/>
          </a:prstGeom>
        </p:spPr>
      </p:pic>
    </p:spTree>
    <p:extLst>
      <p:ext uri="{BB962C8B-B14F-4D97-AF65-F5344CB8AC3E}">
        <p14:creationId xmlns:p14="http://schemas.microsoft.com/office/powerpoint/2010/main" val="112336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Accelerated evolution?</a:t>
            </a:r>
            <a:endParaRPr lang="he-IL" dirty="0"/>
          </a:p>
        </p:txBody>
      </p:sp>
      <p:pic>
        <p:nvPicPr>
          <p:cNvPr id="11" name="מציין מיקום תוכן 8">
            <a:extLst>
              <a:ext uri="{FF2B5EF4-FFF2-40B4-BE49-F238E27FC236}">
                <a16:creationId xmlns:a16="http://schemas.microsoft.com/office/drawing/2014/main" id="{D264A3DC-43E6-B6CC-778E-98C29C7C55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4828" y="1690688"/>
            <a:ext cx="6681572" cy="5011179"/>
          </a:xfrm>
        </p:spPr>
      </p:pic>
    </p:spTree>
    <p:extLst>
      <p:ext uri="{BB962C8B-B14F-4D97-AF65-F5344CB8AC3E}">
        <p14:creationId xmlns:p14="http://schemas.microsoft.com/office/powerpoint/2010/main" val="2980633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Is the direction of regulation change important?</a:t>
            </a:r>
            <a:endParaRPr lang="he-IL" dirty="0"/>
          </a:p>
        </p:txBody>
      </p:sp>
      <p:pic>
        <p:nvPicPr>
          <p:cNvPr id="5" name="מציין מיקום תוכן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0F4CF428-47FA-57FE-C87B-BE5584A194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49" y="1690688"/>
            <a:ext cx="12176952" cy="4451928"/>
          </a:xfrm>
        </p:spPr>
      </p:pic>
    </p:spTree>
    <p:extLst>
      <p:ext uri="{BB962C8B-B14F-4D97-AF65-F5344CB8AC3E}">
        <p14:creationId xmlns:p14="http://schemas.microsoft.com/office/powerpoint/2010/main" val="1878991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Schizophrenia: positive selection for upregulation of genes</a:t>
            </a:r>
            <a:endParaRPr lang="he-IL" dirty="0"/>
          </a:p>
        </p:txBody>
      </p:sp>
      <p:pic>
        <p:nvPicPr>
          <p:cNvPr id="10" name="מציין מיקום תוכן 9"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FE3A806-53EE-2B3D-A176-7E5A8939A51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780"/>
          <a:stretch/>
        </p:blipFill>
        <p:spPr>
          <a:xfrm>
            <a:off x="1" y="2516840"/>
            <a:ext cx="6661610" cy="4300316"/>
          </a:xfrm>
        </p:spPr>
      </p:pic>
      <p:sp>
        <p:nvSpPr>
          <p:cNvPr id="7" name="כותרת משנה 2">
            <a:extLst>
              <a:ext uri="{FF2B5EF4-FFF2-40B4-BE49-F238E27FC236}">
                <a16:creationId xmlns:a16="http://schemas.microsoft.com/office/drawing/2014/main" id="{02A998A9-7860-F5F5-953D-658BCAD6CE49}"/>
              </a:ext>
            </a:extLst>
          </p:cNvPr>
          <p:cNvSpPr txBox="1">
            <a:spLocks/>
          </p:cNvSpPr>
          <p:nvPr/>
        </p:nvSpPr>
        <p:spPr>
          <a:xfrm>
            <a:off x="1214294" y="169728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589331"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2" name="תמונה 11"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1BC4439-73F2-BBF8-3B1E-494E9BB4BFF3}"/>
              </a:ext>
            </a:extLst>
          </p:cNvPr>
          <p:cNvPicPr>
            <a:picLocks noChangeAspect="1"/>
          </p:cNvPicPr>
          <p:nvPr/>
        </p:nvPicPr>
        <p:blipFill>
          <a:blip r:embed="rId4">
            <a:extLst>
              <a:ext uri="{28A0092B-C50C-407E-A947-70E740481C1C}">
                <a14:useLocalDpi xmlns:a14="http://schemas.microsoft.com/office/drawing/2010/main" val="0"/>
              </a:ext>
            </a:extLst>
          </a:blip>
          <a:srcRect t="7713"/>
          <a:stretch/>
        </p:blipFill>
        <p:spPr>
          <a:xfrm>
            <a:off x="5358605" y="2516840"/>
            <a:ext cx="6719959" cy="4341159"/>
          </a:xfrm>
          <a:prstGeom prst="rect">
            <a:avLst/>
          </a:prstGeo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Scoliosis: size of regulation change is differently distributed</a:t>
            </a:r>
            <a:endParaRPr lang="he-IL" dirty="0"/>
          </a:p>
        </p:txBody>
      </p:sp>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a:t>
            </a:r>
            <a:r>
              <a:rPr lang="en-US" sz="2000" b="1" i="1" dirty="0" err="1"/>
              <a:t>mezenchyme</a:t>
            </a:r>
            <a:endParaRPr lang="he-IL" sz="2000" b="1" i="1" dirty="0"/>
          </a:p>
        </p:txBody>
      </p:sp>
      <p:pic>
        <p:nvPicPr>
          <p:cNvPr id="6" name="מציין מיקום תוכן 5"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3B0B7B1D-0424-F145-78EA-39DAD980477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428" b="6519"/>
          <a:stretch/>
        </p:blipFill>
        <p:spPr>
          <a:xfrm>
            <a:off x="6258495" y="2686050"/>
            <a:ext cx="5933506" cy="3063586"/>
          </a:xfrm>
        </p:spPr>
      </p:pic>
      <p:pic>
        <p:nvPicPr>
          <p:cNvPr id="11" name="תמונה 10"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C0386F8C-7B5F-B306-4BD0-DB28D1321DF4}"/>
              </a:ext>
            </a:extLst>
          </p:cNvPr>
          <p:cNvPicPr>
            <a:picLocks noChangeAspect="1"/>
          </p:cNvPicPr>
          <p:nvPr/>
        </p:nvPicPr>
        <p:blipFill>
          <a:blip r:embed="rId4">
            <a:extLst>
              <a:ext uri="{28A0092B-C50C-407E-A947-70E740481C1C}">
                <a14:useLocalDpi xmlns:a14="http://schemas.microsoft.com/office/drawing/2010/main" val="0"/>
              </a:ext>
            </a:extLst>
          </a:blip>
          <a:srcRect t="7199" b="6969"/>
          <a:stretch/>
        </p:blipFill>
        <p:spPr>
          <a:xfrm>
            <a:off x="342891" y="2686051"/>
            <a:ext cx="5948822" cy="3063586"/>
          </a:xfrm>
          <a:prstGeom prst="rect">
            <a:avLst/>
          </a:prstGeom>
        </p:spPr>
      </p:pic>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effectLst>
                  <a:outerShdw blurRad="38100" dist="38100" dir="2700000" algn="tl">
                    <a:srgbClr val="000000">
                      <a:alpha val="43137"/>
                    </a:srgbClr>
                  </a:outerShdw>
                </a:effectLst>
                <a:latin typeface="Comic Sans MS" panose="030F0702030302020204" pitchFamily="66" charset="0"/>
                <a:ea typeface="+mn-ea"/>
                <a:cs typeface="+mn-cs"/>
              </a:rPr>
              <a:t>Discussion</a:t>
            </a:r>
            <a:endParaRPr lang="he-IL" dirty="0"/>
          </a:p>
        </p:txBody>
      </p:sp>
      <p:sp>
        <p:nvSpPr>
          <p:cNvPr id="3" name="מציין מיקום תוכן 2">
            <a:extLst>
              <a:ext uri="{FF2B5EF4-FFF2-40B4-BE49-F238E27FC236}">
                <a16:creationId xmlns:a16="http://schemas.microsoft.com/office/drawing/2014/main" id="{2D61D755-77FD-0759-367F-85909AF35B28}"/>
              </a:ext>
            </a:extLst>
          </p:cNvPr>
          <p:cNvSpPr>
            <a:spLocks noGrp="1"/>
          </p:cNvSpPr>
          <p:nvPr>
            <p:ph idx="1"/>
          </p:nvPr>
        </p:nvSpPr>
        <p:spPr>
          <a:xfrm>
            <a:off x="630241" y="1720272"/>
            <a:ext cx="5465759" cy="4351338"/>
          </a:xfrm>
        </p:spPr>
        <p:txBody>
          <a:bodyPr>
            <a:normAutofit fontScale="85000" lnSpcReduction="20000"/>
          </a:bodyPr>
          <a:lstStyle/>
          <a:p>
            <a:pPr algn="l" rtl="0"/>
            <a:r>
              <a:rPr lang="en-US" b="1" i="1" dirty="0"/>
              <a:t>General selection against changes in disease-related genes</a:t>
            </a:r>
          </a:p>
          <a:p>
            <a:pPr algn="l" rtl="0"/>
            <a:endParaRPr lang="en-US" b="1" i="1" dirty="0"/>
          </a:p>
          <a:p>
            <a:pPr algn="l" rtl="0"/>
            <a:r>
              <a:rPr lang="en-US" b="1" i="1" dirty="0"/>
              <a:t>Enrichment for upregulated genes in schizophrenia: schizophrenia is characterized by gene upregulation</a:t>
            </a:r>
          </a:p>
          <a:p>
            <a:pPr algn="l" rtl="0"/>
            <a:endParaRPr lang="en-US" b="1" i="1" dirty="0"/>
          </a:p>
          <a:p>
            <a:pPr algn="l" rtl="0"/>
            <a:r>
              <a:rPr lang="en-US" b="1" i="1" dirty="0"/>
              <a:t>Accelerated evolution in scoliosis, specifically in downregulated genes</a:t>
            </a:r>
          </a:p>
          <a:p>
            <a:pPr algn="l" rtl="0"/>
            <a:endParaRPr lang="en-US" b="1" i="1" dirty="0"/>
          </a:p>
          <a:p>
            <a:pPr algn="l" rtl="0"/>
            <a:r>
              <a:rPr lang="en-US" b="1" i="1" dirty="0"/>
              <a:t>To be continued:</a:t>
            </a:r>
          </a:p>
          <a:p>
            <a:pPr lvl="1" algn="l" rtl="0"/>
            <a:r>
              <a:rPr lang="en-US" b="1" i="1" dirty="0"/>
              <a:t>Test for different developmental stages</a:t>
            </a:r>
          </a:p>
          <a:p>
            <a:pPr lvl="1" algn="l" rtl="0"/>
            <a:r>
              <a:rPr lang="en-US" b="1" i="1" dirty="0"/>
              <a:t>Pathway enrichment analysis</a:t>
            </a:r>
          </a:p>
        </p:txBody>
      </p:sp>
      <p:pic>
        <p:nvPicPr>
          <p:cNvPr id="4" name="תמונה 3">
            <a:extLst>
              <a:ext uri="{FF2B5EF4-FFF2-40B4-BE49-F238E27FC236}">
                <a16:creationId xmlns:a16="http://schemas.microsoft.com/office/drawing/2014/main" id="{1FFD4B25-8701-A89C-9104-2BEB5473F74B}"/>
              </a:ext>
            </a:extLst>
          </p:cNvPr>
          <p:cNvPicPr>
            <a:picLocks noChangeAspect="1"/>
          </p:cNvPicPr>
          <p:nvPr/>
        </p:nvPicPr>
        <p:blipFill>
          <a:blip r:embed="rId3"/>
          <a:stretch>
            <a:fillRect/>
          </a:stretch>
        </p:blipFill>
        <p:spPr>
          <a:xfrm>
            <a:off x="6317451" y="1720272"/>
            <a:ext cx="5658640" cy="4658375"/>
          </a:xfrm>
          <a:prstGeom prst="rect">
            <a:avLst/>
          </a:prstGeom>
        </p:spPr>
      </p:pic>
      <p:pic>
        <p:nvPicPr>
          <p:cNvPr id="1026" name="Picture 2" descr="‪10+ Thousand Chimpanzee Silhouette Royalty-Free Images, Stock Photos &amp;  Pictures | Shutterstock‬‏">
            <a:extLst>
              <a:ext uri="{FF2B5EF4-FFF2-40B4-BE49-F238E27FC236}">
                <a16:creationId xmlns:a16="http://schemas.microsoft.com/office/drawing/2014/main" id="{CFDAB0D0-93A3-A866-6699-F2C39909AF6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1690688"/>
            <a:ext cx="685800" cy="53788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10+ Thousand Chimpanzee Silhouette Royalty-Free Images, Stock Photos &amp;  Pictures | Shutterstock‬‏">
            <a:extLst>
              <a:ext uri="{FF2B5EF4-FFF2-40B4-BE49-F238E27FC236}">
                <a16:creationId xmlns:a16="http://schemas.microsoft.com/office/drawing/2014/main" id="{ACCD0585-9204-6F23-3EDE-141C1DB2A08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2747309"/>
            <a:ext cx="685800" cy="5378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10+ Thousand Chimpanzee Silhouette Royalty-Free Images, Stock Photos &amp;  Pictures | Shutterstock‬‏">
            <a:extLst>
              <a:ext uri="{FF2B5EF4-FFF2-40B4-BE49-F238E27FC236}">
                <a16:creationId xmlns:a16="http://schemas.microsoft.com/office/drawing/2014/main" id="{05E90EE8-C350-B85D-DC1F-393A99ED96C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3895941"/>
            <a:ext cx="685800" cy="53788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10+ Thousand Chimpanzee Silhouette Royalty-Free Images, Stock Photos &amp;  Pictures | Shutterstock‬‏">
            <a:extLst>
              <a:ext uri="{FF2B5EF4-FFF2-40B4-BE49-F238E27FC236}">
                <a16:creationId xmlns:a16="http://schemas.microsoft.com/office/drawing/2014/main" id="{7C161114-7C2D-E497-B4B2-0DC580109A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9889" b="17402"/>
          <a:stretch/>
        </p:blipFill>
        <p:spPr bwMode="auto">
          <a:xfrm>
            <a:off x="152400" y="5003215"/>
            <a:ext cx="685800" cy="5378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6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4698</TotalTime>
  <Words>1136</Words>
  <Application>Microsoft Office PowerPoint</Application>
  <PresentationFormat>מסך רחב</PresentationFormat>
  <Paragraphs>114</Paragraphs>
  <Slides>16</Slides>
  <Notes>15</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16</vt:i4>
      </vt:variant>
    </vt:vector>
  </HeadingPairs>
  <TitlesOfParts>
    <vt:vector size="26"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vt:lpstr>
      <vt:lpstr>The origin of human-specific diseases</vt:lpstr>
      <vt:lpstr>How to we study regulatory changes?</vt:lpstr>
      <vt:lpstr>Filter disease list based on our available data</vt:lpstr>
      <vt:lpstr>Identifying disease-associated genes</vt:lpstr>
      <vt:lpstr>Identifying disease-associated genes</vt:lpstr>
      <vt:lpstr>What are we looking for?</vt:lpstr>
      <vt:lpstr>Percentage of differentially expressed genes</vt:lpstr>
      <vt:lpstr>Schizophrenia: less differentially expressed genes</vt:lpstr>
      <vt:lpstr>Schizophrenia: Chance of Differentially expressed genes to be disease-related</vt:lpstr>
      <vt:lpstr>Scoliosis: Accelerated evolution?</vt:lpstr>
      <vt:lpstr>Is the direction of regulation change important?</vt:lpstr>
      <vt:lpstr>Schizophrenia: positive selection for upregulation of genes</vt:lpstr>
      <vt:lpstr>Scoliosis: size of regulation change is differently distributed</vt:lpstr>
      <vt:lpstr>Discussion</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Sarit Moses</cp:lastModifiedBy>
  <cp:revision>16</cp:revision>
  <dcterms:created xsi:type="dcterms:W3CDTF">2025-06-29T11:13:21Z</dcterms:created>
  <dcterms:modified xsi:type="dcterms:W3CDTF">2025-07-10T07:59:10Z</dcterms:modified>
</cp:coreProperties>
</file>