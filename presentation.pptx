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18"/>
  </p:notesMasterIdLst>
  <p:sldIdLst>
    <p:sldId id="256" r:id="rId2"/>
    <p:sldId id="992" r:id="rId3"/>
    <p:sldId id="993" r:id="rId4"/>
    <p:sldId id="994" r:id="rId5"/>
    <p:sldId id="995" r:id="rId6"/>
    <p:sldId id="1003" r:id="rId7"/>
    <p:sldId id="996" r:id="rId8"/>
    <p:sldId id="997" r:id="rId9"/>
    <p:sldId id="1000" r:id="rId10"/>
    <p:sldId id="1002" r:id="rId11"/>
    <p:sldId id="1001" r:id="rId12"/>
    <p:sldId id="998" r:id="rId13"/>
    <p:sldId id="1004" r:id="rId14"/>
    <p:sldId id="1005" r:id="rId15"/>
    <p:sldId id="999" r:id="rId16"/>
    <p:sldId id="267" r:id="rId17"/>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F7CB"/>
    <a:srgbClr val="F2CFEE"/>
    <a:srgbClr val="CAEEFB"/>
    <a:srgbClr val="E8E8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380"/>
    <p:restoredTop sz="86928" autoAdjust="0"/>
  </p:normalViewPr>
  <p:slideViewPr>
    <p:cSldViewPr snapToGrid="0">
      <p:cViewPr>
        <p:scale>
          <a:sx n="97" d="100"/>
          <a:sy n="97" d="100"/>
        </p:scale>
        <p:origin x="115" y="-10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1E00752A-24CB-480C-96D7-C9C8B079CBDF}" type="datetimeFigureOut">
              <a:rPr lang="he-IL" smtClean="0"/>
              <a:t>י"ד/תמוז/תשפ"ה</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64F50766-83A2-4A8D-A724-80D60639DE7B}" type="slidenum">
              <a:rPr lang="he-IL" smtClean="0"/>
              <a:t>‹#›</a:t>
            </a:fld>
            <a:endParaRPr lang="he-IL"/>
          </a:p>
        </p:txBody>
      </p:sp>
    </p:spTree>
    <p:extLst>
      <p:ext uri="{BB962C8B-B14F-4D97-AF65-F5344CB8AC3E}">
        <p14:creationId xmlns:p14="http://schemas.microsoft.com/office/powerpoint/2010/main" val="3410299916"/>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228600" indent="-228600">
              <a:buAutoNum type="arabicPeriod"/>
            </a:pPr>
            <a:endParaRPr lang="he-IL" dirty="0"/>
          </a:p>
        </p:txBody>
      </p:sp>
      <p:sp>
        <p:nvSpPr>
          <p:cNvPr id="4" name="מציין מיקום של מספר שקופית 3"/>
          <p:cNvSpPr>
            <a:spLocks noGrp="1"/>
          </p:cNvSpPr>
          <p:nvPr>
            <p:ph type="sldNum" sz="quarter" idx="5"/>
          </p:nvPr>
        </p:nvSpPr>
        <p:spPr/>
        <p:txBody>
          <a:bodyPr/>
          <a:lstStyle/>
          <a:p>
            <a:fld id="{64F50766-83A2-4A8D-A724-80D60639DE7B}" type="slidenum">
              <a:rPr lang="he-IL" smtClean="0"/>
              <a:t>1</a:t>
            </a:fld>
            <a:endParaRPr lang="he-IL"/>
          </a:p>
        </p:txBody>
      </p:sp>
    </p:spTree>
    <p:extLst>
      <p:ext uri="{BB962C8B-B14F-4D97-AF65-F5344CB8AC3E}">
        <p14:creationId xmlns:p14="http://schemas.microsoft.com/office/powerpoint/2010/main" val="3077242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dirty="0"/>
              <a:t>יום אחד מופיע אינדיבידואל שהוא רגיש למחלה ועדיין מתפשט באוכלוסייה – למה זה הגיוני אבולוציונית? כמה אופציות: סביבה, תוחלת חיים... אבל יש קבוצת מחלות שאי אפשר להסביר ככה, ולכן יש כאן הבדלים גנטיים בינינו לבין שימפנזה. </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Humans and great apes are very close (evolutionary). We have many things in common, but there is a group of diseases that is specific to humans. This difference between humans and monkeys can be explained by factors like environment, better lifespan of humans, or lack of data on apes – for example diabetes can be explained by environmental factors, and monkeys that each as much ice cream as we do would eventually become diabetic. But there are diseases that cannot be explained by any of these factors, and therefore we conclude that they are the result of the genetic changes between us and apes.</a:t>
            </a:r>
            <a:endParaRPr lang="he-IL" dirty="0"/>
          </a:p>
          <a:p>
            <a:endParaRPr lang="he-IL" dirty="0"/>
          </a:p>
        </p:txBody>
      </p:sp>
      <p:sp>
        <p:nvSpPr>
          <p:cNvPr id="4" name="מציין מיקום של מספר שקופית 3"/>
          <p:cNvSpPr>
            <a:spLocks noGrp="1"/>
          </p:cNvSpPr>
          <p:nvPr>
            <p:ph type="sldNum" sz="quarter" idx="5"/>
          </p:nvPr>
        </p:nvSpPr>
        <p:spPr/>
        <p:txBody>
          <a:bodyPr/>
          <a:lstStyle/>
          <a:p>
            <a:fld id="{64F50766-83A2-4A8D-A724-80D60639DE7B}" type="slidenum">
              <a:rPr lang="he-IL" smtClean="0"/>
              <a:t>2</a:t>
            </a:fld>
            <a:endParaRPr lang="he-IL"/>
          </a:p>
        </p:txBody>
      </p:sp>
    </p:spTree>
    <p:extLst>
      <p:ext uri="{BB962C8B-B14F-4D97-AF65-F5344CB8AC3E}">
        <p14:creationId xmlns:p14="http://schemas.microsoft.com/office/powerpoint/2010/main" val="2741778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F08DC-1294-CCC9-866C-45177556EB67}"/>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E57E18FD-4F65-1D1D-F6BD-1F8C0D107266}"/>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22B6F243-6A15-3D33-0C4E-03DE3C19E4EA}"/>
              </a:ext>
            </a:extLst>
          </p:cNvPr>
          <p:cNvSpPr>
            <a:spLocks noGrp="1"/>
          </p:cNvSpPr>
          <p:nvPr>
            <p:ph type="body" idx="1"/>
          </p:nvPr>
        </p:nvSpPr>
        <p:spPr/>
        <p:txBody>
          <a:bodyPr/>
          <a:lstStyle/>
          <a:p>
            <a:pPr marL="0" indent="0">
              <a:buNone/>
            </a:pPr>
            <a:r>
              <a:rPr lang="he-IL" dirty="0"/>
              <a:t>שקופית 2 מתחילים משינויי רגולציה כי היום ידוע שרוב ההבדלים </a:t>
            </a:r>
            <a:r>
              <a:rPr lang="he-IL" dirty="0" err="1"/>
              <a:t>הפנוטיפיים</a:t>
            </a:r>
            <a:r>
              <a:rPr lang="he-IL" dirty="0"/>
              <a:t> בין מינים קרובים הם תוצאה של שינויי </a:t>
            </a:r>
            <a:r>
              <a:rPr lang="en-US" dirty="0"/>
              <a:t>expression</a:t>
            </a:r>
            <a:r>
              <a:rPr lang="he-IL" dirty="0"/>
              <a:t>. להסביר איך </a:t>
            </a:r>
            <a:r>
              <a:rPr lang="he-IL" dirty="0" err="1"/>
              <a:t>בודקיםש</a:t>
            </a:r>
            <a:r>
              <a:rPr lang="he-IL" dirty="0"/>
              <a:t> </a:t>
            </a:r>
            <a:r>
              <a:rPr lang="he-IL" dirty="0" err="1"/>
              <a:t>ינויי</a:t>
            </a:r>
            <a:r>
              <a:rPr lang="he-IL" dirty="0"/>
              <a:t> רגולציה – להציג את הדאטה של </a:t>
            </a:r>
            <a:r>
              <a:rPr lang="he-IL" dirty="0" err="1"/>
              <a:t>ההיברידיפ</a:t>
            </a:r>
            <a:r>
              <a:rPr lang="he-IL" dirty="0"/>
              <a:t>. למה ששינויי רגולציה יהיו הסיבה? מהיר מדי / </a:t>
            </a:r>
            <a:r>
              <a:rPr lang="en-US" dirty="0"/>
              <a:t>tradeoff</a:t>
            </a:r>
            <a:r>
              <a:rPr lang="he-IL" dirty="0"/>
              <a:t> / הצטברות של המון דברים שהם כמעט-</a:t>
            </a:r>
            <a:r>
              <a:rPr lang="he-IL" dirty="0" err="1"/>
              <a:t>ניטרלים</a:t>
            </a:r>
            <a:r>
              <a:rPr lang="he-IL" dirty="0"/>
              <a:t>. במה זה מתבטא? מחלות אולי יהיו עם יותר שינויים לעומת שאר הגנום, או שינויים קיצוניים יותר ולכן קשה לתקן (להוסיף קונטרול – כמה </a:t>
            </a:r>
            <a:r>
              <a:rPr lang="en-US" dirty="0"/>
              <a:t>ASE </a:t>
            </a:r>
            <a:r>
              <a:rPr lang="he-IL" dirty="0"/>
              <a:t>לעומת כל הגנים שקשורים לסוכרת? = כדי להבדיל בין הבדלים שקשורים למחלה סתם לבין דברים שקשורים דווקא </a:t>
            </a:r>
            <a:r>
              <a:rPr lang="he-IL" dirty="0" err="1"/>
              <a:t>להיומן</a:t>
            </a:r>
            <a:r>
              <a:rPr lang="he-IL" dirty="0"/>
              <a:t> </a:t>
            </a:r>
            <a:r>
              <a:rPr lang="he-IL" dirty="0" err="1"/>
              <a:t>ספסיפיק</a:t>
            </a:r>
            <a:r>
              <a:rPr lang="he-IL" dirty="0"/>
              <a:t>) </a:t>
            </a:r>
          </a:p>
        </p:txBody>
      </p:sp>
      <p:sp>
        <p:nvSpPr>
          <p:cNvPr id="4" name="מציין מיקום של מספר שקופית 3">
            <a:extLst>
              <a:ext uri="{FF2B5EF4-FFF2-40B4-BE49-F238E27FC236}">
                <a16:creationId xmlns:a16="http://schemas.microsoft.com/office/drawing/2014/main" id="{7690E324-8C62-A196-6BF5-76CC49915D35}"/>
              </a:ext>
            </a:extLst>
          </p:cNvPr>
          <p:cNvSpPr>
            <a:spLocks noGrp="1"/>
          </p:cNvSpPr>
          <p:nvPr>
            <p:ph type="sldNum" sz="quarter" idx="5"/>
          </p:nvPr>
        </p:nvSpPr>
        <p:spPr/>
        <p:txBody>
          <a:bodyPr/>
          <a:lstStyle/>
          <a:p>
            <a:fld id="{64F50766-83A2-4A8D-A724-80D60639DE7B}" type="slidenum">
              <a:rPr lang="he-IL" smtClean="0"/>
              <a:t>3</a:t>
            </a:fld>
            <a:endParaRPr lang="he-IL"/>
          </a:p>
        </p:txBody>
      </p:sp>
    </p:spTree>
    <p:extLst>
      <p:ext uri="{BB962C8B-B14F-4D97-AF65-F5344CB8AC3E}">
        <p14:creationId xmlns:p14="http://schemas.microsoft.com/office/powerpoint/2010/main" val="6645416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762AD-F519-5B92-7793-2921EDC16ADC}"/>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AFECD773-7F43-EC4A-0A1B-06D84D9D0D69}"/>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C3EB6192-7BE6-C2D4-CF4D-970EC21A8B18}"/>
              </a:ext>
            </a:extLst>
          </p:cNvPr>
          <p:cNvSpPr>
            <a:spLocks noGrp="1"/>
          </p:cNvSpPr>
          <p:nvPr>
            <p:ph type="body" idx="1"/>
          </p:nvPr>
        </p:nvSpPr>
        <p:spPr/>
        <p:txBody>
          <a:bodyPr/>
          <a:lstStyle/>
          <a:p>
            <a:pPr marL="0" indent="0">
              <a:buNone/>
            </a:pPr>
            <a:r>
              <a:rPr lang="he-IL" dirty="0"/>
              <a:t>הסתכלנו על כל המחלות, מצאנו מה </a:t>
            </a:r>
            <a:r>
              <a:rPr lang="en-US" dirty="0" err="1"/>
              <a:t>celltype</a:t>
            </a:r>
            <a:r>
              <a:rPr lang="he-IL" dirty="0"/>
              <a:t> רלוונטי, המשכנו רק עם אלה שיש דאטה של היברידים מתאים.</a:t>
            </a:r>
          </a:p>
          <a:p>
            <a:pPr marL="0" indent="0">
              <a:buNone/>
            </a:pPr>
            <a:r>
              <a:rPr lang="he-IL" dirty="0"/>
              <a:t>זו שקופית קצרה – לקח הרבה זמן אבל לא מאוד מעניין מבחינת הקורס אז אין שום סיבה להתעכב על זה יותר מדי. </a:t>
            </a:r>
          </a:p>
        </p:txBody>
      </p:sp>
      <p:sp>
        <p:nvSpPr>
          <p:cNvPr id="4" name="מציין מיקום של מספר שקופית 3">
            <a:extLst>
              <a:ext uri="{FF2B5EF4-FFF2-40B4-BE49-F238E27FC236}">
                <a16:creationId xmlns:a16="http://schemas.microsoft.com/office/drawing/2014/main" id="{4CDAEDA8-FEA9-9093-459E-06512690C80A}"/>
              </a:ext>
            </a:extLst>
          </p:cNvPr>
          <p:cNvSpPr>
            <a:spLocks noGrp="1"/>
          </p:cNvSpPr>
          <p:nvPr>
            <p:ph type="sldNum" sz="quarter" idx="5"/>
          </p:nvPr>
        </p:nvSpPr>
        <p:spPr/>
        <p:txBody>
          <a:bodyPr/>
          <a:lstStyle/>
          <a:p>
            <a:fld id="{64F50766-83A2-4A8D-A724-80D60639DE7B}" type="slidenum">
              <a:rPr lang="he-IL" smtClean="0"/>
              <a:t>4</a:t>
            </a:fld>
            <a:endParaRPr lang="he-IL"/>
          </a:p>
        </p:txBody>
      </p:sp>
    </p:spTree>
    <p:extLst>
      <p:ext uri="{BB962C8B-B14F-4D97-AF65-F5344CB8AC3E}">
        <p14:creationId xmlns:p14="http://schemas.microsoft.com/office/powerpoint/2010/main" val="848543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63559-4227-19AC-5F63-E91FC8B40B27}"/>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76D79D57-74DA-7BC7-BB7E-2F9088D697A6}"/>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AE6C3545-C6D3-DA72-25DD-A943BF473B4D}"/>
              </a:ext>
            </a:extLst>
          </p:cNvPr>
          <p:cNvSpPr>
            <a:spLocks noGrp="1"/>
          </p:cNvSpPr>
          <p:nvPr>
            <p:ph type="body" idx="1"/>
          </p:nvPr>
        </p:nvSpPr>
        <p:spPr/>
        <p:txBody>
          <a:bodyPr/>
          <a:lstStyle/>
          <a:p>
            <a:pPr marL="0" indent="0">
              <a:buNone/>
            </a:pPr>
            <a:r>
              <a:rPr lang="he-IL" dirty="0"/>
              <a:t>מה הגנים שקשורים? להסביר איך עובד </a:t>
            </a:r>
            <a:r>
              <a:rPr lang="en-US" dirty="0"/>
              <a:t>GWAS </a:t>
            </a:r>
            <a:r>
              <a:rPr lang="he-IL" dirty="0"/>
              <a:t>איך עובד </a:t>
            </a:r>
            <a:r>
              <a:rPr lang="en-US" dirty="0" err="1"/>
              <a:t>clinvar</a:t>
            </a:r>
            <a:r>
              <a:rPr lang="he-IL" dirty="0"/>
              <a:t> – להציג קצת כמה גנים בכל מחלה וכו'</a:t>
            </a:r>
          </a:p>
        </p:txBody>
      </p:sp>
      <p:sp>
        <p:nvSpPr>
          <p:cNvPr id="4" name="מציין מיקום של מספר שקופית 3">
            <a:extLst>
              <a:ext uri="{FF2B5EF4-FFF2-40B4-BE49-F238E27FC236}">
                <a16:creationId xmlns:a16="http://schemas.microsoft.com/office/drawing/2014/main" id="{612300FC-5122-2455-0B3F-C63E70B109AF}"/>
              </a:ext>
            </a:extLst>
          </p:cNvPr>
          <p:cNvSpPr>
            <a:spLocks noGrp="1"/>
          </p:cNvSpPr>
          <p:nvPr>
            <p:ph type="sldNum" sz="quarter" idx="5"/>
          </p:nvPr>
        </p:nvSpPr>
        <p:spPr/>
        <p:txBody>
          <a:bodyPr/>
          <a:lstStyle/>
          <a:p>
            <a:fld id="{64F50766-83A2-4A8D-A724-80D60639DE7B}" type="slidenum">
              <a:rPr lang="he-IL" smtClean="0"/>
              <a:t>5</a:t>
            </a:fld>
            <a:endParaRPr lang="he-IL"/>
          </a:p>
        </p:txBody>
      </p:sp>
    </p:spTree>
    <p:extLst>
      <p:ext uri="{BB962C8B-B14F-4D97-AF65-F5344CB8AC3E}">
        <p14:creationId xmlns:p14="http://schemas.microsoft.com/office/powerpoint/2010/main" val="11457258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EC99A-0968-7FAB-77AF-3D3EA94B784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C4B627FE-A9EF-A12F-5C00-0ACD8EDC6A2F}"/>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6AB6D590-0C8B-9576-090E-6ED2622AD027}"/>
              </a:ext>
            </a:extLst>
          </p:cNvPr>
          <p:cNvSpPr>
            <a:spLocks noGrp="1"/>
          </p:cNvSpPr>
          <p:nvPr>
            <p:ph type="body" idx="1"/>
          </p:nvPr>
        </p:nvSpPr>
        <p:spPr/>
        <p:txBody>
          <a:bodyPr/>
          <a:lstStyle/>
          <a:p>
            <a:pPr marL="0" indent="0">
              <a:buNone/>
            </a:pPr>
            <a:r>
              <a:rPr lang="he-IL" dirty="0"/>
              <a:t>מה הגנים שקשורים? להסביר איך עובד </a:t>
            </a:r>
            <a:r>
              <a:rPr lang="en-US" dirty="0"/>
              <a:t>GWAS </a:t>
            </a:r>
            <a:r>
              <a:rPr lang="he-IL" dirty="0"/>
              <a:t>איך עובד </a:t>
            </a:r>
            <a:r>
              <a:rPr lang="en-US" dirty="0" err="1"/>
              <a:t>clinvar</a:t>
            </a:r>
            <a:r>
              <a:rPr lang="he-IL" dirty="0"/>
              <a:t> – להציג קצת כמה גנים בכל מחלה וכו'</a:t>
            </a:r>
          </a:p>
        </p:txBody>
      </p:sp>
      <p:sp>
        <p:nvSpPr>
          <p:cNvPr id="4" name="מציין מיקום של מספר שקופית 3">
            <a:extLst>
              <a:ext uri="{FF2B5EF4-FFF2-40B4-BE49-F238E27FC236}">
                <a16:creationId xmlns:a16="http://schemas.microsoft.com/office/drawing/2014/main" id="{C20CE61A-119A-4E88-E85D-4007D9866387}"/>
              </a:ext>
            </a:extLst>
          </p:cNvPr>
          <p:cNvSpPr>
            <a:spLocks noGrp="1"/>
          </p:cNvSpPr>
          <p:nvPr>
            <p:ph type="sldNum" sz="quarter" idx="5"/>
          </p:nvPr>
        </p:nvSpPr>
        <p:spPr/>
        <p:txBody>
          <a:bodyPr/>
          <a:lstStyle/>
          <a:p>
            <a:fld id="{64F50766-83A2-4A8D-A724-80D60639DE7B}" type="slidenum">
              <a:rPr lang="he-IL" smtClean="0"/>
              <a:t>6</a:t>
            </a:fld>
            <a:endParaRPr lang="he-IL"/>
          </a:p>
        </p:txBody>
      </p:sp>
    </p:spTree>
    <p:extLst>
      <p:ext uri="{BB962C8B-B14F-4D97-AF65-F5344CB8AC3E}">
        <p14:creationId xmlns:p14="http://schemas.microsoft.com/office/powerpoint/2010/main" val="5498570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4350E-EF91-DC03-8DF3-1EAE520B307A}"/>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CD72069A-979E-B42B-F595-AF84FC837A48}"/>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2AE350A4-B2BA-B158-D6EF-9FEEE16566DC}"/>
              </a:ext>
            </a:extLst>
          </p:cNvPr>
          <p:cNvSpPr>
            <a:spLocks noGrp="1"/>
          </p:cNvSpPr>
          <p:nvPr>
            <p:ph type="body" idx="1"/>
          </p:nvPr>
        </p:nvSpPr>
        <p:spPr/>
        <p:txBody>
          <a:bodyPr/>
          <a:lstStyle/>
          <a:p>
            <a:pPr marL="0" indent="0">
              <a:buNone/>
            </a:pPr>
            <a:r>
              <a:rPr lang="he-IL" dirty="0"/>
              <a:t>מה מחפשים? שינויי ביטוי שהם שונים מהטרנד הכללי של כל הדאטה  = מחפשים סיגנלים של עודף שינויים (יותר </a:t>
            </a:r>
            <a:r>
              <a:rPr lang="en-US" dirty="0"/>
              <a:t>ASE</a:t>
            </a:r>
            <a:r>
              <a:rPr lang="he-IL" dirty="0"/>
              <a:t>). יכול להיות </a:t>
            </a:r>
            <a:r>
              <a:rPr lang="he-IL" dirty="0" err="1"/>
              <a:t>שישארלו</a:t>
            </a:r>
            <a:r>
              <a:rPr lang="he-IL" dirty="0"/>
              <a:t> למה מה שגורם את המחלה זה לא הסניפים – להסביר שאנחנו מנסים להבין מה גורם לנו להיות רגישים לשינויים שב</a:t>
            </a:r>
            <a:r>
              <a:rPr lang="en-US" dirty="0"/>
              <a:t>GWAS</a:t>
            </a:r>
            <a:r>
              <a:rPr lang="he-IL" dirty="0"/>
              <a:t>. להשתמש </a:t>
            </a:r>
            <a:r>
              <a:rPr lang="he-IL" dirty="0" err="1"/>
              <a:t>באינפוגרפיקה</a:t>
            </a:r>
            <a:r>
              <a:rPr lang="he-IL" dirty="0"/>
              <a:t> של </a:t>
            </a:r>
            <a:r>
              <a:rPr lang="en-US" dirty="0" err="1"/>
              <a:t>cliffegde</a:t>
            </a:r>
            <a:r>
              <a:rPr lang="he-IL" dirty="0"/>
              <a:t> ובהסבר של </a:t>
            </a:r>
            <a:r>
              <a:rPr lang="en-US" dirty="0"/>
              <a:t>BRCA1</a:t>
            </a:r>
            <a:endParaRPr lang="he-IL" dirty="0"/>
          </a:p>
          <a:p>
            <a:pPr marL="0" indent="0">
              <a:buNone/>
            </a:pPr>
            <a:endParaRPr lang="he-IL" dirty="0"/>
          </a:p>
          <a:p>
            <a:pPr marL="0" indent="0">
              <a:buNone/>
            </a:pPr>
            <a:endParaRPr lang="he-IL" dirty="0"/>
          </a:p>
          <a:p>
            <a:pPr marL="0" indent="0">
              <a:buNone/>
            </a:pPr>
            <a:r>
              <a:rPr lang="en-US" dirty="0"/>
              <a:t>What do we </a:t>
            </a:r>
            <a:r>
              <a:rPr lang="en-US" dirty="0" err="1"/>
              <a:t>exect</a:t>
            </a:r>
            <a:r>
              <a:rPr lang="en-US" dirty="0"/>
              <a:t>?</a:t>
            </a:r>
          </a:p>
          <a:p>
            <a:pPr marL="228600" indent="-228600">
              <a:buAutoNum type="arabicPeriod"/>
            </a:pPr>
            <a:r>
              <a:rPr lang="en-US" dirty="0"/>
              <a:t>More changes in the disease than </a:t>
            </a:r>
            <a:r>
              <a:rPr lang="en-US" dirty="0" err="1"/>
              <a:t>whan</a:t>
            </a:r>
            <a:r>
              <a:rPr lang="en-US" dirty="0"/>
              <a:t> we expect by chance</a:t>
            </a:r>
          </a:p>
          <a:p>
            <a:pPr marL="228600" indent="-228600">
              <a:buAutoNum type="arabicPeriod"/>
            </a:pPr>
            <a:r>
              <a:rPr lang="en-US" dirty="0"/>
              <a:t>Larger differences in expression then we expect by chance</a:t>
            </a:r>
          </a:p>
          <a:p>
            <a:pPr marL="228600" indent="-228600">
              <a:buAutoNum type="arabicPeriod"/>
            </a:pPr>
            <a:r>
              <a:rPr lang="en-US" dirty="0"/>
              <a:t>Bias towards changes in a specific direction (up/down regulation)</a:t>
            </a:r>
          </a:p>
          <a:p>
            <a:pPr marL="228600" indent="-228600">
              <a:buAutoNum type="arabicPeriod"/>
            </a:pPr>
            <a:endParaRPr lang="en-US" dirty="0"/>
          </a:p>
          <a:p>
            <a:pPr marL="0" indent="0">
              <a:buNone/>
            </a:pPr>
            <a:r>
              <a:rPr lang="en-US" dirty="0"/>
              <a:t>Many changes, large changes or biased changes.</a:t>
            </a:r>
            <a:endParaRPr lang="he-IL" dirty="0"/>
          </a:p>
        </p:txBody>
      </p:sp>
      <p:sp>
        <p:nvSpPr>
          <p:cNvPr id="4" name="מציין מיקום של מספר שקופית 3">
            <a:extLst>
              <a:ext uri="{FF2B5EF4-FFF2-40B4-BE49-F238E27FC236}">
                <a16:creationId xmlns:a16="http://schemas.microsoft.com/office/drawing/2014/main" id="{3C4809C4-AD29-B70F-8301-8B463E486C98}"/>
              </a:ext>
            </a:extLst>
          </p:cNvPr>
          <p:cNvSpPr>
            <a:spLocks noGrp="1"/>
          </p:cNvSpPr>
          <p:nvPr>
            <p:ph type="sldNum" sz="quarter" idx="5"/>
          </p:nvPr>
        </p:nvSpPr>
        <p:spPr/>
        <p:txBody>
          <a:bodyPr/>
          <a:lstStyle/>
          <a:p>
            <a:fld id="{64F50766-83A2-4A8D-A724-80D60639DE7B}" type="slidenum">
              <a:rPr lang="he-IL" smtClean="0"/>
              <a:t>7</a:t>
            </a:fld>
            <a:endParaRPr lang="he-IL"/>
          </a:p>
        </p:txBody>
      </p:sp>
    </p:spTree>
    <p:extLst>
      <p:ext uri="{BB962C8B-B14F-4D97-AF65-F5344CB8AC3E}">
        <p14:creationId xmlns:p14="http://schemas.microsoft.com/office/powerpoint/2010/main" val="39497101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21305-8C8C-DEC0-C100-69C12468E4D0}"/>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1177A6EC-A7D0-FE69-1258-265DDC435EDD}"/>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2B7FAE27-3668-21D0-122A-52754CF7C2F7}"/>
              </a:ext>
            </a:extLst>
          </p:cNvPr>
          <p:cNvSpPr>
            <a:spLocks noGrp="1"/>
          </p:cNvSpPr>
          <p:nvPr>
            <p:ph type="body" idx="1"/>
          </p:nvPr>
        </p:nvSpPr>
        <p:spPr/>
        <p:txBody>
          <a:bodyPr/>
          <a:lstStyle/>
          <a:p>
            <a:pPr marL="0" indent="0">
              <a:buNone/>
            </a:pPr>
            <a:r>
              <a:rPr lang="he-IL" dirty="0"/>
              <a:t>להציג את כל הדאטה שלנו (</a:t>
            </a:r>
            <a:r>
              <a:rPr lang="en-US" dirty="0"/>
              <a:t>meta plot</a:t>
            </a:r>
            <a:r>
              <a:rPr lang="he-IL" dirty="0"/>
              <a:t>). להגיד שברוב המקרים האנליזה שלנו לא אומרת כלום, יש טרנד כללי? מבחן בינומי לכל המחלות לראות אם יש העשרה ל</a:t>
            </a:r>
            <a:r>
              <a:rPr lang="en-US" dirty="0"/>
              <a:t>down</a:t>
            </a:r>
            <a:r>
              <a:rPr lang="he-IL" dirty="0"/>
              <a:t>? לתת דוגמה אחת ל</a:t>
            </a:r>
            <a:r>
              <a:rPr lang="en-US" dirty="0"/>
              <a:t>positive selection</a:t>
            </a:r>
            <a:r>
              <a:rPr lang="he-IL" dirty="0"/>
              <a:t> (</a:t>
            </a:r>
            <a:r>
              <a:rPr lang="en-US" dirty="0"/>
              <a:t>scoliosis</a:t>
            </a:r>
            <a:r>
              <a:rPr lang="he-IL" dirty="0"/>
              <a:t>) ואחת ל</a:t>
            </a:r>
            <a:r>
              <a:rPr lang="en-US" dirty="0"/>
              <a:t>negative</a:t>
            </a:r>
            <a:r>
              <a:rPr lang="he-IL" dirty="0"/>
              <a:t>. כשמראים דוגמה ספציפית – להראות </a:t>
            </a:r>
            <a:r>
              <a:rPr lang="en-US" dirty="0" err="1"/>
              <a:t>barplot</a:t>
            </a:r>
            <a:r>
              <a:rPr lang="he-IL" dirty="0"/>
              <a:t> ואז את הקורלציה שמראה את זה יותר טוב. מצאנו חתימות לסלקציה שלילית. להזכיר </a:t>
            </a:r>
            <a:r>
              <a:rPr lang="he-IL" dirty="0" err="1"/>
              <a:t>בסקוליוזיס</a:t>
            </a:r>
            <a:r>
              <a:rPr lang="he-IL" dirty="0"/>
              <a:t> מחלה מעניינת כנראה אבולוציה מואצת. אפשר להכניס כאן את הקורלציות של </a:t>
            </a:r>
            <a:r>
              <a:rPr lang="en-US" dirty="0"/>
              <a:t> counts</a:t>
            </a:r>
            <a:r>
              <a:rPr lang="he-IL" dirty="0"/>
              <a:t>. להכניס גם "קורלציה" של </a:t>
            </a:r>
            <a:r>
              <a:rPr lang="en-US" dirty="0"/>
              <a:t>scoliosis</a:t>
            </a:r>
            <a:r>
              <a:rPr lang="he-IL" dirty="0"/>
              <a:t> ולהגיד שהיה תוצאה מעניינת אז תיארנו את הדאטה ברזולוציה גבוהה יותר (בלי היפותזה מראש, לנסות להסביר מה המסקנה)</a:t>
            </a:r>
          </a:p>
        </p:txBody>
      </p:sp>
      <p:sp>
        <p:nvSpPr>
          <p:cNvPr id="4" name="מציין מיקום של מספר שקופית 3">
            <a:extLst>
              <a:ext uri="{FF2B5EF4-FFF2-40B4-BE49-F238E27FC236}">
                <a16:creationId xmlns:a16="http://schemas.microsoft.com/office/drawing/2014/main" id="{E20D9097-5EF1-AB8B-9282-A80D4260D4FB}"/>
              </a:ext>
            </a:extLst>
          </p:cNvPr>
          <p:cNvSpPr>
            <a:spLocks noGrp="1"/>
          </p:cNvSpPr>
          <p:nvPr>
            <p:ph type="sldNum" sz="quarter" idx="5"/>
          </p:nvPr>
        </p:nvSpPr>
        <p:spPr/>
        <p:txBody>
          <a:bodyPr/>
          <a:lstStyle/>
          <a:p>
            <a:fld id="{64F50766-83A2-4A8D-A724-80D60639DE7B}" type="slidenum">
              <a:rPr lang="he-IL" smtClean="0"/>
              <a:t>8</a:t>
            </a:fld>
            <a:endParaRPr lang="he-IL"/>
          </a:p>
        </p:txBody>
      </p:sp>
    </p:spTree>
    <p:extLst>
      <p:ext uri="{BB962C8B-B14F-4D97-AF65-F5344CB8AC3E}">
        <p14:creationId xmlns:p14="http://schemas.microsoft.com/office/powerpoint/2010/main" val="190819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AF0D2-B844-10D9-FE82-D64EBD735AFD}"/>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0F452C1A-0ABD-C9BD-AC84-CA1C12D3FE7D}"/>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8F605128-38F4-A284-587E-81AC4BF19895}"/>
              </a:ext>
            </a:extLst>
          </p:cNvPr>
          <p:cNvSpPr>
            <a:spLocks noGrp="1"/>
          </p:cNvSpPr>
          <p:nvPr>
            <p:ph type="body" idx="1"/>
          </p:nvPr>
        </p:nvSpPr>
        <p:spPr/>
        <p:txBody>
          <a:bodyPr/>
          <a:lstStyle/>
          <a:p>
            <a:pPr marL="0" indent="0">
              <a:buNone/>
            </a:pPr>
            <a:r>
              <a:rPr lang="en-US" dirty="0"/>
              <a:t>Show results of schizophrenia</a:t>
            </a:r>
            <a:endParaRPr lang="he-IL" dirty="0"/>
          </a:p>
          <a:p>
            <a:pPr marL="0" indent="0">
              <a:buNone/>
            </a:pPr>
            <a:endParaRPr lang="he-IL" dirty="0"/>
          </a:p>
          <a:p>
            <a:pPr marL="0" indent="0">
              <a:buNone/>
            </a:pPr>
            <a:r>
              <a:rPr lang="he-IL" dirty="0"/>
              <a:t>להוריד כותרות גנים</a:t>
            </a:r>
          </a:p>
        </p:txBody>
      </p:sp>
      <p:sp>
        <p:nvSpPr>
          <p:cNvPr id="4" name="מציין מיקום של מספר שקופית 3">
            <a:extLst>
              <a:ext uri="{FF2B5EF4-FFF2-40B4-BE49-F238E27FC236}">
                <a16:creationId xmlns:a16="http://schemas.microsoft.com/office/drawing/2014/main" id="{7E8B691E-326C-FF50-5C96-EE87C965F6E6}"/>
              </a:ext>
            </a:extLst>
          </p:cNvPr>
          <p:cNvSpPr>
            <a:spLocks noGrp="1"/>
          </p:cNvSpPr>
          <p:nvPr>
            <p:ph type="sldNum" sz="quarter" idx="5"/>
          </p:nvPr>
        </p:nvSpPr>
        <p:spPr/>
        <p:txBody>
          <a:bodyPr/>
          <a:lstStyle/>
          <a:p>
            <a:fld id="{64F50766-83A2-4A8D-A724-80D60639DE7B}" type="slidenum">
              <a:rPr lang="he-IL" smtClean="0"/>
              <a:t>9</a:t>
            </a:fld>
            <a:endParaRPr lang="he-IL"/>
          </a:p>
        </p:txBody>
      </p:sp>
    </p:spTree>
    <p:extLst>
      <p:ext uri="{BB962C8B-B14F-4D97-AF65-F5344CB8AC3E}">
        <p14:creationId xmlns:p14="http://schemas.microsoft.com/office/powerpoint/2010/main" val="22095481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26212-70A9-A733-1A69-5F7D78163263}"/>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9059067F-8F15-4E8E-30D6-8A623DF353BB}"/>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FA0F8C39-4129-2451-DFF5-E8C262C380E6}"/>
              </a:ext>
            </a:extLst>
          </p:cNvPr>
          <p:cNvSpPr>
            <a:spLocks noGrp="1"/>
          </p:cNvSpPr>
          <p:nvPr>
            <p:ph type="body" idx="1"/>
          </p:nvPr>
        </p:nvSpPr>
        <p:spPr/>
        <p:txBody>
          <a:bodyPr/>
          <a:lstStyle/>
          <a:p>
            <a:pPr marL="0" indent="0">
              <a:buNone/>
            </a:pPr>
            <a:r>
              <a:rPr lang="he-IL" dirty="0"/>
              <a:t>ציר </a:t>
            </a:r>
            <a:r>
              <a:rPr lang="en-US" dirty="0"/>
              <a:t>X</a:t>
            </a:r>
            <a:r>
              <a:rPr lang="he-IL" dirty="0"/>
              <a:t> – </a:t>
            </a:r>
            <a:r>
              <a:rPr lang="en-US" dirty="0"/>
              <a:t>percentile of absolute log </a:t>
            </a:r>
            <a:r>
              <a:rPr lang="en-US" dirty="0" err="1"/>
              <a:t>epresssion</a:t>
            </a:r>
            <a:r>
              <a:rPr lang="en-US" dirty="0"/>
              <a:t> change </a:t>
            </a:r>
          </a:p>
          <a:p>
            <a:pPr marL="0" indent="0">
              <a:buNone/>
            </a:pPr>
            <a:r>
              <a:rPr lang="he-IL" dirty="0"/>
              <a:t>ציר </a:t>
            </a:r>
            <a:r>
              <a:rPr lang="en-US" dirty="0"/>
              <a:t>Y</a:t>
            </a:r>
            <a:r>
              <a:rPr lang="he-IL" dirty="0"/>
              <a:t> – </a:t>
            </a:r>
            <a:r>
              <a:rPr lang="en-US" dirty="0"/>
              <a:t>log odd ratio</a:t>
            </a:r>
            <a:endParaRPr lang="he-IL" dirty="0"/>
          </a:p>
          <a:p>
            <a:pPr marL="0" indent="0">
              <a:buNone/>
            </a:pPr>
            <a:endParaRPr lang="he-IL" dirty="0"/>
          </a:p>
          <a:p>
            <a:pPr marL="0" indent="0">
              <a:buNone/>
            </a:pPr>
            <a:r>
              <a:rPr lang="en-US" dirty="0"/>
              <a:t>Spearman p-value</a:t>
            </a:r>
            <a:endParaRPr lang="he-IL" dirty="0"/>
          </a:p>
        </p:txBody>
      </p:sp>
      <p:sp>
        <p:nvSpPr>
          <p:cNvPr id="4" name="מציין מיקום של מספר שקופית 3">
            <a:extLst>
              <a:ext uri="{FF2B5EF4-FFF2-40B4-BE49-F238E27FC236}">
                <a16:creationId xmlns:a16="http://schemas.microsoft.com/office/drawing/2014/main" id="{8A8294CE-0703-035A-BC9C-B5917B284001}"/>
              </a:ext>
            </a:extLst>
          </p:cNvPr>
          <p:cNvSpPr>
            <a:spLocks noGrp="1"/>
          </p:cNvSpPr>
          <p:nvPr>
            <p:ph type="sldNum" sz="quarter" idx="5"/>
          </p:nvPr>
        </p:nvSpPr>
        <p:spPr/>
        <p:txBody>
          <a:bodyPr/>
          <a:lstStyle/>
          <a:p>
            <a:fld id="{64F50766-83A2-4A8D-A724-80D60639DE7B}" type="slidenum">
              <a:rPr lang="he-IL" smtClean="0"/>
              <a:t>10</a:t>
            </a:fld>
            <a:endParaRPr lang="he-IL"/>
          </a:p>
        </p:txBody>
      </p:sp>
    </p:spTree>
    <p:extLst>
      <p:ext uri="{BB962C8B-B14F-4D97-AF65-F5344CB8AC3E}">
        <p14:creationId xmlns:p14="http://schemas.microsoft.com/office/powerpoint/2010/main" val="8209520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7F39F-7E41-564C-4410-882D6CD27BC6}"/>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11079FB1-DB18-FE37-EBCE-7C3E504DF1E1}"/>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73387F61-0967-9EEF-BED0-2AF5A618B4D8}"/>
              </a:ext>
            </a:extLst>
          </p:cNvPr>
          <p:cNvSpPr>
            <a:spLocks noGrp="1"/>
          </p:cNvSpPr>
          <p:nvPr>
            <p:ph type="body" idx="1"/>
          </p:nvPr>
        </p:nvSpPr>
        <p:spPr/>
        <p:txBody>
          <a:bodyPr/>
          <a:lstStyle/>
          <a:p>
            <a:pPr marL="0" indent="0">
              <a:buNone/>
            </a:pPr>
            <a:r>
              <a:rPr lang="en-US" dirty="0"/>
              <a:t>CNCC in scoliosis: the closest we had to neural crest cells which are the cells that create the spine</a:t>
            </a:r>
            <a:endParaRPr lang="he-IL" dirty="0"/>
          </a:p>
        </p:txBody>
      </p:sp>
      <p:sp>
        <p:nvSpPr>
          <p:cNvPr id="4" name="מציין מיקום של מספר שקופית 3">
            <a:extLst>
              <a:ext uri="{FF2B5EF4-FFF2-40B4-BE49-F238E27FC236}">
                <a16:creationId xmlns:a16="http://schemas.microsoft.com/office/drawing/2014/main" id="{93C2699E-308A-8001-004F-97A0650B89F8}"/>
              </a:ext>
            </a:extLst>
          </p:cNvPr>
          <p:cNvSpPr>
            <a:spLocks noGrp="1"/>
          </p:cNvSpPr>
          <p:nvPr>
            <p:ph type="sldNum" sz="quarter" idx="5"/>
          </p:nvPr>
        </p:nvSpPr>
        <p:spPr/>
        <p:txBody>
          <a:bodyPr/>
          <a:lstStyle/>
          <a:p>
            <a:fld id="{64F50766-83A2-4A8D-A724-80D60639DE7B}" type="slidenum">
              <a:rPr lang="he-IL" smtClean="0"/>
              <a:t>11</a:t>
            </a:fld>
            <a:endParaRPr lang="he-IL"/>
          </a:p>
        </p:txBody>
      </p:sp>
    </p:spTree>
    <p:extLst>
      <p:ext uri="{BB962C8B-B14F-4D97-AF65-F5344CB8AC3E}">
        <p14:creationId xmlns:p14="http://schemas.microsoft.com/office/powerpoint/2010/main" val="12690632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CE47F-EFAD-EEBC-E1C5-FB0638A4C56D}"/>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45D6AD4D-CFCA-9376-A1D2-606A651DA247}"/>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0B508839-3212-2942-9ADE-D27C15AE7ECC}"/>
              </a:ext>
            </a:extLst>
          </p:cNvPr>
          <p:cNvSpPr>
            <a:spLocks noGrp="1"/>
          </p:cNvSpPr>
          <p:nvPr>
            <p:ph type="body" idx="1"/>
          </p:nvPr>
        </p:nvSpPr>
        <p:spPr/>
        <p:txBody>
          <a:bodyPr/>
          <a:lstStyle/>
          <a:p>
            <a:pPr marL="0" indent="0">
              <a:buNone/>
            </a:pPr>
            <a:r>
              <a:rPr lang="he-IL" dirty="0"/>
              <a:t>עכשיו אפשר </a:t>
            </a:r>
            <a:r>
              <a:rPr lang="he-IL" dirty="0" err="1"/>
              <a:t>להסתככל</a:t>
            </a:r>
            <a:r>
              <a:rPr lang="he-IL" dirty="0"/>
              <a:t> על </a:t>
            </a:r>
            <a:r>
              <a:rPr lang="en-US" dirty="0"/>
              <a:t>up/down</a:t>
            </a:r>
            <a:r>
              <a:rPr lang="he-IL" dirty="0"/>
              <a:t> – מעניין כי היינו מצפים שכל השינויים יהיו רנדומליים כלומר בערך חצי חצי (הטלת מטבע). גם כאן להראות את גל המחלות ואז להתמקד בסכיזופרניה (</a:t>
            </a:r>
            <a:r>
              <a:rPr lang="en-US" dirty="0"/>
              <a:t>scoliosis</a:t>
            </a:r>
            <a:r>
              <a:rPr lang="he-IL" dirty="0"/>
              <a:t>?). להראות את ההתפלגויות – רואים כמעט רק </a:t>
            </a:r>
            <a:r>
              <a:rPr lang="en-US" dirty="0"/>
              <a:t>up</a:t>
            </a:r>
            <a:r>
              <a:rPr lang="he-IL" dirty="0"/>
              <a:t> ב-</a:t>
            </a:r>
            <a:r>
              <a:rPr lang="en-US" dirty="0"/>
              <a:t>LFC</a:t>
            </a:r>
            <a:r>
              <a:rPr lang="he-IL" dirty="0"/>
              <a:t> גדול. לשים את השמות של הגנים </a:t>
            </a:r>
            <a:r>
              <a:rPr lang="he-IL" dirty="0" err="1"/>
              <a:t>הרלוונטים</a:t>
            </a:r>
            <a:r>
              <a:rPr lang="he-IL" dirty="0"/>
              <a:t> (לבדוק מה כל אחד מהם עושה)</a:t>
            </a:r>
            <a:r>
              <a:rPr lang="en-US" dirty="0"/>
              <a:t> </a:t>
            </a:r>
            <a:endParaRPr lang="he-IL" dirty="0"/>
          </a:p>
        </p:txBody>
      </p:sp>
      <p:sp>
        <p:nvSpPr>
          <p:cNvPr id="4" name="מציין מיקום של מספר שקופית 3">
            <a:extLst>
              <a:ext uri="{FF2B5EF4-FFF2-40B4-BE49-F238E27FC236}">
                <a16:creationId xmlns:a16="http://schemas.microsoft.com/office/drawing/2014/main" id="{1F28BC86-ECD4-5785-8BDC-8756CC2344C3}"/>
              </a:ext>
            </a:extLst>
          </p:cNvPr>
          <p:cNvSpPr>
            <a:spLocks noGrp="1"/>
          </p:cNvSpPr>
          <p:nvPr>
            <p:ph type="sldNum" sz="quarter" idx="5"/>
          </p:nvPr>
        </p:nvSpPr>
        <p:spPr/>
        <p:txBody>
          <a:bodyPr/>
          <a:lstStyle/>
          <a:p>
            <a:fld id="{64F50766-83A2-4A8D-A724-80D60639DE7B}" type="slidenum">
              <a:rPr lang="he-IL" smtClean="0"/>
              <a:t>12</a:t>
            </a:fld>
            <a:endParaRPr lang="he-IL"/>
          </a:p>
        </p:txBody>
      </p:sp>
    </p:spTree>
    <p:extLst>
      <p:ext uri="{BB962C8B-B14F-4D97-AF65-F5344CB8AC3E}">
        <p14:creationId xmlns:p14="http://schemas.microsoft.com/office/powerpoint/2010/main" val="30204559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7CE6E-40E9-64A3-3959-45DFBF6F940B}"/>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0226E3EC-E8C5-9567-8EB2-497A90773563}"/>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B08FBAE3-90D9-9DE3-4496-72A150060896}"/>
              </a:ext>
            </a:extLst>
          </p:cNvPr>
          <p:cNvSpPr>
            <a:spLocks noGrp="1"/>
          </p:cNvSpPr>
          <p:nvPr>
            <p:ph type="body" idx="1"/>
          </p:nvPr>
        </p:nvSpPr>
        <p:spPr/>
        <p:txBody>
          <a:bodyPr/>
          <a:lstStyle/>
          <a:p>
            <a:pPr marL="0" indent="0">
              <a:buNone/>
            </a:pPr>
            <a:r>
              <a:rPr lang="he-IL" dirty="0"/>
              <a:t>עכשיו אפשר </a:t>
            </a:r>
            <a:r>
              <a:rPr lang="he-IL" dirty="0" err="1"/>
              <a:t>להסתככל</a:t>
            </a:r>
            <a:r>
              <a:rPr lang="he-IL" dirty="0"/>
              <a:t> על </a:t>
            </a:r>
            <a:r>
              <a:rPr lang="en-US" dirty="0"/>
              <a:t>up/down</a:t>
            </a:r>
            <a:r>
              <a:rPr lang="he-IL" dirty="0"/>
              <a:t> – מעניין כי היינו מצפים שכל השינויים יהיו רנדומליים כלומר בערך חצי חצי (הטלת מטבע). גם כאן להראות את גל המחלות ואז להתמקד בסכיזופרניה (</a:t>
            </a:r>
            <a:r>
              <a:rPr lang="en-US" dirty="0"/>
              <a:t>scoliosis</a:t>
            </a:r>
            <a:r>
              <a:rPr lang="he-IL" dirty="0"/>
              <a:t>?). להראות את ההתפלגויות – רואים כמעט רק </a:t>
            </a:r>
            <a:r>
              <a:rPr lang="en-US" dirty="0"/>
              <a:t>up</a:t>
            </a:r>
            <a:r>
              <a:rPr lang="he-IL" dirty="0"/>
              <a:t> ב-</a:t>
            </a:r>
            <a:r>
              <a:rPr lang="en-US" dirty="0"/>
              <a:t>LFC</a:t>
            </a:r>
            <a:r>
              <a:rPr lang="he-IL" dirty="0"/>
              <a:t> גדול. לשים את השמות של הגנים </a:t>
            </a:r>
            <a:r>
              <a:rPr lang="he-IL" dirty="0" err="1"/>
              <a:t>הרלוונטים</a:t>
            </a:r>
            <a:r>
              <a:rPr lang="he-IL" dirty="0"/>
              <a:t> (לבדוק מה כל אחד מהם עושה)</a:t>
            </a:r>
            <a:r>
              <a:rPr lang="en-US" dirty="0"/>
              <a:t> </a:t>
            </a:r>
            <a:endParaRPr lang="he-IL" dirty="0"/>
          </a:p>
        </p:txBody>
      </p:sp>
      <p:sp>
        <p:nvSpPr>
          <p:cNvPr id="4" name="מציין מיקום של מספר שקופית 3">
            <a:extLst>
              <a:ext uri="{FF2B5EF4-FFF2-40B4-BE49-F238E27FC236}">
                <a16:creationId xmlns:a16="http://schemas.microsoft.com/office/drawing/2014/main" id="{B5455A0D-80BE-8186-5900-A61BBA5CAC3B}"/>
              </a:ext>
            </a:extLst>
          </p:cNvPr>
          <p:cNvSpPr>
            <a:spLocks noGrp="1"/>
          </p:cNvSpPr>
          <p:nvPr>
            <p:ph type="sldNum" sz="quarter" idx="5"/>
          </p:nvPr>
        </p:nvSpPr>
        <p:spPr/>
        <p:txBody>
          <a:bodyPr/>
          <a:lstStyle/>
          <a:p>
            <a:fld id="{64F50766-83A2-4A8D-A724-80D60639DE7B}" type="slidenum">
              <a:rPr lang="he-IL" smtClean="0"/>
              <a:t>13</a:t>
            </a:fld>
            <a:endParaRPr lang="he-IL"/>
          </a:p>
        </p:txBody>
      </p:sp>
    </p:spTree>
    <p:extLst>
      <p:ext uri="{BB962C8B-B14F-4D97-AF65-F5344CB8AC3E}">
        <p14:creationId xmlns:p14="http://schemas.microsoft.com/office/powerpoint/2010/main" val="597870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29728-450A-36BC-31B5-6C23E9D523D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73EDB38C-F0EF-B15E-B2CC-79785C0943B1}"/>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0C3E10AA-E26B-BD0E-A11F-980EFF6D4105}"/>
              </a:ext>
            </a:extLst>
          </p:cNvPr>
          <p:cNvSpPr>
            <a:spLocks noGrp="1"/>
          </p:cNvSpPr>
          <p:nvPr>
            <p:ph type="body" idx="1"/>
          </p:nvPr>
        </p:nvSpPr>
        <p:spPr/>
        <p:txBody>
          <a:bodyPr/>
          <a:lstStyle/>
          <a:p>
            <a:pPr marL="0" indent="0">
              <a:buNone/>
            </a:pPr>
            <a:r>
              <a:rPr lang="en-US" dirty="0"/>
              <a:t>Skeletal myocytes in scoliosis: undergo changes due to the change in curve, including asymmetry in muscle mass and alteration in fiber type distributions. These muscle imbalance are thought to contribute to the progression or maintenance of the scoliosis curve.</a:t>
            </a:r>
          </a:p>
          <a:p>
            <a:pPr marL="0" indent="0">
              <a:buNone/>
            </a:pPr>
            <a:endParaRPr lang="en-US" dirty="0"/>
          </a:p>
          <a:p>
            <a:pPr marL="0" indent="0">
              <a:buNone/>
            </a:pPr>
            <a:r>
              <a:rPr lang="en-US" dirty="0" err="1"/>
              <a:t>Prechondral</a:t>
            </a:r>
            <a:r>
              <a:rPr lang="en-US" dirty="0"/>
              <a:t> mesenchyme in scoliosis: these are cells surrounding cartilage, that have an effect on bone formation (ossification) and can be implicated in the development of scoliosis.</a:t>
            </a:r>
            <a:endParaRPr lang="he-IL" dirty="0"/>
          </a:p>
        </p:txBody>
      </p:sp>
      <p:sp>
        <p:nvSpPr>
          <p:cNvPr id="4" name="מציין מיקום של מספר שקופית 3">
            <a:extLst>
              <a:ext uri="{FF2B5EF4-FFF2-40B4-BE49-F238E27FC236}">
                <a16:creationId xmlns:a16="http://schemas.microsoft.com/office/drawing/2014/main" id="{B1C3CB56-48BD-2925-614A-3F53F9A05B28}"/>
              </a:ext>
            </a:extLst>
          </p:cNvPr>
          <p:cNvSpPr>
            <a:spLocks noGrp="1"/>
          </p:cNvSpPr>
          <p:nvPr>
            <p:ph type="sldNum" sz="quarter" idx="5"/>
          </p:nvPr>
        </p:nvSpPr>
        <p:spPr/>
        <p:txBody>
          <a:bodyPr/>
          <a:lstStyle/>
          <a:p>
            <a:fld id="{64F50766-83A2-4A8D-A724-80D60639DE7B}" type="slidenum">
              <a:rPr lang="he-IL" smtClean="0"/>
              <a:t>14</a:t>
            </a:fld>
            <a:endParaRPr lang="he-IL"/>
          </a:p>
        </p:txBody>
      </p:sp>
    </p:spTree>
    <p:extLst>
      <p:ext uri="{BB962C8B-B14F-4D97-AF65-F5344CB8AC3E}">
        <p14:creationId xmlns:p14="http://schemas.microsoft.com/office/powerpoint/2010/main" val="35060974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65781-3F90-157D-C897-2881FC453A43}"/>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B316FC19-9BAF-FEBC-E0B6-8600A9870135}"/>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97838D89-60F4-8484-2D3E-5DC7D8A304AC}"/>
              </a:ext>
            </a:extLst>
          </p:cNvPr>
          <p:cNvSpPr>
            <a:spLocks noGrp="1"/>
          </p:cNvSpPr>
          <p:nvPr>
            <p:ph type="body" idx="1"/>
          </p:nvPr>
        </p:nvSpPr>
        <p:spPr/>
        <p:txBody>
          <a:bodyPr/>
          <a:lstStyle/>
          <a:p>
            <a:pPr marL="0" indent="0">
              <a:buNone/>
            </a:pPr>
            <a:r>
              <a:rPr lang="en-US" dirty="0"/>
              <a:t>Schizophrenia </a:t>
            </a:r>
            <a:r>
              <a:rPr lang="en-US" dirty="0" err="1"/>
              <a:t>upregulatipn</a:t>
            </a:r>
            <a:r>
              <a:rPr lang="en-US" dirty="0"/>
              <a:t>:</a:t>
            </a:r>
            <a:br>
              <a:rPr lang="en-US" dirty="0"/>
            </a:br>
            <a:br>
              <a:rPr lang="en-US" dirty="0"/>
            </a:br>
            <a:r>
              <a:rPr lang="en-US" dirty="0"/>
              <a:t>https://febs.onlinelibrary.wiley.com/doi/full/10.1111/j.1742-4658.2011.08390.x</a:t>
            </a:r>
            <a:br>
              <a:rPr lang="en-US" dirty="0"/>
            </a:br>
            <a:r>
              <a:rPr lang="en-US" dirty="0"/>
              <a:t>https://www.pnas.org/doi/abs/10.1073/pnas.032069099</a:t>
            </a:r>
            <a:br>
              <a:rPr lang="en-US" dirty="0"/>
            </a:br>
            <a:r>
              <a:rPr lang="en-US" dirty="0"/>
              <a:t>https://www.sciencedirect.com/science/article/pii/S0006899305018433</a:t>
            </a:r>
            <a:br>
              <a:rPr lang="en-US" dirty="0"/>
            </a:br>
            <a:r>
              <a:rPr lang="en-US" dirty="0"/>
              <a:t>https://www.pnas.org/doi/abs/10.1073/pnas.0507666102</a:t>
            </a:r>
            <a:br>
              <a:rPr lang="en-US" dirty="0"/>
            </a:br>
            <a:endParaRPr lang="he-IL" dirty="0"/>
          </a:p>
        </p:txBody>
      </p:sp>
      <p:sp>
        <p:nvSpPr>
          <p:cNvPr id="4" name="מציין מיקום של מספר שקופית 3">
            <a:extLst>
              <a:ext uri="{FF2B5EF4-FFF2-40B4-BE49-F238E27FC236}">
                <a16:creationId xmlns:a16="http://schemas.microsoft.com/office/drawing/2014/main" id="{3A6415D3-4080-29C4-58C0-BDBA108B0739}"/>
              </a:ext>
            </a:extLst>
          </p:cNvPr>
          <p:cNvSpPr>
            <a:spLocks noGrp="1"/>
          </p:cNvSpPr>
          <p:nvPr>
            <p:ph type="sldNum" sz="quarter" idx="5"/>
          </p:nvPr>
        </p:nvSpPr>
        <p:spPr/>
        <p:txBody>
          <a:bodyPr/>
          <a:lstStyle/>
          <a:p>
            <a:fld id="{64F50766-83A2-4A8D-A724-80D60639DE7B}" type="slidenum">
              <a:rPr lang="he-IL" smtClean="0"/>
              <a:t>15</a:t>
            </a:fld>
            <a:endParaRPr lang="he-IL"/>
          </a:p>
        </p:txBody>
      </p:sp>
    </p:spTree>
    <p:extLst>
      <p:ext uri="{BB962C8B-B14F-4D97-AF65-F5344CB8AC3E}">
        <p14:creationId xmlns:p14="http://schemas.microsoft.com/office/powerpoint/2010/main" val="264229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A51DB04-3D8C-AEF5-6506-2DED8C7DAC89}"/>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BCB169B8-304F-A100-92EF-C74FD28A4B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88EE4784-A498-4E04-0CED-17266D15E93F}"/>
              </a:ext>
            </a:extLst>
          </p:cNvPr>
          <p:cNvSpPr>
            <a:spLocks noGrp="1"/>
          </p:cNvSpPr>
          <p:nvPr>
            <p:ph type="dt" sz="half" idx="10"/>
          </p:nvPr>
        </p:nvSpPr>
        <p:spPr/>
        <p:txBody>
          <a:bodyPr/>
          <a:lstStyle/>
          <a:p>
            <a:fld id="{6DE0D5A3-2E05-4112-9EB1-5EAD16F63788}" type="datetimeFigureOut">
              <a:rPr lang="he-IL" smtClean="0"/>
              <a:t>י"ד/תמוז/תשפ"ה</a:t>
            </a:fld>
            <a:endParaRPr lang="he-IL"/>
          </a:p>
        </p:txBody>
      </p:sp>
      <p:sp>
        <p:nvSpPr>
          <p:cNvPr id="5" name="מציין מיקום של כותרת תחתונה 4">
            <a:extLst>
              <a:ext uri="{FF2B5EF4-FFF2-40B4-BE49-F238E27FC236}">
                <a16:creationId xmlns:a16="http://schemas.microsoft.com/office/drawing/2014/main" id="{1A7168D7-178F-CA7D-C494-3F5576980C06}"/>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3E80F866-0628-F184-2FB8-F59315A3611F}"/>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281354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5AA6AD4-184C-BCF7-AF7C-5060ECC2C39B}"/>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B36B6651-F1B4-DD50-16C2-D19C02F8064B}"/>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3DBFF1AB-2DED-DE4F-7F2B-A07A949044BE}"/>
              </a:ext>
            </a:extLst>
          </p:cNvPr>
          <p:cNvSpPr>
            <a:spLocks noGrp="1"/>
          </p:cNvSpPr>
          <p:nvPr>
            <p:ph type="dt" sz="half" idx="10"/>
          </p:nvPr>
        </p:nvSpPr>
        <p:spPr/>
        <p:txBody>
          <a:bodyPr/>
          <a:lstStyle/>
          <a:p>
            <a:fld id="{6DE0D5A3-2E05-4112-9EB1-5EAD16F63788}" type="datetimeFigureOut">
              <a:rPr lang="he-IL" smtClean="0"/>
              <a:t>י"ד/תמוז/תשפ"ה</a:t>
            </a:fld>
            <a:endParaRPr lang="he-IL"/>
          </a:p>
        </p:txBody>
      </p:sp>
      <p:sp>
        <p:nvSpPr>
          <p:cNvPr id="5" name="מציין מיקום של כותרת תחתונה 4">
            <a:extLst>
              <a:ext uri="{FF2B5EF4-FFF2-40B4-BE49-F238E27FC236}">
                <a16:creationId xmlns:a16="http://schemas.microsoft.com/office/drawing/2014/main" id="{E2EFEB77-065B-8032-2FC4-E1357C759A1D}"/>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386E4222-DF67-6F55-8031-9FA8467CD869}"/>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4081282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63C1236-869A-6220-C69F-97F1AC63B69E}"/>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EC085C67-4387-23AC-5B77-E51A0078274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DCE75541-259A-2B25-9257-3F9B227586FB}"/>
              </a:ext>
            </a:extLst>
          </p:cNvPr>
          <p:cNvSpPr>
            <a:spLocks noGrp="1"/>
          </p:cNvSpPr>
          <p:nvPr>
            <p:ph type="dt" sz="half" idx="10"/>
          </p:nvPr>
        </p:nvSpPr>
        <p:spPr/>
        <p:txBody>
          <a:bodyPr/>
          <a:lstStyle/>
          <a:p>
            <a:fld id="{6DE0D5A3-2E05-4112-9EB1-5EAD16F63788}" type="datetimeFigureOut">
              <a:rPr lang="he-IL" smtClean="0"/>
              <a:t>י"ד/תמוז/תשפ"ה</a:t>
            </a:fld>
            <a:endParaRPr lang="he-IL"/>
          </a:p>
        </p:txBody>
      </p:sp>
      <p:sp>
        <p:nvSpPr>
          <p:cNvPr id="5" name="מציין מיקום של כותרת תחתונה 4">
            <a:extLst>
              <a:ext uri="{FF2B5EF4-FFF2-40B4-BE49-F238E27FC236}">
                <a16:creationId xmlns:a16="http://schemas.microsoft.com/office/drawing/2014/main" id="{756731F9-BDCE-09B6-EA85-8F26448EF421}"/>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6C95EB39-6079-9D56-C39D-26B901792900}"/>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2846534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0BC4AB2-697E-9548-E2FD-D9E597F3ADA4}"/>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77355AA3-5AF9-D774-A30E-CB86F3ADCB9C}"/>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4EF799D9-DD49-BD94-E206-E02B38DEA1C0}"/>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F9F70553-6CE9-496F-CF6F-E4EC2F8B2D15}"/>
              </a:ext>
            </a:extLst>
          </p:cNvPr>
          <p:cNvSpPr>
            <a:spLocks noGrp="1"/>
          </p:cNvSpPr>
          <p:nvPr>
            <p:ph type="dt" sz="half" idx="10"/>
          </p:nvPr>
        </p:nvSpPr>
        <p:spPr/>
        <p:txBody>
          <a:bodyPr/>
          <a:lstStyle/>
          <a:p>
            <a:fld id="{6DE0D5A3-2E05-4112-9EB1-5EAD16F63788}" type="datetimeFigureOut">
              <a:rPr lang="he-IL" smtClean="0"/>
              <a:t>י"ד/תמוז/תשפ"ה</a:t>
            </a:fld>
            <a:endParaRPr lang="he-IL"/>
          </a:p>
        </p:txBody>
      </p:sp>
      <p:sp>
        <p:nvSpPr>
          <p:cNvPr id="6" name="מציין מיקום של כותרת תחתונה 5">
            <a:extLst>
              <a:ext uri="{FF2B5EF4-FFF2-40B4-BE49-F238E27FC236}">
                <a16:creationId xmlns:a16="http://schemas.microsoft.com/office/drawing/2014/main" id="{10251B85-008F-9246-E0A6-D44306EE64C3}"/>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F3821373-146F-3CBD-BBC1-659C98717FE1}"/>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176241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D7BF52F-EFD2-ECD6-6CA3-86DF97ED2FBB}"/>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B7BA7F05-20E2-AEA6-E6CF-5A24B18766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553B7E6A-8520-D25A-33AF-6C0BC6E7AE0D}"/>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2C6FDC96-5FC2-E61A-A945-EC5615950D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758174EB-39D9-D2DA-9677-9EB3762C2C75}"/>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C045699C-3E63-7FD7-C1F3-1E7497288A45}"/>
              </a:ext>
            </a:extLst>
          </p:cNvPr>
          <p:cNvSpPr>
            <a:spLocks noGrp="1"/>
          </p:cNvSpPr>
          <p:nvPr>
            <p:ph type="dt" sz="half" idx="10"/>
          </p:nvPr>
        </p:nvSpPr>
        <p:spPr/>
        <p:txBody>
          <a:bodyPr/>
          <a:lstStyle/>
          <a:p>
            <a:fld id="{6DE0D5A3-2E05-4112-9EB1-5EAD16F63788}" type="datetimeFigureOut">
              <a:rPr lang="he-IL" smtClean="0"/>
              <a:t>י"ד/תמוז/תשפ"ה</a:t>
            </a:fld>
            <a:endParaRPr lang="he-IL"/>
          </a:p>
        </p:txBody>
      </p:sp>
      <p:sp>
        <p:nvSpPr>
          <p:cNvPr id="8" name="מציין מיקום של כותרת תחתונה 7">
            <a:extLst>
              <a:ext uri="{FF2B5EF4-FFF2-40B4-BE49-F238E27FC236}">
                <a16:creationId xmlns:a16="http://schemas.microsoft.com/office/drawing/2014/main" id="{5BAC47FF-8AAA-40A1-4EFE-2FC353F9FE8C}"/>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270406A7-E97E-EEBA-040A-9FC31234C038}"/>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609959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3A86492-0542-A6B8-0410-F1C751499BDC}"/>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4711C620-6586-75DC-8BA0-B36C141729A1}"/>
              </a:ext>
            </a:extLst>
          </p:cNvPr>
          <p:cNvSpPr>
            <a:spLocks noGrp="1"/>
          </p:cNvSpPr>
          <p:nvPr>
            <p:ph type="dt" sz="half" idx="10"/>
          </p:nvPr>
        </p:nvSpPr>
        <p:spPr/>
        <p:txBody>
          <a:bodyPr/>
          <a:lstStyle/>
          <a:p>
            <a:fld id="{6DE0D5A3-2E05-4112-9EB1-5EAD16F63788}" type="datetimeFigureOut">
              <a:rPr lang="he-IL" smtClean="0"/>
              <a:t>י"ד/תמוז/תשפ"ה</a:t>
            </a:fld>
            <a:endParaRPr lang="he-IL"/>
          </a:p>
        </p:txBody>
      </p:sp>
      <p:sp>
        <p:nvSpPr>
          <p:cNvPr id="4" name="מציין מיקום של כותרת תחתונה 3">
            <a:extLst>
              <a:ext uri="{FF2B5EF4-FFF2-40B4-BE49-F238E27FC236}">
                <a16:creationId xmlns:a16="http://schemas.microsoft.com/office/drawing/2014/main" id="{83ED5236-5D43-4C88-99B9-FB3BFA1518A6}"/>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2FFB032E-C763-5193-2952-36FB16C27E67}"/>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4031992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65447864-07B9-E599-2EAC-FB2ABEE5923C}"/>
              </a:ext>
            </a:extLst>
          </p:cNvPr>
          <p:cNvSpPr>
            <a:spLocks noGrp="1"/>
          </p:cNvSpPr>
          <p:nvPr>
            <p:ph type="dt" sz="half" idx="10"/>
          </p:nvPr>
        </p:nvSpPr>
        <p:spPr/>
        <p:txBody>
          <a:bodyPr/>
          <a:lstStyle/>
          <a:p>
            <a:fld id="{6DE0D5A3-2E05-4112-9EB1-5EAD16F63788}" type="datetimeFigureOut">
              <a:rPr lang="he-IL" smtClean="0"/>
              <a:t>י"ד/תמוז/תשפ"ה</a:t>
            </a:fld>
            <a:endParaRPr lang="he-IL"/>
          </a:p>
        </p:txBody>
      </p:sp>
      <p:sp>
        <p:nvSpPr>
          <p:cNvPr id="3" name="מציין מיקום של כותרת תחתונה 2">
            <a:extLst>
              <a:ext uri="{FF2B5EF4-FFF2-40B4-BE49-F238E27FC236}">
                <a16:creationId xmlns:a16="http://schemas.microsoft.com/office/drawing/2014/main" id="{35DC4AE1-0EE6-9AA2-315A-304095A4350D}"/>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1FD4E024-A722-4112-9748-5B02773AD310}"/>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162972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75EFADD-78FE-7CC0-A374-CD0567C014D8}"/>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ECAECB93-48EC-D0E8-51BF-077A511E71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7258BB89-1D12-9686-6564-1334F9FA17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488E65D8-48D2-B397-EBD3-E7793F34D307}"/>
              </a:ext>
            </a:extLst>
          </p:cNvPr>
          <p:cNvSpPr>
            <a:spLocks noGrp="1"/>
          </p:cNvSpPr>
          <p:nvPr>
            <p:ph type="dt" sz="half" idx="10"/>
          </p:nvPr>
        </p:nvSpPr>
        <p:spPr/>
        <p:txBody>
          <a:bodyPr/>
          <a:lstStyle/>
          <a:p>
            <a:fld id="{6DE0D5A3-2E05-4112-9EB1-5EAD16F63788}" type="datetimeFigureOut">
              <a:rPr lang="he-IL" smtClean="0"/>
              <a:t>י"ד/תמוז/תשפ"ה</a:t>
            </a:fld>
            <a:endParaRPr lang="he-IL"/>
          </a:p>
        </p:txBody>
      </p:sp>
      <p:sp>
        <p:nvSpPr>
          <p:cNvPr id="6" name="מציין מיקום של כותרת תחתונה 5">
            <a:extLst>
              <a:ext uri="{FF2B5EF4-FFF2-40B4-BE49-F238E27FC236}">
                <a16:creationId xmlns:a16="http://schemas.microsoft.com/office/drawing/2014/main" id="{DB5DD021-4281-E5CA-49E6-3577F0174059}"/>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698F8BE1-5B49-CE4B-11C5-A4A449C64400}"/>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4118898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3884B11-B311-564C-DBC1-F9FD9BE0FD7B}"/>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28D561BD-E667-6B5A-994F-CE5A4A78EC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8DD05131-990D-1D79-54DD-9BA92664BE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DD6CCBB5-4FA4-8112-064A-66A13B6D30B6}"/>
              </a:ext>
            </a:extLst>
          </p:cNvPr>
          <p:cNvSpPr>
            <a:spLocks noGrp="1"/>
          </p:cNvSpPr>
          <p:nvPr>
            <p:ph type="dt" sz="half" idx="10"/>
          </p:nvPr>
        </p:nvSpPr>
        <p:spPr/>
        <p:txBody>
          <a:bodyPr/>
          <a:lstStyle/>
          <a:p>
            <a:fld id="{6DE0D5A3-2E05-4112-9EB1-5EAD16F63788}" type="datetimeFigureOut">
              <a:rPr lang="he-IL" smtClean="0"/>
              <a:t>י"ד/תמוז/תשפ"ה</a:t>
            </a:fld>
            <a:endParaRPr lang="he-IL"/>
          </a:p>
        </p:txBody>
      </p:sp>
      <p:sp>
        <p:nvSpPr>
          <p:cNvPr id="6" name="מציין מיקום של כותרת תחתונה 5">
            <a:extLst>
              <a:ext uri="{FF2B5EF4-FFF2-40B4-BE49-F238E27FC236}">
                <a16:creationId xmlns:a16="http://schemas.microsoft.com/office/drawing/2014/main" id="{2A154919-9D99-9619-23A4-941F60FBF64B}"/>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CECCC28A-15B4-F06F-6EE8-7C90A4332192}"/>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35971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E7B4721-45A3-8759-6F61-1B6BF1B4EBE3}"/>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99AEA923-A52A-67C4-5B82-4F6B6EEB0542}"/>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F81F216B-4FBD-31B4-5A50-A706F1478EC2}"/>
              </a:ext>
            </a:extLst>
          </p:cNvPr>
          <p:cNvSpPr>
            <a:spLocks noGrp="1"/>
          </p:cNvSpPr>
          <p:nvPr>
            <p:ph type="dt" sz="half" idx="10"/>
          </p:nvPr>
        </p:nvSpPr>
        <p:spPr/>
        <p:txBody>
          <a:bodyPr/>
          <a:lstStyle/>
          <a:p>
            <a:fld id="{6DE0D5A3-2E05-4112-9EB1-5EAD16F63788}" type="datetimeFigureOut">
              <a:rPr lang="he-IL" smtClean="0"/>
              <a:t>י"ד/תמוז/תשפ"ה</a:t>
            </a:fld>
            <a:endParaRPr lang="he-IL"/>
          </a:p>
        </p:txBody>
      </p:sp>
      <p:sp>
        <p:nvSpPr>
          <p:cNvPr id="5" name="מציין מיקום של כותרת תחתונה 4">
            <a:extLst>
              <a:ext uri="{FF2B5EF4-FFF2-40B4-BE49-F238E27FC236}">
                <a16:creationId xmlns:a16="http://schemas.microsoft.com/office/drawing/2014/main" id="{FD3836EF-7213-40AE-F3FB-B601F32AF3B3}"/>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7412C3E8-3E2F-2BFC-E576-6957AC2F2198}"/>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3417816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A51FC54E-DB5A-DAD1-2434-07B5E27D3CAF}"/>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268F72F8-9E37-EAAC-D900-530639C66B9E}"/>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BEE4EC31-A497-84C6-2667-8555A11CCACD}"/>
              </a:ext>
            </a:extLst>
          </p:cNvPr>
          <p:cNvSpPr>
            <a:spLocks noGrp="1"/>
          </p:cNvSpPr>
          <p:nvPr>
            <p:ph type="dt" sz="half" idx="10"/>
          </p:nvPr>
        </p:nvSpPr>
        <p:spPr/>
        <p:txBody>
          <a:bodyPr/>
          <a:lstStyle/>
          <a:p>
            <a:fld id="{6DE0D5A3-2E05-4112-9EB1-5EAD16F63788}" type="datetimeFigureOut">
              <a:rPr lang="he-IL" smtClean="0"/>
              <a:t>י"ד/תמוז/תשפ"ה</a:t>
            </a:fld>
            <a:endParaRPr lang="he-IL"/>
          </a:p>
        </p:txBody>
      </p:sp>
      <p:sp>
        <p:nvSpPr>
          <p:cNvPr id="5" name="מציין מיקום של כותרת תחתונה 4">
            <a:extLst>
              <a:ext uri="{FF2B5EF4-FFF2-40B4-BE49-F238E27FC236}">
                <a16:creationId xmlns:a16="http://schemas.microsoft.com/office/drawing/2014/main" id="{F1669A26-57BC-A406-EECE-DF05A15F158C}"/>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95918E1A-00FE-B950-E1B7-999B61204CA6}"/>
              </a:ext>
            </a:extLst>
          </p:cNvPr>
          <p:cNvSpPr>
            <a:spLocks noGrp="1"/>
          </p:cNvSpPr>
          <p:nvPr>
            <p:ph type="sldNum" sz="quarter" idx="12"/>
          </p:nvPr>
        </p:nvSpPr>
        <p:spPr/>
        <p:txBody>
          <a:bodyPr/>
          <a:lstStyle/>
          <a:p>
            <a:fld id="{97ACF353-F54E-4338-80C2-CC503C46D57B}" type="slidenum">
              <a:rPr lang="he-IL" smtClean="0"/>
              <a:t>‹#›</a:t>
            </a:fld>
            <a:endParaRPr lang="he-IL"/>
          </a:p>
        </p:txBody>
      </p:sp>
    </p:spTree>
    <p:extLst>
      <p:ext uri="{BB962C8B-B14F-4D97-AF65-F5344CB8AC3E}">
        <p14:creationId xmlns:p14="http://schemas.microsoft.com/office/powerpoint/2010/main" val="1324501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9471C646-C5F3-9F1F-0977-22CFFF277D34}"/>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2F9031AE-1217-D6AD-0028-CDB31A3BE574}"/>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174CFE58-9B1E-ECC6-25BF-E5741DFF4527}"/>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6DE0D5A3-2E05-4112-9EB1-5EAD16F63788}" type="datetimeFigureOut">
              <a:rPr lang="he-IL" smtClean="0"/>
              <a:t>י"ד/תמוז/תשפ"ה</a:t>
            </a:fld>
            <a:endParaRPr lang="he-IL"/>
          </a:p>
        </p:txBody>
      </p:sp>
      <p:sp>
        <p:nvSpPr>
          <p:cNvPr id="5" name="מציין מיקום של כותרת תחתונה 4">
            <a:extLst>
              <a:ext uri="{FF2B5EF4-FFF2-40B4-BE49-F238E27FC236}">
                <a16:creationId xmlns:a16="http://schemas.microsoft.com/office/drawing/2014/main" id="{1BB82D60-7E70-C07F-A095-45FA469B0C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2C6D2401-1DEC-7695-647B-DAF05A2E4608}"/>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97ACF353-F54E-4338-80C2-CC503C46D57B}" type="slidenum">
              <a:rPr lang="he-IL" smtClean="0"/>
              <a:t>‹#›</a:t>
            </a:fld>
            <a:endParaRPr lang="he-IL"/>
          </a:p>
        </p:txBody>
      </p:sp>
    </p:spTree>
    <p:extLst>
      <p:ext uri="{BB962C8B-B14F-4D97-AF65-F5344CB8AC3E}">
        <p14:creationId xmlns:p14="http://schemas.microsoft.com/office/powerpoint/2010/main" val="29043552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8" Type="http://schemas.openxmlformats.org/officeDocument/2006/relationships/hyperlink" Target="http://www.pngall.com/germs-png/download/38224" TargetMode="External"/><Relationship Id="rId13" Type="http://schemas.microsoft.com/office/2007/relationships/hdphoto" Target="../media/hdphoto3.wdp"/><Relationship Id="rId18" Type="http://schemas.openxmlformats.org/officeDocument/2006/relationships/image" Target="../media/image12.png"/><Relationship Id="rId3" Type="http://schemas.openxmlformats.org/officeDocument/2006/relationships/image" Target="../media/image6.png"/><Relationship Id="rId21" Type="http://schemas.openxmlformats.org/officeDocument/2006/relationships/image" Target="../media/image14.png"/><Relationship Id="rId7" Type="http://schemas.openxmlformats.org/officeDocument/2006/relationships/image" Target="../media/image8.png"/><Relationship Id="rId12" Type="http://schemas.openxmlformats.org/officeDocument/2006/relationships/image" Target="../media/image10.png"/><Relationship Id="rId17" Type="http://schemas.openxmlformats.org/officeDocument/2006/relationships/hyperlink" Target="https://pixabay.com/en/chemical-science-science-icon-1293762/" TargetMode="External"/><Relationship Id="rId25" Type="http://schemas.openxmlformats.org/officeDocument/2006/relationships/image" Target="../media/image17.tiff"/><Relationship Id="rId2" Type="http://schemas.openxmlformats.org/officeDocument/2006/relationships/notesSlide" Target="../notesSlides/notesSlide3.xml"/><Relationship Id="rId16" Type="http://schemas.openxmlformats.org/officeDocument/2006/relationships/image" Target="../media/image11.png"/><Relationship Id="rId20"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hyperlink" Target="https://commons.wikimedia.org/wiki/File:Weather_Icons_-_skc.svg" TargetMode="External"/><Relationship Id="rId11" Type="http://schemas.openxmlformats.org/officeDocument/2006/relationships/hyperlink" Target="https://pxhere.com/en/photo/1453897" TargetMode="External"/><Relationship Id="rId24" Type="http://schemas.microsoft.com/office/2007/relationships/hdphoto" Target="../media/hdphoto5.wdp"/><Relationship Id="rId5" Type="http://schemas.openxmlformats.org/officeDocument/2006/relationships/image" Target="../media/image7.png"/><Relationship Id="rId15" Type="http://schemas.microsoft.com/office/2007/relationships/hdphoto" Target="../media/hdphoto4.wdp"/><Relationship Id="rId23" Type="http://schemas.openxmlformats.org/officeDocument/2006/relationships/image" Target="../media/image16.png"/><Relationship Id="rId10" Type="http://schemas.microsoft.com/office/2007/relationships/hdphoto" Target="../media/hdphoto2.wdp"/><Relationship Id="rId19" Type="http://schemas.openxmlformats.org/officeDocument/2006/relationships/hyperlink" Target="https://freesvg.org/petri-dish-vector-illustration" TargetMode="External"/><Relationship Id="rId4" Type="http://schemas.openxmlformats.org/officeDocument/2006/relationships/hyperlink" Target="https://pixabay.com/en/banana-black-banana-banana-vector-2737145/" TargetMode="External"/><Relationship Id="rId9" Type="http://schemas.openxmlformats.org/officeDocument/2006/relationships/image" Target="../media/image9.png"/><Relationship Id="rId14" Type="http://schemas.openxmlformats.org/officeDocument/2006/relationships/hyperlink" Target="https://www.publicdomainpictures.net/es/view-image.php?image=272450&amp;picture=silueta-de-la-celula-nerviosa" TargetMode="External"/><Relationship Id="rId22"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jpeg"/><Relationship Id="rId4" Type="http://schemas.openxmlformats.org/officeDocument/2006/relationships/image" Target="../media/image23.jpe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7.jpeg"/></Relationships>
</file>

<file path=ppt/slides/_rels/slide1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Sick Cartoon Images – Browse 133,296 Stock Photos, Vectors, and Video |  Adobe Stock‬‏">
            <a:extLst>
              <a:ext uri="{FF2B5EF4-FFF2-40B4-BE49-F238E27FC236}">
                <a16:creationId xmlns:a16="http://schemas.microsoft.com/office/drawing/2014/main" id="{4BA98EBC-0BFA-B2C3-F708-B57FC40802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7155" y="3602038"/>
            <a:ext cx="4380429" cy="314068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Fossil find complicates theory of human evolution | Baptist Press‬‏">
            <a:extLst>
              <a:ext uri="{FF2B5EF4-FFF2-40B4-BE49-F238E27FC236}">
                <a16:creationId xmlns:a16="http://schemas.microsoft.com/office/drawing/2014/main" id="{C2427A92-2FF6-AB60-5BF3-4B25638DD01B}"/>
              </a:ext>
            </a:extLst>
          </p:cNvPr>
          <p:cNvPicPr>
            <a:picLocks noChangeAspect="1" noChangeArrowheads="1"/>
          </p:cNvPicPr>
          <p:nvPr/>
        </p:nvPicPr>
        <p:blipFill>
          <a:blip r:embed="rId4">
            <a:alphaModFix amt="35000"/>
            <a:extLst>
              <a:ext uri="{28A0092B-C50C-407E-A947-70E740481C1C}">
                <a14:useLocalDpi xmlns:a14="http://schemas.microsoft.com/office/drawing/2010/main" val="0"/>
              </a:ext>
            </a:extLst>
          </a:blip>
          <a:srcRect/>
          <a:stretch>
            <a:fillRect/>
          </a:stretch>
        </p:blipFill>
        <p:spPr bwMode="auto">
          <a:xfrm>
            <a:off x="0" y="0"/>
            <a:ext cx="7717155" cy="5344844"/>
          </a:xfrm>
          <a:prstGeom prst="rect">
            <a:avLst/>
          </a:prstGeom>
          <a:noFill/>
          <a:extLst>
            <a:ext uri="{909E8E84-426E-40DD-AFC4-6F175D3DCCD1}">
              <a14:hiddenFill xmlns:a14="http://schemas.microsoft.com/office/drawing/2010/main">
                <a:solidFill>
                  <a:srgbClr val="FFFFFF"/>
                </a:solidFill>
              </a14:hiddenFill>
            </a:ext>
          </a:extLst>
        </p:spPr>
      </p:pic>
      <p:sp>
        <p:nvSpPr>
          <p:cNvPr id="2" name="כותרת 1">
            <a:extLst>
              <a:ext uri="{FF2B5EF4-FFF2-40B4-BE49-F238E27FC236}">
                <a16:creationId xmlns:a16="http://schemas.microsoft.com/office/drawing/2014/main" id="{784ADA7F-0491-9A37-E1E5-1723398F7329}"/>
              </a:ext>
            </a:extLst>
          </p:cNvPr>
          <p:cNvSpPr>
            <a:spLocks noGrp="1"/>
          </p:cNvSpPr>
          <p:nvPr>
            <p:ph type="ctrTitle"/>
          </p:nvPr>
        </p:nvSpPr>
        <p:spPr/>
        <p:txBody>
          <a:bodyPr>
            <a:normAutofit/>
          </a:bodyPr>
          <a:lstStyle/>
          <a:p>
            <a:r>
              <a:rPr lang="en-US" b="1" dirty="0">
                <a:solidFill>
                  <a:srgbClr val="0070C0"/>
                </a:solidFill>
                <a:latin typeface="Comic Sans MS" panose="030F0702030302020204" pitchFamily="66" charset="0"/>
                <a:ea typeface="+mn-ea"/>
                <a:cs typeface="+mn-cs"/>
              </a:rPr>
              <a:t>The evolution of human-specific diseases</a:t>
            </a:r>
            <a:endParaRPr lang="he-IL" b="1" dirty="0">
              <a:solidFill>
                <a:srgbClr val="0070C0"/>
              </a:solidFill>
              <a:latin typeface="Comic Sans MS" panose="030F0702030302020204" pitchFamily="66" charset="0"/>
              <a:ea typeface="+mn-ea"/>
              <a:cs typeface="+mn-cs"/>
            </a:endParaRPr>
          </a:p>
        </p:txBody>
      </p:sp>
      <p:sp>
        <p:nvSpPr>
          <p:cNvPr id="3" name="כותרת משנה 2">
            <a:extLst>
              <a:ext uri="{FF2B5EF4-FFF2-40B4-BE49-F238E27FC236}">
                <a16:creationId xmlns:a16="http://schemas.microsoft.com/office/drawing/2014/main" id="{E9401324-7122-D426-4C57-3078A00115D6}"/>
              </a:ext>
            </a:extLst>
          </p:cNvPr>
          <p:cNvSpPr>
            <a:spLocks noGrp="1"/>
          </p:cNvSpPr>
          <p:nvPr>
            <p:ph type="subTitle" idx="1"/>
          </p:nvPr>
        </p:nvSpPr>
        <p:spPr/>
        <p:txBody>
          <a:bodyPr/>
          <a:lstStyle/>
          <a:p>
            <a:r>
              <a:rPr lang="en-US" sz="2800" b="1" i="1" dirty="0"/>
              <a:t>Sarit Moses &amp; Gil Sasson</a:t>
            </a:r>
          </a:p>
          <a:p>
            <a:r>
              <a:rPr lang="en-US" sz="2800" b="1" i="1" dirty="0"/>
              <a:t>Supervised by Dr. David Gokhman</a:t>
            </a:r>
          </a:p>
          <a:p>
            <a:r>
              <a:rPr lang="en-US" sz="2800" b="1" i="1" dirty="0"/>
              <a:t>T.A.: Nachshon </a:t>
            </a:r>
            <a:r>
              <a:rPr lang="en-US" sz="2800" b="1" i="1" dirty="0" err="1"/>
              <a:t>Egyes</a:t>
            </a:r>
            <a:endParaRPr lang="he-IL" sz="2800" b="1" i="1" dirty="0"/>
          </a:p>
        </p:txBody>
      </p:sp>
    </p:spTree>
    <p:extLst>
      <p:ext uri="{BB962C8B-B14F-4D97-AF65-F5344CB8AC3E}">
        <p14:creationId xmlns:p14="http://schemas.microsoft.com/office/powerpoint/2010/main" val="3317387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8E207B4-A1CE-A891-6B59-82E619E51BED}"/>
              </a:ext>
            </a:extLst>
          </p:cNvPr>
          <p:cNvSpPr>
            <a:spLocks noGrp="1"/>
          </p:cNvSpPr>
          <p:nvPr>
            <p:ph type="title"/>
          </p:nvPr>
        </p:nvSpPr>
        <p:spPr/>
        <p:txBody>
          <a:bodyPr>
            <a:normAutofit/>
          </a:bodyPr>
          <a:lstStyle/>
          <a:p>
            <a:pPr algn="ctr" rtl="0"/>
            <a:r>
              <a:rPr lang="en-US" dirty="0">
                <a:solidFill>
                  <a:srgbClr val="0070C0"/>
                </a:solidFill>
                <a:latin typeface="Comic Sans MS" panose="030F0702030302020204" pitchFamily="66" charset="0"/>
                <a:ea typeface="+mn-ea"/>
                <a:cs typeface="+mn-cs"/>
              </a:rPr>
              <a:t>The origin of human-specific diseases</a:t>
            </a:r>
            <a:endParaRPr lang="he-IL" dirty="0"/>
          </a:p>
        </p:txBody>
      </p:sp>
      <p:pic>
        <p:nvPicPr>
          <p:cNvPr id="1026" name="Picture 2" descr="‪Chimpanzee 2d cartoon vector illustration on white backgro | Premium  AI-generated image‬‏">
            <a:extLst>
              <a:ext uri="{FF2B5EF4-FFF2-40B4-BE49-F238E27FC236}">
                <a16:creationId xmlns:a16="http://schemas.microsoft.com/office/drawing/2014/main" id="{1BAF5CB9-8E65-02D0-DC68-8518B984B2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878" y="1434559"/>
            <a:ext cx="3474104" cy="347410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unny Cute Couple Ancient Human Cartoon. Royalty Free SVG, Cliparts,  Vectors, and Stock Illustration. Image 74301183.‬‏">
            <a:extLst>
              <a:ext uri="{FF2B5EF4-FFF2-40B4-BE49-F238E27FC236}">
                <a16:creationId xmlns:a16="http://schemas.microsoft.com/office/drawing/2014/main" id="{620013B0-8287-E7C4-0281-96C8ABDED2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10382" y="1690688"/>
            <a:ext cx="3179278" cy="2757133"/>
          </a:xfrm>
          <a:prstGeom prst="rect">
            <a:avLst/>
          </a:prstGeom>
          <a:noFill/>
          <a:extLst>
            <a:ext uri="{909E8E84-426E-40DD-AFC4-6F175D3DCCD1}">
              <a14:hiddenFill xmlns:a14="http://schemas.microsoft.com/office/drawing/2010/main">
                <a:solidFill>
                  <a:srgbClr val="FFFFFF"/>
                </a:solidFill>
              </a14:hiddenFill>
            </a:ext>
          </a:extLst>
        </p:spPr>
      </p:pic>
      <p:sp>
        <p:nvSpPr>
          <p:cNvPr id="4" name="מציין מיקום תוכן 2">
            <a:extLst>
              <a:ext uri="{FF2B5EF4-FFF2-40B4-BE49-F238E27FC236}">
                <a16:creationId xmlns:a16="http://schemas.microsoft.com/office/drawing/2014/main" id="{8EE0F434-47C8-22A8-C56C-5F54229FC649}"/>
              </a:ext>
            </a:extLst>
          </p:cNvPr>
          <p:cNvSpPr txBox="1">
            <a:spLocks/>
          </p:cNvSpPr>
          <p:nvPr/>
        </p:nvSpPr>
        <p:spPr>
          <a:xfrm>
            <a:off x="1252974" y="5684750"/>
            <a:ext cx="2403519" cy="538750"/>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b="1" i="1" dirty="0"/>
              <a:t>Environment</a:t>
            </a:r>
          </a:p>
        </p:txBody>
      </p:sp>
      <p:sp>
        <p:nvSpPr>
          <p:cNvPr id="5" name="מציין מיקום תוכן 2">
            <a:extLst>
              <a:ext uri="{FF2B5EF4-FFF2-40B4-BE49-F238E27FC236}">
                <a16:creationId xmlns:a16="http://schemas.microsoft.com/office/drawing/2014/main" id="{A16C35B3-EB26-6624-9C1E-4A0988750379}"/>
              </a:ext>
            </a:extLst>
          </p:cNvPr>
          <p:cNvSpPr txBox="1">
            <a:spLocks/>
          </p:cNvSpPr>
          <p:nvPr/>
        </p:nvSpPr>
        <p:spPr>
          <a:xfrm>
            <a:off x="4894241" y="5684750"/>
            <a:ext cx="2403519" cy="538750"/>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b="1" i="1" dirty="0"/>
              <a:t>Life span</a:t>
            </a:r>
          </a:p>
        </p:txBody>
      </p:sp>
      <p:sp>
        <p:nvSpPr>
          <p:cNvPr id="6" name="מציין מיקום תוכן 2">
            <a:extLst>
              <a:ext uri="{FF2B5EF4-FFF2-40B4-BE49-F238E27FC236}">
                <a16:creationId xmlns:a16="http://schemas.microsoft.com/office/drawing/2014/main" id="{B8357051-BCEA-DFF1-A77C-3A3D6C752AC7}"/>
              </a:ext>
            </a:extLst>
          </p:cNvPr>
          <p:cNvSpPr txBox="1">
            <a:spLocks/>
          </p:cNvSpPr>
          <p:nvPr/>
        </p:nvSpPr>
        <p:spPr>
          <a:xfrm>
            <a:off x="8535508" y="5684750"/>
            <a:ext cx="2403519" cy="538750"/>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b="1" i="1" dirty="0"/>
              <a:t>Lack of data</a:t>
            </a:r>
          </a:p>
        </p:txBody>
      </p:sp>
      <p:grpSp>
        <p:nvGrpSpPr>
          <p:cNvPr id="9" name="קבוצה 8">
            <a:extLst>
              <a:ext uri="{FF2B5EF4-FFF2-40B4-BE49-F238E27FC236}">
                <a16:creationId xmlns:a16="http://schemas.microsoft.com/office/drawing/2014/main" id="{A23C6293-19F8-0425-5FB8-7A38EC5BCA40}"/>
              </a:ext>
            </a:extLst>
          </p:cNvPr>
          <p:cNvGrpSpPr/>
          <p:nvPr/>
        </p:nvGrpSpPr>
        <p:grpSpPr>
          <a:xfrm>
            <a:off x="3413656" y="1378566"/>
            <a:ext cx="5364687" cy="4044875"/>
            <a:chOff x="3494702" y="1592132"/>
            <a:chExt cx="4498639" cy="3158958"/>
          </a:xfrm>
        </p:grpSpPr>
        <p:sp>
          <p:nvSpPr>
            <p:cNvPr id="7" name="אליפסה 6">
              <a:extLst>
                <a:ext uri="{FF2B5EF4-FFF2-40B4-BE49-F238E27FC236}">
                  <a16:creationId xmlns:a16="http://schemas.microsoft.com/office/drawing/2014/main" id="{37AC6E33-2853-CAD2-B09D-66B72DA7523E}"/>
                </a:ext>
              </a:extLst>
            </p:cNvPr>
            <p:cNvSpPr/>
            <p:nvPr/>
          </p:nvSpPr>
          <p:spPr>
            <a:xfrm>
              <a:off x="3494702" y="1592132"/>
              <a:ext cx="3520977" cy="3158958"/>
            </a:xfrm>
            <a:prstGeom prst="ellipse">
              <a:avLst/>
            </a:prstGeom>
            <a:solidFill>
              <a:srgbClr val="F8F7CB">
                <a:alpha val="49804"/>
              </a:srgb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אליפסה 7">
              <a:extLst>
                <a:ext uri="{FF2B5EF4-FFF2-40B4-BE49-F238E27FC236}">
                  <a16:creationId xmlns:a16="http://schemas.microsoft.com/office/drawing/2014/main" id="{A71C46E7-B79E-AD33-2055-FE58E4BFF842}"/>
                </a:ext>
              </a:extLst>
            </p:cNvPr>
            <p:cNvSpPr/>
            <p:nvPr/>
          </p:nvSpPr>
          <p:spPr>
            <a:xfrm>
              <a:off x="4472364" y="1592132"/>
              <a:ext cx="3520977" cy="3158958"/>
            </a:xfrm>
            <a:prstGeom prst="ellipse">
              <a:avLst/>
            </a:prstGeom>
            <a:solidFill>
              <a:srgbClr val="CAEEFB">
                <a:alpha val="5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grpSp>
      <p:pic>
        <p:nvPicPr>
          <p:cNvPr id="1032" name="Picture 8" descr="‪Mascot Thermometer Fever - Stock Illustration [27457006] - PIXTA‬‏">
            <a:extLst>
              <a:ext uri="{FF2B5EF4-FFF2-40B4-BE49-F238E27FC236}">
                <a16:creationId xmlns:a16="http://schemas.microsoft.com/office/drawing/2014/main" id="{869F5A23-5F5F-3245-13FB-35B760F7208D}"/>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644506" y="2555978"/>
            <a:ext cx="921488" cy="1325563"/>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3">
            <a:extLst>
              <a:ext uri="{FF2B5EF4-FFF2-40B4-BE49-F238E27FC236}">
                <a16:creationId xmlns:a16="http://schemas.microsoft.com/office/drawing/2014/main" id="{DD042946-67E6-4B22-66D1-E9DCD1E9817F}"/>
              </a:ext>
            </a:extLst>
          </p:cNvPr>
          <p:cNvSpPr txBox="1"/>
          <p:nvPr/>
        </p:nvSpPr>
        <p:spPr>
          <a:xfrm>
            <a:off x="9332668" y="5579631"/>
            <a:ext cx="809199" cy="748988"/>
          </a:xfrm>
          <a:prstGeom prst="rect">
            <a:avLst/>
          </a:prstGeom>
          <a:noFill/>
        </p:spPr>
        <p:txBody>
          <a:bodyPr wrap="square">
            <a:spAutoFit/>
          </a:bodyPr>
          <a:lstStyle/>
          <a:p>
            <a:pPr algn="ctr"/>
            <a:r>
              <a:rPr lang="en-US" sz="4267" b="1" dirty="0">
                <a:solidFill>
                  <a:srgbClr val="B12E31"/>
                </a:solidFill>
                <a:latin typeface="Helvetica Neue Thin" panose="020B0403020202020204" pitchFamily="34" charset="0"/>
                <a:ea typeface="Helvetica Neue Thin" panose="020B0403020202020204" pitchFamily="34" charset="0"/>
                <a:cs typeface="Calibri Light" panose="020F0302020204030204" pitchFamily="34" charset="0"/>
              </a:rPr>
              <a:t>X</a:t>
            </a:r>
            <a:endParaRPr lang="en-IL" sz="2400" b="1" dirty="0">
              <a:solidFill>
                <a:srgbClr val="B12E31"/>
              </a:solidFill>
            </a:endParaRPr>
          </a:p>
        </p:txBody>
      </p:sp>
      <p:sp>
        <p:nvSpPr>
          <p:cNvPr id="13" name="TextBox 13">
            <a:extLst>
              <a:ext uri="{FF2B5EF4-FFF2-40B4-BE49-F238E27FC236}">
                <a16:creationId xmlns:a16="http://schemas.microsoft.com/office/drawing/2014/main" id="{6AE1B2C1-D239-82B5-C18C-F1C517264ABA}"/>
              </a:ext>
            </a:extLst>
          </p:cNvPr>
          <p:cNvSpPr txBox="1"/>
          <p:nvPr/>
        </p:nvSpPr>
        <p:spPr>
          <a:xfrm>
            <a:off x="5691400" y="5579631"/>
            <a:ext cx="809199" cy="748988"/>
          </a:xfrm>
          <a:prstGeom prst="rect">
            <a:avLst/>
          </a:prstGeom>
          <a:noFill/>
        </p:spPr>
        <p:txBody>
          <a:bodyPr wrap="square">
            <a:spAutoFit/>
          </a:bodyPr>
          <a:lstStyle/>
          <a:p>
            <a:pPr algn="ctr"/>
            <a:r>
              <a:rPr lang="en-US" sz="4267" b="1" dirty="0">
                <a:solidFill>
                  <a:srgbClr val="B12E31"/>
                </a:solidFill>
                <a:latin typeface="Helvetica Neue Thin" panose="020B0403020202020204" pitchFamily="34" charset="0"/>
                <a:ea typeface="Helvetica Neue Thin" panose="020B0403020202020204" pitchFamily="34" charset="0"/>
                <a:cs typeface="Calibri Light" panose="020F0302020204030204" pitchFamily="34" charset="0"/>
              </a:rPr>
              <a:t>X</a:t>
            </a:r>
            <a:endParaRPr lang="en-IL" sz="2400" b="1" dirty="0">
              <a:solidFill>
                <a:srgbClr val="B12E31"/>
              </a:solidFill>
            </a:endParaRPr>
          </a:p>
        </p:txBody>
      </p:sp>
      <p:sp>
        <p:nvSpPr>
          <p:cNvPr id="14" name="TextBox 13">
            <a:extLst>
              <a:ext uri="{FF2B5EF4-FFF2-40B4-BE49-F238E27FC236}">
                <a16:creationId xmlns:a16="http://schemas.microsoft.com/office/drawing/2014/main" id="{E37BFAB0-E12F-7939-8671-AB52A9E1C18E}"/>
              </a:ext>
            </a:extLst>
          </p:cNvPr>
          <p:cNvSpPr txBox="1"/>
          <p:nvPr/>
        </p:nvSpPr>
        <p:spPr>
          <a:xfrm>
            <a:off x="2050133" y="5582754"/>
            <a:ext cx="809199" cy="748988"/>
          </a:xfrm>
          <a:prstGeom prst="rect">
            <a:avLst/>
          </a:prstGeom>
          <a:noFill/>
        </p:spPr>
        <p:txBody>
          <a:bodyPr wrap="square">
            <a:spAutoFit/>
          </a:bodyPr>
          <a:lstStyle/>
          <a:p>
            <a:pPr algn="ctr"/>
            <a:r>
              <a:rPr lang="en-US" sz="4267" b="1" dirty="0">
                <a:solidFill>
                  <a:srgbClr val="B12E31"/>
                </a:solidFill>
                <a:latin typeface="Helvetica Neue Thin" panose="020B0403020202020204" pitchFamily="34" charset="0"/>
                <a:ea typeface="Helvetica Neue Thin" panose="020B0403020202020204" pitchFamily="34" charset="0"/>
                <a:cs typeface="Calibri Light" panose="020F0302020204030204" pitchFamily="34" charset="0"/>
              </a:rPr>
              <a:t>X</a:t>
            </a:r>
            <a:endParaRPr lang="en-IL" sz="2400" b="1" dirty="0">
              <a:solidFill>
                <a:srgbClr val="B12E31"/>
              </a:solidFill>
            </a:endParaRPr>
          </a:p>
        </p:txBody>
      </p:sp>
      <p:grpSp>
        <p:nvGrpSpPr>
          <p:cNvPr id="15" name="Group 6">
            <a:extLst>
              <a:ext uri="{FF2B5EF4-FFF2-40B4-BE49-F238E27FC236}">
                <a16:creationId xmlns:a16="http://schemas.microsoft.com/office/drawing/2014/main" id="{9752B736-4687-F1C4-8960-30B64F349F71}"/>
              </a:ext>
            </a:extLst>
          </p:cNvPr>
          <p:cNvGrpSpPr/>
          <p:nvPr/>
        </p:nvGrpSpPr>
        <p:grpSpPr>
          <a:xfrm>
            <a:off x="-295174" y="4815030"/>
            <a:ext cx="12930163" cy="768028"/>
            <a:chOff x="-221380" y="3418765"/>
            <a:chExt cx="9697622" cy="576021"/>
          </a:xfrm>
        </p:grpSpPr>
        <p:sp>
          <p:nvSpPr>
            <p:cNvPr id="16" name="Rectangle 4">
              <a:extLst>
                <a:ext uri="{FF2B5EF4-FFF2-40B4-BE49-F238E27FC236}">
                  <a16:creationId xmlns:a16="http://schemas.microsoft.com/office/drawing/2014/main" id="{66AA5399-CE6E-711F-5C2E-BB43BCBB001F}"/>
                </a:ext>
              </a:extLst>
            </p:cNvPr>
            <p:cNvSpPr/>
            <p:nvPr/>
          </p:nvSpPr>
          <p:spPr>
            <a:xfrm>
              <a:off x="-221380" y="3418765"/>
              <a:ext cx="9697622" cy="576021"/>
            </a:xfrm>
            <a:prstGeom prst="rect">
              <a:avLst/>
            </a:prstGeom>
            <a:solidFill>
              <a:srgbClr val="5EBB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sz="2400" dirty="0"/>
            </a:p>
          </p:txBody>
        </p:sp>
        <p:sp>
          <p:nvSpPr>
            <p:cNvPr id="17" name="TextBox 21">
              <a:extLst>
                <a:ext uri="{FF2B5EF4-FFF2-40B4-BE49-F238E27FC236}">
                  <a16:creationId xmlns:a16="http://schemas.microsoft.com/office/drawing/2014/main" id="{917511B6-8AB2-D732-A847-C5D4390C6FE8}"/>
                </a:ext>
              </a:extLst>
            </p:cNvPr>
            <p:cNvSpPr txBox="1"/>
            <p:nvPr/>
          </p:nvSpPr>
          <p:spPr>
            <a:xfrm>
              <a:off x="-221380" y="3501759"/>
              <a:ext cx="9697621" cy="377075"/>
            </a:xfrm>
            <a:prstGeom prst="rect">
              <a:avLst/>
            </a:prstGeom>
            <a:noFill/>
          </p:spPr>
          <p:txBody>
            <a:bodyPr wrap="square">
              <a:spAutoFit/>
            </a:bodyPr>
            <a:lstStyle/>
            <a:p>
              <a:pPr algn="ctr"/>
              <a:r>
                <a:rPr lang="en-US" sz="2667"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Genetic changes </a:t>
              </a:r>
              <a:r>
                <a:rPr lang="en-US" sz="2667"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sym typeface="Wingdings" pitchFamily="2" charset="2"/>
                </a:rPr>
                <a:t> human susceptibility</a:t>
              </a:r>
              <a:endParaRPr lang="en-IL" sz="2667"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grpSp>
    </p:spTree>
    <p:extLst>
      <p:ext uri="{BB962C8B-B14F-4D97-AF65-F5344CB8AC3E}">
        <p14:creationId xmlns:p14="http://schemas.microsoft.com/office/powerpoint/2010/main" val="4276520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12" grpId="0"/>
      <p:bldP spid="13"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E5450-700D-57C7-95BE-11BF18396487}"/>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C28F147E-E97D-CFF9-27C6-4D0F229C80FA}"/>
              </a:ext>
            </a:extLst>
          </p:cNvPr>
          <p:cNvSpPr>
            <a:spLocks noGrp="1"/>
          </p:cNvSpPr>
          <p:nvPr>
            <p:ph type="title"/>
          </p:nvPr>
        </p:nvSpPr>
        <p:spPr>
          <a:xfrm>
            <a:off x="838200" y="63910"/>
            <a:ext cx="10515600" cy="850299"/>
          </a:xfrm>
        </p:spPr>
        <p:txBody>
          <a:bodyPr>
            <a:normAutofit fontScale="90000"/>
          </a:bodyPr>
          <a:lstStyle/>
          <a:p>
            <a:pPr algn="ctr" rtl="0"/>
            <a:r>
              <a:rPr lang="en-US" dirty="0">
                <a:solidFill>
                  <a:srgbClr val="0070C0"/>
                </a:solidFill>
                <a:latin typeface="Comic Sans MS" panose="030F0702030302020204" pitchFamily="66" charset="0"/>
                <a:ea typeface="+mn-ea"/>
                <a:cs typeface="+mn-cs"/>
              </a:rPr>
              <a:t>Regulatory changes: the immediate suspect</a:t>
            </a:r>
            <a:endParaRPr lang="he-IL" dirty="0"/>
          </a:p>
        </p:txBody>
      </p:sp>
      <p:grpSp>
        <p:nvGrpSpPr>
          <p:cNvPr id="1080" name="Group 6">
            <a:extLst>
              <a:ext uri="{FF2B5EF4-FFF2-40B4-BE49-F238E27FC236}">
                <a16:creationId xmlns:a16="http://schemas.microsoft.com/office/drawing/2014/main" id="{560064DA-7FED-41EC-1C79-912989C0A3C6}"/>
              </a:ext>
            </a:extLst>
          </p:cNvPr>
          <p:cNvGrpSpPr/>
          <p:nvPr/>
        </p:nvGrpSpPr>
        <p:grpSpPr>
          <a:xfrm>
            <a:off x="3081932" y="3553316"/>
            <a:ext cx="1808925" cy="2962231"/>
            <a:chOff x="3852076" y="2264025"/>
            <a:chExt cx="1719461" cy="2634363"/>
          </a:xfrm>
        </p:grpSpPr>
        <p:sp>
          <p:nvSpPr>
            <p:cNvPr id="1081" name="Rectangle 2">
              <a:extLst>
                <a:ext uri="{FF2B5EF4-FFF2-40B4-BE49-F238E27FC236}">
                  <a16:creationId xmlns:a16="http://schemas.microsoft.com/office/drawing/2014/main" id="{358A258A-553D-AF86-1F3B-55D23F294CD2}"/>
                </a:ext>
              </a:extLst>
            </p:cNvPr>
            <p:cNvSpPr/>
            <p:nvPr/>
          </p:nvSpPr>
          <p:spPr>
            <a:xfrm>
              <a:off x="3933652" y="2264025"/>
              <a:ext cx="1468960" cy="377075"/>
            </a:xfrm>
            <a:prstGeom prst="rect">
              <a:avLst/>
            </a:prstGeom>
          </p:spPr>
          <p:txBody>
            <a:bodyPr wrap="none">
              <a:spAutoFit/>
            </a:bodyPr>
            <a:lstStyle/>
            <a:p>
              <a:pPr algn="ctr" defTabSz="1219170"/>
              <a:r>
                <a:rPr lang="en-US" sz="2667" dirty="0">
                  <a:solidFill>
                    <a:schemeClr val="bg2">
                      <a:lumMod val="25000"/>
                    </a:schemeClr>
                  </a:solidFill>
                  <a:latin typeface="Helvetica Neue Light" panose="02000403000000020004" pitchFamily="2" charset="0"/>
                  <a:ea typeface="Helvetica Neue Light" panose="02000403000000020004" pitchFamily="2" charset="0"/>
                  <a:cs typeface="Calibri Light" panose="020F0302020204030204" pitchFamily="34" charset="0"/>
                </a:rPr>
                <a:t>Confounders</a:t>
              </a:r>
              <a:endParaRPr lang="en-US" sz="2667" dirty="0">
                <a:solidFill>
                  <a:schemeClr val="bg2">
                    <a:lumMod val="25000"/>
                  </a:schemeClr>
                </a:solidFill>
                <a:latin typeface="Helvetica Neue Light" panose="02000403000000020004" pitchFamily="2" charset="0"/>
                <a:ea typeface="Helvetica Neue Light" panose="02000403000000020004" pitchFamily="2" charset="0"/>
              </a:endParaRPr>
            </a:p>
          </p:txBody>
        </p:sp>
        <p:grpSp>
          <p:nvGrpSpPr>
            <p:cNvPr id="1082" name="Group 326">
              <a:extLst>
                <a:ext uri="{FF2B5EF4-FFF2-40B4-BE49-F238E27FC236}">
                  <a16:creationId xmlns:a16="http://schemas.microsoft.com/office/drawing/2014/main" id="{87690A9D-0A79-F6EA-F081-EA19EC65D7A3}"/>
                </a:ext>
              </a:extLst>
            </p:cNvPr>
            <p:cNvGrpSpPr/>
            <p:nvPr/>
          </p:nvGrpSpPr>
          <p:grpSpPr>
            <a:xfrm>
              <a:off x="3992114" y="2556112"/>
              <a:ext cx="1356694" cy="828572"/>
              <a:chOff x="4049504" y="734179"/>
              <a:chExt cx="1356694" cy="828572"/>
            </a:xfrm>
          </p:grpSpPr>
          <p:sp>
            <p:nvSpPr>
              <p:cNvPr id="1101" name="Left-Right Arrow 327">
                <a:extLst>
                  <a:ext uri="{FF2B5EF4-FFF2-40B4-BE49-F238E27FC236}">
                    <a16:creationId xmlns:a16="http://schemas.microsoft.com/office/drawing/2014/main" id="{C76CB8E7-8040-74DA-8002-0B2F05CE322A}"/>
                  </a:ext>
                </a:extLst>
              </p:cNvPr>
              <p:cNvSpPr/>
              <p:nvPr/>
            </p:nvSpPr>
            <p:spPr>
              <a:xfrm>
                <a:off x="4049504" y="979495"/>
                <a:ext cx="1356694" cy="583256"/>
              </a:xfrm>
              <a:prstGeom prst="lef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rtl="0"/>
                <a:endParaRPr lang="en-US" sz="2400" dirty="0">
                  <a:solidFill>
                    <a:schemeClr val="tx1">
                      <a:lumMod val="75000"/>
                      <a:lumOff val="25000"/>
                    </a:schemeClr>
                  </a:solidFill>
                </a:endParaRPr>
              </a:p>
            </p:txBody>
          </p:sp>
          <p:grpSp>
            <p:nvGrpSpPr>
              <p:cNvPr id="1102" name="Group 328">
                <a:extLst>
                  <a:ext uri="{FF2B5EF4-FFF2-40B4-BE49-F238E27FC236}">
                    <a16:creationId xmlns:a16="http://schemas.microsoft.com/office/drawing/2014/main" id="{8BAE4E49-22A0-0D34-A9F3-8F1146BAEDD2}"/>
                  </a:ext>
                </a:extLst>
              </p:cNvPr>
              <p:cNvGrpSpPr/>
              <p:nvPr/>
            </p:nvGrpSpPr>
            <p:grpSpPr>
              <a:xfrm>
                <a:off x="4229981" y="734179"/>
                <a:ext cx="1001717" cy="793113"/>
                <a:chOff x="4101675" y="1023754"/>
                <a:chExt cx="1329583" cy="1052702"/>
              </a:xfrm>
            </p:grpSpPr>
            <p:grpSp>
              <p:nvGrpSpPr>
                <p:cNvPr id="1103" name="Group 329">
                  <a:extLst>
                    <a:ext uri="{FF2B5EF4-FFF2-40B4-BE49-F238E27FC236}">
                      <a16:creationId xmlns:a16="http://schemas.microsoft.com/office/drawing/2014/main" id="{FE202F6D-899A-A770-0BFD-E1000A67775B}"/>
                    </a:ext>
                  </a:extLst>
                </p:cNvPr>
                <p:cNvGrpSpPr/>
                <p:nvPr/>
              </p:nvGrpSpPr>
              <p:grpSpPr>
                <a:xfrm>
                  <a:off x="4396683" y="1330046"/>
                  <a:ext cx="723841" cy="746410"/>
                  <a:chOff x="4525701" y="844082"/>
                  <a:chExt cx="723841" cy="746410"/>
                </a:xfrm>
              </p:grpSpPr>
              <p:pic>
                <p:nvPicPr>
                  <p:cNvPr id="1105" name="Picture 331">
                    <a:extLst>
                      <a:ext uri="{FF2B5EF4-FFF2-40B4-BE49-F238E27FC236}">
                        <a16:creationId xmlns:a16="http://schemas.microsoft.com/office/drawing/2014/main" id="{550A3B14-53D2-EC2D-1643-321573C8A6B4}"/>
                      </a:ext>
                    </a:extLst>
                  </p:cNvPr>
                  <p:cNvPicPr>
                    <a:picLocks noChangeAspect="1"/>
                  </p:cNvPicPr>
                  <p:nvPr/>
                </p:nvPicPr>
                <p:blipFill>
                  <a:blip r:embed="rId3">
                    <a:duotone>
                      <a:schemeClr val="accent3">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525701" y="915663"/>
                    <a:ext cx="397378" cy="552874"/>
                  </a:xfrm>
                  <a:prstGeom prst="rect">
                    <a:avLst/>
                  </a:prstGeom>
                </p:spPr>
              </p:pic>
              <p:pic>
                <p:nvPicPr>
                  <p:cNvPr id="1106" name="Picture 332">
                    <a:extLst>
                      <a:ext uri="{FF2B5EF4-FFF2-40B4-BE49-F238E27FC236}">
                        <a16:creationId xmlns:a16="http://schemas.microsoft.com/office/drawing/2014/main" id="{9AFFA61A-6610-696C-5A94-F13FA740D375}"/>
                      </a:ext>
                    </a:extLst>
                  </p:cNvPr>
                  <p:cNvPicPr>
                    <a:picLocks noChangeAspect="1"/>
                  </p:cNvPicPr>
                  <p:nvPr/>
                </p:nvPicPr>
                <p:blipFill>
                  <a:blip r:embed="rId5">
                    <a:duotone>
                      <a:schemeClr val="accent3">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4852164" y="844082"/>
                    <a:ext cx="397378" cy="397378"/>
                  </a:xfrm>
                  <a:prstGeom prst="rect">
                    <a:avLst/>
                  </a:prstGeom>
                </p:spPr>
              </p:pic>
              <p:pic>
                <p:nvPicPr>
                  <p:cNvPr id="1107" name="Picture 333" descr="Shape&#10;&#10;Description automatically generated">
                    <a:extLst>
                      <a:ext uri="{FF2B5EF4-FFF2-40B4-BE49-F238E27FC236}">
                        <a16:creationId xmlns:a16="http://schemas.microsoft.com/office/drawing/2014/main" id="{28769B9F-A904-44D3-DD80-F14FBAD91559}"/>
                      </a:ext>
                    </a:extLst>
                  </p:cNvPr>
                  <p:cNvPicPr>
                    <a:picLocks noChangeAspect="1"/>
                  </p:cNvPicPr>
                  <p:nvPr/>
                </p:nvPicPr>
                <p:blipFill>
                  <a:blip r:embed="rId7">
                    <a:duotone>
                      <a:schemeClr val="accent3">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4950175" y="1274987"/>
                    <a:ext cx="263350" cy="315505"/>
                  </a:xfrm>
                  <a:prstGeom prst="rect">
                    <a:avLst/>
                  </a:prstGeom>
                </p:spPr>
              </p:pic>
            </p:grpSp>
            <p:sp>
              <p:nvSpPr>
                <p:cNvPr id="1104" name="Rectangle 330">
                  <a:extLst>
                    <a:ext uri="{FF2B5EF4-FFF2-40B4-BE49-F238E27FC236}">
                      <a16:creationId xmlns:a16="http://schemas.microsoft.com/office/drawing/2014/main" id="{D9B666DF-DE74-2BC2-F76B-5009A72053DA}"/>
                    </a:ext>
                  </a:extLst>
                </p:cNvPr>
                <p:cNvSpPr/>
                <p:nvPr/>
              </p:nvSpPr>
              <p:spPr>
                <a:xfrm>
                  <a:off x="4101675" y="1023754"/>
                  <a:ext cx="1329583" cy="337023"/>
                </a:xfrm>
                <a:prstGeom prst="rect">
                  <a:avLst/>
                </a:prstGeom>
              </p:spPr>
              <p:txBody>
                <a:bodyPr wrap="none">
                  <a:spAutoFit/>
                </a:bodyPr>
                <a:lstStyle/>
                <a:p>
                  <a:pPr algn="ctr" rtl="0"/>
                  <a:r>
                    <a:rPr lang="en-US" sz="1600" dirty="0">
                      <a:solidFill>
                        <a:schemeClr val="bg2">
                          <a:lumMod val="25000"/>
                        </a:schemeClr>
                      </a:solidFill>
                      <a:latin typeface="Helvetica Neue Thin" panose="020B0403020202020204" pitchFamily="34" charset="0"/>
                      <a:ea typeface="Helvetica Neue Thin" panose="020B0403020202020204" pitchFamily="34" charset="0"/>
                      <a:cs typeface="Calibri Light" panose="020F0302020204030204" pitchFamily="34" charset="0"/>
                    </a:rPr>
                    <a:t>Environment</a:t>
                  </a:r>
                  <a:endParaRPr lang="en-US" sz="1600" dirty="0">
                    <a:solidFill>
                      <a:schemeClr val="bg2">
                        <a:lumMod val="25000"/>
                      </a:schemeClr>
                    </a:solidFill>
                  </a:endParaRPr>
                </a:p>
              </p:txBody>
            </p:sp>
          </p:grpSp>
        </p:grpSp>
        <p:grpSp>
          <p:nvGrpSpPr>
            <p:cNvPr id="1083" name="Group 334">
              <a:extLst>
                <a:ext uri="{FF2B5EF4-FFF2-40B4-BE49-F238E27FC236}">
                  <a16:creationId xmlns:a16="http://schemas.microsoft.com/office/drawing/2014/main" id="{2F27D600-282A-6AF2-3628-2E08C3F92A76}"/>
                </a:ext>
              </a:extLst>
            </p:cNvPr>
            <p:cNvGrpSpPr/>
            <p:nvPr/>
          </p:nvGrpSpPr>
          <p:grpSpPr>
            <a:xfrm>
              <a:off x="3852076" y="3344366"/>
              <a:ext cx="1719461" cy="842079"/>
              <a:chOff x="3909466" y="1487369"/>
              <a:chExt cx="1719461" cy="842079"/>
            </a:xfrm>
          </p:grpSpPr>
          <p:sp>
            <p:nvSpPr>
              <p:cNvPr id="1091" name="Left-Right Arrow 335">
                <a:extLst>
                  <a:ext uri="{FF2B5EF4-FFF2-40B4-BE49-F238E27FC236}">
                    <a16:creationId xmlns:a16="http://schemas.microsoft.com/office/drawing/2014/main" id="{3E74BA57-0C11-0109-7697-222BDC8A72C7}"/>
                  </a:ext>
                </a:extLst>
              </p:cNvPr>
              <p:cNvSpPr/>
              <p:nvPr/>
            </p:nvSpPr>
            <p:spPr>
              <a:xfrm>
                <a:off x="4059093" y="1746192"/>
                <a:ext cx="1356694" cy="583256"/>
              </a:xfrm>
              <a:prstGeom prst="lef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rtl="0"/>
                <a:endParaRPr lang="en-US" sz="2400" dirty="0">
                  <a:solidFill>
                    <a:schemeClr val="tx1">
                      <a:lumMod val="75000"/>
                      <a:lumOff val="25000"/>
                    </a:schemeClr>
                  </a:solidFill>
                </a:endParaRPr>
              </a:p>
            </p:txBody>
          </p:sp>
          <p:grpSp>
            <p:nvGrpSpPr>
              <p:cNvPr id="1092" name="Group 336">
                <a:extLst>
                  <a:ext uri="{FF2B5EF4-FFF2-40B4-BE49-F238E27FC236}">
                    <a16:creationId xmlns:a16="http://schemas.microsoft.com/office/drawing/2014/main" id="{09B48FA0-86EC-44E4-EABD-56548D502B3B}"/>
                  </a:ext>
                </a:extLst>
              </p:cNvPr>
              <p:cNvGrpSpPr/>
              <p:nvPr/>
            </p:nvGrpSpPr>
            <p:grpSpPr>
              <a:xfrm>
                <a:off x="3909466" y="1487369"/>
                <a:ext cx="1719461" cy="826890"/>
                <a:chOff x="3667513" y="1943110"/>
                <a:chExt cx="2282251" cy="1097532"/>
              </a:xfrm>
            </p:grpSpPr>
            <p:pic>
              <p:nvPicPr>
                <p:cNvPr id="1093" name="Picture 337">
                  <a:extLst>
                    <a:ext uri="{FF2B5EF4-FFF2-40B4-BE49-F238E27FC236}">
                      <a16:creationId xmlns:a16="http://schemas.microsoft.com/office/drawing/2014/main" id="{7D458AB7-9E1A-9BC0-8DC1-E35FE8D99705}"/>
                    </a:ext>
                  </a:extLst>
                </p:cNvPr>
                <p:cNvPicPr>
                  <a:picLocks noChangeAspect="1"/>
                </p:cNvPicPr>
                <p:nvPr/>
              </p:nvPicPr>
              <p:blipFill>
                <a:blip r:embed="rId9">
                  <a:duotone>
                    <a:schemeClr val="accent3">
                      <a:shade val="45000"/>
                      <a:satMod val="135000"/>
                    </a:schemeClr>
                    <a:prstClr val="white"/>
                  </a:duotone>
                  <a:extLst>
                    <a:ext uri="{BEBA8EAE-BF5A-486C-A8C5-ECC9F3942E4B}">
                      <a14:imgProps xmlns:a14="http://schemas.microsoft.com/office/drawing/2010/main">
                        <a14:imgLayer r:embed="rId10">
                          <a14:imgEffect>
                            <a14:backgroundRemoval t="10000" b="90000" l="10000" r="90000">
                              <a14:foregroundMark x1="51583" y1="33197" x2="51583" y2="33197"/>
                              <a14:foregroundMark x1="53250" y1="33197" x2="53250" y2="33197"/>
                            </a14:backgroundRemoval>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11"/>
                    </a:ext>
                  </a:extLst>
                </a:blip>
                <a:stretch>
                  <a:fillRect/>
                </a:stretch>
              </p:blipFill>
              <p:spPr>
                <a:xfrm>
                  <a:off x="4497028" y="2210027"/>
                  <a:ext cx="510625" cy="830615"/>
                </a:xfrm>
                <a:prstGeom prst="rect">
                  <a:avLst/>
                </a:prstGeom>
              </p:spPr>
            </p:pic>
            <p:sp>
              <p:nvSpPr>
                <p:cNvPr id="1094" name="Rectangle 338">
                  <a:extLst>
                    <a:ext uri="{FF2B5EF4-FFF2-40B4-BE49-F238E27FC236}">
                      <a16:creationId xmlns:a16="http://schemas.microsoft.com/office/drawing/2014/main" id="{1853D990-1FC5-8CBF-CD1F-397C236A7DA1}"/>
                    </a:ext>
                  </a:extLst>
                </p:cNvPr>
                <p:cNvSpPr/>
                <p:nvPr/>
              </p:nvSpPr>
              <p:spPr>
                <a:xfrm>
                  <a:off x="3667513" y="1943110"/>
                  <a:ext cx="2282251" cy="337022"/>
                </a:xfrm>
                <a:prstGeom prst="rect">
                  <a:avLst/>
                </a:prstGeom>
              </p:spPr>
              <p:txBody>
                <a:bodyPr wrap="none">
                  <a:spAutoFit/>
                </a:bodyPr>
                <a:lstStyle/>
                <a:p>
                  <a:pPr algn="ctr" rtl="0"/>
                  <a:r>
                    <a:rPr lang="en-US" sz="1600" dirty="0">
                      <a:solidFill>
                        <a:schemeClr val="bg2">
                          <a:lumMod val="25000"/>
                        </a:schemeClr>
                      </a:solidFill>
                      <a:latin typeface="Helvetica Neue Thin" panose="020B0403020202020204" pitchFamily="34" charset="0"/>
                      <a:ea typeface="Helvetica Neue Thin" panose="020B0403020202020204" pitchFamily="34" charset="0"/>
                      <a:cs typeface="Calibri Light" panose="020F0302020204030204" pitchFamily="34" charset="0"/>
                    </a:rPr>
                    <a:t>Cell-type heterogeneity</a:t>
                  </a:r>
                  <a:endParaRPr lang="en-US" sz="1600" dirty="0">
                    <a:solidFill>
                      <a:schemeClr val="bg2">
                        <a:lumMod val="25000"/>
                      </a:schemeClr>
                    </a:solidFill>
                  </a:endParaRPr>
                </a:p>
              </p:txBody>
            </p:sp>
            <p:grpSp>
              <p:nvGrpSpPr>
                <p:cNvPr id="1095" name="Group 339">
                  <a:extLst>
                    <a:ext uri="{FF2B5EF4-FFF2-40B4-BE49-F238E27FC236}">
                      <a16:creationId xmlns:a16="http://schemas.microsoft.com/office/drawing/2014/main" id="{0CFAAFA6-87CD-F83D-9A6F-B29E76151DBB}"/>
                    </a:ext>
                  </a:extLst>
                </p:cNvPr>
                <p:cNvGrpSpPr/>
                <p:nvPr/>
              </p:nvGrpSpPr>
              <p:grpSpPr>
                <a:xfrm rot="2700000">
                  <a:off x="4461921" y="2592425"/>
                  <a:ext cx="328183" cy="331792"/>
                  <a:chOff x="3551743" y="3048534"/>
                  <a:chExt cx="1434724" cy="1450512"/>
                </a:xfrm>
              </p:grpSpPr>
              <p:pic>
                <p:nvPicPr>
                  <p:cNvPr id="1099" name="Picture 343" descr="A picture containing plant&#10;&#10;Description automatically generated">
                    <a:extLst>
                      <a:ext uri="{FF2B5EF4-FFF2-40B4-BE49-F238E27FC236}">
                        <a16:creationId xmlns:a16="http://schemas.microsoft.com/office/drawing/2014/main" id="{9355FE0A-4BE1-453A-BD92-5F76F3E2B32D}"/>
                      </a:ext>
                    </a:extLst>
                  </p:cNvPr>
                  <p:cNvPicPr>
                    <a:picLocks noChangeAspect="1"/>
                  </p:cNvPicPr>
                  <p:nvPr/>
                </p:nvPicPr>
                <p:blipFill rotWithShape="1">
                  <a:blip r:embed="rId12">
                    <a:duotone>
                      <a:schemeClr val="accent3">
                        <a:shade val="45000"/>
                        <a:satMod val="135000"/>
                      </a:schemeClr>
                      <a:prstClr val="white"/>
                    </a:duotone>
                    <a:extLst>
                      <a:ext uri="{BEBA8EAE-BF5A-486C-A8C5-ECC9F3942E4B}">
                        <a14:imgProps xmlns:a14="http://schemas.microsoft.com/office/drawing/2010/main">
                          <a14:imgLayer r:embed="rId13">
                            <a14:imgEffect>
                              <a14:backgroundRemoval t="10000" b="90000" l="8643" r="77784">
                                <a14:foregroundMark x1="52695" y1="46000" x2="52695" y2="46000"/>
                                <a14:foregroundMark x1="63473" y1="46000" x2="63473" y2="46000"/>
                                <a14:foregroundMark x1="57485" y1="31333" x2="57485" y2="31333"/>
                                <a14:foregroundMark x1="62275" y1="32667" x2="62275" y2="32667"/>
                                <a14:foregroundMark x1="68263" y1="11333" x2="68263" y2="11333"/>
                                <a14:foregroundMark x1="34132" y1="68667" x2="34132" y2="68667"/>
                                <a14:foregroundMark x1="38323" y1="52000" x2="38323" y2="52000"/>
                                <a14:foregroundMark x1="20359" y1="50667" x2="20359" y2="50667"/>
                                <a14:foregroundMark x1="20958" y1="57333" x2="20958" y2="57333"/>
                                <a14:foregroundMark x1="14970" y1="76000" x2="14970" y2="76000"/>
                                <a14:foregroundMark x1="27545" y1="86000" x2="27545" y2="86000"/>
                                <a14:foregroundMark x1="52096" y1="31333" x2="52096" y2="31333"/>
                              </a14:backgroundRemoval>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14"/>
                      </a:ext>
                    </a:extLst>
                  </a:blip>
                  <a:srcRect l="34223" r="13573" b="42349"/>
                  <a:stretch/>
                </p:blipFill>
                <p:spPr>
                  <a:xfrm>
                    <a:off x="3551743" y="3048534"/>
                    <a:ext cx="1434724" cy="1425984"/>
                  </a:xfrm>
                  <a:prstGeom prst="rect">
                    <a:avLst/>
                  </a:prstGeom>
                </p:spPr>
              </p:pic>
              <p:sp>
                <p:nvSpPr>
                  <p:cNvPr id="1100" name="Rectangle 344">
                    <a:extLst>
                      <a:ext uri="{FF2B5EF4-FFF2-40B4-BE49-F238E27FC236}">
                        <a16:creationId xmlns:a16="http://schemas.microsoft.com/office/drawing/2014/main" id="{F740DFF2-C883-CB7C-FD8D-1C1A50BC9837}"/>
                      </a:ext>
                    </a:extLst>
                  </p:cNvPr>
                  <p:cNvSpPr/>
                  <p:nvPr/>
                </p:nvSpPr>
                <p:spPr>
                  <a:xfrm>
                    <a:off x="3577518" y="4220315"/>
                    <a:ext cx="209593" cy="2787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p>
                </p:txBody>
              </p:sp>
            </p:grpSp>
            <p:grpSp>
              <p:nvGrpSpPr>
                <p:cNvPr id="1096" name="Group 340">
                  <a:extLst>
                    <a:ext uri="{FF2B5EF4-FFF2-40B4-BE49-F238E27FC236}">
                      <a16:creationId xmlns:a16="http://schemas.microsoft.com/office/drawing/2014/main" id="{2DF6C313-3042-3720-6543-C9BB25A3B535}"/>
                    </a:ext>
                  </a:extLst>
                </p:cNvPr>
                <p:cNvGrpSpPr/>
                <p:nvPr/>
              </p:nvGrpSpPr>
              <p:grpSpPr>
                <a:xfrm>
                  <a:off x="4871610" y="2541954"/>
                  <a:ext cx="338009" cy="333801"/>
                  <a:chOff x="4941287" y="3751975"/>
                  <a:chExt cx="1314129" cy="1297773"/>
                </a:xfrm>
              </p:grpSpPr>
              <p:pic>
                <p:nvPicPr>
                  <p:cNvPr id="1097" name="Picture 341" descr="A picture containing plant&#10;&#10;Description automatically generated">
                    <a:extLst>
                      <a:ext uri="{FF2B5EF4-FFF2-40B4-BE49-F238E27FC236}">
                        <a16:creationId xmlns:a16="http://schemas.microsoft.com/office/drawing/2014/main" id="{179470FA-34E5-F8DE-837A-5E20C25EABA1}"/>
                      </a:ext>
                    </a:extLst>
                  </p:cNvPr>
                  <p:cNvPicPr>
                    <a:picLocks noChangeAspect="1"/>
                  </p:cNvPicPr>
                  <p:nvPr/>
                </p:nvPicPr>
                <p:blipFill rotWithShape="1">
                  <a:blip r:embed="rId12">
                    <a:duotone>
                      <a:schemeClr val="accent3">
                        <a:shade val="45000"/>
                        <a:satMod val="135000"/>
                      </a:schemeClr>
                      <a:prstClr val="white"/>
                    </a:duotone>
                    <a:extLst>
                      <a:ext uri="{BEBA8EAE-BF5A-486C-A8C5-ECC9F3942E4B}">
                        <a14:imgProps xmlns:a14="http://schemas.microsoft.com/office/drawing/2010/main">
                          <a14:imgLayer r:embed="rId15">
                            <a14:imgEffect>
                              <a14:backgroundRemoval t="10000" b="90000" l="8643" r="77784">
                                <a14:foregroundMark x1="52695" y1="46000" x2="52695" y2="46000"/>
                                <a14:foregroundMark x1="63473" y1="46000" x2="63473" y2="46000"/>
                                <a14:foregroundMark x1="57485" y1="31333" x2="57485" y2="31333"/>
                                <a14:foregroundMark x1="62275" y1="32667" x2="62275" y2="32667"/>
                                <a14:foregroundMark x1="68263" y1="11333" x2="68263" y2="11333"/>
                                <a14:foregroundMark x1="34132" y1="68667" x2="34132" y2="68667"/>
                                <a14:foregroundMark x1="38323" y1="52000" x2="38323" y2="52000"/>
                                <a14:foregroundMark x1="20359" y1="50667" x2="20359" y2="50667"/>
                                <a14:foregroundMark x1="20958" y1="57333" x2="20958" y2="57333"/>
                                <a14:foregroundMark x1="14970" y1="76000" x2="14970" y2="76000"/>
                                <a14:foregroundMark x1="27545" y1="86000" x2="27545" y2="86000"/>
                                <a14:foregroundMark x1="52096" y1="31333" x2="52096" y2="31333"/>
                              </a14:backgroundRemoval>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14"/>
                      </a:ext>
                    </a:extLst>
                  </a:blip>
                  <a:srcRect l="7644" t="42408" r="44899" b="3047"/>
                  <a:stretch/>
                </p:blipFill>
                <p:spPr>
                  <a:xfrm>
                    <a:off x="4941287" y="3751975"/>
                    <a:ext cx="1254593" cy="1297773"/>
                  </a:xfrm>
                  <a:prstGeom prst="rect">
                    <a:avLst/>
                  </a:prstGeom>
                </p:spPr>
              </p:pic>
              <p:sp>
                <p:nvSpPr>
                  <p:cNvPr id="1098" name="Rectangle 342">
                    <a:extLst>
                      <a:ext uri="{FF2B5EF4-FFF2-40B4-BE49-F238E27FC236}">
                        <a16:creationId xmlns:a16="http://schemas.microsoft.com/office/drawing/2014/main" id="{D211D33C-0406-C339-EE8D-5A2D3EB27A82}"/>
                      </a:ext>
                    </a:extLst>
                  </p:cNvPr>
                  <p:cNvSpPr/>
                  <p:nvPr/>
                </p:nvSpPr>
                <p:spPr>
                  <a:xfrm rot="2700000">
                    <a:off x="6011254" y="3736000"/>
                    <a:ext cx="209593" cy="2787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p>
                </p:txBody>
              </p:sp>
            </p:grpSp>
          </p:grpSp>
        </p:grpSp>
        <p:grpSp>
          <p:nvGrpSpPr>
            <p:cNvPr id="1084" name="Group 345">
              <a:extLst>
                <a:ext uri="{FF2B5EF4-FFF2-40B4-BE49-F238E27FC236}">
                  <a16:creationId xmlns:a16="http://schemas.microsoft.com/office/drawing/2014/main" id="{237520A4-EE8C-8A0C-9810-1614708E50DB}"/>
                </a:ext>
              </a:extLst>
            </p:cNvPr>
            <p:cNvGrpSpPr/>
            <p:nvPr/>
          </p:nvGrpSpPr>
          <p:grpSpPr>
            <a:xfrm>
              <a:off x="3992114" y="4074563"/>
              <a:ext cx="1356694" cy="823825"/>
              <a:chOff x="4049504" y="2232901"/>
              <a:chExt cx="1356694" cy="823825"/>
            </a:xfrm>
          </p:grpSpPr>
          <p:sp>
            <p:nvSpPr>
              <p:cNvPr id="1085" name="Left-Right Arrow 346">
                <a:extLst>
                  <a:ext uri="{FF2B5EF4-FFF2-40B4-BE49-F238E27FC236}">
                    <a16:creationId xmlns:a16="http://schemas.microsoft.com/office/drawing/2014/main" id="{1324091F-8C17-9D35-6ED2-0A0A4CDE4101}"/>
                  </a:ext>
                </a:extLst>
              </p:cNvPr>
              <p:cNvSpPr/>
              <p:nvPr/>
            </p:nvSpPr>
            <p:spPr>
              <a:xfrm>
                <a:off x="4049504" y="2473470"/>
                <a:ext cx="1356694" cy="583256"/>
              </a:xfrm>
              <a:prstGeom prst="lef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rtl="0"/>
                <a:endParaRPr lang="en-US" sz="2400" dirty="0">
                  <a:solidFill>
                    <a:schemeClr val="tx1">
                      <a:lumMod val="75000"/>
                      <a:lumOff val="25000"/>
                    </a:schemeClr>
                  </a:solidFill>
                </a:endParaRPr>
              </a:p>
            </p:txBody>
          </p:sp>
          <p:grpSp>
            <p:nvGrpSpPr>
              <p:cNvPr id="1086" name="Group 347">
                <a:extLst>
                  <a:ext uri="{FF2B5EF4-FFF2-40B4-BE49-F238E27FC236}">
                    <a16:creationId xmlns:a16="http://schemas.microsoft.com/office/drawing/2014/main" id="{21C535A2-CAEB-E765-8384-DD79189FFF46}"/>
                  </a:ext>
                </a:extLst>
              </p:cNvPr>
              <p:cNvGrpSpPr/>
              <p:nvPr/>
            </p:nvGrpSpPr>
            <p:grpSpPr>
              <a:xfrm>
                <a:off x="4454018" y="2232901"/>
                <a:ext cx="542699" cy="789975"/>
                <a:chOff x="4459613" y="3109973"/>
                <a:chExt cx="720328" cy="1048538"/>
              </a:xfrm>
            </p:grpSpPr>
            <p:grpSp>
              <p:nvGrpSpPr>
                <p:cNvPr id="1087" name="Group 348">
                  <a:extLst>
                    <a:ext uri="{FF2B5EF4-FFF2-40B4-BE49-F238E27FC236}">
                      <a16:creationId xmlns:a16="http://schemas.microsoft.com/office/drawing/2014/main" id="{DCEA9B84-1566-B420-75A2-9AB0BB5F0960}"/>
                    </a:ext>
                  </a:extLst>
                </p:cNvPr>
                <p:cNvGrpSpPr/>
                <p:nvPr/>
              </p:nvGrpSpPr>
              <p:grpSpPr>
                <a:xfrm>
                  <a:off x="4459613" y="3463413"/>
                  <a:ext cx="717978" cy="695098"/>
                  <a:chOff x="4459613" y="3463413"/>
                  <a:chExt cx="717978" cy="695098"/>
                </a:xfrm>
              </p:grpSpPr>
              <p:pic>
                <p:nvPicPr>
                  <p:cNvPr id="1089" name="Picture 350" descr="Icon&#10;&#10;Description automatically generated">
                    <a:extLst>
                      <a:ext uri="{FF2B5EF4-FFF2-40B4-BE49-F238E27FC236}">
                        <a16:creationId xmlns:a16="http://schemas.microsoft.com/office/drawing/2014/main" id="{85760BBC-72F2-30F9-C20E-1D3DF26004BB}"/>
                      </a:ext>
                    </a:extLst>
                  </p:cNvPr>
                  <p:cNvPicPr>
                    <a:picLocks noChangeAspect="1"/>
                  </p:cNvPicPr>
                  <p:nvPr/>
                </p:nvPicPr>
                <p:blipFill>
                  <a:blip r:embed="rId16">
                    <a:duotone>
                      <a:schemeClr val="accent3">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17"/>
                      </a:ext>
                    </a:extLst>
                  </a:blip>
                  <a:stretch>
                    <a:fillRect/>
                  </a:stretch>
                </p:blipFill>
                <p:spPr>
                  <a:xfrm>
                    <a:off x="4459613" y="3463413"/>
                    <a:ext cx="411997" cy="504486"/>
                  </a:xfrm>
                  <a:prstGeom prst="rect">
                    <a:avLst/>
                  </a:prstGeom>
                </p:spPr>
              </p:pic>
              <p:pic>
                <p:nvPicPr>
                  <p:cNvPr id="1090" name="Picture 351" descr="A picture containing tableware, dishware, bowl&#10;&#10;Description automatically generated">
                    <a:extLst>
                      <a:ext uri="{FF2B5EF4-FFF2-40B4-BE49-F238E27FC236}">
                        <a16:creationId xmlns:a16="http://schemas.microsoft.com/office/drawing/2014/main" id="{51B76B53-50BA-7AA5-9F13-28A24B9F1CD2}"/>
                      </a:ext>
                    </a:extLst>
                  </p:cNvPr>
                  <p:cNvPicPr>
                    <a:picLocks noChangeAspect="1"/>
                  </p:cNvPicPr>
                  <p:nvPr/>
                </p:nvPicPr>
                <p:blipFill>
                  <a:blip r:embed="rId18">
                    <a:duotone>
                      <a:schemeClr val="accent3">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19"/>
                      </a:ext>
                    </a:extLst>
                  </a:blip>
                  <a:stretch>
                    <a:fillRect/>
                  </a:stretch>
                </p:blipFill>
                <p:spPr>
                  <a:xfrm>
                    <a:off x="4693562" y="3674482"/>
                    <a:ext cx="484029" cy="484029"/>
                  </a:xfrm>
                  <a:prstGeom prst="rect">
                    <a:avLst/>
                  </a:prstGeom>
                </p:spPr>
              </p:pic>
            </p:grpSp>
            <p:sp>
              <p:nvSpPr>
                <p:cNvPr id="1088" name="Rectangle 349">
                  <a:extLst>
                    <a:ext uri="{FF2B5EF4-FFF2-40B4-BE49-F238E27FC236}">
                      <a16:creationId xmlns:a16="http://schemas.microsoft.com/office/drawing/2014/main" id="{5EC12882-FB9A-F44A-C6F1-4CB2D395B2BF}"/>
                    </a:ext>
                  </a:extLst>
                </p:cNvPr>
                <p:cNvSpPr/>
                <p:nvPr/>
              </p:nvSpPr>
              <p:spPr>
                <a:xfrm>
                  <a:off x="4474297" y="3109973"/>
                  <a:ext cx="705644" cy="337023"/>
                </a:xfrm>
                <a:prstGeom prst="rect">
                  <a:avLst/>
                </a:prstGeom>
              </p:spPr>
              <p:txBody>
                <a:bodyPr wrap="none">
                  <a:spAutoFit/>
                </a:bodyPr>
                <a:lstStyle/>
                <a:p>
                  <a:pPr algn="ctr" rtl="0"/>
                  <a:r>
                    <a:rPr lang="en-US" sz="1600" dirty="0">
                      <a:solidFill>
                        <a:schemeClr val="bg2">
                          <a:lumMod val="25000"/>
                        </a:schemeClr>
                      </a:solidFill>
                      <a:latin typeface="Helvetica Neue Thin" panose="020B0403020202020204" pitchFamily="34" charset="0"/>
                      <a:ea typeface="Helvetica Neue Thin" panose="020B0403020202020204" pitchFamily="34" charset="0"/>
                      <a:cs typeface="Calibri Light" panose="020F0302020204030204" pitchFamily="34" charset="0"/>
                    </a:rPr>
                    <a:t>Batch</a:t>
                  </a:r>
                  <a:endParaRPr lang="en-US" sz="1600" dirty="0">
                    <a:solidFill>
                      <a:schemeClr val="bg2">
                        <a:lumMod val="25000"/>
                      </a:schemeClr>
                    </a:solidFill>
                  </a:endParaRPr>
                </a:p>
              </p:txBody>
            </p:sp>
          </p:grpSp>
        </p:grpSp>
      </p:grpSp>
      <p:grpSp>
        <p:nvGrpSpPr>
          <p:cNvPr id="1108" name="Group 5">
            <a:extLst>
              <a:ext uri="{FF2B5EF4-FFF2-40B4-BE49-F238E27FC236}">
                <a16:creationId xmlns:a16="http://schemas.microsoft.com/office/drawing/2014/main" id="{5C7053C7-7E0E-6FC9-1DD4-F49A696BA9B8}"/>
              </a:ext>
            </a:extLst>
          </p:cNvPr>
          <p:cNvGrpSpPr/>
          <p:nvPr/>
        </p:nvGrpSpPr>
        <p:grpSpPr>
          <a:xfrm>
            <a:off x="550070" y="3553316"/>
            <a:ext cx="1808925" cy="1413155"/>
            <a:chOff x="3962465" y="703975"/>
            <a:chExt cx="1356694" cy="1059866"/>
          </a:xfrm>
        </p:grpSpPr>
        <p:grpSp>
          <p:nvGrpSpPr>
            <p:cNvPr id="1109" name="Group 295">
              <a:extLst>
                <a:ext uri="{FF2B5EF4-FFF2-40B4-BE49-F238E27FC236}">
                  <a16:creationId xmlns:a16="http://schemas.microsoft.com/office/drawing/2014/main" id="{CB849881-E99B-2623-74EC-44182F7D8C24}"/>
                </a:ext>
              </a:extLst>
            </p:cNvPr>
            <p:cNvGrpSpPr/>
            <p:nvPr/>
          </p:nvGrpSpPr>
          <p:grpSpPr>
            <a:xfrm>
              <a:off x="3962465" y="1180585"/>
              <a:ext cx="1356694" cy="583256"/>
              <a:chOff x="3962465" y="1291899"/>
              <a:chExt cx="1356694" cy="583256"/>
            </a:xfrm>
          </p:grpSpPr>
          <p:sp>
            <p:nvSpPr>
              <p:cNvPr id="1111" name="Left-Right Arrow 296">
                <a:extLst>
                  <a:ext uri="{FF2B5EF4-FFF2-40B4-BE49-F238E27FC236}">
                    <a16:creationId xmlns:a16="http://schemas.microsoft.com/office/drawing/2014/main" id="{02B88A17-A216-E358-7FEA-2A2699637320}"/>
                  </a:ext>
                </a:extLst>
              </p:cNvPr>
              <p:cNvSpPr/>
              <p:nvPr/>
            </p:nvSpPr>
            <p:spPr>
              <a:xfrm>
                <a:off x="3962465" y="1291899"/>
                <a:ext cx="1356694" cy="583256"/>
              </a:xfrm>
              <a:prstGeom prst="lef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rtl="0"/>
                <a:endParaRPr lang="en-US" sz="2400" dirty="0">
                  <a:solidFill>
                    <a:schemeClr val="tx1">
                      <a:lumMod val="75000"/>
                      <a:lumOff val="25000"/>
                    </a:schemeClr>
                  </a:solidFill>
                </a:endParaRPr>
              </a:p>
            </p:txBody>
          </p:sp>
          <p:pic>
            <p:nvPicPr>
              <p:cNvPr id="1112" name="Picture 4" descr="Silhouette Dna Biology - Free vector graphic on Pixabay">
                <a:extLst>
                  <a:ext uri="{FF2B5EF4-FFF2-40B4-BE49-F238E27FC236}">
                    <a16:creationId xmlns:a16="http://schemas.microsoft.com/office/drawing/2014/main" id="{3C95BE66-FD5C-6205-F492-8A3FBC6195F0}"/>
                  </a:ext>
                </a:extLst>
              </p:cNvPr>
              <p:cNvPicPr>
                <a:picLocks noChangeAspect="1" noChangeArrowheads="1"/>
              </p:cNvPicPr>
              <p:nvPr/>
            </p:nvPicPr>
            <p:blipFill>
              <a:blip r:embed="rId20">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4377620">
                <a:off x="4439253" y="1151677"/>
                <a:ext cx="403117" cy="806233"/>
              </a:xfrm>
              <a:prstGeom prst="rect">
                <a:avLst/>
              </a:prstGeom>
              <a:noFill/>
              <a:extLst>
                <a:ext uri="{909E8E84-426E-40DD-AFC4-6F175D3DCCD1}">
                  <a14:hiddenFill xmlns:a14="http://schemas.microsoft.com/office/drawing/2010/main">
                    <a:solidFill>
                      <a:srgbClr val="FFFFFF"/>
                    </a:solidFill>
                  </a14:hiddenFill>
                </a:ext>
              </a:extLst>
            </p:spPr>
          </p:pic>
        </p:grpSp>
        <p:sp>
          <p:nvSpPr>
            <p:cNvPr id="1110" name="Rectangle 1">
              <a:extLst>
                <a:ext uri="{FF2B5EF4-FFF2-40B4-BE49-F238E27FC236}">
                  <a16:creationId xmlns:a16="http://schemas.microsoft.com/office/drawing/2014/main" id="{71715262-D012-E6BF-1DFC-C736581B5B3D}"/>
                </a:ext>
              </a:extLst>
            </p:cNvPr>
            <p:cNvSpPr/>
            <p:nvPr/>
          </p:nvSpPr>
          <p:spPr>
            <a:xfrm>
              <a:off x="4081867" y="703975"/>
              <a:ext cx="1114777" cy="377074"/>
            </a:xfrm>
            <a:prstGeom prst="rect">
              <a:avLst/>
            </a:prstGeom>
          </p:spPr>
          <p:txBody>
            <a:bodyPr wrap="none">
              <a:spAutoFit/>
            </a:bodyPr>
            <a:lstStyle/>
            <a:p>
              <a:pPr algn="ctr" defTabSz="1219170"/>
              <a:r>
                <a:rPr lang="en-US" sz="2667" dirty="0">
                  <a:solidFill>
                    <a:schemeClr val="bg2">
                      <a:lumMod val="25000"/>
                    </a:schemeClr>
                  </a:solidFill>
                  <a:latin typeface="Helvetica Neue Light" panose="02000403000000020004" pitchFamily="2" charset="0"/>
                  <a:ea typeface="Helvetica Neue Light" panose="02000403000000020004" pitchFamily="2" charset="0"/>
                  <a:cs typeface="Calibri Light" panose="020F0302020204030204" pitchFamily="34" charset="0"/>
                </a:rPr>
                <a:t>Evolution</a:t>
              </a:r>
              <a:endParaRPr lang="en-US" sz="2667" dirty="0">
                <a:solidFill>
                  <a:schemeClr val="bg2">
                    <a:lumMod val="25000"/>
                  </a:schemeClr>
                </a:solidFill>
                <a:latin typeface="Helvetica Neue Light" panose="02000403000000020004" pitchFamily="2" charset="0"/>
                <a:ea typeface="Helvetica Neue Light" panose="02000403000000020004" pitchFamily="2" charset="0"/>
              </a:endParaRPr>
            </a:p>
          </p:txBody>
        </p:sp>
      </p:grpSp>
      <p:pic>
        <p:nvPicPr>
          <p:cNvPr id="1158" name="תמונה 1157">
            <a:extLst>
              <a:ext uri="{FF2B5EF4-FFF2-40B4-BE49-F238E27FC236}">
                <a16:creationId xmlns:a16="http://schemas.microsoft.com/office/drawing/2014/main" id="{DB9A9E6E-CAED-698E-C5C4-03BB4CA5ACB2}"/>
              </a:ext>
            </a:extLst>
          </p:cNvPr>
          <p:cNvPicPr>
            <a:picLocks noChangeAspect="1"/>
          </p:cNvPicPr>
          <p:nvPr/>
        </p:nvPicPr>
        <p:blipFill>
          <a:blip r:embed="rId21"/>
          <a:stretch>
            <a:fillRect/>
          </a:stretch>
        </p:blipFill>
        <p:spPr>
          <a:xfrm>
            <a:off x="302290" y="867487"/>
            <a:ext cx="2304487" cy="2487383"/>
          </a:xfrm>
          <a:prstGeom prst="rect">
            <a:avLst/>
          </a:prstGeom>
        </p:spPr>
      </p:pic>
      <p:pic>
        <p:nvPicPr>
          <p:cNvPr id="1199" name="תמונה 1198">
            <a:extLst>
              <a:ext uri="{FF2B5EF4-FFF2-40B4-BE49-F238E27FC236}">
                <a16:creationId xmlns:a16="http://schemas.microsoft.com/office/drawing/2014/main" id="{F4951991-A36E-CD7B-726E-36ABB4422509}"/>
              </a:ext>
            </a:extLst>
          </p:cNvPr>
          <p:cNvPicPr>
            <a:picLocks noChangeAspect="1"/>
          </p:cNvPicPr>
          <p:nvPr/>
        </p:nvPicPr>
        <p:blipFill>
          <a:blip r:embed="rId22"/>
          <a:stretch>
            <a:fillRect/>
          </a:stretch>
        </p:blipFill>
        <p:spPr>
          <a:xfrm>
            <a:off x="2914649" y="1066343"/>
            <a:ext cx="2152626" cy="2261215"/>
          </a:xfrm>
          <a:prstGeom prst="rect">
            <a:avLst/>
          </a:prstGeom>
        </p:spPr>
      </p:pic>
      <p:grpSp>
        <p:nvGrpSpPr>
          <p:cNvPr id="1202" name="Group 174">
            <a:extLst>
              <a:ext uri="{FF2B5EF4-FFF2-40B4-BE49-F238E27FC236}">
                <a16:creationId xmlns:a16="http://schemas.microsoft.com/office/drawing/2014/main" id="{38EEC96A-AFFE-CEF6-B7D5-8EB76AC52C20}"/>
              </a:ext>
            </a:extLst>
          </p:cNvPr>
          <p:cNvGrpSpPr/>
          <p:nvPr/>
        </p:nvGrpSpPr>
        <p:grpSpPr>
          <a:xfrm>
            <a:off x="9596483" y="1066344"/>
            <a:ext cx="2152626" cy="1303844"/>
            <a:chOff x="3821596" y="1127900"/>
            <a:chExt cx="2256342" cy="1495867"/>
          </a:xfrm>
        </p:grpSpPr>
        <p:sp>
          <p:nvSpPr>
            <p:cNvPr id="1203" name="Oval 130">
              <a:extLst>
                <a:ext uri="{FF2B5EF4-FFF2-40B4-BE49-F238E27FC236}">
                  <a16:creationId xmlns:a16="http://schemas.microsoft.com/office/drawing/2014/main" id="{5A719AD9-3E74-1786-357A-1F89DF76DBD4}"/>
                </a:ext>
              </a:extLst>
            </p:cNvPr>
            <p:cNvSpPr/>
            <p:nvPr/>
          </p:nvSpPr>
          <p:spPr>
            <a:xfrm rot="5400000">
              <a:off x="3821595" y="1398377"/>
              <a:ext cx="1225391" cy="1225389"/>
            </a:xfrm>
            <a:prstGeom prst="ellipse">
              <a:avLst/>
            </a:prstGeom>
            <a:solidFill>
              <a:srgbClr val="89CBCE"/>
            </a:solidFill>
            <a:ln>
              <a:solidFill>
                <a:srgbClr val="4E92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40" dirty="0"/>
            </a:p>
          </p:txBody>
        </p:sp>
        <p:sp>
          <p:nvSpPr>
            <p:cNvPr id="1204" name="Oval 122">
              <a:extLst>
                <a:ext uri="{FF2B5EF4-FFF2-40B4-BE49-F238E27FC236}">
                  <a16:creationId xmlns:a16="http://schemas.microsoft.com/office/drawing/2014/main" id="{71997877-9BCA-2046-97D9-FDCD356DD5A5}"/>
                </a:ext>
              </a:extLst>
            </p:cNvPr>
            <p:cNvSpPr/>
            <p:nvPr/>
          </p:nvSpPr>
          <p:spPr>
            <a:xfrm rot="5400000">
              <a:off x="4852548" y="1393496"/>
              <a:ext cx="1225391" cy="1225389"/>
            </a:xfrm>
            <a:prstGeom prst="ellipse">
              <a:avLst/>
            </a:prstGeom>
            <a:solidFill>
              <a:srgbClr val="FFD579"/>
            </a:solidFill>
            <a:ln>
              <a:solidFill>
                <a:srgbClr val="E8A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40" dirty="0"/>
            </a:p>
          </p:txBody>
        </p:sp>
        <p:grpSp>
          <p:nvGrpSpPr>
            <p:cNvPr id="1205" name="Group 154">
              <a:extLst>
                <a:ext uri="{FF2B5EF4-FFF2-40B4-BE49-F238E27FC236}">
                  <a16:creationId xmlns:a16="http://schemas.microsoft.com/office/drawing/2014/main" id="{0948DA1F-4BC5-623D-0487-F5B4F03F664F}"/>
                </a:ext>
              </a:extLst>
            </p:cNvPr>
            <p:cNvGrpSpPr/>
            <p:nvPr/>
          </p:nvGrpSpPr>
          <p:grpSpPr>
            <a:xfrm rot="5400000">
              <a:off x="4591835" y="1861922"/>
              <a:ext cx="682763" cy="292065"/>
              <a:chOff x="4762197" y="3211507"/>
              <a:chExt cx="764733" cy="327129"/>
            </a:xfrm>
          </p:grpSpPr>
          <p:sp>
            <p:nvSpPr>
              <p:cNvPr id="1270" name="Freeform 142">
                <a:extLst>
                  <a:ext uri="{FF2B5EF4-FFF2-40B4-BE49-F238E27FC236}">
                    <a16:creationId xmlns:a16="http://schemas.microsoft.com/office/drawing/2014/main" id="{D27C61A3-6CFC-4FFB-22A9-2E2179C15DAC}"/>
                  </a:ext>
                </a:extLst>
              </p:cNvPr>
              <p:cNvSpPr/>
              <p:nvPr/>
            </p:nvSpPr>
            <p:spPr>
              <a:xfrm>
                <a:off x="4764930" y="3211507"/>
                <a:ext cx="762000" cy="187811"/>
              </a:xfrm>
              <a:custGeom>
                <a:avLst/>
                <a:gdLst>
                  <a:gd name="connsiteX0" fmla="*/ 762000 w 762000"/>
                  <a:gd name="connsiteY0" fmla="*/ 69850 h 104775"/>
                  <a:gd name="connsiteX1" fmla="*/ 762000 w 762000"/>
                  <a:gd name="connsiteY1" fmla="*/ 69850 h 104775"/>
                  <a:gd name="connsiteX2" fmla="*/ 739775 w 762000"/>
                  <a:gd name="connsiteY2" fmla="*/ 53975 h 104775"/>
                  <a:gd name="connsiteX3" fmla="*/ 720725 w 762000"/>
                  <a:gd name="connsiteY3" fmla="*/ 41275 h 104775"/>
                  <a:gd name="connsiteX4" fmla="*/ 704850 w 762000"/>
                  <a:gd name="connsiteY4" fmla="*/ 28575 h 104775"/>
                  <a:gd name="connsiteX5" fmla="*/ 695325 w 762000"/>
                  <a:gd name="connsiteY5" fmla="*/ 22225 h 104775"/>
                  <a:gd name="connsiteX6" fmla="*/ 676275 w 762000"/>
                  <a:gd name="connsiteY6" fmla="*/ 15875 h 104775"/>
                  <a:gd name="connsiteX7" fmla="*/ 666750 w 762000"/>
                  <a:gd name="connsiteY7" fmla="*/ 12700 h 104775"/>
                  <a:gd name="connsiteX8" fmla="*/ 647700 w 762000"/>
                  <a:gd name="connsiteY8" fmla="*/ 3175 h 104775"/>
                  <a:gd name="connsiteX9" fmla="*/ 581025 w 762000"/>
                  <a:gd name="connsiteY9" fmla="*/ 0 h 104775"/>
                  <a:gd name="connsiteX10" fmla="*/ 555625 w 762000"/>
                  <a:gd name="connsiteY10" fmla="*/ 6350 h 104775"/>
                  <a:gd name="connsiteX11" fmla="*/ 533400 w 762000"/>
                  <a:gd name="connsiteY11" fmla="*/ 12700 h 104775"/>
                  <a:gd name="connsiteX12" fmla="*/ 504825 w 762000"/>
                  <a:gd name="connsiteY12" fmla="*/ 25400 h 104775"/>
                  <a:gd name="connsiteX13" fmla="*/ 479425 w 762000"/>
                  <a:gd name="connsiteY13" fmla="*/ 28575 h 104775"/>
                  <a:gd name="connsiteX14" fmla="*/ 450850 w 762000"/>
                  <a:gd name="connsiteY14" fmla="*/ 38100 h 104775"/>
                  <a:gd name="connsiteX15" fmla="*/ 441325 w 762000"/>
                  <a:gd name="connsiteY15" fmla="*/ 41275 h 104775"/>
                  <a:gd name="connsiteX16" fmla="*/ 431800 w 762000"/>
                  <a:gd name="connsiteY16" fmla="*/ 44450 h 104775"/>
                  <a:gd name="connsiteX17" fmla="*/ 415925 w 762000"/>
                  <a:gd name="connsiteY17" fmla="*/ 47625 h 104775"/>
                  <a:gd name="connsiteX18" fmla="*/ 406400 w 762000"/>
                  <a:gd name="connsiteY18" fmla="*/ 50800 h 104775"/>
                  <a:gd name="connsiteX19" fmla="*/ 365125 w 762000"/>
                  <a:gd name="connsiteY19" fmla="*/ 53975 h 104775"/>
                  <a:gd name="connsiteX20" fmla="*/ 346075 w 762000"/>
                  <a:gd name="connsiteY20" fmla="*/ 57150 h 104775"/>
                  <a:gd name="connsiteX21" fmla="*/ 333375 w 762000"/>
                  <a:gd name="connsiteY21" fmla="*/ 60325 h 104775"/>
                  <a:gd name="connsiteX22" fmla="*/ 301625 w 762000"/>
                  <a:gd name="connsiteY22" fmla="*/ 57150 h 104775"/>
                  <a:gd name="connsiteX23" fmla="*/ 292100 w 762000"/>
                  <a:gd name="connsiteY23" fmla="*/ 53975 h 104775"/>
                  <a:gd name="connsiteX24" fmla="*/ 269875 w 762000"/>
                  <a:gd name="connsiteY24" fmla="*/ 47625 h 104775"/>
                  <a:gd name="connsiteX25" fmla="*/ 260350 w 762000"/>
                  <a:gd name="connsiteY25" fmla="*/ 41275 h 104775"/>
                  <a:gd name="connsiteX26" fmla="*/ 238125 w 762000"/>
                  <a:gd name="connsiteY26" fmla="*/ 34925 h 104775"/>
                  <a:gd name="connsiteX27" fmla="*/ 228600 w 762000"/>
                  <a:gd name="connsiteY27" fmla="*/ 31750 h 104775"/>
                  <a:gd name="connsiteX28" fmla="*/ 212725 w 762000"/>
                  <a:gd name="connsiteY28" fmla="*/ 28575 h 104775"/>
                  <a:gd name="connsiteX29" fmla="*/ 193675 w 762000"/>
                  <a:gd name="connsiteY29" fmla="*/ 22225 h 104775"/>
                  <a:gd name="connsiteX30" fmla="*/ 152400 w 762000"/>
                  <a:gd name="connsiteY30" fmla="*/ 25400 h 104775"/>
                  <a:gd name="connsiteX31" fmla="*/ 136525 w 762000"/>
                  <a:gd name="connsiteY31" fmla="*/ 28575 h 104775"/>
                  <a:gd name="connsiteX32" fmla="*/ 114300 w 762000"/>
                  <a:gd name="connsiteY32" fmla="*/ 31750 h 104775"/>
                  <a:gd name="connsiteX33" fmla="*/ 95250 w 762000"/>
                  <a:gd name="connsiteY33" fmla="*/ 34925 h 104775"/>
                  <a:gd name="connsiteX34" fmla="*/ 50800 w 762000"/>
                  <a:gd name="connsiteY34" fmla="*/ 38100 h 104775"/>
                  <a:gd name="connsiteX35" fmla="*/ 41275 w 762000"/>
                  <a:gd name="connsiteY35" fmla="*/ 41275 h 104775"/>
                  <a:gd name="connsiteX36" fmla="*/ 22225 w 762000"/>
                  <a:gd name="connsiteY36" fmla="*/ 53975 h 104775"/>
                  <a:gd name="connsiteX37" fmla="*/ 0 w 762000"/>
                  <a:gd name="connsiteY37" fmla="*/ 79375 h 104775"/>
                  <a:gd name="connsiteX38" fmla="*/ 9525 w 762000"/>
                  <a:gd name="connsiteY38" fmla="*/ 85725 h 104775"/>
                  <a:gd name="connsiteX39" fmla="*/ 19050 w 762000"/>
                  <a:gd name="connsiteY39" fmla="*/ 79375 h 104775"/>
                  <a:gd name="connsiteX40" fmla="*/ 31750 w 762000"/>
                  <a:gd name="connsiteY40" fmla="*/ 76200 h 104775"/>
                  <a:gd name="connsiteX41" fmla="*/ 142875 w 762000"/>
                  <a:gd name="connsiteY41" fmla="*/ 79375 h 104775"/>
                  <a:gd name="connsiteX42" fmla="*/ 165100 w 762000"/>
                  <a:gd name="connsiteY42" fmla="*/ 85725 h 104775"/>
                  <a:gd name="connsiteX43" fmla="*/ 174625 w 762000"/>
                  <a:gd name="connsiteY43" fmla="*/ 92075 h 104775"/>
                  <a:gd name="connsiteX44" fmla="*/ 200025 w 762000"/>
                  <a:gd name="connsiteY44" fmla="*/ 98425 h 104775"/>
                  <a:gd name="connsiteX45" fmla="*/ 234950 w 762000"/>
                  <a:gd name="connsiteY45" fmla="*/ 104775 h 104775"/>
                  <a:gd name="connsiteX46" fmla="*/ 317500 w 762000"/>
                  <a:gd name="connsiteY46" fmla="*/ 101600 h 104775"/>
                  <a:gd name="connsiteX47" fmla="*/ 355600 w 762000"/>
                  <a:gd name="connsiteY47" fmla="*/ 101600 h 104775"/>
                  <a:gd name="connsiteX48" fmla="*/ 365125 w 762000"/>
                  <a:gd name="connsiteY48" fmla="*/ 104775 h 104775"/>
                  <a:gd name="connsiteX49" fmla="*/ 415925 w 762000"/>
                  <a:gd name="connsiteY49" fmla="*/ 98425 h 104775"/>
                  <a:gd name="connsiteX50" fmla="*/ 434975 w 762000"/>
                  <a:gd name="connsiteY50" fmla="*/ 92075 h 104775"/>
                  <a:gd name="connsiteX51" fmla="*/ 444500 w 762000"/>
                  <a:gd name="connsiteY51" fmla="*/ 88900 h 104775"/>
                  <a:gd name="connsiteX52" fmla="*/ 558800 w 762000"/>
                  <a:gd name="connsiteY52" fmla="*/ 82550 h 104775"/>
                  <a:gd name="connsiteX53" fmla="*/ 723900 w 762000"/>
                  <a:gd name="connsiteY53" fmla="*/ 82550 h 104775"/>
                  <a:gd name="connsiteX54" fmla="*/ 762000 w 762000"/>
                  <a:gd name="connsiteY54" fmla="*/ 69850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762000" h="104775">
                    <a:moveTo>
                      <a:pt x="762000" y="69850"/>
                    </a:moveTo>
                    <a:lnTo>
                      <a:pt x="762000" y="69850"/>
                    </a:lnTo>
                    <a:cubicBezTo>
                      <a:pt x="754592" y="64558"/>
                      <a:pt x="746884" y="59662"/>
                      <a:pt x="739775" y="53975"/>
                    </a:cubicBezTo>
                    <a:cubicBezTo>
                      <a:pt x="722787" y="40385"/>
                      <a:pt x="738308" y="47136"/>
                      <a:pt x="720725" y="41275"/>
                    </a:cubicBezTo>
                    <a:cubicBezTo>
                      <a:pt x="710021" y="25218"/>
                      <a:pt x="720186" y="36243"/>
                      <a:pt x="704850" y="28575"/>
                    </a:cubicBezTo>
                    <a:cubicBezTo>
                      <a:pt x="701437" y="26868"/>
                      <a:pt x="698812" y="23775"/>
                      <a:pt x="695325" y="22225"/>
                    </a:cubicBezTo>
                    <a:cubicBezTo>
                      <a:pt x="689208" y="19507"/>
                      <a:pt x="682625" y="17992"/>
                      <a:pt x="676275" y="15875"/>
                    </a:cubicBezTo>
                    <a:cubicBezTo>
                      <a:pt x="673100" y="14817"/>
                      <a:pt x="669535" y="14556"/>
                      <a:pt x="666750" y="12700"/>
                    </a:cubicBezTo>
                    <a:cubicBezTo>
                      <a:pt x="660864" y="8776"/>
                      <a:pt x="655211" y="3801"/>
                      <a:pt x="647700" y="3175"/>
                    </a:cubicBezTo>
                    <a:cubicBezTo>
                      <a:pt x="625527" y="1327"/>
                      <a:pt x="603250" y="1058"/>
                      <a:pt x="581025" y="0"/>
                    </a:cubicBezTo>
                    <a:cubicBezTo>
                      <a:pt x="548750" y="6455"/>
                      <a:pt x="578405" y="-159"/>
                      <a:pt x="555625" y="6350"/>
                    </a:cubicBezTo>
                    <a:cubicBezTo>
                      <a:pt x="550878" y="7706"/>
                      <a:pt x="538475" y="10162"/>
                      <a:pt x="533400" y="12700"/>
                    </a:cubicBezTo>
                    <a:cubicBezTo>
                      <a:pt x="518777" y="20011"/>
                      <a:pt x="526668" y="22670"/>
                      <a:pt x="504825" y="25400"/>
                    </a:cubicBezTo>
                    <a:lnTo>
                      <a:pt x="479425" y="28575"/>
                    </a:lnTo>
                    <a:lnTo>
                      <a:pt x="450850" y="38100"/>
                    </a:lnTo>
                    <a:lnTo>
                      <a:pt x="441325" y="41275"/>
                    </a:lnTo>
                    <a:cubicBezTo>
                      <a:pt x="438150" y="42333"/>
                      <a:pt x="435082" y="43794"/>
                      <a:pt x="431800" y="44450"/>
                    </a:cubicBezTo>
                    <a:cubicBezTo>
                      <a:pt x="426508" y="45508"/>
                      <a:pt x="421160" y="46316"/>
                      <a:pt x="415925" y="47625"/>
                    </a:cubicBezTo>
                    <a:cubicBezTo>
                      <a:pt x="412678" y="48437"/>
                      <a:pt x="409721" y="50385"/>
                      <a:pt x="406400" y="50800"/>
                    </a:cubicBezTo>
                    <a:cubicBezTo>
                      <a:pt x="392708" y="52512"/>
                      <a:pt x="378883" y="52917"/>
                      <a:pt x="365125" y="53975"/>
                    </a:cubicBezTo>
                    <a:cubicBezTo>
                      <a:pt x="358775" y="55033"/>
                      <a:pt x="352388" y="55887"/>
                      <a:pt x="346075" y="57150"/>
                    </a:cubicBezTo>
                    <a:cubicBezTo>
                      <a:pt x="341796" y="58006"/>
                      <a:pt x="337739" y="60325"/>
                      <a:pt x="333375" y="60325"/>
                    </a:cubicBezTo>
                    <a:cubicBezTo>
                      <a:pt x="322739" y="60325"/>
                      <a:pt x="312208" y="58208"/>
                      <a:pt x="301625" y="57150"/>
                    </a:cubicBezTo>
                    <a:cubicBezTo>
                      <a:pt x="298450" y="56092"/>
                      <a:pt x="295318" y="54894"/>
                      <a:pt x="292100" y="53975"/>
                    </a:cubicBezTo>
                    <a:cubicBezTo>
                      <a:pt x="287353" y="52619"/>
                      <a:pt x="274950" y="50163"/>
                      <a:pt x="269875" y="47625"/>
                    </a:cubicBezTo>
                    <a:cubicBezTo>
                      <a:pt x="266462" y="45918"/>
                      <a:pt x="263763" y="42982"/>
                      <a:pt x="260350" y="41275"/>
                    </a:cubicBezTo>
                    <a:cubicBezTo>
                      <a:pt x="255275" y="38737"/>
                      <a:pt x="242872" y="36281"/>
                      <a:pt x="238125" y="34925"/>
                    </a:cubicBezTo>
                    <a:cubicBezTo>
                      <a:pt x="234907" y="34006"/>
                      <a:pt x="231847" y="32562"/>
                      <a:pt x="228600" y="31750"/>
                    </a:cubicBezTo>
                    <a:cubicBezTo>
                      <a:pt x="223365" y="30441"/>
                      <a:pt x="217931" y="29995"/>
                      <a:pt x="212725" y="28575"/>
                    </a:cubicBezTo>
                    <a:cubicBezTo>
                      <a:pt x="206267" y="26814"/>
                      <a:pt x="193675" y="22225"/>
                      <a:pt x="193675" y="22225"/>
                    </a:cubicBezTo>
                    <a:cubicBezTo>
                      <a:pt x="179917" y="23283"/>
                      <a:pt x="166115" y="23876"/>
                      <a:pt x="152400" y="25400"/>
                    </a:cubicBezTo>
                    <a:cubicBezTo>
                      <a:pt x="147037" y="25996"/>
                      <a:pt x="141848" y="27688"/>
                      <a:pt x="136525" y="28575"/>
                    </a:cubicBezTo>
                    <a:cubicBezTo>
                      <a:pt x="129143" y="29805"/>
                      <a:pt x="121697" y="30612"/>
                      <a:pt x="114300" y="31750"/>
                    </a:cubicBezTo>
                    <a:cubicBezTo>
                      <a:pt x="107937" y="32729"/>
                      <a:pt x="101656" y="34284"/>
                      <a:pt x="95250" y="34925"/>
                    </a:cubicBezTo>
                    <a:cubicBezTo>
                      <a:pt x="80469" y="36403"/>
                      <a:pt x="65617" y="37042"/>
                      <a:pt x="50800" y="38100"/>
                    </a:cubicBezTo>
                    <a:cubicBezTo>
                      <a:pt x="47625" y="39158"/>
                      <a:pt x="44201" y="39650"/>
                      <a:pt x="41275" y="41275"/>
                    </a:cubicBezTo>
                    <a:cubicBezTo>
                      <a:pt x="34604" y="44981"/>
                      <a:pt x="22225" y="53975"/>
                      <a:pt x="22225" y="53975"/>
                    </a:cubicBezTo>
                    <a:cubicBezTo>
                      <a:pt x="7408" y="76200"/>
                      <a:pt x="15875" y="68792"/>
                      <a:pt x="0" y="79375"/>
                    </a:cubicBezTo>
                    <a:cubicBezTo>
                      <a:pt x="3175" y="81492"/>
                      <a:pt x="5709" y="85725"/>
                      <a:pt x="9525" y="85725"/>
                    </a:cubicBezTo>
                    <a:cubicBezTo>
                      <a:pt x="13341" y="85725"/>
                      <a:pt x="15543" y="80878"/>
                      <a:pt x="19050" y="79375"/>
                    </a:cubicBezTo>
                    <a:cubicBezTo>
                      <a:pt x="23061" y="77656"/>
                      <a:pt x="27517" y="77258"/>
                      <a:pt x="31750" y="76200"/>
                    </a:cubicBezTo>
                    <a:cubicBezTo>
                      <a:pt x="68792" y="77258"/>
                      <a:pt x="105867" y="77477"/>
                      <a:pt x="142875" y="79375"/>
                    </a:cubicBezTo>
                    <a:cubicBezTo>
                      <a:pt x="145142" y="79491"/>
                      <a:pt x="161927" y="84139"/>
                      <a:pt x="165100" y="85725"/>
                    </a:cubicBezTo>
                    <a:cubicBezTo>
                      <a:pt x="168513" y="87432"/>
                      <a:pt x="171212" y="90368"/>
                      <a:pt x="174625" y="92075"/>
                    </a:cubicBezTo>
                    <a:cubicBezTo>
                      <a:pt x="181433" y="95479"/>
                      <a:pt x="193504" y="96976"/>
                      <a:pt x="200025" y="98425"/>
                    </a:cubicBezTo>
                    <a:cubicBezTo>
                      <a:pt x="226971" y="104413"/>
                      <a:pt x="196424" y="99271"/>
                      <a:pt x="234950" y="104775"/>
                    </a:cubicBezTo>
                    <a:cubicBezTo>
                      <a:pt x="262467" y="103717"/>
                      <a:pt x="290024" y="103432"/>
                      <a:pt x="317500" y="101600"/>
                    </a:cubicBezTo>
                    <a:cubicBezTo>
                      <a:pt x="358544" y="98864"/>
                      <a:pt x="286634" y="92979"/>
                      <a:pt x="355600" y="101600"/>
                    </a:cubicBezTo>
                    <a:cubicBezTo>
                      <a:pt x="358775" y="102658"/>
                      <a:pt x="361778" y="104775"/>
                      <a:pt x="365125" y="104775"/>
                    </a:cubicBezTo>
                    <a:cubicBezTo>
                      <a:pt x="383583" y="104775"/>
                      <a:pt x="399076" y="103480"/>
                      <a:pt x="415925" y="98425"/>
                    </a:cubicBezTo>
                    <a:cubicBezTo>
                      <a:pt x="422336" y="96502"/>
                      <a:pt x="428625" y="94192"/>
                      <a:pt x="434975" y="92075"/>
                    </a:cubicBezTo>
                    <a:cubicBezTo>
                      <a:pt x="438150" y="91017"/>
                      <a:pt x="441156" y="89045"/>
                      <a:pt x="444500" y="88900"/>
                    </a:cubicBezTo>
                    <a:cubicBezTo>
                      <a:pt x="531311" y="85126"/>
                      <a:pt x="493232" y="87594"/>
                      <a:pt x="558800" y="82550"/>
                    </a:cubicBezTo>
                    <a:cubicBezTo>
                      <a:pt x="628512" y="70931"/>
                      <a:pt x="551524" y="82550"/>
                      <a:pt x="723900" y="82550"/>
                    </a:cubicBezTo>
                    <a:cubicBezTo>
                      <a:pt x="736644" y="82550"/>
                      <a:pt x="755650" y="71967"/>
                      <a:pt x="762000" y="69850"/>
                    </a:cubicBezTo>
                    <a:close/>
                  </a:path>
                </a:pathLst>
              </a:custGeom>
              <a:solidFill>
                <a:srgbClr val="D5C65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1440"/>
              </a:p>
            </p:txBody>
          </p:sp>
          <p:sp>
            <p:nvSpPr>
              <p:cNvPr id="1271" name="Freeform 144">
                <a:extLst>
                  <a:ext uri="{FF2B5EF4-FFF2-40B4-BE49-F238E27FC236}">
                    <a16:creationId xmlns:a16="http://schemas.microsoft.com/office/drawing/2014/main" id="{EF0EC376-D8E1-02D8-C0D4-C6FE616A35E2}"/>
                  </a:ext>
                </a:extLst>
              </p:cNvPr>
              <p:cNvSpPr/>
              <p:nvPr/>
            </p:nvSpPr>
            <p:spPr>
              <a:xfrm>
                <a:off x="4765814" y="3324381"/>
                <a:ext cx="752833" cy="214255"/>
              </a:xfrm>
              <a:custGeom>
                <a:avLst/>
                <a:gdLst>
                  <a:gd name="connsiteX0" fmla="*/ 752833 w 752833"/>
                  <a:gd name="connsiteY0" fmla="*/ 8102 h 93827"/>
                  <a:gd name="connsiteX1" fmla="*/ 752833 w 752833"/>
                  <a:gd name="connsiteY1" fmla="*/ 8102 h 93827"/>
                  <a:gd name="connsiteX2" fmla="*/ 727433 w 752833"/>
                  <a:gd name="connsiteY2" fmla="*/ 39852 h 93827"/>
                  <a:gd name="connsiteX3" fmla="*/ 717908 w 752833"/>
                  <a:gd name="connsiteY3" fmla="*/ 46202 h 93827"/>
                  <a:gd name="connsiteX4" fmla="*/ 702033 w 752833"/>
                  <a:gd name="connsiteY4" fmla="*/ 58902 h 93827"/>
                  <a:gd name="connsiteX5" fmla="*/ 692508 w 752833"/>
                  <a:gd name="connsiteY5" fmla="*/ 65252 h 93827"/>
                  <a:gd name="connsiteX6" fmla="*/ 660758 w 752833"/>
                  <a:gd name="connsiteY6" fmla="*/ 74777 h 93827"/>
                  <a:gd name="connsiteX7" fmla="*/ 619483 w 752833"/>
                  <a:gd name="connsiteY7" fmla="*/ 84302 h 93827"/>
                  <a:gd name="connsiteX8" fmla="*/ 609958 w 752833"/>
                  <a:gd name="connsiteY8" fmla="*/ 81127 h 93827"/>
                  <a:gd name="connsiteX9" fmla="*/ 575033 w 752833"/>
                  <a:gd name="connsiteY9" fmla="*/ 74777 h 93827"/>
                  <a:gd name="connsiteX10" fmla="*/ 546458 w 752833"/>
                  <a:gd name="connsiteY10" fmla="*/ 77952 h 93827"/>
                  <a:gd name="connsiteX11" fmla="*/ 521058 w 752833"/>
                  <a:gd name="connsiteY11" fmla="*/ 84302 h 93827"/>
                  <a:gd name="connsiteX12" fmla="*/ 502008 w 752833"/>
                  <a:gd name="connsiteY12" fmla="*/ 87477 h 93827"/>
                  <a:gd name="connsiteX13" fmla="*/ 489308 w 752833"/>
                  <a:gd name="connsiteY13" fmla="*/ 84302 h 93827"/>
                  <a:gd name="connsiteX14" fmla="*/ 479783 w 752833"/>
                  <a:gd name="connsiteY14" fmla="*/ 81127 h 93827"/>
                  <a:gd name="connsiteX15" fmla="*/ 463908 w 752833"/>
                  <a:gd name="connsiteY15" fmla="*/ 77952 h 93827"/>
                  <a:gd name="connsiteX16" fmla="*/ 454383 w 752833"/>
                  <a:gd name="connsiteY16" fmla="*/ 74777 h 93827"/>
                  <a:gd name="connsiteX17" fmla="*/ 428983 w 752833"/>
                  <a:gd name="connsiteY17" fmla="*/ 71602 h 93827"/>
                  <a:gd name="connsiteX18" fmla="*/ 394058 w 752833"/>
                  <a:gd name="connsiteY18" fmla="*/ 74777 h 93827"/>
                  <a:gd name="connsiteX19" fmla="*/ 384533 w 752833"/>
                  <a:gd name="connsiteY19" fmla="*/ 77952 h 93827"/>
                  <a:gd name="connsiteX20" fmla="*/ 365483 w 752833"/>
                  <a:gd name="connsiteY20" fmla="*/ 81127 h 93827"/>
                  <a:gd name="connsiteX21" fmla="*/ 333733 w 752833"/>
                  <a:gd name="connsiteY21" fmla="*/ 84302 h 93827"/>
                  <a:gd name="connsiteX22" fmla="*/ 317858 w 752833"/>
                  <a:gd name="connsiteY22" fmla="*/ 87477 h 93827"/>
                  <a:gd name="connsiteX23" fmla="*/ 276583 w 752833"/>
                  <a:gd name="connsiteY23" fmla="*/ 93827 h 93827"/>
                  <a:gd name="connsiteX24" fmla="*/ 238483 w 752833"/>
                  <a:gd name="connsiteY24" fmla="*/ 90652 h 93827"/>
                  <a:gd name="connsiteX25" fmla="*/ 206733 w 752833"/>
                  <a:gd name="connsiteY25" fmla="*/ 87477 h 93827"/>
                  <a:gd name="connsiteX26" fmla="*/ 149583 w 752833"/>
                  <a:gd name="connsiteY26" fmla="*/ 84302 h 93827"/>
                  <a:gd name="connsiteX27" fmla="*/ 140058 w 752833"/>
                  <a:gd name="connsiteY27" fmla="*/ 81127 h 93827"/>
                  <a:gd name="connsiteX28" fmla="*/ 117833 w 752833"/>
                  <a:gd name="connsiteY28" fmla="*/ 74777 h 93827"/>
                  <a:gd name="connsiteX29" fmla="*/ 108308 w 752833"/>
                  <a:gd name="connsiteY29" fmla="*/ 68427 h 93827"/>
                  <a:gd name="connsiteX30" fmla="*/ 95608 w 752833"/>
                  <a:gd name="connsiteY30" fmla="*/ 62077 h 93827"/>
                  <a:gd name="connsiteX31" fmla="*/ 86083 w 752833"/>
                  <a:gd name="connsiteY31" fmla="*/ 55727 h 93827"/>
                  <a:gd name="connsiteX32" fmla="*/ 57508 w 752833"/>
                  <a:gd name="connsiteY32" fmla="*/ 49377 h 93827"/>
                  <a:gd name="connsiteX33" fmla="*/ 47983 w 752833"/>
                  <a:gd name="connsiteY33" fmla="*/ 46202 h 93827"/>
                  <a:gd name="connsiteX34" fmla="*/ 32108 w 752833"/>
                  <a:gd name="connsiteY34" fmla="*/ 43027 h 93827"/>
                  <a:gd name="connsiteX35" fmla="*/ 13058 w 752833"/>
                  <a:gd name="connsiteY35" fmla="*/ 33502 h 93827"/>
                  <a:gd name="connsiteX36" fmla="*/ 3533 w 752833"/>
                  <a:gd name="connsiteY36" fmla="*/ 30327 h 93827"/>
                  <a:gd name="connsiteX37" fmla="*/ 358 w 752833"/>
                  <a:gd name="connsiteY37" fmla="*/ 20802 h 93827"/>
                  <a:gd name="connsiteX38" fmla="*/ 9883 w 752833"/>
                  <a:gd name="connsiteY38" fmla="*/ 17627 h 93827"/>
                  <a:gd name="connsiteX39" fmla="*/ 25758 w 752833"/>
                  <a:gd name="connsiteY39" fmla="*/ 14452 h 93827"/>
                  <a:gd name="connsiteX40" fmla="*/ 51158 w 752833"/>
                  <a:gd name="connsiteY40" fmla="*/ 8102 h 93827"/>
                  <a:gd name="connsiteX41" fmla="*/ 92433 w 752833"/>
                  <a:gd name="connsiteY41" fmla="*/ 4927 h 93827"/>
                  <a:gd name="connsiteX42" fmla="*/ 111483 w 752833"/>
                  <a:gd name="connsiteY42" fmla="*/ 11277 h 93827"/>
                  <a:gd name="connsiteX43" fmla="*/ 121008 w 752833"/>
                  <a:gd name="connsiteY43" fmla="*/ 14452 h 93827"/>
                  <a:gd name="connsiteX44" fmla="*/ 190858 w 752833"/>
                  <a:gd name="connsiteY44" fmla="*/ 20802 h 93827"/>
                  <a:gd name="connsiteX45" fmla="*/ 238483 w 752833"/>
                  <a:gd name="connsiteY45" fmla="*/ 27152 h 93827"/>
                  <a:gd name="connsiteX46" fmla="*/ 260708 w 752833"/>
                  <a:gd name="connsiteY46" fmla="*/ 30327 h 93827"/>
                  <a:gd name="connsiteX47" fmla="*/ 279758 w 752833"/>
                  <a:gd name="connsiteY47" fmla="*/ 36677 h 93827"/>
                  <a:gd name="connsiteX48" fmla="*/ 289283 w 752833"/>
                  <a:gd name="connsiteY48" fmla="*/ 39852 h 93827"/>
                  <a:gd name="connsiteX49" fmla="*/ 308333 w 752833"/>
                  <a:gd name="connsiteY49" fmla="*/ 43027 h 93827"/>
                  <a:gd name="connsiteX50" fmla="*/ 390883 w 752833"/>
                  <a:gd name="connsiteY50" fmla="*/ 39852 h 93827"/>
                  <a:gd name="connsiteX51" fmla="*/ 403583 w 752833"/>
                  <a:gd name="connsiteY51" fmla="*/ 36677 h 93827"/>
                  <a:gd name="connsiteX52" fmla="*/ 422633 w 752833"/>
                  <a:gd name="connsiteY52" fmla="*/ 33502 h 93827"/>
                  <a:gd name="connsiteX53" fmla="*/ 435333 w 752833"/>
                  <a:gd name="connsiteY53" fmla="*/ 30327 h 93827"/>
                  <a:gd name="connsiteX54" fmla="*/ 511533 w 752833"/>
                  <a:gd name="connsiteY54" fmla="*/ 27152 h 93827"/>
                  <a:gd name="connsiteX55" fmla="*/ 540108 w 752833"/>
                  <a:gd name="connsiteY55" fmla="*/ 23977 h 93827"/>
                  <a:gd name="connsiteX56" fmla="*/ 594083 w 752833"/>
                  <a:gd name="connsiteY56" fmla="*/ 20802 h 93827"/>
                  <a:gd name="connsiteX57" fmla="*/ 606783 w 752833"/>
                  <a:gd name="connsiteY57" fmla="*/ 17627 h 93827"/>
                  <a:gd name="connsiteX58" fmla="*/ 622658 w 752833"/>
                  <a:gd name="connsiteY58" fmla="*/ 14452 h 93827"/>
                  <a:gd name="connsiteX59" fmla="*/ 641708 w 752833"/>
                  <a:gd name="connsiteY59" fmla="*/ 11277 h 93827"/>
                  <a:gd name="connsiteX60" fmla="*/ 663933 w 752833"/>
                  <a:gd name="connsiteY60" fmla="*/ 8102 h 93827"/>
                  <a:gd name="connsiteX61" fmla="*/ 676633 w 752833"/>
                  <a:gd name="connsiteY61" fmla="*/ 4927 h 93827"/>
                  <a:gd name="connsiteX62" fmla="*/ 717908 w 752833"/>
                  <a:gd name="connsiteY62" fmla="*/ 11277 h 93827"/>
                  <a:gd name="connsiteX63" fmla="*/ 752833 w 752833"/>
                  <a:gd name="connsiteY63" fmla="*/ 8102 h 93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752833" h="93827">
                    <a:moveTo>
                      <a:pt x="752833" y="8102"/>
                    </a:moveTo>
                    <a:lnTo>
                      <a:pt x="752833" y="8102"/>
                    </a:lnTo>
                    <a:cubicBezTo>
                      <a:pt x="743867" y="20654"/>
                      <a:pt x="738701" y="30462"/>
                      <a:pt x="727433" y="39852"/>
                    </a:cubicBezTo>
                    <a:cubicBezTo>
                      <a:pt x="724502" y="42295"/>
                      <a:pt x="721083" y="44085"/>
                      <a:pt x="717908" y="46202"/>
                    </a:cubicBezTo>
                    <a:cubicBezTo>
                      <a:pt x="707204" y="62259"/>
                      <a:pt x="717369" y="51234"/>
                      <a:pt x="702033" y="58902"/>
                    </a:cubicBezTo>
                    <a:cubicBezTo>
                      <a:pt x="698620" y="60609"/>
                      <a:pt x="695995" y="63702"/>
                      <a:pt x="692508" y="65252"/>
                    </a:cubicBezTo>
                    <a:cubicBezTo>
                      <a:pt x="676965" y="72160"/>
                      <a:pt x="674966" y="70514"/>
                      <a:pt x="660758" y="74777"/>
                    </a:cubicBezTo>
                    <a:cubicBezTo>
                      <a:pt x="629062" y="84286"/>
                      <a:pt x="654536" y="79294"/>
                      <a:pt x="619483" y="84302"/>
                    </a:cubicBezTo>
                    <a:cubicBezTo>
                      <a:pt x="616308" y="83244"/>
                      <a:pt x="613205" y="81939"/>
                      <a:pt x="609958" y="81127"/>
                    </a:cubicBezTo>
                    <a:cubicBezTo>
                      <a:pt x="601083" y="78908"/>
                      <a:pt x="583525" y="76192"/>
                      <a:pt x="575033" y="74777"/>
                    </a:cubicBezTo>
                    <a:cubicBezTo>
                      <a:pt x="565508" y="75835"/>
                      <a:pt x="555945" y="76597"/>
                      <a:pt x="546458" y="77952"/>
                    </a:cubicBezTo>
                    <a:cubicBezTo>
                      <a:pt x="508035" y="83441"/>
                      <a:pt x="547651" y="78392"/>
                      <a:pt x="521058" y="84302"/>
                    </a:cubicBezTo>
                    <a:cubicBezTo>
                      <a:pt x="514774" y="85699"/>
                      <a:pt x="508358" y="86419"/>
                      <a:pt x="502008" y="87477"/>
                    </a:cubicBezTo>
                    <a:cubicBezTo>
                      <a:pt x="497775" y="86419"/>
                      <a:pt x="493504" y="85501"/>
                      <a:pt x="489308" y="84302"/>
                    </a:cubicBezTo>
                    <a:cubicBezTo>
                      <a:pt x="486090" y="83383"/>
                      <a:pt x="483030" y="81939"/>
                      <a:pt x="479783" y="81127"/>
                    </a:cubicBezTo>
                    <a:cubicBezTo>
                      <a:pt x="474548" y="79818"/>
                      <a:pt x="469143" y="79261"/>
                      <a:pt x="463908" y="77952"/>
                    </a:cubicBezTo>
                    <a:cubicBezTo>
                      <a:pt x="460661" y="77140"/>
                      <a:pt x="457676" y="75376"/>
                      <a:pt x="454383" y="74777"/>
                    </a:cubicBezTo>
                    <a:cubicBezTo>
                      <a:pt x="445988" y="73251"/>
                      <a:pt x="437450" y="72660"/>
                      <a:pt x="428983" y="71602"/>
                    </a:cubicBezTo>
                    <a:cubicBezTo>
                      <a:pt x="417341" y="72660"/>
                      <a:pt x="405630" y="73124"/>
                      <a:pt x="394058" y="74777"/>
                    </a:cubicBezTo>
                    <a:cubicBezTo>
                      <a:pt x="390745" y="75250"/>
                      <a:pt x="387800" y="77226"/>
                      <a:pt x="384533" y="77952"/>
                    </a:cubicBezTo>
                    <a:cubicBezTo>
                      <a:pt x="378249" y="79349"/>
                      <a:pt x="371871" y="80329"/>
                      <a:pt x="365483" y="81127"/>
                    </a:cubicBezTo>
                    <a:cubicBezTo>
                      <a:pt x="354929" y="82446"/>
                      <a:pt x="344276" y="82896"/>
                      <a:pt x="333733" y="84302"/>
                    </a:cubicBezTo>
                    <a:cubicBezTo>
                      <a:pt x="328384" y="85015"/>
                      <a:pt x="323167" y="86512"/>
                      <a:pt x="317858" y="87477"/>
                    </a:cubicBezTo>
                    <a:cubicBezTo>
                      <a:pt x="301705" y="90414"/>
                      <a:pt x="293232" y="91449"/>
                      <a:pt x="276583" y="93827"/>
                    </a:cubicBezTo>
                    <a:lnTo>
                      <a:pt x="238483" y="90652"/>
                    </a:lnTo>
                    <a:cubicBezTo>
                      <a:pt x="227891" y="89689"/>
                      <a:pt x="217342" y="88235"/>
                      <a:pt x="206733" y="87477"/>
                    </a:cubicBezTo>
                    <a:cubicBezTo>
                      <a:pt x="187702" y="86118"/>
                      <a:pt x="168633" y="85360"/>
                      <a:pt x="149583" y="84302"/>
                    </a:cubicBezTo>
                    <a:cubicBezTo>
                      <a:pt x="146408" y="83244"/>
                      <a:pt x="143276" y="82046"/>
                      <a:pt x="140058" y="81127"/>
                    </a:cubicBezTo>
                    <a:cubicBezTo>
                      <a:pt x="135311" y="79771"/>
                      <a:pt x="122908" y="77315"/>
                      <a:pt x="117833" y="74777"/>
                    </a:cubicBezTo>
                    <a:cubicBezTo>
                      <a:pt x="114420" y="73070"/>
                      <a:pt x="111621" y="70320"/>
                      <a:pt x="108308" y="68427"/>
                    </a:cubicBezTo>
                    <a:cubicBezTo>
                      <a:pt x="104199" y="66079"/>
                      <a:pt x="99717" y="64425"/>
                      <a:pt x="95608" y="62077"/>
                    </a:cubicBezTo>
                    <a:cubicBezTo>
                      <a:pt x="92295" y="60184"/>
                      <a:pt x="89496" y="57434"/>
                      <a:pt x="86083" y="55727"/>
                    </a:cubicBezTo>
                    <a:cubicBezTo>
                      <a:pt x="77506" y="51439"/>
                      <a:pt x="66288" y="51328"/>
                      <a:pt x="57508" y="49377"/>
                    </a:cubicBezTo>
                    <a:cubicBezTo>
                      <a:pt x="54241" y="48651"/>
                      <a:pt x="51230" y="47014"/>
                      <a:pt x="47983" y="46202"/>
                    </a:cubicBezTo>
                    <a:cubicBezTo>
                      <a:pt x="42748" y="44893"/>
                      <a:pt x="37343" y="44336"/>
                      <a:pt x="32108" y="43027"/>
                    </a:cubicBezTo>
                    <a:cubicBezTo>
                      <a:pt x="16147" y="39037"/>
                      <a:pt x="28578" y="41262"/>
                      <a:pt x="13058" y="33502"/>
                    </a:cubicBezTo>
                    <a:cubicBezTo>
                      <a:pt x="10065" y="32005"/>
                      <a:pt x="6708" y="31385"/>
                      <a:pt x="3533" y="30327"/>
                    </a:cubicBezTo>
                    <a:cubicBezTo>
                      <a:pt x="2475" y="27152"/>
                      <a:pt x="-1139" y="23795"/>
                      <a:pt x="358" y="20802"/>
                    </a:cubicBezTo>
                    <a:cubicBezTo>
                      <a:pt x="1855" y="17809"/>
                      <a:pt x="6636" y="18439"/>
                      <a:pt x="9883" y="17627"/>
                    </a:cubicBezTo>
                    <a:cubicBezTo>
                      <a:pt x="15118" y="16318"/>
                      <a:pt x="20500" y="15665"/>
                      <a:pt x="25758" y="14452"/>
                    </a:cubicBezTo>
                    <a:cubicBezTo>
                      <a:pt x="34262" y="12490"/>
                      <a:pt x="51158" y="8102"/>
                      <a:pt x="51158" y="8102"/>
                    </a:cubicBezTo>
                    <a:cubicBezTo>
                      <a:pt x="68226" y="-3277"/>
                      <a:pt x="60527" y="-1055"/>
                      <a:pt x="92433" y="4927"/>
                    </a:cubicBezTo>
                    <a:cubicBezTo>
                      <a:pt x="99012" y="6161"/>
                      <a:pt x="105133" y="9160"/>
                      <a:pt x="111483" y="11277"/>
                    </a:cubicBezTo>
                    <a:cubicBezTo>
                      <a:pt x="114658" y="12335"/>
                      <a:pt x="117707" y="13902"/>
                      <a:pt x="121008" y="14452"/>
                    </a:cubicBezTo>
                    <a:cubicBezTo>
                      <a:pt x="156794" y="20416"/>
                      <a:pt x="133633" y="17225"/>
                      <a:pt x="190858" y="20802"/>
                    </a:cubicBezTo>
                    <a:cubicBezTo>
                      <a:pt x="213519" y="28356"/>
                      <a:pt x="193064" y="22371"/>
                      <a:pt x="238483" y="27152"/>
                    </a:cubicBezTo>
                    <a:cubicBezTo>
                      <a:pt x="245925" y="27935"/>
                      <a:pt x="253300" y="29269"/>
                      <a:pt x="260708" y="30327"/>
                    </a:cubicBezTo>
                    <a:lnTo>
                      <a:pt x="279758" y="36677"/>
                    </a:lnTo>
                    <a:cubicBezTo>
                      <a:pt x="282933" y="37735"/>
                      <a:pt x="285982" y="39302"/>
                      <a:pt x="289283" y="39852"/>
                    </a:cubicBezTo>
                    <a:lnTo>
                      <a:pt x="308333" y="43027"/>
                    </a:lnTo>
                    <a:cubicBezTo>
                      <a:pt x="335850" y="41969"/>
                      <a:pt x="363407" y="41684"/>
                      <a:pt x="390883" y="39852"/>
                    </a:cubicBezTo>
                    <a:cubicBezTo>
                      <a:pt x="395237" y="39562"/>
                      <a:pt x="399304" y="37533"/>
                      <a:pt x="403583" y="36677"/>
                    </a:cubicBezTo>
                    <a:cubicBezTo>
                      <a:pt x="409896" y="35414"/>
                      <a:pt x="416320" y="34765"/>
                      <a:pt x="422633" y="33502"/>
                    </a:cubicBezTo>
                    <a:cubicBezTo>
                      <a:pt x="426912" y="32646"/>
                      <a:pt x="430980" y="30638"/>
                      <a:pt x="435333" y="30327"/>
                    </a:cubicBezTo>
                    <a:cubicBezTo>
                      <a:pt x="460690" y="28516"/>
                      <a:pt x="486133" y="28210"/>
                      <a:pt x="511533" y="27152"/>
                    </a:cubicBezTo>
                    <a:cubicBezTo>
                      <a:pt x="521058" y="26094"/>
                      <a:pt x="530553" y="24712"/>
                      <a:pt x="540108" y="23977"/>
                    </a:cubicBezTo>
                    <a:cubicBezTo>
                      <a:pt x="558078" y="22595"/>
                      <a:pt x="576141" y="22511"/>
                      <a:pt x="594083" y="20802"/>
                    </a:cubicBezTo>
                    <a:cubicBezTo>
                      <a:pt x="598427" y="20388"/>
                      <a:pt x="602523" y="18574"/>
                      <a:pt x="606783" y="17627"/>
                    </a:cubicBezTo>
                    <a:cubicBezTo>
                      <a:pt x="612051" y="16456"/>
                      <a:pt x="617349" y="15417"/>
                      <a:pt x="622658" y="14452"/>
                    </a:cubicBezTo>
                    <a:cubicBezTo>
                      <a:pt x="628992" y="13300"/>
                      <a:pt x="635345" y="12256"/>
                      <a:pt x="641708" y="11277"/>
                    </a:cubicBezTo>
                    <a:cubicBezTo>
                      <a:pt x="649105" y="10139"/>
                      <a:pt x="656570" y="9441"/>
                      <a:pt x="663933" y="8102"/>
                    </a:cubicBezTo>
                    <a:cubicBezTo>
                      <a:pt x="668226" y="7321"/>
                      <a:pt x="672400" y="5985"/>
                      <a:pt x="676633" y="4927"/>
                    </a:cubicBezTo>
                    <a:cubicBezTo>
                      <a:pt x="696756" y="7163"/>
                      <a:pt x="701733" y="6425"/>
                      <a:pt x="717908" y="11277"/>
                    </a:cubicBezTo>
                    <a:cubicBezTo>
                      <a:pt x="740190" y="17962"/>
                      <a:pt x="747012" y="8631"/>
                      <a:pt x="752833" y="8102"/>
                    </a:cubicBezTo>
                    <a:close/>
                  </a:path>
                </a:pathLst>
              </a:custGeom>
              <a:solidFill>
                <a:srgbClr val="68C19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1440"/>
              </a:p>
            </p:txBody>
          </p:sp>
          <p:sp>
            <p:nvSpPr>
              <p:cNvPr id="1272" name="Freeform 143">
                <a:extLst>
                  <a:ext uri="{FF2B5EF4-FFF2-40B4-BE49-F238E27FC236}">
                    <a16:creationId xmlns:a16="http://schemas.microsoft.com/office/drawing/2014/main" id="{745F6BE3-CFB2-9635-9E2A-12A182440565}"/>
                  </a:ext>
                </a:extLst>
              </p:cNvPr>
              <p:cNvSpPr/>
              <p:nvPr/>
            </p:nvSpPr>
            <p:spPr>
              <a:xfrm>
                <a:off x="4768189" y="3324381"/>
                <a:ext cx="752833" cy="129423"/>
              </a:xfrm>
              <a:custGeom>
                <a:avLst/>
                <a:gdLst>
                  <a:gd name="connsiteX0" fmla="*/ 752833 w 752833"/>
                  <a:gd name="connsiteY0" fmla="*/ 8102 h 93827"/>
                  <a:gd name="connsiteX1" fmla="*/ 752833 w 752833"/>
                  <a:gd name="connsiteY1" fmla="*/ 8102 h 93827"/>
                  <a:gd name="connsiteX2" fmla="*/ 727433 w 752833"/>
                  <a:gd name="connsiteY2" fmla="*/ 39852 h 93827"/>
                  <a:gd name="connsiteX3" fmla="*/ 717908 w 752833"/>
                  <a:gd name="connsiteY3" fmla="*/ 46202 h 93827"/>
                  <a:gd name="connsiteX4" fmla="*/ 702033 w 752833"/>
                  <a:gd name="connsiteY4" fmla="*/ 58902 h 93827"/>
                  <a:gd name="connsiteX5" fmla="*/ 692508 w 752833"/>
                  <a:gd name="connsiteY5" fmla="*/ 65252 h 93827"/>
                  <a:gd name="connsiteX6" fmla="*/ 660758 w 752833"/>
                  <a:gd name="connsiteY6" fmla="*/ 74777 h 93827"/>
                  <a:gd name="connsiteX7" fmla="*/ 619483 w 752833"/>
                  <a:gd name="connsiteY7" fmla="*/ 84302 h 93827"/>
                  <a:gd name="connsiteX8" fmla="*/ 609958 w 752833"/>
                  <a:gd name="connsiteY8" fmla="*/ 81127 h 93827"/>
                  <a:gd name="connsiteX9" fmla="*/ 575033 w 752833"/>
                  <a:gd name="connsiteY9" fmla="*/ 74777 h 93827"/>
                  <a:gd name="connsiteX10" fmla="*/ 546458 w 752833"/>
                  <a:gd name="connsiteY10" fmla="*/ 77952 h 93827"/>
                  <a:gd name="connsiteX11" fmla="*/ 521058 w 752833"/>
                  <a:gd name="connsiteY11" fmla="*/ 84302 h 93827"/>
                  <a:gd name="connsiteX12" fmla="*/ 502008 w 752833"/>
                  <a:gd name="connsiteY12" fmla="*/ 87477 h 93827"/>
                  <a:gd name="connsiteX13" fmla="*/ 489308 w 752833"/>
                  <a:gd name="connsiteY13" fmla="*/ 84302 h 93827"/>
                  <a:gd name="connsiteX14" fmla="*/ 479783 w 752833"/>
                  <a:gd name="connsiteY14" fmla="*/ 81127 h 93827"/>
                  <a:gd name="connsiteX15" fmla="*/ 463908 w 752833"/>
                  <a:gd name="connsiteY15" fmla="*/ 77952 h 93827"/>
                  <a:gd name="connsiteX16" fmla="*/ 454383 w 752833"/>
                  <a:gd name="connsiteY16" fmla="*/ 74777 h 93827"/>
                  <a:gd name="connsiteX17" fmla="*/ 428983 w 752833"/>
                  <a:gd name="connsiteY17" fmla="*/ 71602 h 93827"/>
                  <a:gd name="connsiteX18" fmla="*/ 394058 w 752833"/>
                  <a:gd name="connsiteY18" fmla="*/ 74777 h 93827"/>
                  <a:gd name="connsiteX19" fmla="*/ 384533 w 752833"/>
                  <a:gd name="connsiteY19" fmla="*/ 77952 h 93827"/>
                  <a:gd name="connsiteX20" fmla="*/ 365483 w 752833"/>
                  <a:gd name="connsiteY20" fmla="*/ 81127 h 93827"/>
                  <a:gd name="connsiteX21" fmla="*/ 333733 w 752833"/>
                  <a:gd name="connsiteY21" fmla="*/ 84302 h 93827"/>
                  <a:gd name="connsiteX22" fmla="*/ 317858 w 752833"/>
                  <a:gd name="connsiteY22" fmla="*/ 87477 h 93827"/>
                  <a:gd name="connsiteX23" fmla="*/ 276583 w 752833"/>
                  <a:gd name="connsiteY23" fmla="*/ 93827 h 93827"/>
                  <a:gd name="connsiteX24" fmla="*/ 238483 w 752833"/>
                  <a:gd name="connsiteY24" fmla="*/ 90652 h 93827"/>
                  <a:gd name="connsiteX25" fmla="*/ 206733 w 752833"/>
                  <a:gd name="connsiteY25" fmla="*/ 87477 h 93827"/>
                  <a:gd name="connsiteX26" fmla="*/ 149583 w 752833"/>
                  <a:gd name="connsiteY26" fmla="*/ 84302 h 93827"/>
                  <a:gd name="connsiteX27" fmla="*/ 140058 w 752833"/>
                  <a:gd name="connsiteY27" fmla="*/ 81127 h 93827"/>
                  <a:gd name="connsiteX28" fmla="*/ 117833 w 752833"/>
                  <a:gd name="connsiteY28" fmla="*/ 74777 h 93827"/>
                  <a:gd name="connsiteX29" fmla="*/ 108308 w 752833"/>
                  <a:gd name="connsiteY29" fmla="*/ 68427 h 93827"/>
                  <a:gd name="connsiteX30" fmla="*/ 95608 w 752833"/>
                  <a:gd name="connsiteY30" fmla="*/ 62077 h 93827"/>
                  <a:gd name="connsiteX31" fmla="*/ 86083 w 752833"/>
                  <a:gd name="connsiteY31" fmla="*/ 55727 h 93827"/>
                  <a:gd name="connsiteX32" fmla="*/ 57508 w 752833"/>
                  <a:gd name="connsiteY32" fmla="*/ 49377 h 93827"/>
                  <a:gd name="connsiteX33" fmla="*/ 47983 w 752833"/>
                  <a:gd name="connsiteY33" fmla="*/ 46202 h 93827"/>
                  <a:gd name="connsiteX34" fmla="*/ 32108 w 752833"/>
                  <a:gd name="connsiteY34" fmla="*/ 43027 h 93827"/>
                  <a:gd name="connsiteX35" fmla="*/ 13058 w 752833"/>
                  <a:gd name="connsiteY35" fmla="*/ 33502 h 93827"/>
                  <a:gd name="connsiteX36" fmla="*/ 3533 w 752833"/>
                  <a:gd name="connsiteY36" fmla="*/ 30327 h 93827"/>
                  <a:gd name="connsiteX37" fmla="*/ 358 w 752833"/>
                  <a:gd name="connsiteY37" fmla="*/ 20802 h 93827"/>
                  <a:gd name="connsiteX38" fmla="*/ 9883 w 752833"/>
                  <a:gd name="connsiteY38" fmla="*/ 17627 h 93827"/>
                  <a:gd name="connsiteX39" fmla="*/ 25758 w 752833"/>
                  <a:gd name="connsiteY39" fmla="*/ 14452 h 93827"/>
                  <a:gd name="connsiteX40" fmla="*/ 51158 w 752833"/>
                  <a:gd name="connsiteY40" fmla="*/ 8102 h 93827"/>
                  <a:gd name="connsiteX41" fmla="*/ 92433 w 752833"/>
                  <a:gd name="connsiteY41" fmla="*/ 4927 h 93827"/>
                  <a:gd name="connsiteX42" fmla="*/ 111483 w 752833"/>
                  <a:gd name="connsiteY42" fmla="*/ 11277 h 93827"/>
                  <a:gd name="connsiteX43" fmla="*/ 121008 w 752833"/>
                  <a:gd name="connsiteY43" fmla="*/ 14452 h 93827"/>
                  <a:gd name="connsiteX44" fmla="*/ 190858 w 752833"/>
                  <a:gd name="connsiteY44" fmla="*/ 20802 h 93827"/>
                  <a:gd name="connsiteX45" fmla="*/ 238483 w 752833"/>
                  <a:gd name="connsiteY45" fmla="*/ 27152 h 93827"/>
                  <a:gd name="connsiteX46" fmla="*/ 260708 w 752833"/>
                  <a:gd name="connsiteY46" fmla="*/ 30327 h 93827"/>
                  <a:gd name="connsiteX47" fmla="*/ 279758 w 752833"/>
                  <a:gd name="connsiteY47" fmla="*/ 36677 h 93827"/>
                  <a:gd name="connsiteX48" fmla="*/ 289283 w 752833"/>
                  <a:gd name="connsiteY48" fmla="*/ 39852 h 93827"/>
                  <a:gd name="connsiteX49" fmla="*/ 308333 w 752833"/>
                  <a:gd name="connsiteY49" fmla="*/ 43027 h 93827"/>
                  <a:gd name="connsiteX50" fmla="*/ 390883 w 752833"/>
                  <a:gd name="connsiteY50" fmla="*/ 39852 h 93827"/>
                  <a:gd name="connsiteX51" fmla="*/ 403583 w 752833"/>
                  <a:gd name="connsiteY51" fmla="*/ 36677 h 93827"/>
                  <a:gd name="connsiteX52" fmla="*/ 422633 w 752833"/>
                  <a:gd name="connsiteY52" fmla="*/ 33502 h 93827"/>
                  <a:gd name="connsiteX53" fmla="*/ 435333 w 752833"/>
                  <a:gd name="connsiteY53" fmla="*/ 30327 h 93827"/>
                  <a:gd name="connsiteX54" fmla="*/ 511533 w 752833"/>
                  <a:gd name="connsiteY54" fmla="*/ 27152 h 93827"/>
                  <a:gd name="connsiteX55" fmla="*/ 540108 w 752833"/>
                  <a:gd name="connsiteY55" fmla="*/ 23977 h 93827"/>
                  <a:gd name="connsiteX56" fmla="*/ 594083 w 752833"/>
                  <a:gd name="connsiteY56" fmla="*/ 20802 h 93827"/>
                  <a:gd name="connsiteX57" fmla="*/ 606783 w 752833"/>
                  <a:gd name="connsiteY57" fmla="*/ 17627 h 93827"/>
                  <a:gd name="connsiteX58" fmla="*/ 622658 w 752833"/>
                  <a:gd name="connsiteY58" fmla="*/ 14452 h 93827"/>
                  <a:gd name="connsiteX59" fmla="*/ 641708 w 752833"/>
                  <a:gd name="connsiteY59" fmla="*/ 11277 h 93827"/>
                  <a:gd name="connsiteX60" fmla="*/ 663933 w 752833"/>
                  <a:gd name="connsiteY60" fmla="*/ 8102 h 93827"/>
                  <a:gd name="connsiteX61" fmla="*/ 676633 w 752833"/>
                  <a:gd name="connsiteY61" fmla="*/ 4927 h 93827"/>
                  <a:gd name="connsiteX62" fmla="*/ 717908 w 752833"/>
                  <a:gd name="connsiteY62" fmla="*/ 11277 h 93827"/>
                  <a:gd name="connsiteX63" fmla="*/ 752833 w 752833"/>
                  <a:gd name="connsiteY63" fmla="*/ 8102 h 93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752833" h="93827">
                    <a:moveTo>
                      <a:pt x="752833" y="8102"/>
                    </a:moveTo>
                    <a:lnTo>
                      <a:pt x="752833" y="8102"/>
                    </a:lnTo>
                    <a:cubicBezTo>
                      <a:pt x="743867" y="20654"/>
                      <a:pt x="738701" y="30462"/>
                      <a:pt x="727433" y="39852"/>
                    </a:cubicBezTo>
                    <a:cubicBezTo>
                      <a:pt x="724502" y="42295"/>
                      <a:pt x="721083" y="44085"/>
                      <a:pt x="717908" y="46202"/>
                    </a:cubicBezTo>
                    <a:cubicBezTo>
                      <a:pt x="707204" y="62259"/>
                      <a:pt x="717369" y="51234"/>
                      <a:pt x="702033" y="58902"/>
                    </a:cubicBezTo>
                    <a:cubicBezTo>
                      <a:pt x="698620" y="60609"/>
                      <a:pt x="695995" y="63702"/>
                      <a:pt x="692508" y="65252"/>
                    </a:cubicBezTo>
                    <a:cubicBezTo>
                      <a:pt x="676965" y="72160"/>
                      <a:pt x="674966" y="70514"/>
                      <a:pt x="660758" y="74777"/>
                    </a:cubicBezTo>
                    <a:cubicBezTo>
                      <a:pt x="629062" y="84286"/>
                      <a:pt x="654536" y="79294"/>
                      <a:pt x="619483" y="84302"/>
                    </a:cubicBezTo>
                    <a:cubicBezTo>
                      <a:pt x="616308" y="83244"/>
                      <a:pt x="613205" y="81939"/>
                      <a:pt x="609958" y="81127"/>
                    </a:cubicBezTo>
                    <a:cubicBezTo>
                      <a:pt x="601083" y="78908"/>
                      <a:pt x="583525" y="76192"/>
                      <a:pt x="575033" y="74777"/>
                    </a:cubicBezTo>
                    <a:cubicBezTo>
                      <a:pt x="565508" y="75835"/>
                      <a:pt x="555945" y="76597"/>
                      <a:pt x="546458" y="77952"/>
                    </a:cubicBezTo>
                    <a:cubicBezTo>
                      <a:pt x="508035" y="83441"/>
                      <a:pt x="547651" y="78392"/>
                      <a:pt x="521058" y="84302"/>
                    </a:cubicBezTo>
                    <a:cubicBezTo>
                      <a:pt x="514774" y="85699"/>
                      <a:pt x="508358" y="86419"/>
                      <a:pt x="502008" y="87477"/>
                    </a:cubicBezTo>
                    <a:cubicBezTo>
                      <a:pt x="497775" y="86419"/>
                      <a:pt x="493504" y="85501"/>
                      <a:pt x="489308" y="84302"/>
                    </a:cubicBezTo>
                    <a:cubicBezTo>
                      <a:pt x="486090" y="83383"/>
                      <a:pt x="483030" y="81939"/>
                      <a:pt x="479783" y="81127"/>
                    </a:cubicBezTo>
                    <a:cubicBezTo>
                      <a:pt x="474548" y="79818"/>
                      <a:pt x="469143" y="79261"/>
                      <a:pt x="463908" y="77952"/>
                    </a:cubicBezTo>
                    <a:cubicBezTo>
                      <a:pt x="460661" y="77140"/>
                      <a:pt x="457676" y="75376"/>
                      <a:pt x="454383" y="74777"/>
                    </a:cubicBezTo>
                    <a:cubicBezTo>
                      <a:pt x="445988" y="73251"/>
                      <a:pt x="437450" y="72660"/>
                      <a:pt x="428983" y="71602"/>
                    </a:cubicBezTo>
                    <a:cubicBezTo>
                      <a:pt x="417341" y="72660"/>
                      <a:pt x="405630" y="73124"/>
                      <a:pt x="394058" y="74777"/>
                    </a:cubicBezTo>
                    <a:cubicBezTo>
                      <a:pt x="390745" y="75250"/>
                      <a:pt x="387800" y="77226"/>
                      <a:pt x="384533" y="77952"/>
                    </a:cubicBezTo>
                    <a:cubicBezTo>
                      <a:pt x="378249" y="79349"/>
                      <a:pt x="371871" y="80329"/>
                      <a:pt x="365483" y="81127"/>
                    </a:cubicBezTo>
                    <a:cubicBezTo>
                      <a:pt x="354929" y="82446"/>
                      <a:pt x="344276" y="82896"/>
                      <a:pt x="333733" y="84302"/>
                    </a:cubicBezTo>
                    <a:cubicBezTo>
                      <a:pt x="328384" y="85015"/>
                      <a:pt x="323167" y="86512"/>
                      <a:pt x="317858" y="87477"/>
                    </a:cubicBezTo>
                    <a:cubicBezTo>
                      <a:pt x="301705" y="90414"/>
                      <a:pt x="293232" y="91449"/>
                      <a:pt x="276583" y="93827"/>
                    </a:cubicBezTo>
                    <a:lnTo>
                      <a:pt x="238483" y="90652"/>
                    </a:lnTo>
                    <a:cubicBezTo>
                      <a:pt x="227891" y="89689"/>
                      <a:pt x="217342" y="88235"/>
                      <a:pt x="206733" y="87477"/>
                    </a:cubicBezTo>
                    <a:cubicBezTo>
                      <a:pt x="187702" y="86118"/>
                      <a:pt x="168633" y="85360"/>
                      <a:pt x="149583" y="84302"/>
                    </a:cubicBezTo>
                    <a:cubicBezTo>
                      <a:pt x="146408" y="83244"/>
                      <a:pt x="143276" y="82046"/>
                      <a:pt x="140058" y="81127"/>
                    </a:cubicBezTo>
                    <a:cubicBezTo>
                      <a:pt x="135311" y="79771"/>
                      <a:pt x="122908" y="77315"/>
                      <a:pt x="117833" y="74777"/>
                    </a:cubicBezTo>
                    <a:cubicBezTo>
                      <a:pt x="114420" y="73070"/>
                      <a:pt x="111621" y="70320"/>
                      <a:pt x="108308" y="68427"/>
                    </a:cubicBezTo>
                    <a:cubicBezTo>
                      <a:pt x="104199" y="66079"/>
                      <a:pt x="99717" y="64425"/>
                      <a:pt x="95608" y="62077"/>
                    </a:cubicBezTo>
                    <a:cubicBezTo>
                      <a:pt x="92295" y="60184"/>
                      <a:pt x="89496" y="57434"/>
                      <a:pt x="86083" y="55727"/>
                    </a:cubicBezTo>
                    <a:cubicBezTo>
                      <a:pt x="77506" y="51439"/>
                      <a:pt x="66288" y="51328"/>
                      <a:pt x="57508" y="49377"/>
                    </a:cubicBezTo>
                    <a:cubicBezTo>
                      <a:pt x="54241" y="48651"/>
                      <a:pt x="51230" y="47014"/>
                      <a:pt x="47983" y="46202"/>
                    </a:cubicBezTo>
                    <a:cubicBezTo>
                      <a:pt x="42748" y="44893"/>
                      <a:pt x="37343" y="44336"/>
                      <a:pt x="32108" y="43027"/>
                    </a:cubicBezTo>
                    <a:cubicBezTo>
                      <a:pt x="16147" y="39037"/>
                      <a:pt x="28578" y="41262"/>
                      <a:pt x="13058" y="33502"/>
                    </a:cubicBezTo>
                    <a:cubicBezTo>
                      <a:pt x="10065" y="32005"/>
                      <a:pt x="6708" y="31385"/>
                      <a:pt x="3533" y="30327"/>
                    </a:cubicBezTo>
                    <a:cubicBezTo>
                      <a:pt x="2475" y="27152"/>
                      <a:pt x="-1139" y="23795"/>
                      <a:pt x="358" y="20802"/>
                    </a:cubicBezTo>
                    <a:cubicBezTo>
                      <a:pt x="1855" y="17809"/>
                      <a:pt x="6636" y="18439"/>
                      <a:pt x="9883" y="17627"/>
                    </a:cubicBezTo>
                    <a:cubicBezTo>
                      <a:pt x="15118" y="16318"/>
                      <a:pt x="20500" y="15665"/>
                      <a:pt x="25758" y="14452"/>
                    </a:cubicBezTo>
                    <a:cubicBezTo>
                      <a:pt x="34262" y="12490"/>
                      <a:pt x="51158" y="8102"/>
                      <a:pt x="51158" y="8102"/>
                    </a:cubicBezTo>
                    <a:cubicBezTo>
                      <a:pt x="68226" y="-3277"/>
                      <a:pt x="60527" y="-1055"/>
                      <a:pt x="92433" y="4927"/>
                    </a:cubicBezTo>
                    <a:cubicBezTo>
                      <a:pt x="99012" y="6161"/>
                      <a:pt x="105133" y="9160"/>
                      <a:pt x="111483" y="11277"/>
                    </a:cubicBezTo>
                    <a:cubicBezTo>
                      <a:pt x="114658" y="12335"/>
                      <a:pt x="117707" y="13902"/>
                      <a:pt x="121008" y="14452"/>
                    </a:cubicBezTo>
                    <a:cubicBezTo>
                      <a:pt x="156794" y="20416"/>
                      <a:pt x="133633" y="17225"/>
                      <a:pt x="190858" y="20802"/>
                    </a:cubicBezTo>
                    <a:cubicBezTo>
                      <a:pt x="213519" y="28356"/>
                      <a:pt x="193064" y="22371"/>
                      <a:pt x="238483" y="27152"/>
                    </a:cubicBezTo>
                    <a:cubicBezTo>
                      <a:pt x="245925" y="27935"/>
                      <a:pt x="253300" y="29269"/>
                      <a:pt x="260708" y="30327"/>
                    </a:cubicBezTo>
                    <a:lnTo>
                      <a:pt x="279758" y="36677"/>
                    </a:lnTo>
                    <a:cubicBezTo>
                      <a:pt x="282933" y="37735"/>
                      <a:pt x="285982" y="39302"/>
                      <a:pt x="289283" y="39852"/>
                    </a:cubicBezTo>
                    <a:lnTo>
                      <a:pt x="308333" y="43027"/>
                    </a:lnTo>
                    <a:cubicBezTo>
                      <a:pt x="335850" y="41969"/>
                      <a:pt x="363407" y="41684"/>
                      <a:pt x="390883" y="39852"/>
                    </a:cubicBezTo>
                    <a:cubicBezTo>
                      <a:pt x="395237" y="39562"/>
                      <a:pt x="399304" y="37533"/>
                      <a:pt x="403583" y="36677"/>
                    </a:cubicBezTo>
                    <a:cubicBezTo>
                      <a:pt x="409896" y="35414"/>
                      <a:pt x="416320" y="34765"/>
                      <a:pt x="422633" y="33502"/>
                    </a:cubicBezTo>
                    <a:cubicBezTo>
                      <a:pt x="426912" y="32646"/>
                      <a:pt x="430980" y="30638"/>
                      <a:pt x="435333" y="30327"/>
                    </a:cubicBezTo>
                    <a:cubicBezTo>
                      <a:pt x="460690" y="28516"/>
                      <a:pt x="486133" y="28210"/>
                      <a:pt x="511533" y="27152"/>
                    </a:cubicBezTo>
                    <a:cubicBezTo>
                      <a:pt x="521058" y="26094"/>
                      <a:pt x="530553" y="24712"/>
                      <a:pt x="540108" y="23977"/>
                    </a:cubicBezTo>
                    <a:cubicBezTo>
                      <a:pt x="558078" y="22595"/>
                      <a:pt x="576141" y="22511"/>
                      <a:pt x="594083" y="20802"/>
                    </a:cubicBezTo>
                    <a:cubicBezTo>
                      <a:pt x="598427" y="20388"/>
                      <a:pt x="602523" y="18574"/>
                      <a:pt x="606783" y="17627"/>
                    </a:cubicBezTo>
                    <a:cubicBezTo>
                      <a:pt x="612051" y="16456"/>
                      <a:pt x="617349" y="15417"/>
                      <a:pt x="622658" y="14452"/>
                    </a:cubicBezTo>
                    <a:cubicBezTo>
                      <a:pt x="628992" y="13300"/>
                      <a:pt x="635345" y="12256"/>
                      <a:pt x="641708" y="11277"/>
                    </a:cubicBezTo>
                    <a:cubicBezTo>
                      <a:pt x="649105" y="10139"/>
                      <a:pt x="656570" y="9441"/>
                      <a:pt x="663933" y="8102"/>
                    </a:cubicBezTo>
                    <a:cubicBezTo>
                      <a:pt x="668226" y="7321"/>
                      <a:pt x="672400" y="5985"/>
                      <a:pt x="676633" y="4927"/>
                    </a:cubicBezTo>
                    <a:cubicBezTo>
                      <a:pt x="696756" y="7163"/>
                      <a:pt x="701733" y="6425"/>
                      <a:pt x="717908" y="11277"/>
                    </a:cubicBezTo>
                    <a:cubicBezTo>
                      <a:pt x="740190" y="17962"/>
                      <a:pt x="747012" y="8631"/>
                      <a:pt x="752833" y="8102"/>
                    </a:cubicBezTo>
                    <a:close/>
                  </a:path>
                </a:pathLst>
              </a:custGeom>
              <a:solidFill>
                <a:srgbClr val="5AAD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1440"/>
              </a:p>
            </p:txBody>
          </p:sp>
          <p:grpSp>
            <p:nvGrpSpPr>
              <p:cNvPr id="1273" name="Group 153">
                <a:extLst>
                  <a:ext uri="{FF2B5EF4-FFF2-40B4-BE49-F238E27FC236}">
                    <a16:creationId xmlns:a16="http://schemas.microsoft.com/office/drawing/2014/main" id="{57DA9767-8D19-4908-C3BC-EDD20291D9B4}"/>
                  </a:ext>
                </a:extLst>
              </p:cNvPr>
              <p:cNvGrpSpPr/>
              <p:nvPr/>
            </p:nvGrpSpPr>
            <p:grpSpPr>
              <a:xfrm>
                <a:off x="4762197" y="3275494"/>
                <a:ext cx="762000" cy="104775"/>
                <a:chOff x="4762197" y="3275494"/>
                <a:chExt cx="762000" cy="104775"/>
              </a:xfrm>
            </p:grpSpPr>
            <p:sp>
              <p:nvSpPr>
                <p:cNvPr id="1275" name="Freeform 141">
                  <a:extLst>
                    <a:ext uri="{FF2B5EF4-FFF2-40B4-BE49-F238E27FC236}">
                      <a16:creationId xmlns:a16="http://schemas.microsoft.com/office/drawing/2014/main" id="{CE84B2FF-95F9-95C6-CC8E-58FEC8E1AD6F}"/>
                    </a:ext>
                  </a:extLst>
                </p:cNvPr>
                <p:cNvSpPr/>
                <p:nvPr/>
              </p:nvSpPr>
              <p:spPr>
                <a:xfrm>
                  <a:off x="4762197" y="3275494"/>
                  <a:ext cx="762000" cy="104775"/>
                </a:xfrm>
                <a:custGeom>
                  <a:avLst/>
                  <a:gdLst>
                    <a:gd name="connsiteX0" fmla="*/ 762000 w 762000"/>
                    <a:gd name="connsiteY0" fmla="*/ 69850 h 104775"/>
                    <a:gd name="connsiteX1" fmla="*/ 762000 w 762000"/>
                    <a:gd name="connsiteY1" fmla="*/ 69850 h 104775"/>
                    <a:gd name="connsiteX2" fmla="*/ 739775 w 762000"/>
                    <a:gd name="connsiteY2" fmla="*/ 53975 h 104775"/>
                    <a:gd name="connsiteX3" fmla="*/ 720725 w 762000"/>
                    <a:gd name="connsiteY3" fmla="*/ 41275 h 104775"/>
                    <a:gd name="connsiteX4" fmla="*/ 704850 w 762000"/>
                    <a:gd name="connsiteY4" fmla="*/ 28575 h 104775"/>
                    <a:gd name="connsiteX5" fmla="*/ 695325 w 762000"/>
                    <a:gd name="connsiteY5" fmla="*/ 22225 h 104775"/>
                    <a:gd name="connsiteX6" fmla="*/ 676275 w 762000"/>
                    <a:gd name="connsiteY6" fmla="*/ 15875 h 104775"/>
                    <a:gd name="connsiteX7" fmla="*/ 666750 w 762000"/>
                    <a:gd name="connsiteY7" fmla="*/ 12700 h 104775"/>
                    <a:gd name="connsiteX8" fmla="*/ 647700 w 762000"/>
                    <a:gd name="connsiteY8" fmla="*/ 3175 h 104775"/>
                    <a:gd name="connsiteX9" fmla="*/ 581025 w 762000"/>
                    <a:gd name="connsiteY9" fmla="*/ 0 h 104775"/>
                    <a:gd name="connsiteX10" fmla="*/ 555625 w 762000"/>
                    <a:gd name="connsiteY10" fmla="*/ 6350 h 104775"/>
                    <a:gd name="connsiteX11" fmla="*/ 533400 w 762000"/>
                    <a:gd name="connsiteY11" fmla="*/ 12700 h 104775"/>
                    <a:gd name="connsiteX12" fmla="*/ 504825 w 762000"/>
                    <a:gd name="connsiteY12" fmla="*/ 25400 h 104775"/>
                    <a:gd name="connsiteX13" fmla="*/ 479425 w 762000"/>
                    <a:gd name="connsiteY13" fmla="*/ 28575 h 104775"/>
                    <a:gd name="connsiteX14" fmla="*/ 450850 w 762000"/>
                    <a:gd name="connsiteY14" fmla="*/ 38100 h 104775"/>
                    <a:gd name="connsiteX15" fmla="*/ 441325 w 762000"/>
                    <a:gd name="connsiteY15" fmla="*/ 41275 h 104775"/>
                    <a:gd name="connsiteX16" fmla="*/ 431800 w 762000"/>
                    <a:gd name="connsiteY16" fmla="*/ 44450 h 104775"/>
                    <a:gd name="connsiteX17" fmla="*/ 415925 w 762000"/>
                    <a:gd name="connsiteY17" fmla="*/ 47625 h 104775"/>
                    <a:gd name="connsiteX18" fmla="*/ 406400 w 762000"/>
                    <a:gd name="connsiteY18" fmla="*/ 50800 h 104775"/>
                    <a:gd name="connsiteX19" fmla="*/ 365125 w 762000"/>
                    <a:gd name="connsiteY19" fmla="*/ 53975 h 104775"/>
                    <a:gd name="connsiteX20" fmla="*/ 346075 w 762000"/>
                    <a:gd name="connsiteY20" fmla="*/ 57150 h 104775"/>
                    <a:gd name="connsiteX21" fmla="*/ 333375 w 762000"/>
                    <a:gd name="connsiteY21" fmla="*/ 60325 h 104775"/>
                    <a:gd name="connsiteX22" fmla="*/ 301625 w 762000"/>
                    <a:gd name="connsiteY22" fmla="*/ 57150 h 104775"/>
                    <a:gd name="connsiteX23" fmla="*/ 292100 w 762000"/>
                    <a:gd name="connsiteY23" fmla="*/ 53975 h 104775"/>
                    <a:gd name="connsiteX24" fmla="*/ 269875 w 762000"/>
                    <a:gd name="connsiteY24" fmla="*/ 47625 h 104775"/>
                    <a:gd name="connsiteX25" fmla="*/ 260350 w 762000"/>
                    <a:gd name="connsiteY25" fmla="*/ 41275 h 104775"/>
                    <a:gd name="connsiteX26" fmla="*/ 238125 w 762000"/>
                    <a:gd name="connsiteY26" fmla="*/ 34925 h 104775"/>
                    <a:gd name="connsiteX27" fmla="*/ 228600 w 762000"/>
                    <a:gd name="connsiteY27" fmla="*/ 31750 h 104775"/>
                    <a:gd name="connsiteX28" fmla="*/ 212725 w 762000"/>
                    <a:gd name="connsiteY28" fmla="*/ 28575 h 104775"/>
                    <a:gd name="connsiteX29" fmla="*/ 193675 w 762000"/>
                    <a:gd name="connsiteY29" fmla="*/ 22225 h 104775"/>
                    <a:gd name="connsiteX30" fmla="*/ 152400 w 762000"/>
                    <a:gd name="connsiteY30" fmla="*/ 25400 h 104775"/>
                    <a:gd name="connsiteX31" fmla="*/ 136525 w 762000"/>
                    <a:gd name="connsiteY31" fmla="*/ 28575 h 104775"/>
                    <a:gd name="connsiteX32" fmla="*/ 114300 w 762000"/>
                    <a:gd name="connsiteY32" fmla="*/ 31750 h 104775"/>
                    <a:gd name="connsiteX33" fmla="*/ 95250 w 762000"/>
                    <a:gd name="connsiteY33" fmla="*/ 34925 h 104775"/>
                    <a:gd name="connsiteX34" fmla="*/ 50800 w 762000"/>
                    <a:gd name="connsiteY34" fmla="*/ 38100 h 104775"/>
                    <a:gd name="connsiteX35" fmla="*/ 41275 w 762000"/>
                    <a:gd name="connsiteY35" fmla="*/ 41275 h 104775"/>
                    <a:gd name="connsiteX36" fmla="*/ 22225 w 762000"/>
                    <a:gd name="connsiteY36" fmla="*/ 53975 h 104775"/>
                    <a:gd name="connsiteX37" fmla="*/ 0 w 762000"/>
                    <a:gd name="connsiteY37" fmla="*/ 79375 h 104775"/>
                    <a:gd name="connsiteX38" fmla="*/ 9525 w 762000"/>
                    <a:gd name="connsiteY38" fmla="*/ 85725 h 104775"/>
                    <a:gd name="connsiteX39" fmla="*/ 19050 w 762000"/>
                    <a:gd name="connsiteY39" fmla="*/ 79375 h 104775"/>
                    <a:gd name="connsiteX40" fmla="*/ 31750 w 762000"/>
                    <a:gd name="connsiteY40" fmla="*/ 76200 h 104775"/>
                    <a:gd name="connsiteX41" fmla="*/ 142875 w 762000"/>
                    <a:gd name="connsiteY41" fmla="*/ 79375 h 104775"/>
                    <a:gd name="connsiteX42" fmla="*/ 165100 w 762000"/>
                    <a:gd name="connsiteY42" fmla="*/ 85725 h 104775"/>
                    <a:gd name="connsiteX43" fmla="*/ 174625 w 762000"/>
                    <a:gd name="connsiteY43" fmla="*/ 92075 h 104775"/>
                    <a:gd name="connsiteX44" fmla="*/ 200025 w 762000"/>
                    <a:gd name="connsiteY44" fmla="*/ 98425 h 104775"/>
                    <a:gd name="connsiteX45" fmla="*/ 234950 w 762000"/>
                    <a:gd name="connsiteY45" fmla="*/ 104775 h 104775"/>
                    <a:gd name="connsiteX46" fmla="*/ 317500 w 762000"/>
                    <a:gd name="connsiteY46" fmla="*/ 101600 h 104775"/>
                    <a:gd name="connsiteX47" fmla="*/ 355600 w 762000"/>
                    <a:gd name="connsiteY47" fmla="*/ 101600 h 104775"/>
                    <a:gd name="connsiteX48" fmla="*/ 365125 w 762000"/>
                    <a:gd name="connsiteY48" fmla="*/ 104775 h 104775"/>
                    <a:gd name="connsiteX49" fmla="*/ 415925 w 762000"/>
                    <a:gd name="connsiteY49" fmla="*/ 98425 h 104775"/>
                    <a:gd name="connsiteX50" fmla="*/ 434975 w 762000"/>
                    <a:gd name="connsiteY50" fmla="*/ 92075 h 104775"/>
                    <a:gd name="connsiteX51" fmla="*/ 444500 w 762000"/>
                    <a:gd name="connsiteY51" fmla="*/ 88900 h 104775"/>
                    <a:gd name="connsiteX52" fmla="*/ 558800 w 762000"/>
                    <a:gd name="connsiteY52" fmla="*/ 82550 h 104775"/>
                    <a:gd name="connsiteX53" fmla="*/ 723900 w 762000"/>
                    <a:gd name="connsiteY53" fmla="*/ 82550 h 104775"/>
                    <a:gd name="connsiteX54" fmla="*/ 762000 w 762000"/>
                    <a:gd name="connsiteY54" fmla="*/ 69850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762000" h="104775">
                      <a:moveTo>
                        <a:pt x="762000" y="69850"/>
                      </a:moveTo>
                      <a:lnTo>
                        <a:pt x="762000" y="69850"/>
                      </a:lnTo>
                      <a:cubicBezTo>
                        <a:pt x="754592" y="64558"/>
                        <a:pt x="746884" y="59662"/>
                        <a:pt x="739775" y="53975"/>
                      </a:cubicBezTo>
                      <a:cubicBezTo>
                        <a:pt x="722787" y="40385"/>
                        <a:pt x="738308" y="47136"/>
                        <a:pt x="720725" y="41275"/>
                      </a:cubicBezTo>
                      <a:cubicBezTo>
                        <a:pt x="710021" y="25218"/>
                        <a:pt x="720186" y="36243"/>
                        <a:pt x="704850" y="28575"/>
                      </a:cubicBezTo>
                      <a:cubicBezTo>
                        <a:pt x="701437" y="26868"/>
                        <a:pt x="698812" y="23775"/>
                        <a:pt x="695325" y="22225"/>
                      </a:cubicBezTo>
                      <a:cubicBezTo>
                        <a:pt x="689208" y="19507"/>
                        <a:pt x="682625" y="17992"/>
                        <a:pt x="676275" y="15875"/>
                      </a:cubicBezTo>
                      <a:cubicBezTo>
                        <a:pt x="673100" y="14817"/>
                        <a:pt x="669535" y="14556"/>
                        <a:pt x="666750" y="12700"/>
                      </a:cubicBezTo>
                      <a:cubicBezTo>
                        <a:pt x="660864" y="8776"/>
                        <a:pt x="655211" y="3801"/>
                        <a:pt x="647700" y="3175"/>
                      </a:cubicBezTo>
                      <a:cubicBezTo>
                        <a:pt x="625527" y="1327"/>
                        <a:pt x="603250" y="1058"/>
                        <a:pt x="581025" y="0"/>
                      </a:cubicBezTo>
                      <a:cubicBezTo>
                        <a:pt x="548750" y="6455"/>
                        <a:pt x="578405" y="-159"/>
                        <a:pt x="555625" y="6350"/>
                      </a:cubicBezTo>
                      <a:cubicBezTo>
                        <a:pt x="550878" y="7706"/>
                        <a:pt x="538475" y="10162"/>
                        <a:pt x="533400" y="12700"/>
                      </a:cubicBezTo>
                      <a:cubicBezTo>
                        <a:pt x="518777" y="20011"/>
                        <a:pt x="526668" y="22670"/>
                        <a:pt x="504825" y="25400"/>
                      </a:cubicBezTo>
                      <a:lnTo>
                        <a:pt x="479425" y="28575"/>
                      </a:lnTo>
                      <a:lnTo>
                        <a:pt x="450850" y="38100"/>
                      </a:lnTo>
                      <a:lnTo>
                        <a:pt x="441325" y="41275"/>
                      </a:lnTo>
                      <a:cubicBezTo>
                        <a:pt x="438150" y="42333"/>
                        <a:pt x="435082" y="43794"/>
                        <a:pt x="431800" y="44450"/>
                      </a:cubicBezTo>
                      <a:cubicBezTo>
                        <a:pt x="426508" y="45508"/>
                        <a:pt x="421160" y="46316"/>
                        <a:pt x="415925" y="47625"/>
                      </a:cubicBezTo>
                      <a:cubicBezTo>
                        <a:pt x="412678" y="48437"/>
                        <a:pt x="409721" y="50385"/>
                        <a:pt x="406400" y="50800"/>
                      </a:cubicBezTo>
                      <a:cubicBezTo>
                        <a:pt x="392708" y="52512"/>
                        <a:pt x="378883" y="52917"/>
                        <a:pt x="365125" y="53975"/>
                      </a:cubicBezTo>
                      <a:cubicBezTo>
                        <a:pt x="358775" y="55033"/>
                        <a:pt x="352388" y="55887"/>
                        <a:pt x="346075" y="57150"/>
                      </a:cubicBezTo>
                      <a:cubicBezTo>
                        <a:pt x="341796" y="58006"/>
                        <a:pt x="337739" y="60325"/>
                        <a:pt x="333375" y="60325"/>
                      </a:cubicBezTo>
                      <a:cubicBezTo>
                        <a:pt x="322739" y="60325"/>
                        <a:pt x="312208" y="58208"/>
                        <a:pt x="301625" y="57150"/>
                      </a:cubicBezTo>
                      <a:cubicBezTo>
                        <a:pt x="298450" y="56092"/>
                        <a:pt x="295318" y="54894"/>
                        <a:pt x="292100" y="53975"/>
                      </a:cubicBezTo>
                      <a:cubicBezTo>
                        <a:pt x="287353" y="52619"/>
                        <a:pt x="274950" y="50163"/>
                        <a:pt x="269875" y="47625"/>
                      </a:cubicBezTo>
                      <a:cubicBezTo>
                        <a:pt x="266462" y="45918"/>
                        <a:pt x="263763" y="42982"/>
                        <a:pt x="260350" y="41275"/>
                      </a:cubicBezTo>
                      <a:cubicBezTo>
                        <a:pt x="255275" y="38737"/>
                        <a:pt x="242872" y="36281"/>
                        <a:pt x="238125" y="34925"/>
                      </a:cubicBezTo>
                      <a:cubicBezTo>
                        <a:pt x="234907" y="34006"/>
                        <a:pt x="231847" y="32562"/>
                        <a:pt x="228600" y="31750"/>
                      </a:cubicBezTo>
                      <a:cubicBezTo>
                        <a:pt x="223365" y="30441"/>
                        <a:pt x="217931" y="29995"/>
                        <a:pt x="212725" y="28575"/>
                      </a:cubicBezTo>
                      <a:cubicBezTo>
                        <a:pt x="206267" y="26814"/>
                        <a:pt x="193675" y="22225"/>
                        <a:pt x="193675" y="22225"/>
                      </a:cubicBezTo>
                      <a:cubicBezTo>
                        <a:pt x="179917" y="23283"/>
                        <a:pt x="166115" y="23876"/>
                        <a:pt x="152400" y="25400"/>
                      </a:cubicBezTo>
                      <a:cubicBezTo>
                        <a:pt x="147037" y="25996"/>
                        <a:pt x="141848" y="27688"/>
                        <a:pt x="136525" y="28575"/>
                      </a:cubicBezTo>
                      <a:cubicBezTo>
                        <a:pt x="129143" y="29805"/>
                        <a:pt x="121697" y="30612"/>
                        <a:pt x="114300" y="31750"/>
                      </a:cubicBezTo>
                      <a:cubicBezTo>
                        <a:pt x="107937" y="32729"/>
                        <a:pt x="101656" y="34284"/>
                        <a:pt x="95250" y="34925"/>
                      </a:cubicBezTo>
                      <a:cubicBezTo>
                        <a:pt x="80469" y="36403"/>
                        <a:pt x="65617" y="37042"/>
                        <a:pt x="50800" y="38100"/>
                      </a:cubicBezTo>
                      <a:cubicBezTo>
                        <a:pt x="47625" y="39158"/>
                        <a:pt x="44201" y="39650"/>
                        <a:pt x="41275" y="41275"/>
                      </a:cubicBezTo>
                      <a:cubicBezTo>
                        <a:pt x="34604" y="44981"/>
                        <a:pt x="22225" y="53975"/>
                        <a:pt x="22225" y="53975"/>
                      </a:cubicBezTo>
                      <a:cubicBezTo>
                        <a:pt x="7408" y="76200"/>
                        <a:pt x="15875" y="68792"/>
                        <a:pt x="0" y="79375"/>
                      </a:cubicBezTo>
                      <a:cubicBezTo>
                        <a:pt x="3175" y="81492"/>
                        <a:pt x="5709" y="85725"/>
                        <a:pt x="9525" y="85725"/>
                      </a:cubicBezTo>
                      <a:cubicBezTo>
                        <a:pt x="13341" y="85725"/>
                        <a:pt x="15543" y="80878"/>
                        <a:pt x="19050" y="79375"/>
                      </a:cubicBezTo>
                      <a:cubicBezTo>
                        <a:pt x="23061" y="77656"/>
                        <a:pt x="27517" y="77258"/>
                        <a:pt x="31750" y="76200"/>
                      </a:cubicBezTo>
                      <a:cubicBezTo>
                        <a:pt x="68792" y="77258"/>
                        <a:pt x="105867" y="77477"/>
                        <a:pt x="142875" y="79375"/>
                      </a:cubicBezTo>
                      <a:cubicBezTo>
                        <a:pt x="145142" y="79491"/>
                        <a:pt x="161927" y="84139"/>
                        <a:pt x="165100" y="85725"/>
                      </a:cubicBezTo>
                      <a:cubicBezTo>
                        <a:pt x="168513" y="87432"/>
                        <a:pt x="171212" y="90368"/>
                        <a:pt x="174625" y="92075"/>
                      </a:cubicBezTo>
                      <a:cubicBezTo>
                        <a:pt x="181433" y="95479"/>
                        <a:pt x="193504" y="96976"/>
                        <a:pt x="200025" y="98425"/>
                      </a:cubicBezTo>
                      <a:cubicBezTo>
                        <a:pt x="226971" y="104413"/>
                        <a:pt x="196424" y="99271"/>
                        <a:pt x="234950" y="104775"/>
                      </a:cubicBezTo>
                      <a:cubicBezTo>
                        <a:pt x="262467" y="103717"/>
                        <a:pt x="290024" y="103432"/>
                        <a:pt x="317500" y="101600"/>
                      </a:cubicBezTo>
                      <a:cubicBezTo>
                        <a:pt x="358544" y="98864"/>
                        <a:pt x="286634" y="92979"/>
                        <a:pt x="355600" y="101600"/>
                      </a:cubicBezTo>
                      <a:cubicBezTo>
                        <a:pt x="358775" y="102658"/>
                        <a:pt x="361778" y="104775"/>
                        <a:pt x="365125" y="104775"/>
                      </a:cubicBezTo>
                      <a:cubicBezTo>
                        <a:pt x="383583" y="104775"/>
                        <a:pt x="399076" y="103480"/>
                        <a:pt x="415925" y="98425"/>
                      </a:cubicBezTo>
                      <a:cubicBezTo>
                        <a:pt x="422336" y="96502"/>
                        <a:pt x="428625" y="94192"/>
                        <a:pt x="434975" y="92075"/>
                      </a:cubicBezTo>
                      <a:cubicBezTo>
                        <a:pt x="438150" y="91017"/>
                        <a:pt x="441156" y="89045"/>
                        <a:pt x="444500" y="88900"/>
                      </a:cubicBezTo>
                      <a:cubicBezTo>
                        <a:pt x="531311" y="85126"/>
                        <a:pt x="493232" y="87594"/>
                        <a:pt x="558800" y="82550"/>
                      </a:cubicBezTo>
                      <a:cubicBezTo>
                        <a:pt x="628512" y="70931"/>
                        <a:pt x="551524" y="82550"/>
                        <a:pt x="723900" y="82550"/>
                      </a:cubicBezTo>
                      <a:cubicBezTo>
                        <a:pt x="736644" y="82550"/>
                        <a:pt x="755650" y="71967"/>
                        <a:pt x="762000" y="69850"/>
                      </a:cubicBezTo>
                      <a:close/>
                    </a:path>
                  </a:pathLst>
                </a:custGeom>
                <a:solidFill>
                  <a:srgbClr val="9BA9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dirty="0"/>
                </a:p>
              </p:txBody>
            </p:sp>
            <p:sp>
              <p:nvSpPr>
                <p:cNvPr id="1276" name="Freeform 152">
                  <a:extLst>
                    <a:ext uri="{FF2B5EF4-FFF2-40B4-BE49-F238E27FC236}">
                      <a16:creationId xmlns:a16="http://schemas.microsoft.com/office/drawing/2014/main" id="{00DE9452-1986-71D6-A8E7-73BAD68536B1}"/>
                    </a:ext>
                  </a:extLst>
                </p:cNvPr>
                <p:cNvSpPr/>
                <p:nvPr/>
              </p:nvSpPr>
              <p:spPr>
                <a:xfrm>
                  <a:off x="4768546" y="3305175"/>
                  <a:ext cx="162229" cy="63500"/>
                </a:xfrm>
                <a:custGeom>
                  <a:avLst/>
                  <a:gdLst>
                    <a:gd name="connsiteX0" fmla="*/ 117779 w 162229"/>
                    <a:gd name="connsiteY0" fmla="*/ 12700 h 63500"/>
                    <a:gd name="connsiteX1" fmla="*/ 117779 w 162229"/>
                    <a:gd name="connsiteY1" fmla="*/ 12700 h 63500"/>
                    <a:gd name="connsiteX2" fmla="*/ 79679 w 162229"/>
                    <a:gd name="connsiteY2" fmla="*/ 12700 h 63500"/>
                    <a:gd name="connsiteX3" fmla="*/ 54279 w 162229"/>
                    <a:gd name="connsiteY3" fmla="*/ 19050 h 63500"/>
                    <a:gd name="connsiteX4" fmla="*/ 35229 w 162229"/>
                    <a:gd name="connsiteY4" fmla="*/ 31750 h 63500"/>
                    <a:gd name="connsiteX5" fmla="*/ 25704 w 162229"/>
                    <a:gd name="connsiteY5" fmla="*/ 38100 h 63500"/>
                    <a:gd name="connsiteX6" fmla="*/ 6654 w 162229"/>
                    <a:gd name="connsiteY6" fmla="*/ 44450 h 63500"/>
                    <a:gd name="connsiteX7" fmla="*/ 304 w 162229"/>
                    <a:gd name="connsiteY7" fmla="*/ 53975 h 63500"/>
                    <a:gd name="connsiteX8" fmla="*/ 13004 w 162229"/>
                    <a:gd name="connsiteY8" fmla="*/ 57150 h 63500"/>
                    <a:gd name="connsiteX9" fmla="*/ 41579 w 162229"/>
                    <a:gd name="connsiteY9" fmla="*/ 50800 h 63500"/>
                    <a:gd name="connsiteX10" fmla="*/ 79679 w 162229"/>
                    <a:gd name="connsiteY10" fmla="*/ 53975 h 63500"/>
                    <a:gd name="connsiteX11" fmla="*/ 89204 w 162229"/>
                    <a:gd name="connsiteY11" fmla="*/ 57150 h 63500"/>
                    <a:gd name="connsiteX12" fmla="*/ 124129 w 162229"/>
                    <a:gd name="connsiteY12" fmla="*/ 63500 h 63500"/>
                    <a:gd name="connsiteX13" fmla="*/ 155879 w 162229"/>
                    <a:gd name="connsiteY13" fmla="*/ 57150 h 63500"/>
                    <a:gd name="connsiteX14" fmla="*/ 162229 w 162229"/>
                    <a:gd name="connsiteY14" fmla="*/ 47625 h 63500"/>
                    <a:gd name="connsiteX15" fmla="*/ 159054 w 162229"/>
                    <a:gd name="connsiteY15" fmla="*/ 19050 h 63500"/>
                    <a:gd name="connsiteX16" fmla="*/ 155879 w 162229"/>
                    <a:gd name="connsiteY16" fmla="*/ 6350 h 63500"/>
                    <a:gd name="connsiteX17" fmla="*/ 146354 w 162229"/>
                    <a:gd name="connsiteY17" fmla="*/ 0 h 63500"/>
                    <a:gd name="connsiteX18" fmla="*/ 133654 w 162229"/>
                    <a:gd name="connsiteY18" fmla="*/ 3175 h 63500"/>
                    <a:gd name="connsiteX19" fmla="*/ 117779 w 162229"/>
                    <a:gd name="connsiteY19" fmla="*/ 12700 h 6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62229" h="63500">
                      <a:moveTo>
                        <a:pt x="117779" y="12700"/>
                      </a:moveTo>
                      <a:lnTo>
                        <a:pt x="117779" y="12700"/>
                      </a:lnTo>
                      <a:cubicBezTo>
                        <a:pt x="77460" y="8220"/>
                        <a:pt x="101235" y="6821"/>
                        <a:pt x="79679" y="12700"/>
                      </a:cubicBezTo>
                      <a:cubicBezTo>
                        <a:pt x="71259" y="14996"/>
                        <a:pt x="54279" y="19050"/>
                        <a:pt x="54279" y="19050"/>
                      </a:cubicBezTo>
                      <a:lnTo>
                        <a:pt x="35229" y="31750"/>
                      </a:lnTo>
                      <a:cubicBezTo>
                        <a:pt x="32054" y="33867"/>
                        <a:pt x="29324" y="36893"/>
                        <a:pt x="25704" y="38100"/>
                      </a:cubicBezTo>
                      <a:lnTo>
                        <a:pt x="6654" y="44450"/>
                      </a:lnTo>
                      <a:cubicBezTo>
                        <a:pt x="4537" y="47625"/>
                        <a:pt x="-1403" y="50562"/>
                        <a:pt x="304" y="53975"/>
                      </a:cubicBezTo>
                      <a:cubicBezTo>
                        <a:pt x="2255" y="57878"/>
                        <a:pt x="8640" y="57150"/>
                        <a:pt x="13004" y="57150"/>
                      </a:cubicBezTo>
                      <a:cubicBezTo>
                        <a:pt x="17035" y="57150"/>
                        <a:pt x="36681" y="52025"/>
                        <a:pt x="41579" y="50800"/>
                      </a:cubicBezTo>
                      <a:cubicBezTo>
                        <a:pt x="54279" y="51858"/>
                        <a:pt x="67047" y="52291"/>
                        <a:pt x="79679" y="53975"/>
                      </a:cubicBezTo>
                      <a:cubicBezTo>
                        <a:pt x="82996" y="54417"/>
                        <a:pt x="85957" y="56338"/>
                        <a:pt x="89204" y="57150"/>
                      </a:cubicBezTo>
                      <a:cubicBezTo>
                        <a:pt x="98079" y="59369"/>
                        <a:pt x="115637" y="62085"/>
                        <a:pt x="124129" y="63500"/>
                      </a:cubicBezTo>
                      <a:cubicBezTo>
                        <a:pt x="124192" y="63490"/>
                        <a:pt x="152721" y="59255"/>
                        <a:pt x="155879" y="57150"/>
                      </a:cubicBezTo>
                      <a:cubicBezTo>
                        <a:pt x="159054" y="55033"/>
                        <a:pt x="160112" y="50800"/>
                        <a:pt x="162229" y="47625"/>
                      </a:cubicBezTo>
                      <a:cubicBezTo>
                        <a:pt x="161171" y="38100"/>
                        <a:pt x="160511" y="28522"/>
                        <a:pt x="159054" y="19050"/>
                      </a:cubicBezTo>
                      <a:cubicBezTo>
                        <a:pt x="158390" y="14737"/>
                        <a:pt x="158300" y="9981"/>
                        <a:pt x="155879" y="6350"/>
                      </a:cubicBezTo>
                      <a:cubicBezTo>
                        <a:pt x="153762" y="3175"/>
                        <a:pt x="149529" y="2117"/>
                        <a:pt x="146354" y="0"/>
                      </a:cubicBezTo>
                      <a:cubicBezTo>
                        <a:pt x="142121" y="1058"/>
                        <a:pt x="137665" y="1456"/>
                        <a:pt x="133654" y="3175"/>
                      </a:cubicBezTo>
                      <a:cubicBezTo>
                        <a:pt x="116098" y="10699"/>
                        <a:pt x="120425" y="11112"/>
                        <a:pt x="117779" y="12700"/>
                      </a:cubicBezTo>
                      <a:close/>
                    </a:path>
                  </a:pathLst>
                </a:custGeom>
                <a:solidFill>
                  <a:srgbClr val="9BA95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sp>
            <p:nvSpPr>
              <p:cNvPr id="1274" name="Freeform 138">
                <a:extLst>
                  <a:ext uri="{FF2B5EF4-FFF2-40B4-BE49-F238E27FC236}">
                    <a16:creationId xmlns:a16="http://schemas.microsoft.com/office/drawing/2014/main" id="{26EDDD76-A60F-2B9A-FE40-D65160D5153B}"/>
                  </a:ext>
                </a:extLst>
              </p:cNvPr>
              <p:cNvSpPr/>
              <p:nvPr/>
            </p:nvSpPr>
            <p:spPr>
              <a:xfrm>
                <a:off x="4768547" y="3295242"/>
                <a:ext cx="742064" cy="113414"/>
              </a:xfrm>
              <a:custGeom>
                <a:avLst/>
                <a:gdLst>
                  <a:gd name="connsiteX0" fmla="*/ 715926 w 715926"/>
                  <a:gd name="connsiteY0" fmla="*/ 56707 h 113414"/>
                  <a:gd name="connsiteX1" fmla="*/ 715926 w 715926"/>
                  <a:gd name="connsiteY1" fmla="*/ 56707 h 113414"/>
                  <a:gd name="connsiteX2" fmla="*/ 659219 w 715926"/>
                  <a:gd name="connsiteY2" fmla="*/ 28354 h 113414"/>
                  <a:gd name="connsiteX3" fmla="*/ 637954 w 715926"/>
                  <a:gd name="connsiteY3" fmla="*/ 14177 h 113414"/>
                  <a:gd name="connsiteX4" fmla="*/ 595424 w 715926"/>
                  <a:gd name="connsiteY4" fmla="*/ 0 h 113414"/>
                  <a:gd name="connsiteX5" fmla="*/ 517452 w 715926"/>
                  <a:gd name="connsiteY5" fmla="*/ 21265 h 113414"/>
                  <a:gd name="connsiteX6" fmla="*/ 446568 w 715926"/>
                  <a:gd name="connsiteY6" fmla="*/ 42530 h 113414"/>
                  <a:gd name="connsiteX7" fmla="*/ 404038 w 715926"/>
                  <a:gd name="connsiteY7" fmla="*/ 49619 h 113414"/>
                  <a:gd name="connsiteX8" fmla="*/ 361507 w 715926"/>
                  <a:gd name="connsiteY8" fmla="*/ 63795 h 113414"/>
                  <a:gd name="connsiteX9" fmla="*/ 326065 w 715926"/>
                  <a:gd name="connsiteY9" fmla="*/ 70884 h 113414"/>
                  <a:gd name="connsiteX10" fmla="*/ 262270 w 715926"/>
                  <a:gd name="connsiteY10" fmla="*/ 56707 h 113414"/>
                  <a:gd name="connsiteX11" fmla="*/ 226828 w 715926"/>
                  <a:gd name="connsiteY11" fmla="*/ 49619 h 113414"/>
                  <a:gd name="connsiteX12" fmla="*/ 184298 w 715926"/>
                  <a:gd name="connsiteY12" fmla="*/ 35442 h 113414"/>
                  <a:gd name="connsiteX13" fmla="*/ 163033 w 715926"/>
                  <a:gd name="connsiteY13" fmla="*/ 28354 h 113414"/>
                  <a:gd name="connsiteX14" fmla="*/ 85061 w 715926"/>
                  <a:gd name="connsiteY14" fmla="*/ 35442 h 113414"/>
                  <a:gd name="connsiteX15" fmla="*/ 21265 w 715926"/>
                  <a:gd name="connsiteY15" fmla="*/ 49619 h 113414"/>
                  <a:gd name="connsiteX16" fmla="*/ 0 w 715926"/>
                  <a:gd name="connsiteY16" fmla="*/ 63795 h 113414"/>
                  <a:gd name="connsiteX17" fmla="*/ 85061 w 715926"/>
                  <a:gd name="connsiteY17" fmla="*/ 77972 h 113414"/>
                  <a:gd name="connsiteX18" fmla="*/ 141768 w 715926"/>
                  <a:gd name="connsiteY18" fmla="*/ 92149 h 113414"/>
                  <a:gd name="connsiteX19" fmla="*/ 184298 w 715926"/>
                  <a:gd name="connsiteY19" fmla="*/ 106326 h 113414"/>
                  <a:gd name="connsiteX20" fmla="*/ 233917 w 715926"/>
                  <a:gd name="connsiteY20" fmla="*/ 113414 h 113414"/>
                  <a:gd name="connsiteX21" fmla="*/ 368596 w 715926"/>
                  <a:gd name="connsiteY21" fmla="*/ 106326 h 113414"/>
                  <a:gd name="connsiteX22" fmla="*/ 389861 w 715926"/>
                  <a:gd name="connsiteY22" fmla="*/ 99237 h 113414"/>
                  <a:gd name="connsiteX23" fmla="*/ 432391 w 715926"/>
                  <a:gd name="connsiteY23" fmla="*/ 92149 h 113414"/>
                  <a:gd name="connsiteX24" fmla="*/ 652131 w 715926"/>
                  <a:gd name="connsiteY24" fmla="*/ 92149 h 113414"/>
                  <a:gd name="connsiteX25" fmla="*/ 694661 w 715926"/>
                  <a:gd name="connsiteY25" fmla="*/ 77972 h 113414"/>
                  <a:gd name="connsiteX26" fmla="*/ 715926 w 715926"/>
                  <a:gd name="connsiteY26" fmla="*/ 70884 h 113414"/>
                  <a:gd name="connsiteX27" fmla="*/ 715926 w 715926"/>
                  <a:gd name="connsiteY27" fmla="*/ 56707 h 113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15926" h="113414">
                    <a:moveTo>
                      <a:pt x="715926" y="56707"/>
                    </a:moveTo>
                    <a:lnTo>
                      <a:pt x="715926" y="56707"/>
                    </a:lnTo>
                    <a:cubicBezTo>
                      <a:pt x="697024" y="47256"/>
                      <a:pt x="677772" y="38474"/>
                      <a:pt x="659219" y="28354"/>
                    </a:cubicBezTo>
                    <a:cubicBezTo>
                      <a:pt x="651740" y="24275"/>
                      <a:pt x="645739" y="17637"/>
                      <a:pt x="637954" y="14177"/>
                    </a:cubicBezTo>
                    <a:cubicBezTo>
                      <a:pt x="624298" y="8108"/>
                      <a:pt x="595424" y="0"/>
                      <a:pt x="595424" y="0"/>
                    </a:cubicBezTo>
                    <a:cubicBezTo>
                      <a:pt x="466895" y="42843"/>
                      <a:pt x="627663" y="-8792"/>
                      <a:pt x="517452" y="21265"/>
                    </a:cubicBezTo>
                    <a:cubicBezTo>
                      <a:pt x="467712" y="34830"/>
                      <a:pt x="488093" y="34225"/>
                      <a:pt x="446568" y="42530"/>
                    </a:cubicBezTo>
                    <a:cubicBezTo>
                      <a:pt x="432475" y="45349"/>
                      <a:pt x="417981" y="46133"/>
                      <a:pt x="404038" y="49619"/>
                    </a:cubicBezTo>
                    <a:cubicBezTo>
                      <a:pt x="389540" y="53243"/>
                      <a:pt x="376161" y="60864"/>
                      <a:pt x="361507" y="63795"/>
                    </a:cubicBezTo>
                    <a:lnTo>
                      <a:pt x="326065" y="70884"/>
                    </a:lnTo>
                    <a:cubicBezTo>
                      <a:pt x="219080" y="49485"/>
                      <a:pt x="352440" y="76744"/>
                      <a:pt x="262270" y="56707"/>
                    </a:cubicBezTo>
                    <a:cubicBezTo>
                      <a:pt x="250509" y="54094"/>
                      <a:pt x="238451" y="52789"/>
                      <a:pt x="226828" y="49619"/>
                    </a:cubicBezTo>
                    <a:cubicBezTo>
                      <a:pt x="212411" y="45687"/>
                      <a:pt x="198475" y="40168"/>
                      <a:pt x="184298" y="35442"/>
                    </a:cubicBezTo>
                    <a:lnTo>
                      <a:pt x="163033" y="28354"/>
                    </a:lnTo>
                    <a:cubicBezTo>
                      <a:pt x="137042" y="30717"/>
                      <a:pt x="110980" y="32393"/>
                      <a:pt x="85061" y="35442"/>
                    </a:cubicBezTo>
                    <a:cubicBezTo>
                      <a:pt x="70815" y="37118"/>
                      <a:pt x="37629" y="41437"/>
                      <a:pt x="21265" y="49619"/>
                    </a:cubicBezTo>
                    <a:cubicBezTo>
                      <a:pt x="13645" y="53429"/>
                      <a:pt x="7088" y="59070"/>
                      <a:pt x="0" y="63795"/>
                    </a:cubicBezTo>
                    <a:cubicBezTo>
                      <a:pt x="51925" y="81105"/>
                      <a:pt x="-15833" y="60167"/>
                      <a:pt x="85061" y="77972"/>
                    </a:cubicBezTo>
                    <a:cubicBezTo>
                      <a:pt x="104249" y="81358"/>
                      <a:pt x="123284" y="85987"/>
                      <a:pt x="141768" y="92149"/>
                    </a:cubicBezTo>
                    <a:cubicBezTo>
                      <a:pt x="155945" y="96875"/>
                      <a:pt x="169505" y="104213"/>
                      <a:pt x="184298" y="106326"/>
                    </a:cubicBezTo>
                    <a:lnTo>
                      <a:pt x="233917" y="113414"/>
                    </a:lnTo>
                    <a:cubicBezTo>
                      <a:pt x="278810" y="111051"/>
                      <a:pt x="323825" y="110396"/>
                      <a:pt x="368596" y="106326"/>
                    </a:cubicBezTo>
                    <a:cubicBezTo>
                      <a:pt x="376037" y="105650"/>
                      <a:pt x="382567" y="100858"/>
                      <a:pt x="389861" y="99237"/>
                    </a:cubicBezTo>
                    <a:cubicBezTo>
                      <a:pt x="403891" y="96119"/>
                      <a:pt x="418214" y="94512"/>
                      <a:pt x="432391" y="92149"/>
                    </a:cubicBezTo>
                    <a:cubicBezTo>
                      <a:pt x="520875" y="109845"/>
                      <a:pt x="492750" y="107091"/>
                      <a:pt x="652131" y="92149"/>
                    </a:cubicBezTo>
                    <a:cubicBezTo>
                      <a:pt x="667009" y="90754"/>
                      <a:pt x="680484" y="82698"/>
                      <a:pt x="694661" y="77972"/>
                    </a:cubicBezTo>
                    <a:cubicBezTo>
                      <a:pt x="701749" y="75609"/>
                      <a:pt x="715926" y="78356"/>
                      <a:pt x="715926" y="70884"/>
                    </a:cubicBezTo>
                    <a:lnTo>
                      <a:pt x="715926" y="56707"/>
                    </a:lnTo>
                    <a:close/>
                  </a:path>
                </a:pathLst>
              </a:custGeom>
              <a:solidFill>
                <a:srgbClr val="67A67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1440" dirty="0"/>
              </a:p>
            </p:txBody>
          </p:sp>
        </p:grpSp>
        <p:grpSp>
          <p:nvGrpSpPr>
            <p:cNvPr id="1206" name="Group 266">
              <a:extLst>
                <a:ext uri="{FF2B5EF4-FFF2-40B4-BE49-F238E27FC236}">
                  <a16:creationId xmlns:a16="http://schemas.microsoft.com/office/drawing/2014/main" id="{87E8B8EF-E5CE-C6EA-98C9-6C1483F08029}"/>
                </a:ext>
              </a:extLst>
            </p:cNvPr>
            <p:cNvGrpSpPr/>
            <p:nvPr/>
          </p:nvGrpSpPr>
          <p:grpSpPr>
            <a:xfrm flipH="1">
              <a:off x="5540138" y="1733667"/>
              <a:ext cx="109614" cy="648803"/>
              <a:chOff x="1611916" y="2139959"/>
              <a:chExt cx="264177" cy="1453393"/>
            </a:xfrm>
            <a:solidFill>
              <a:srgbClr val="0D0D0D">
                <a:alpha val="29804"/>
              </a:srgbClr>
            </a:solidFill>
          </p:grpSpPr>
          <p:sp>
            <p:nvSpPr>
              <p:cNvPr id="1255" name="Freeform 267">
                <a:extLst>
                  <a:ext uri="{FF2B5EF4-FFF2-40B4-BE49-F238E27FC236}">
                    <a16:creationId xmlns:a16="http://schemas.microsoft.com/office/drawing/2014/main" id="{DD0AE606-07EB-3479-FADF-B7A9A8E3F281}"/>
                  </a:ext>
                </a:extLst>
              </p:cNvPr>
              <p:cNvSpPr/>
              <p:nvPr/>
            </p:nvSpPr>
            <p:spPr>
              <a:xfrm>
                <a:off x="1614442" y="2139959"/>
                <a:ext cx="258475" cy="1453393"/>
              </a:xfrm>
              <a:custGeom>
                <a:avLst/>
                <a:gdLst>
                  <a:gd name="connsiteX0" fmla="*/ 35470 w 143420"/>
                  <a:gd name="connsiteY0" fmla="*/ 6350 h 806450"/>
                  <a:gd name="connsiteX1" fmla="*/ 19595 w 143420"/>
                  <a:gd name="connsiteY1" fmla="*/ 28575 h 806450"/>
                  <a:gd name="connsiteX2" fmla="*/ 13245 w 143420"/>
                  <a:gd name="connsiteY2" fmla="*/ 47625 h 806450"/>
                  <a:gd name="connsiteX3" fmla="*/ 10070 w 143420"/>
                  <a:gd name="connsiteY3" fmla="*/ 57150 h 806450"/>
                  <a:gd name="connsiteX4" fmla="*/ 13245 w 143420"/>
                  <a:gd name="connsiteY4" fmla="*/ 76200 h 806450"/>
                  <a:gd name="connsiteX5" fmla="*/ 6895 w 143420"/>
                  <a:gd name="connsiteY5" fmla="*/ 187325 h 806450"/>
                  <a:gd name="connsiteX6" fmla="*/ 3720 w 143420"/>
                  <a:gd name="connsiteY6" fmla="*/ 244475 h 806450"/>
                  <a:gd name="connsiteX7" fmla="*/ 3720 w 143420"/>
                  <a:gd name="connsiteY7" fmla="*/ 292100 h 806450"/>
                  <a:gd name="connsiteX8" fmla="*/ 19595 w 143420"/>
                  <a:gd name="connsiteY8" fmla="*/ 323850 h 806450"/>
                  <a:gd name="connsiteX9" fmla="*/ 38645 w 143420"/>
                  <a:gd name="connsiteY9" fmla="*/ 342900 h 806450"/>
                  <a:gd name="connsiteX10" fmla="*/ 25945 w 143420"/>
                  <a:gd name="connsiteY10" fmla="*/ 358775 h 806450"/>
                  <a:gd name="connsiteX11" fmla="*/ 19595 w 143420"/>
                  <a:gd name="connsiteY11" fmla="*/ 368300 h 806450"/>
                  <a:gd name="connsiteX12" fmla="*/ 3720 w 143420"/>
                  <a:gd name="connsiteY12" fmla="*/ 387350 h 806450"/>
                  <a:gd name="connsiteX13" fmla="*/ 6895 w 143420"/>
                  <a:gd name="connsiteY13" fmla="*/ 403225 h 806450"/>
                  <a:gd name="connsiteX14" fmla="*/ 13245 w 143420"/>
                  <a:gd name="connsiteY14" fmla="*/ 422275 h 806450"/>
                  <a:gd name="connsiteX15" fmla="*/ 16420 w 143420"/>
                  <a:gd name="connsiteY15" fmla="*/ 485775 h 806450"/>
                  <a:gd name="connsiteX16" fmla="*/ 19595 w 143420"/>
                  <a:gd name="connsiteY16" fmla="*/ 498475 h 806450"/>
                  <a:gd name="connsiteX17" fmla="*/ 22770 w 143420"/>
                  <a:gd name="connsiteY17" fmla="*/ 581025 h 806450"/>
                  <a:gd name="connsiteX18" fmla="*/ 16420 w 143420"/>
                  <a:gd name="connsiteY18" fmla="*/ 641350 h 806450"/>
                  <a:gd name="connsiteX19" fmla="*/ 10070 w 143420"/>
                  <a:gd name="connsiteY19" fmla="*/ 666750 h 806450"/>
                  <a:gd name="connsiteX20" fmla="*/ 16420 w 143420"/>
                  <a:gd name="connsiteY20" fmla="*/ 739775 h 806450"/>
                  <a:gd name="connsiteX21" fmla="*/ 22770 w 143420"/>
                  <a:gd name="connsiteY21" fmla="*/ 768350 h 806450"/>
                  <a:gd name="connsiteX22" fmla="*/ 29120 w 143420"/>
                  <a:gd name="connsiteY22" fmla="*/ 787400 h 806450"/>
                  <a:gd name="connsiteX23" fmla="*/ 51345 w 143420"/>
                  <a:gd name="connsiteY23" fmla="*/ 803275 h 806450"/>
                  <a:gd name="connsiteX24" fmla="*/ 60870 w 143420"/>
                  <a:gd name="connsiteY24" fmla="*/ 806450 h 806450"/>
                  <a:gd name="connsiteX25" fmla="*/ 70395 w 143420"/>
                  <a:gd name="connsiteY25" fmla="*/ 803275 h 806450"/>
                  <a:gd name="connsiteX26" fmla="*/ 79920 w 143420"/>
                  <a:gd name="connsiteY26" fmla="*/ 793750 h 806450"/>
                  <a:gd name="connsiteX27" fmla="*/ 89445 w 143420"/>
                  <a:gd name="connsiteY27" fmla="*/ 787400 h 806450"/>
                  <a:gd name="connsiteX28" fmla="*/ 95795 w 143420"/>
                  <a:gd name="connsiteY28" fmla="*/ 777875 h 806450"/>
                  <a:gd name="connsiteX29" fmla="*/ 105320 w 143420"/>
                  <a:gd name="connsiteY29" fmla="*/ 774700 h 806450"/>
                  <a:gd name="connsiteX30" fmla="*/ 118020 w 143420"/>
                  <a:gd name="connsiteY30" fmla="*/ 755650 h 806450"/>
                  <a:gd name="connsiteX31" fmla="*/ 124370 w 143420"/>
                  <a:gd name="connsiteY31" fmla="*/ 746125 h 806450"/>
                  <a:gd name="connsiteX32" fmla="*/ 137070 w 143420"/>
                  <a:gd name="connsiteY32" fmla="*/ 717550 h 806450"/>
                  <a:gd name="connsiteX33" fmla="*/ 140245 w 143420"/>
                  <a:gd name="connsiteY33" fmla="*/ 692150 h 806450"/>
                  <a:gd name="connsiteX34" fmla="*/ 143420 w 143420"/>
                  <a:gd name="connsiteY34" fmla="*/ 682625 h 806450"/>
                  <a:gd name="connsiteX35" fmla="*/ 140245 w 143420"/>
                  <a:gd name="connsiteY35" fmla="*/ 641350 h 806450"/>
                  <a:gd name="connsiteX36" fmla="*/ 130720 w 143420"/>
                  <a:gd name="connsiteY36" fmla="*/ 508000 h 806450"/>
                  <a:gd name="connsiteX37" fmla="*/ 130720 w 143420"/>
                  <a:gd name="connsiteY37" fmla="*/ 415925 h 806450"/>
                  <a:gd name="connsiteX38" fmla="*/ 121195 w 143420"/>
                  <a:gd name="connsiteY38" fmla="*/ 374650 h 806450"/>
                  <a:gd name="connsiteX39" fmla="*/ 102145 w 143420"/>
                  <a:gd name="connsiteY39" fmla="*/ 358775 h 806450"/>
                  <a:gd name="connsiteX40" fmla="*/ 83095 w 143420"/>
                  <a:gd name="connsiteY40" fmla="*/ 349250 h 806450"/>
                  <a:gd name="connsiteX41" fmla="*/ 86270 w 143420"/>
                  <a:gd name="connsiteY41" fmla="*/ 336550 h 806450"/>
                  <a:gd name="connsiteX42" fmla="*/ 95795 w 143420"/>
                  <a:gd name="connsiteY42" fmla="*/ 330200 h 806450"/>
                  <a:gd name="connsiteX43" fmla="*/ 105320 w 143420"/>
                  <a:gd name="connsiteY43" fmla="*/ 320675 h 806450"/>
                  <a:gd name="connsiteX44" fmla="*/ 118020 w 143420"/>
                  <a:gd name="connsiteY44" fmla="*/ 292100 h 806450"/>
                  <a:gd name="connsiteX45" fmla="*/ 124370 w 143420"/>
                  <a:gd name="connsiteY45" fmla="*/ 279400 h 806450"/>
                  <a:gd name="connsiteX46" fmla="*/ 127545 w 143420"/>
                  <a:gd name="connsiteY46" fmla="*/ 250825 h 806450"/>
                  <a:gd name="connsiteX47" fmla="*/ 121195 w 143420"/>
                  <a:gd name="connsiteY47" fmla="*/ 177800 h 806450"/>
                  <a:gd name="connsiteX48" fmla="*/ 124370 w 143420"/>
                  <a:gd name="connsiteY48" fmla="*/ 130175 h 806450"/>
                  <a:gd name="connsiteX49" fmla="*/ 114845 w 143420"/>
                  <a:gd name="connsiteY49" fmla="*/ 44450 h 806450"/>
                  <a:gd name="connsiteX50" fmla="*/ 102145 w 143420"/>
                  <a:gd name="connsiteY50" fmla="*/ 15875 h 806450"/>
                  <a:gd name="connsiteX51" fmla="*/ 98970 w 143420"/>
                  <a:gd name="connsiteY51" fmla="*/ 6350 h 806450"/>
                  <a:gd name="connsiteX52" fmla="*/ 79920 w 143420"/>
                  <a:gd name="connsiteY52" fmla="*/ 0 h 806450"/>
                  <a:gd name="connsiteX53" fmla="*/ 54520 w 143420"/>
                  <a:gd name="connsiteY53" fmla="*/ 3175 h 806450"/>
                  <a:gd name="connsiteX54" fmla="*/ 35470 w 143420"/>
                  <a:gd name="connsiteY54" fmla="*/ 6350 h 80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3420" h="806450">
                    <a:moveTo>
                      <a:pt x="35470" y="6350"/>
                    </a:moveTo>
                    <a:cubicBezTo>
                      <a:pt x="29649" y="10583"/>
                      <a:pt x="23911" y="20559"/>
                      <a:pt x="19595" y="28575"/>
                    </a:cubicBezTo>
                    <a:cubicBezTo>
                      <a:pt x="16422" y="34468"/>
                      <a:pt x="15362" y="41275"/>
                      <a:pt x="13245" y="47625"/>
                    </a:cubicBezTo>
                    <a:lnTo>
                      <a:pt x="10070" y="57150"/>
                    </a:lnTo>
                    <a:cubicBezTo>
                      <a:pt x="11128" y="63500"/>
                      <a:pt x="13245" y="69762"/>
                      <a:pt x="13245" y="76200"/>
                    </a:cubicBezTo>
                    <a:cubicBezTo>
                      <a:pt x="13245" y="160070"/>
                      <a:pt x="15730" y="143149"/>
                      <a:pt x="6895" y="187325"/>
                    </a:cubicBezTo>
                    <a:cubicBezTo>
                      <a:pt x="5837" y="206375"/>
                      <a:pt x="5304" y="225462"/>
                      <a:pt x="3720" y="244475"/>
                    </a:cubicBezTo>
                    <a:cubicBezTo>
                      <a:pt x="863" y="278760"/>
                      <a:pt x="-2985" y="248520"/>
                      <a:pt x="3720" y="292100"/>
                    </a:cubicBezTo>
                    <a:cubicBezTo>
                      <a:pt x="5675" y="304811"/>
                      <a:pt x="9845" y="314100"/>
                      <a:pt x="19595" y="323850"/>
                    </a:cubicBezTo>
                    <a:lnTo>
                      <a:pt x="38645" y="342900"/>
                    </a:lnTo>
                    <a:cubicBezTo>
                      <a:pt x="32464" y="361443"/>
                      <a:pt x="40306" y="344414"/>
                      <a:pt x="25945" y="358775"/>
                    </a:cubicBezTo>
                    <a:cubicBezTo>
                      <a:pt x="23247" y="361473"/>
                      <a:pt x="22038" y="365369"/>
                      <a:pt x="19595" y="368300"/>
                    </a:cubicBezTo>
                    <a:cubicBezTo>
                      <a:pt x="-777" y="392746"/>
                      <a:pt x="19486" y="363701"/>
                      <a:pt x="3720" y="387350"/>
                    </a:cubicBezTo>
                    <a:cubicBezTo>
                      <a:pt x="4778" y="392642"/>
                      <a:pt x="5475" y="398019"/>
                      <a:pt x="6895" y="403225"/>
                    </a:cubicBezTo>
                    <a:cubicBezTo>
                      <a:pt x="8656" y="409683"/>
                      <a:pt x="13245" y="422275"/>
                      <a:pt x="13245" y="422275"/>
                    </a:cubicBezTo>
                    <a:cubicBezTo>
                      <a:pt x="14303" y="443442"/>
                      <a:pt x="14660" y="464655"/>
                      <a:pt x="16420" y="485775"/>
                    </a:cubicBezTo>
                    <a:cubicBezTo>
                      <a:pt x="16782" y="490124"/>
                      <a:pt x="19305" y="494121"/>
                      <a:pt x="19595" y="498475"/>
                    </a:cubicBezTo>
                    <a:cubicBezTo>
                      <a:pt x="21427" y="525951"/>
                      <a:pt x="21712" y="553508"/>
                      <a:pt x="22770" y="581025"/>
                    </a:cubicBezTo>
                    <a:cubicBezTo>
                      <a:pt x="20653" y="601133"/>
                      <a:pt x="21324" y="621734"/>
                      <a:pt x="16420" y="641350"/>
                    </a:cubicBezTo>
                    <a:lnTo>
                      <a:pt x="10070" y="666750"/>
                    </a:lnTo>
                    <a:cubicBezTo>
                      <a:pt x="12118" y="697477"/>
                      <a:pt x="12180" y="712216"/>
                      <a:pt x="16420" y="739775"/>
                    </a:cubicBezTo>
                    <a:cubicBezTo>
                      <a:pt x="17374" y="745976"/>
                      <a:pt x="20774" y="761697"/>
                      <a:pt x="22770" y="768350"/>
                    </a:cubicBezTo>
                    <a:cubicBezTo>
                      <a:pt x="24693" y="774761"/>
                      <a:pt x="27003" y="781050"/>
                      <a:pt x="29120" y="787400"/>
                    </a:cubicBezTo>
                    <a:cubicBezTo>
                      <a:pt x="34412" y="803275"/>
                      <a:pt x="29120" y="795867"/>
                      <a:pt x="51345" y="803275"/>
                    </a:cubicBezTo>
                    <a:lnTo>
                      <a:pt x="60870" y="806450"/>
                    </a:lnTo>
                    <a:cubicBezTo>
                      <a:pt x="64045" y="805392"/>
                      <a:pt x="67610" y="805131"/>
                      <a:pt x="70395" y="803275"/>
                    </a:cubicBezTo>
                    <a:cubicBezTo>
                      <a:pt x="74131" y="800784"/>
                      <a:pt x="76471" y="796625"/>
                      <a:pt x="79920" y="793750"/>
                    </a:cubicBezTo>
                    <a:cubicBezTo>
                      <a:pt x="82851" y="791307"/>
                      <a:pt x="86270" y="789517"/>
                      <a:pt x="89445" y="787400"/>
                    </a:cubicBezTo>
                    <a:cubicBezTo>
                      <a:pt x="91562" y="784225"/>
                      <a:pt x="92815" y="780259"/>
                      <a:pt x="95795" y="777875"/>
                    </a:cubicBezTo>
                    <a:cubicBezTo>
                      <a:pt x="98408" y="775784"/>
                      <a:pt x="102953" y="777067"/>
                      <a:pt x="105320" y="774700"/>
                    </a:cubicBezTo>
                    <a:cubicBezTo>
                      <a:pt x="110716" y="769304"/>
                      <a:pt x="113787" y="762000"/>
                      <a:pt x="118020" y="755650"/>
                    </a:cubicBezTo>
                    <a:cubicBezTo>
                      <a:pt x="120137" y="752475"/>
                      <a:pt x="123163" y="749745"/>
                      <a:pt x="124370" y="746125"/>
                    </a:cubicBezTo>
                    <a:cubicBezTo>
                      <a:pt x="131927" y="723455"/>
                      <a:pt x="127007" y="732644"/>
                      <a:pt x="137070" y="717550"/>
                    </a:cubicBezTo>
                    <a:cubicBezTo>
                      <a:pt x="138128" y="709083"/>
                      <a:pt x="138719" y="700545"/>
                      <a:pt x="140245" y="692150"/>
                    </a:cubicBezTo>
                    <a:cubicBezTo>
                      <a:pt x="140844" y="688857"/>
                      <a:pt x="143420" y="685972"/>
                      <a:pt x="143420" y="682625"/>
                    </a:cubicBezTo>
                    <a:cubicBezTo>
                      <a:pt x="143420" y="668826"/>
                      <a:pt x="141040" y="655126"/>
                      <a:pt x="140245" y="641350"/>
                    </a:cubicBezTo>
                    <a:cubicBezTo>
                      <a:pt x="132738" y="511225"/>
                      <a:pt x="147044" y="556973"/>
                      <a:pt x="130720" y="508000"/>
                    </a:cubicBezTo>
                    <a:cubicBezTo>
                      <a:pt x="138581" y="468693"/>
                      <a:pt x="135529" y="490469"/>
                      <a:pt x="130720" y="415925"/>
                    </a:cubicBezTo>
                    <a:cubicBezTo>
                      <a:pt x="130359" y="410325"/>
                      <a:pt x="126548" y="380003"/>
                      <a:pt x="121195" y="374650"/>
                    </a:cubicBezTo>
                    <a:cubicBezTo>
                      <a:pt x="114173" y="367628"/>
                      <a:pt x="110986" y="363195"/>
                      <a:pt x="102145" y="358775"/>
                    </a:cubicBezTo>
                    <a:cubicBezTo>
                      <a:pt x="75855" y="345630"/>
                      <a:pt x="110392" y="367448"/>
                      <a:pt x="83095" y="349250"/>
                    </a:cubicBezTo>
                    <a:cubicBezTo>
                      <a:pt x="84153" y="345017"/>
                      <a:pt x="83849" y="340181"/>
                      <a:pt x="86270" y="336550"/>
                    </a:cubicBezTo>
                    <a:cubicBezTo>
                      <a:pt x="88387" y="333375"/>
                      <a:pt x="92864" y="332643"/>
                      <a:pt x="95795" y="330200"/>
                    </a:cubicBezTo>
                    <a:cubicBezTo>
                      <a:pt x="99244" y="327325"/>
                      <a:pt x="102445" y="324124"/>
                      <a:pt x="105320" y="320675"/>
                    </a:cubicBezTo>
                    <a:cubicBezTo>
                      <a:pt x="116994" y="306666"/>
                      <a:pt x="107637" y="312866"/>
                      <a:pt x="118020" y="292100"/>
                    </a:cubicBezTo>
                    <a:lnTo>
                      <a:pt x="124370" y="279400"/>
                    </a:lnTo>
                    <a:cubicBezTo>
                      <a:pt x="125428" y="269875"/>
                      <a:pt x="127545" y="260409"/>
                      <a:pt x="127545" y="250825"/>
                    </a:cubicBezTo>
                    <a:cubicBezTo>
                      <a:pt x="127545" y="199760"/>
                      <a:pt x="128516" y="207084"/>
                      <a:pt x="121195" y="177800"/>
                    </a:cubicBezTo>
                    <a:cubicBezTo>
                      <a:pt x="122253" y="161925"/>
                      <a:pt x="124370" y="146085"/>
                      <a:pt x="124370" y="130175"/>
                    </a:cubicBezTo>
                    <a:cubicBezTo>
                      <a:pt x="124370" y="97955"/>
                      <a:pt x="124504" y="73427"/>
                      <a:pt x="114845" y="44450"/>
                    </a:cubicBezTo>
                    <a:cubicBezTo>
                      <a:pt x="98463" y="-4697"/>
                      <a:pt x="117239" y="46064"/>
                      <a:pt x="102145" y="15875"/>
                    </a:cubicBezTo>
                    <a:cubicBezTo>
                      <a:pt x="100648" y="12882"/>
                      <a:pt x="101693" y="8295"/>
                      <a:pt x="98970" y="6350"/>
                    </a:cubicBezTo>
                    <a:cubicBezTo>
                      <a:pt x="93523" y="2459"/>
                      <a:pt x="79920" y="0"/>
                      <a:pt x="79920" y="0"/>
                    </a:cubicBezTo>
                    <a:cubicBezTo>
                      <a:pt x="71453" y="1058"/>
                      <a:pt x="62915" y="1649"/>
                      <a:pt x="54520" y="3175"/>
                    </a:cubicBezTo>
                    <a:cubicBezTo>
                      <a:pt x="48355" y="4296"/>
                      <a:pt x="41291" y="2117"/>
                      <a:pt x="35470" y="6350"/>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56" name="Freeform 268">
                <a:extLst>
                  <a:ext uri="{FF2B5EF4-FFF2-40B4-BE49-F238E27FC236}">
                    <a16:creationId xmlns:a16="http://schemas.microsoft.com/office/drawing/2014/main" id="{DBE51549-FA3C-7DEB-9E4C-CA84B9E8900D}"/>
                  </a:ext>
                </a:extLst>
              </p:cNvPr>
              <p:cNvSpPr/>
              <p:nvPr/>
            </p:nvSpPr>
            <p:spPr>
              <a:xfrm>
                <a:off x="1632266" y="2254248"/>
                <a:ext cx="20408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57" name="Freeform 269">
                <a:extLst>
                  <a:ext uri="{FF2B5EF4-FFF2-40B4-BE49-F238E27FC236}">
                    <a16:creationId xmlns:a16="http://schemas.microsoft.com/office/drawing/2014/main" id="{CB9B7CE9-6A10-9A8E-8F9F-FAFFD2F6CBA8}"/>
                  </a:ext>
                </a:extLst>
              </p:cNvPr>
              <p:cNvSpPr/>
              <p:nvPr/>
            </p:nvSpPr>
            <p:spPr>
              <a:xfrm>
                <a:off x="1640454" y="2374606"/>
                <a:ext cx="194841" cy="51090"/>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58" name="Freeform 270">
                <a:extLst>
                  <a:ext uri="{FF2B5EF4-FFF2-40B4-BE49-F238E27FC236}">
                    <a16:creationId xmlns:a16="http://schemas.microsoft.com/office/drawing/2014/main" id="{D9B8B283-1F47-2ACA-3F99-6BA98FA60785}"/>
                  </a:ext>
                </a:extLst>
              </p:cNvPr>
              <p:cNvSpPr/>
              <p:nvPr/>
            </p:nvSpPr>
            <p:spPr>
              <a:xfrm>
                <a:off x="1620756" y="2529578"/>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59" name="Freeform 271">
                <a:extLst>
                  <a:ext uri="{FF2B5EF4-FFF2-40B4-BE49-F238E27FC236}">
                    <a16:creationId xmlns:a16="http://schemas.microsoft.com/office/drawing/2014/main" id="{D69D10F2-4799-6F3A-46B5-EFAB3666311A}"/>
                  </a:ext>
                </a:extLst>
              </p:cNvPr>
              <p:cNvSpPr/>
              <p:nvPr/>
            </p:nvSpPr>
            <p:spPr>
              <a:xfrm>
                <a:off x="1632266" y="287923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0" name="Freeform 272">
                <a:extLst>
                  <a:ext uri="{FF2B5EF4-FFF2-40B4-BE49-F238E27FC236}">
                    <a16:creationId xmlns:a16="http://schemas.microsoft.com/office/drawing/2014/main" id="{2E1E0833-500C-F02E-15F0-BDF8C0629183}"/>
                  </a:ext>
                </a:extLst>
              </p:cNvPr>
              <p:cNvSpPr/>
              <p:nvPr/>
            </p:nvSpPr>
            <p:spPr>
              <a:xfrm rot="10800000">
                <a:off x="1635000" y="293057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1" name="Freeform 273">
                <a:extLst>
                  <a:ext uri="{FF2B5EF4-FFF2-40B4-BE49-F238E27FC236}">
                    <a16:creationId xmlns:a16="http://schemas.microsoft.com/office/drawing/2014/main" id="{9CC114DD-AF80-06EF-CD73-14C4A031B349}"/>
                  </a:ext>
                </a:extLst>
              </p:cNvPr>
              <p:cNvSpPr/>
              <p:nvPr/>
            </p:nvSpPr>
            <p:spPr>
              <a:xfrm>
                <a:off x="1645148" y="325061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2" name="Freeform 274">
                <a:extLst>
                  <a:ext uri="{FF2B5EF4-FFF2-40B4-BE49-F238E27FC236}">
                    <a16:creationId xmlns:a16="http://schemas.microsoft.com/office/drawing/2014/main" id="{FBDD8BBA-E540-68E5-B4AF-D86C19FF73F0}"/>
                  </a:ext>
                </a:extLst>
              </p:cNvPr>
              <p:cNvSpPr/>
              <p:nvPr/>
            </p:nvSpPr>
            <p:spPr>
              <a:xfrm rot="10800000">
                <a:off x="1651602" y="3151500"/>
                <a:ext cx="223377"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3" name="Freeform 275">
                <a:extLst>
                  <a:ext uri="{FF2B5EF4-FFF2-40B4-BE49-F238E27FC236}">
                    <a16:creationId xmlns:a16="http://schemas.microsoft.com/office/drawing/2014/main" id="{34786673-A516-3DE1-3DFC-48B1DF45EE02}"/>
                  </a:ext>
                </a:extLst>
              </p:cNvPr>
              <p:cNvSpPr/>
              <p:nvPr/>
            </p:nvSpPr>
            <p:spPr>
              <a:xfrm>
                <a:off x="1641682" y="3011180"/>
                <a:ext cx="223377"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4" name="Freeform 276">
                <a:extLst>
                  <a:ext uri="{FF2B5EF4-FFF2-40B4-BE49-F238E27FC236}">
                    <a16:creationId xmlns:a16="http://schemas.microsoft.com/office/drawing/2014/main" id="{C0FE95DE-1E55-8A80-AD22-4E5B7F41F9DB}"/>
                  </a:ext>
                </a:extLst>
              </p:cNvPr>
              <p:cNvSpPr/>
              <p:nvPr/>
            </p:nvSpPr>
            <p:spPr>
              <a:xfrm>
                <a:off x="1670338" y="2735940"/>
                <a:ext cx="102948" cy="472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5" name="Freeform 277">
                <a:extLst>
                  <a:ext uri="{FF2B5EF4-FFF2-40B4-BE49-F238E27FC236}">
                    <a16:creationId xmlns:a16="http://schemas.microsoft.com/office/drawing/2014/main" id="{697ACA1E-21BF-243A-537C-DF64EE199344}"/>
                  </a:ext>
                </a:extLst>
              </p:cNvPr>
              <p:cNvSpPr/>
              <p:nvPr/>
            </p:nvSpPr>
            <p:spPr>
              <a:xfrm>
                <a:off x="1635124" y="2219322"/>
                <a:ext cx="185537" cy="2540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6" name="Freeform 278">
                <a:extLst>
                  <a:ext uri="{FF2B5EF4-FFF2-40B4-BE49-F238E27FC236}">
                    <a16:creationId xmlns:a16="http://schemas.microsoft.com/office/drawing/2014/main" id="{6500A50C-F705-9857-88E9-F3B7088AB7BD}"/>
                  </a:ext>
                </a:extLst>
              </p:cNvPr>
              <p:cNvSpPr/>
              <p:nvPr/>
            </p:nvSpPr>
            <p:spPr>
              <a:xfrm>
                <a:off x="1614898" y="2460610"/>
                <a:ext cx="226059" cy="63936"/>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7" name="Freeform 279">
                <a:extLst>
                  <a:ext uri="{FF2B5EF4-FFF2-40B4-BE49-F238E27FC236}">
                    <a16:creationId xmlns:a16="http://schemas.microsoft.com/office/drawing/2014/main" id="{CF1A6FC7-FB87-DF33-772F-0DCE8286553E}"/>
                  </a:ext>
                </a:extLst>
              </p:cNvPr>
              <p:cNvSpPr/>
              <p:nvPr/>
            </p:nvSpPr>
            <p:spPr>
              <a:xfrm>
                <a:off x="1628828" y="3324378"/>
                <a:ext cx="244089" cy="13601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8" name="Freeform 280">
                <a:extLst>
                  <a:ext uri="{FF2B5EF4-FFF2-40B4-BE49-F238E27FC236}">
                    <a16:creationId xmlns:a16="http://schemas.microsoft.com/office/drawing/2014/main" id="{A96C0F22-AE05-C2A1-37DD-96084F448970}"/>
                  </a:ext>
                </a:extLst>
              </p:cNvPr>
              <p:cNvSpPr/>
              <p:nvPr/>
            </p:nvSpPr>
            <p:spPr>
              <a:xfrm rot="10800000">
                <a:off x="1635442" y="3313226"/>
                <a:ext cx="240651"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69" name="Freeform 281">
                <a:extLst>
                  <a:ext uri="{FF2B5EF4-FFF2-40B4-BE49-F238E27FC236}">
                    <a16:creationId xmlns:a16="http://schemas.microsoft.com/office/drawing/2014/main" id="{4B8A5F72-74F7-ED0A-A3B6-B96720907529}"/>
                  </a:ext>
                </a:extLst>
              </p:cNvPr>
              <p:cNvSpPr/>
              <p:nvPr/>
            </p:nvSpPr>
            <p:spPr>
              <a:xfrm rot="10800000">
                <a:off x="1611916" y="2632962"/>
                <a:ext cx="223379"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207" name="Group 282">
              <a:extLst>
                <a:ext uri="{FF2B5EF4-FFF2-40B4-BE49-F238E27FC236}">
                  <a16:creationId xmlns:a16="http://schemas.microsoft.com/office/drawing/2014/main" id="{8038E742-62F4-D7E1-C00C-B4DA949535B3}"/>
                </a:ext>
              </a:extLst>
            </p:cNvPr>
            <p:cNvGrpSpPr/>
            <p:nvPr/>
          </p:nvGrpSpPr>
          <p:grpSpPr>
            <a:xfrm flipH="1">
              <a:off x="5265725" y="1730687"/>
              <a:ext cx="144260" cy="642926"/>
              <a:chOff x="2073412" y="2165654"/>
              <a:chExt cx="314361" cy="1401954"/>
            </a:xfrm>
            <a:solidFill>
              <a:srgbClr val="0D0D0D">
                <a:alpha val="29804"/>
              </a:srgbClr>
            </a:solidFill>
          </p:grpSpPr>
          <p:sp>
            <p:nvSpPr>
              <p:cNvPr id="1241" name="Freeform 283">
                <a:extLst>
                  <a:ext uri="{FF2B5EF4-FFF2-40B4-BE49-F238E27FC236}">
                    <a16:creationId xmlns:a16="http://schemas.microsoft.com/office/drawing/2014/main" id="{1DF7DACB-0CF4-5E58-E439-A77EBED2C2C9}"/>
                  </a:ext>
                </a:extLst>
              </p:cNvPr>
              <p:cNvSpPr/>
              <p:nvPr/>
            </p:nvSpPr>
            <p:spPr>
              <a:xfrm>
                <a:off x="2076568" y="2165654"/>
                <a:ext cx="303348" cy="1401954"/>
              </a:xfrm>
              <a:custGeom>
                <a:avLst/>
                <a:gdLst>
                  <a:gd name="connsiteX0" fmla="*/ 101646 w 168321"/>
                  <a:gd name="connsiteY0" fmla="*/ 3215 h 777915"/>
                  <a:gd name="connsiteX1" fmla="*/ 85771 w 168321"/>
                  <a:gd name="connsiteY1" fmla="*/ 25440 h 777915"/>
                  <a:gd name="connsiteX2" fmla="*/ 76246 w 168321"/>
                  <a:gd name="connsiteY2" fmla="*/ 31790 h 777915"/>
                  <a:gd name="connsiteX3" fmla="*/ 63546 w 168321"/>
                  <a:gd name="connsiteY3" fmla="*/ 50840 h 777915"/>
                  <a:gd name="connsiteX4" fmla="*/ 57196 w 168321"/>
                  <a:gd name="connsiteY4" fmla="*/ 60365 h 777915"/>
                  <a:gd name="connsiteX5" fmla="*/ 50846 w 168321"/>
                  <a:gd name="connsiteY5" fmla="*/ 69890 h 777915"/>
                  <a:gd name="connsiteX6" fmla="*/ 44496 w 168321"/>
                  <a:gd name="connsiteY6" fmla="*/ 95290 h 777915"/>
                  <a:gd name="connsiteX7" fmla="*/ 38146 w 168321"/>
                  <a:gd name="connsiteY7" fmla="*/ 114340 h 777915"/>
                  <a:gd name="connsiteX8" fmla="*/ 34971 w 168321"/>
                  <a:gd name="connsiteY8" fmla="*/ 123865 h 777915"/>
                  <a:gd name="connsiteX9" fmla="*/ 25446 w 168321"/>
                  <a:gd name="connsiteY9" fmla="*/ 155615 h 777915"/>
                  <a:gd name="connsiteX10" fmla="*/ 15921 w 168321"/>
                  <a:gd name="connsiteY10" fmla="*/ 184190 h 777915"/>
                  <a:gd name="connsiteX11" fmla="*/ 12746 w 168321"/>
                  <a:gd name="connsiteY11" fmla="*/ 193715 h 777915"/>
                  <a:gd name="connsiteX12" fmla="*/ 12746 w 168321"/>
                  <a:gd name="connsiteY12" fmla="*/ 269915 h 777915"/>
                  <a:gd name="connsiteX13" fmla="*/ 22271 w 168321"/>
                  <a:gd name="connsiteY13" fmla="*/ 308015 h 777915"/>
                  <a:gd name="connsiteX14" fmla="*/ 31796 w 168321"/>
                  <a:gd name="connsiteY14" fmla="*/ 314365 h 777915"/>
                  <a:gd name="connsiteX15" fmla="*/ 31796 w 168321"/>
                  <a:gd name="connsiteY15" fmla="*/ 333415 h 777915"/>
                  <a:gd name="connsiteX16" fmla="*/ 12746 w 168321"/>
                  <a:gd name="connsiteY16" fmla="*/ 346115 h 777915"/>
                  <a:gd name="connsiteX17" fmla="*/ 6396 w 168321"/>
                  <a:gd name="connsiteY17" fmla="*/ 355640 h 777915"/>
                  <a:gd name="connsiteX18" fmla="*/ 3221 w 168321"/>
                  <a:gd name="connsiteY18" fmla="*/ 368340 h 777915"/>
                  <a:gd name="connsiteX19" fmla="*/ 46 w 168321"/>
                  <a:gd name="connsiteY19" fmla="*/ 438190 h 777915"/>
                  <a:gd name="connsiteX20" fmla="*/ 3221 w 168321"/>
                  <a:gd name="connsiteY20" fmla="*/ 514390 h 777915"/>
                  <a:gd name="connsiteX21" fmla="*/ 3221 w 168321"/>
                  <a:gd name="connsiteY21" fmla="*/ 581065 h 777915"/>
                  <a:gd name="connsiteX22" fmla="*/ 9571 w 168321"/>
                  <a:gd name="connsiteY22" fmla="*/ 717590 h 777915"/>
                  <a:gd name="connsiteX23" fmla="*/ 12746 w 168321"/>
                  <a:gd name="connsiteY23" fmla="*/ 730290 h 777915"/>
                  <a:gd name="connsiteX24" fmla="*/ 19096 w 168321"/>
                  <a:gd name="connsiteY24" fmla="*/ 762040 h 777915"/>
                  <a:gd name="connsiteX25" fmla="*/ 25446 w 168321"/>
                  <a:gd name="connsiteY25" fmla="*/ 771565 h 777915"/>
                  <a:gd name="connsiteX26" fmla="*/ 54021 w 168321"/>
                  <a:gd name="connsiteY26" fmla="*/ 774740 h 777915"/>
                  <a:gd name="connsiteX27" fmla="*/ 63546 w 168321"/>
                  <a:gd name="connsiteY27" fmla="*/ 777915 h 777915"/>
                  <a:gd name="connsiteX28" fmla="*/ 85771 w 168321"/>
                  <a:gd name="connsiteY28" fmla="*/ 755690 h 777915"/>
                  <a:gd name="connsiteX29" fmla="*/ 88946 w 168321"/>
                  <a:gd name="connsiteY29" fmla="*/ 746165 h 777915"/>
                  <a:gd name="connsiteX30" fmla="*/ 98471 w 168321"/>
                  <a:gd name="connsiteY30" fmla="*/ 736640 h 777915"/>
                  <a:gd name="connsiteX31" fmla="*/ 107996 w 168321"/>
                  <a:gd name="connsiteY31" fmla="*/ 708065 h 777915"/>
                  <a:gd name="connsiteX32" fmla="*/ 111171 w 168321"/>
                  <a:gd name="connsiteY32" fmla="*/ 698540 h 777915"/>
                  <a:gd name="connsiteX33" fmla="*/ 114346 w 168321"/>
                  <a:gd name="connsiteY33" fmla="*/ 689015 h 777915"/>
                  <a:gd name="connsiteX34" fmla="*/ 120696 w 168321"/>
                  <a:gd name="connsiteY34" fmla="*/ 654090 h 777915"/>
                  <a:gd name="connsiteX35" fmla="*/ 123871 w 168321"/>
                  <a:gd name="connsiteY35" fmla="*/ 523915 h 777915"/>
                  <a:gd name="connsiteX36" fmla="*/ 120696 w 168321"/>
                  <a:gd name="connsiteY36" fmla="*/ 514390 h 777915"/>
                  <a:gd name="connsiteX37" fmla="*/ 123871 w 168321"/>
                  <a:gd name="connsiteY37" fmla="*/ 485815 h 777915"/>
                  <a:gd name="connsiteX38" fmla="*/ 117521 w 168321"/>
                  <a:gd name="connsiteY38" fmla="*/ 428665 h 777915"/>
                  <a:gd name="connsiteX39" fmla="*/ 114346 w 168321"/>
                  <a:gd name="connsiteY39" fmla="*/ 368340 h 777915"/>
                  <a:gd name="connsiteX40" fmla="*/ 107996 w 168321"/>
                  <a:gd name="connsiteY40" fmla="*/ 349290 h 777915"/>
                  <a:gd name="connsiteX41" fmla="*/ 79421 w 168321"/>
                  <a:gd name="connsiteY41" fmla="*/ 327065 h 777915"/>
                  <a:gd name="connsiteX42" fmla="*/ 92121 w 168321"/>
                  <a:gd name="connsiteY42" fmla="*/ 308015 h 777915"/>
                  <a:gd name="connsiteX43" fmla="*/ 98471 w 168321"/>
                  <a:gd name="connsiteY43" fmla="*/ 288965 h 777915"/>
                  <a:gd name="connsiteX44" fmla="*/ 107996 w 168321"/>
                  <a:gd name="connsiteY44" fmla="*/ 260390 h 777915"/>
                  <a:gd name="connsiteX45" fmla="*/ 117521 w 168321"/>
                  <a:gd name="connsiteY45" fmla="*/ 241340 h 777915"/>
                  <a:gd name="connsiteX46" fmla="*/ 123871 w 168321"/>
                  <a:gd name="connsiteY46" fmla="*/ 222290 h 777915"/>
                  <a:gd name="connsiteX47" fmla="*/ 136571 w 168321"/>
                  <a:gd name="connsiteY47" fmla="*/ 184190 h 777915"/>
                  <a:gd name="connsiteX48" fmla="*/ 139746 w 168321"/>
                  <a:gd name="connsiteY48" fmla="*/ 174665 h 777915"/>
                  <a:gd name="connsiteX49" fmla="*/ 142921 w 168321"/>
                  <a:gd name="connsiteY49" fmla="*/ 165140 h 777915"/>
                  <a:gd name="connsiteX50" fmla="*/ 146096 w 168321"/>
                  <a:gd name="connsiteY50" fmla="*/ 120690 h 777915"/>
                  <a:gd name="connsiteX51" fmla="*/ 158796 w 168321"/>
                  <a:gd name="connsiteY51" fmla="*/ 76240 h 777915"/>
                  <a:gd name="connsiteX52" fmla="*/ 168321 w 168321"/>
                  <a:gd name="connsiteY52" fmla="*/ 57190 h 777915"/>
                  <a:gd name="connsiteX53" fmla="*/ 165146 w 168321"/>
                  <a:gd name="connsiteY53" fmla="*/ 28615 h 777915"/>
                  <a:gd name="connsiteX54" fmla="*/ 161971 w 168321"/>
                  <a:gd name="connsiteY54" fmla="*/ 19090 h 777915"/>
                  <a:gd name="connsiteX55" fmla="*/ 152446 w 168321"/>
                  <a:gd name="connsiteY55" fmla="*/ 15915 h 777915"/>
                  <a:gd name="connsiteX56" fmla="*/ 136571 w 168321"/>
                  <a:gd name="connsiteY56" fmla="*/ 12740 h 777915"/>
                  <a:gd name="connsiteX57" fmla="*/ 130221 w 168321"/>
                  <a:gd name="connsiteY57" fmla="*/ 3215 h 777915"/>
                  <a:gd name="connsiteX58" fmla="*/ 111171 w 168321"/>
                  <a:gd name="connsiteY58" fmla="*/ 3215 h 777915"/>
                  <a:gd name="connsiteX59" fmla="*/ 101646 w 168321"/>
                  <a:gd name="connsiteY59" fmla="*/ 9565 h 777915"/>
                  <a:gd name="connsiteX60" fmla="*/ 101646 w 168321"/>
                  <a:gd name="connsiteY60" fmla="*/ 3215 h 77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68321" h="777915">
                    <a:moveTo>
                      <a:pt x="101646" y="3215"/>
                    </a:moveTo>
                    <a:cubicBezTo>
                      <a:pt x="99000" y="5861"/>
                      <a:pt x="91819" y="18635"/>
                      <a:pt x="85771" y="25440"/>
                    </a:cubicBezTo>
                    <a:cubicBezTo>
                      <a:pt x="83236" y="28292"/>
                      <a:pt x="78759" y="28918"/>
                      <a:pt x="76246" y="31790"/>
                    </a:cubicBezTo>
                    <a:cubicBezTo>
                      <a:pt x="71220" y="37533"/>
                      <a:pt x="67779" y="44490"/>
                      <a:pt x="63546" y="50840"/>
                    </a:cubicBezTo>
                    <a:lnTo>
                      <a:pt x="57196" y="60365"/>
                    </a:lnTo>
                    <a:lnTo>
                      <a:pt x="50846" y="69890"/>
                    </a:lnTo>
                    <a:cubicBezTo>
                      <a:pt x="48729" y="78357"/>
                      <a:pt x="47256" y="87011"/>
                      <a:pt x="44496" y="95290"/>
                    </a:cubicBezTo>
                    <a:lnTo>
                      <a:pt x="38146" y="114340"/>
                    </a:lnTo>
                    <a:cubicBezTo>
                      <a:pt x="37088" y="117515"/>
                      <a:pt x="35783" y="120618"/>
                      <a:pt x="34971" y="123865"/>
                    </a:cubicBezTo>
                    <a:cubicBezTo>
                      <a:pt x="30173" y="143059"/>
                      <a:pt x="33176" y="132425"/>
                      <a:pt x="25446" y="155615"/>
                    </a:cubicBezTo>
                    <a:lnTo>
                      <a:pt x="15921" y="184190"/>
                    </a:lnTo>
                    <a:lnTo>
                      <a:pt x="12746" y="193715"/>
                    </a:lnTo>
                    <a:cubicBezTo>
                      <a:pt x="8656" y="234614"/>
                      <a:pt x="8027" y="222721"/>
                      <a:pt x="12746" y="269915"/>
                    </a:cubicBezTo>
                    <a:cubicBezTo>
                      <a:pt x="13173" y="274183"/>
                      <a:pt x="17887" y="305092"/>
                      <a:pt x="22271" y="308015"/>
                    </a:cubicBezTo>
                    <a:lnTo>
                      <a:pt x="31796" y="314365"/>
                    </a:lnTo>
                    <a:cubicBezTo>
                      <a:pt x="33913" y="320715"/>
                      <a:pt x="38146" y="327065"/>
                      <a:pt x="31796" y="333415"/>
                    </a:cubicBezTo>
                    <a:cubicBezTo>
                      <a:pt x="26400" y="338811"/>
                      <a:pt x="12746" y="346115"/>
                      <a:pt x="12746" y="346115"/>
                    </a:cubicBezTo>
                    <a:cubicBezTo>
                      <a:pt x="10629" y="349290"/>
                      <a:pt x="7899" y="352133"/>
                      <a:pt x="6396" y="355640"/>
                    </a:cubicBezTo>
                    <a:cubicBezTo>
                      <a:pt x="4677" y="359651"/>
                      <a:pt x="3556" y="363989"/>
                      <a:pt x="3221" y="368340"/>
                    </a:cubicBezTo>
                    <a:cubicBezTo>
                      <a:pt x="1433" y="391579"/>
                      <a:pt x="1104" y="414907"/>
                      <a:pt x="46" y="438190"/>
                    </a:cubicBezTo>
                    <a:cubicBezTo>
                      <a:pt x="1104" y="463590"/>
                      <a:pt x="3221" y="488968"/>
                      <a:pt x="3221" y="514390"/>
                    </a:cubicBezTo>
                    <a:cubicBezTo>
                      <a:pt x="3221" y="590058"/>
                      <a:pt x="-4028" y="537574"/>
                      <a:pt x="3221" y="581065"/>
                    </a:cubicBezTo>
                    <a:cubicBezTo>
                      <a:pt x="4112" y="606007"/>
                      <a:pt x="5954" y="683227"/>
                      <a:pt x="9571" y="717590"/>
                    </a:cubicBezTo>
                    <a:cubicBezTo>
                      <a:pt x="10028" y="721930"/>
                      <a:pt x="11890" y="726011"/>
                      <a:pt x="12746" y="730290"/>
                    </a:cubicBezTo>
                    <a:cubicBezTo>
                      <a:pt x="13731" y="735214"/>
                      <a:pt x="16330" y="755587"/>
                      <a:pt x="19096" y="762040"/>
                    </a:cubicBezTo>
                    <a:cubicBezTo>
                      <a:pt x="20599" y="765547"/>
                      <a:pt x="21860" y="770261"/>
                      <a:pt x="25446" y="771565"/>
                    </a:cubicBezTo>
                    <a:cubicBezTo>
                      <a:pt x="34453" y="774840"/>
                      <a:pt x="44496" y="773682"/>
                      <a:pt x="54021" y="774740"/>
                    </a:cubicBezTo>
                    <a:cubicBezTo>
                      <a:pt x="57196" y="775798"/>
                      <a:pt x="60199" y="777915"/>
                      <a:pt x="63546" y="777915"/>
                    </a:cubicBezTo>
                    <a:cubicBezTo>
                      <a:pt x="75257" y="777915"/>
                      <a:pt x="82741" y="764781"/>
                      <a:pt x="85771" y="755690"/>
                    </a:cubicBezTo>
                    <a:cubicBezTo>
                      <a:pt x="86829" y="752515"/>
                      <a:pt x="87090" y="748950"/>
                      <a:pt x="88946" y="746165"/>
                    </a:cubicBezTo>
                    <a:cubicBezTo>
                      <a:pt x="91437" y="742429"/>
                      <a:pt x="95296" y="739815"/>
                      <a:pt x="98471" y="736640"/>
                    </a:cubicBezTo>
                    <a:lnTo>
                      <a:pt x="107996" y="708065"/>
                    </a:lnTo>
                    <a:lnTo>
                      <a:pt x="111171" y="698540"/>
                    </a:lnTo>
                    <a:cubicBezTo>
                      <a:pt x="112229" y="695365"/>
                      <a:pt x="113690" y="692297"/>
                      <a:pt x="114346" y="689015"/>
                    </a:cubicBezTo>
                    <a:cubicBezTo>
                      <a:pt x="118784" y="666827"/>
                      <a:pt x="116634" y="678463"/>
                      <a:pt x="120696" y="654090"/>
                    </a:cubicBezTo>
                    <a:cubicBezTo>
                      <a:pt x="125896" y="586493"/>
                      <a:pt x="130248" y="581311"/>
                      <a:pt x="123871" y="523915"/>
                    </a:cubicBezTo>
                    <a:cubicBezTo>
                      <a:pt x="123501" y="520589"/>
                      <a:pt x="121754" y="517565"/>
                      <a:pt x="120696" y="514390"/>
                    </a:cubicBezTo>
                    <a:cubicBezTo>
                      <a:pt x="121754" y="504865"/>
                      <a:pt x="123871" y="495399"/>
                      <a:pt x="123871" y="485815"/>
                    </a:cubicBezTo>
                    <a:cubicBezTo>
                      <a:pt x="123871" y="470405"/>
                      <a:pt x="119883" y="445198"/>
                      <a:pt x="117521" y="428665"/>
                    </a:cubicBezTo>
                    <a:cubicBezTo>
                      <a:pt x="116463" y="408557"/>
                      <a:pt x="116745" y="388333"/>
                      <a:pt x="114346" y="368340"/>
                    </a:cubicBezTo>
                    <a:cubicBezTo>
                      <a:pt x="113549" y="361694"/>
                      <a:pt x="113565" y="353003"/>
                      <a:pt x="107996" y="349290"/>
                    </a:cubicBezTo>
                    <a:cubicBezTo>
                      <a:pt x="85210" y="334099"/>
                      <a:pt x="94342" y="341986"/>
                      <a:pt x="79421" y="327065"/>
                    </a:cubicBezTo>
                    <a:cubicBezTo>
                      <a:pt x="89925" y="295553"/>
                      <a:pt x="72302" y="343690"/>
                      <a:pt x="92121" y="308015"/>
                    </a:cubicBezTo>
                    <a:cubicBezTo>
                      <a:pt x="95372" y="302164"/>
                      <a:pt x="96354" y="295315"/>
                      <a:pt x="98471" y="288965"/>
                    </a:cubicBezTo>
                    <a:lnTo>
                      <a:pt x="107996" y="260390"/>
                    </a:lnTo>
                    <a:cubicBezTo>
                      <a:pt x="119575" y="225652"/>
                      <a:pt x="101108" y="278269"/>
                      <a:pt x="117521" y="241340"/>
                    </a:cubicBezTo>
                    <a:cubicBezTo>
                      <a:pt x="120239" y="235223"/>
                      <a:pt x="121754" y="228640"/>
                      <a:pt x="123871" y="222290"/>
                    </a:cubicBezTo>
                    <a:lnTo>
                      <a:pt x="136571" y="184190"/>
                    </a:lnTo>
                    <a:lnTo>
                      <a:pt x="139746" y="174665"/>
                    </a:lnTo>
                    <a:lnTo>
                      <a:pt x="142921" y="165140"/>
                    </a:lnTo>
                    <a:cubicBezTo>
                      <a:pt x="143979" y="150323"/>
                      <a:pt x="144089" y="135408"/>
                      <a:pt x="146096" y="120690"/>
                    </a:cubicBezTo>
                    <a:cubicBezTo>
                      <a:pt x="146459" y="118029"/>
                      <a:pt x="155523" y="81149"/>
                      <a:pt x="158796" y="76240"/>
                    </a:cubicBezTo>
                    <a:cubicBezTo>
                      <a:pt x="167002" y="63930"/>
                      <a:pt x="163939" y="70335"/>
                      <a:pt x="168321" y="57190"/>
                    </a:cubicBezTo>
                    <a:cubicBezTo>
                      <a:pt x="167263" y="47665"/>
                      <a:pt x="166722" y="38068"/>
                      <a:pt x="165146" y="28615"/>
                    </a:cubicBezTo>
                    <a:cubicBezTo>
                      <a:pt x="164596" y="25314"/>
                      <a:pt x="164338" y="21457"/>
                      <a:pt x="161971" y="19090"/>
                    </a:cubicBezTo>
                    <a:cubicBezTo>
                      <a:pt x="159604" y="16723"/>
                      <a:pt x="155693" y="16727"/>
                      <a:pt x="152446" y="15915"/>
                    </a:cubicBezTo>
                    <a:cubicBezTo>
                      <a:pt x="147211" y="14606"/>
                      <a:pt x="141863" y="13798"/>
                      <a:pt x="136571" y="12740"/>
                    </a:cubicBezTo>
                    <a:cubicBezTo>
                      <a:pt x="134454" y="9565"/>
                      <a:pt x="133201" y="5599"/>
                      <a:pt x="130221" y="3215"/>
                    </a:cubicBezTo>
                    <a:cubicBezTo>
                      <a:pt x="123708" y="-1995"/>
                      <a:pt x="117684" y="-41"/>
                      <a:pt x="111171" y="3215"/>
                    </a:cubicBezTo>
                    <a:cubicBezTo>
                      <a:pt x="107758" y="4922"/>
                      <a:pt x="105059" y="7858"/>
                      <a:pt x="101646" y="9565"/>
                    </a:cubicBezTo>
                    <a:cubicBezTo>
                      <a:pt x="87053" y="16862"/>
                      <a:pt x="104292" y="569"/>
                      <a:pt x="101646" y="3215"/>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42" name="Freeform 284">
                <a:extLst>
                  <a:ext uri="{FF2B5EF4-FFF2-40B4-BE49-F238E27FC236}">
                    <a16:creationId xmlns:a16="http://schemas.microsoft.com/office/drawing/2014/main" id="{9A733AE5-63A7-0A87-B878-EAC448D456D8}"/>
                  </a:ext>
                </a:extLst>
              </p:cNvPr>
              <p:cNvSpPr/>
              <p:nvPr/>
            </p:nvSpPr>
            <p:spPr>
              <a:xfrm>
                <a:off x="2136451" y="2733425"/>
                <a:ext cx="88615" cy="45718"/>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3" name="Freeform 285">
                <a:extLst>
                  <a:ext uri="{FF2B5EF4-FFF2-40B4-BE49-F238E27FC236}">
                    <a16:creationId xmlns:a16="http://schemas.microsoft.com/office/drawing/2014/main" id="{0450335C-4F6E-564F-714B-088F3C8E4C7D}"/>
                  </a:ext>
                </a:extLst>
              </p:cNvPr>
              <p:cNvSpPr/>
              <p:nvPr/>
            </p:nvSpPr>
            <p:spPr>
              <a:xfrm>
                <a:off x="2077078" y="3177188"/>
                <a:ext cx="235338"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4" name="Freeform 286">
                <a:extLst>
                  <a:ext uri="{FF2B5EF4-FFF2-40B4-BE49-F238E27FC236}">
                    <a16:creationId xmlns:a16="http://schemas.microsoft.com/office/drawing/2014/main" id="{D4B365BB-6C0C-1E0D-AB36-7F631128A0FA}"/>
                  </a:ext>
                </a:extLst>
              </p:cNvPr>
              <p:cNvSpPr/>
              <p:nvPr/>
            </p:nvSpPr>
            <p:spPr>
              <a:xfrm>
                <a:off x="2082019" y="3327430"/>
                <a:ext cx="212529" cy="106483"/>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5" name="Freeform 287">
                <a:extLst>
                  <a:ext uri="{FF2B5EF4-FFF2-40B4-BE49-F238E27FC236}">
                    <a16:creationId xmlns:a16="http://schemas.microsoft.com/office/drawing/2014/main" id="{BACE909D-3AFD-63FA-38BA-817028BD88F9}"/>
                  </a:ext>
                </a:extLst>
              </p:cNvPr>
              <p:cNvSpPr/>
              <p:nvPr/>
            </p:nvSpPr>
            <p:spPr>
              <a:xfrm rot="1266082">
                <a:off x="2115143" y="2437475"/>
                <a:ext cx="218879" cy="70147"/>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6" name="Freeform 288">
                <a:extLst>
                  <a:ext uri="{FF2B5EF4-FFF2-40B4-BE49-F238E27FC236}">
                    <a16:creationId xmlns:a16="http://schemas.microsoft.com/office/drawing/2014/main" id="{6EC71D9E-CD2B-8C1D-CBAC-D09C79A6AD81}"/>
                  </a:ext>
                </a:extLst>
              </p:cNvPr>
              <p:cNvSpPr/>
              <p:nvPr/>
            </p:nvSpPr>
            <p:spPr>
              <a:xfrm rot="1266082">
                <a:off x="2095970" y="2503880"/>
                <a:ext cx="213921" cy="48671"/>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7" name="Freeform 289">
                <a:extLst>
                  <a:ext uri="{FF2B5EF4-FFF2-40B4-BE49-F238E27FC236}">
                    <a16:creationId xmlns:a16="http://schemas.microsoft.com/office/drawing/2014/main" id="{FE13DE66-F2EB-DAEB-4711-E2A6543BAA9F}"/>
                  </a:ext>
                </a:extLst>
              </p:cNvPr>
              <p:cNvSpPr/>
              <p:nvPr/>
            </p:nvSpPr>
            <p:spPr>
              <a:xfrm rot="900000">
                <a:off x="2144470" y="2349041"/>
                <a:ext cx="194840" cy="51091"/>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8" name="Freeform 290">
                <a:extLst>
                  <a:ext uri="{FF2B5EF4-FFF2-40B4-BE49-F238E27FC236}">
                    <a16:creationId xmlns:a16="http://schemas.microsoft.com/office/drawing/2014/main" id="{37177888-3949-D91E-1C64-0E09C2435D2D}"/>
                  </a:ext>
                </a:extLst>
              </p:cNvPr>
              <p:cNvSpPr/>
              <p:nvPr/>
            </p:nvSpPr>
            <p:spPr>
              <a:xfrm rot="900000">
                <a:off x="2088300" y="2608839"/>
                <a:ext cx="179344"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9" name="Freeform 291">
                <a:extLst>
                  <a:ext uri="{FF2B5EF4-FFF2-40B4-BE49-F238E27FC236}">
                    <a16:creationId xmlns:a16="http://schemas.microsoft.com/office/drawing/2014/main" id="{DCEEC3CA-C57B-8576-812D-CE456D619056}"/>
                  </a:ext>
                </a:extLst>
              </p:cNvPr>
              <p:cNvSpPr/>
              <p:nvPr/>
            </p:nvSpPr>
            <p:spPr>
              <a:xfrm>
                <a:off x="2077345" y="3005410"/>
                <a:ext cx="22181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50" name="Freeform 292">
                <a:extLst>
                  <a:ext uri="{FF2B5EF4-FFF2-40B4-BE49-F238E27FC236}">
                    <a16:creationId xmlns:a16="http://schemas.microsoft.com/office/drawing/2014/main" id="{4C96F687-0D6B-F021-5883-5446A83E78AF}"/>
                  </a:ext>
                </a:extLst>
              </p:cNvPr>
              <p:cNvSpPr/>
              <p:nvPr/>
            </p:nvSpPr>
            <p:spPr>
              <a:xfrm>
                <a:off x="2073412" y="286645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51" name="Freeform 293">
                <a:extLst>
                  <a:ext uri="{FF2B5EF4-FFF2-40B4-BE49-F238E27FC236}">
                    <a16:creationId xmlns:a16="http://schemas.microsoft.com/office/drawing/2014/main" id="{D6F3C29D-51D8-C5CA-7F3D-11E3221FF878}"/>
                  </a:ext>
                </a:extLst>
              </p:cNvPr>
              <p:cNvSpPr/>
              <p:nvPr/>
            </p:nvSpPr>
            <p:spPr>
              <a:xfrm rot="10800000">
                <a:off x="2076143" y="291779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52" name="Freeform 294">
                <a:extLst>
                  <a:ext uri="{FF2B5EF4-FFF2-40B4-BE49-F238E27FC236}">
                    <a16:creationId xmlns:a16="http://schemas.microsoft.com/office/drawing/2014/main" id="{3EA6E02A-7814-D630-0B69-66B0EE02E11E}"/>
                  </a:ext>
                </a:extLst>
              </p:cNvPr>
              <p:cNvSpPr/>
              <p:nvPr/>
            </p:nvSpPr>
            <p:spPr>
              <a:xfrm rot="1219864">
                <a:off x="2169688" y="2254021"/>
                <a:ext cx="196434"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53" name="Freeform 295">
                <a:extLst>
                  <a:ext uri="{FF2B5EF4-FFF2-40B4-BE49-F238E27FC236}">
                    <a16:creationId xmlns:a16="http://schemas.microsoft.com/office/drawing/2014/main" id="{7013F5DB-C132-7F81-F647-267BDCC4AF37}"/>
                  </a:ext>
                </a:extLst>
              </p:cNvPr>
              <p:cNvSpPr/>
              <p:nvPr/>
            </p:nvSpPr>
            <p:spPr>
              <a:xfrm rot="1219864">
                <a:off x="2208117" y="2227334"/>
                <a:ext cx="179656" cy="25401"/>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54" name="Freeform 296">
                <a:extLst>
                  <a:ext uri="{FF2B5EF4-FFF2-40B4-BE49-F238E27FC236}">
                    <a16:creationId xmlns:a16="http://schemas.microsoft.com/office/drawing/2014/main" id="{31F9199A-4511-FD3E-AA67-A3B044A76509}"/>
                  </a:ext>
                </a:extLst>
              </p:cNvPr>
              <p:cNvSpPr/>
              <p:nvPr/>
            </p:nvSpPr>
            <p:spPr>
              <a:xfrm>
                <a:off x="2080401" y="3262318"/>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208" name="Group 297">
              <a:extLst>
                <a:ext uri="{FF2B5EF4-FFF2-40B4-BE49-F238E27FC236}">
                  <a16:creationId xmlns:a16="http://schemas.microsoft.com/office/drawing/2014/main" id="{8CD89FA2-F2EA-AA7E-45DC-3B9E24CEECC4}"/>
                </a:ext>
              </a:extLst>
            </p:cNvPr>
            <p:cNvGrpSpPr/>
            <p:nvPr/>
          </p:nvGrpSpPr>
          <p:grpSpPr>
            <a:xfrm>
              <a:off x="4242702" y="1720736"/>
              <a:ext cx="117930" cy="648803"/>
              <a:chOff x="1611916" y="2139958"/>
              <a:chExt cx="264177" cy="1453393"/>
            </a:xfrm>
            <a:solidFill>
              <a:srgbClr val="0D0D0D">
                <a:alpha val="29804"/>
              </a:srgbClr>
            </a:solidFill>
          </p:grpSpPr>
          <p:sp>
            <p:nvSpPr>
              <p:cNvPr id="1226" name="Freeform 298">
                <a:extLst>
                  <a:ext uri="{FF2B5EF4-FFF2-40B4-BE49-F238E27FC236}">
                    <a16:creationId xmlns:a16="http://schemas.microsoft.com/office/drawing/2014/main" id="{86E564D2-892E-B373-A8EA-BDA8AA533D70}"/>
                  </a:ext>
                </a:extLst>
              </p:cNvPr>
              <p:cNvSpPr/>
              <p:nvPr/>
            </p:nvSpPr>
            <p:spPr>
              <a:xfrm>
                <a:off x="1614442" y="2139958"/>
                <a:ext cx="258474" cy="1453393"/>
              </a:xfrm>
              <a:custGeom>
                <a:avLst/>
                <a:gdLst>
                  <a:gd name="connsiteX0" fmla="*/ 35470 w 143420"/>
                  <a:gd name="connsiteY0" fmla="*/ 6350 h 806450"/>
                  <a:gd name="connsiteX1" fmla="*/ 19595 w 143420"/>
                  <a:gd name="connsiteY1" fmla="*/ 28575 h 806450"/>
                  <a:gd name="connsiteX2" fmla="*/ 13245 w 143420"/>
                  <a:gd name="connsiteY2" fmla="*/ 47625 h 806450"/>
                  <a:gd name="connsiteX3" fmla="*/ 10070 w 143420"/>
                  <a:gd name="connsiteY3" fmla="*/ 57150 h 806450"/>
                  <a:gd name="connsiteX4" fmla="*/ 13245 w 143420"/>
                  <a:gd name="connsiteY4" fmla="*/ 76200 h 806450"/>
                  <a:gd name="connsiteX5" fmla="*/ 6895 w 143420"/>
                  <a:gd name="connsiteY5" fmla="*/ 187325 h 806450"/>
                  <a:gd name="connsiteX6" fmla="*/ 3720 w 143420"/>
                  <a:gd name="connsiteY6" fmla="*/ 244475 h 806450"/>
                  <a:gd name="connsiteX7" fmla="*/ 3720 w 143420"/>
                  <a:gd name="connsiteY7" fmla="*/ 292100 h 806450"/>
                  <a:gd name="connsiteX8" fmla="*/ 19595 w 143420"/>
                  <a:gd name="connsiteY8" fmla="*/ 323850 h 806450"/>
                  <a:gd name="connsiteX9" fmla="*/ 38645 w 143420"/>
                  <a:gd name="connsiteY9" fmla="*/ 342900 h 806450"/>
                  <a:gd name="connsiteX10" fmla="*/ 25945 w 143420"/>
                  <a:gd name="connsiteY10" fmla="*/ 358775 h 806450"/>
                  <a:gd name="connsiteX11" fmla="*/ 19595 w 143420"/>
                  <a:gd name="connsiteY11" fmla="*/ 368300 h 806450"/>
                  <a:gd name="connsiteX12" fmla="*/ 3720 w 143420"/>
                  <a:gd name="connsiteY12" fmla="*/ 387350 h 806450"/>
                  <a:gd name="connsiteX13" fmla="*/ 6895 w 143420"/>
                  <a:gd name="connsiteY13" fmla="*/ 403225 h 806450"/>
                  <a:gd name="connsiteX14" fmla="*/ 13245 w 143420"/>
                  <a:gd name="connsiteY14" fmla="*/ 422275 h 806450"/>
                  <a:gd name="connsiteX15" fmla="*/ 16420 w 143420"/>
                  <a:gd name="connsiteY15" fmla="*/ 485775 h 806450"/>
                  <a:gd name="connsiteX16" fmla="*/ 19595 w 143420"/>
                  <a:gd name="connsiteY16" fmla="*/ 498475 h 806450"/>
                  <a:gd name="connsiteX17" fmla="*/ 22770 w 143420"/>
                  <a:gd name="connsiteY17" fmla="*/ 581025 h 806450"/>
                  <a:gd name="connsiteX18" fmla="*/ 16420 w 143420"/>
                  <a:gd name="connsiteY18" fmla="*/ 641350 h 806450"/>
                  <a:gd name="connsiteX19" fmla="*/ 10070 w 143420"/>
                  <a:gd name="connsiteY19" fmla="*/ 666750 h 806450"/>
                  <a:gd name="connsiteX20" fmla="*/ 16420 w 143420"/>
                  <a:gd name="connsiteY20" fmla="*/ 739775 h 806450"/>
                  <a:gd name="connsiteX21" fmla="*/ 22770 w 143420"/>
                  <a:gd name="connsiteY21" fmla="*/ 768350 h 806450"/>
                  <a:gd name="connsiteX22" fmla="*/ 29120 w 143420"/>
                  <a:gd name="connsiteY22" fmla="*/ 787400 h 806450"/>
                  <a:gd name="connsiteX23" fmla="*/ 51345 w 143420"/>
                  <a:gd name="connsiteY23" fmla="*/ 803275 h 806450"/>
                  <a:gd name="connsiteX24" fmla="*/ 60870 w 143420"/>
                  <a:gd name="connsiteY24" fmla="*/ 806450 h 806450"/>
                  <a:gd name="connsiteX25" fmla="*/ 70395 w 143420"/>
                  <a:gd name="connsiteY25" fmla="*/ 803275 h 806450"/>
                  <a:gd name="connsiteX26" fmla="*/ 79920 w 143420"/>
                  <a:gd name="connsiteY26" fmla="*/ 793750 h 806450"/>
                  <a:gd name="connsiteX27" fmla="*/ 89445 w 143420"/>
                  <a:gd name="connsiteY27" fmla="*/ 787400 h 806450"/>
                  <a:gd name="connsiteX28" fmla="*/ 95795 w 143420"/>
                  <a:gd name="connsiteY28" fmla="*/ 777875 h 806450"/>
                  <a:gd name="connsiteX29" fmla="*/ 105320 w 143420"/>
                  <a:gd name="connsiteY29" fmla="*/ 774700 h 806450"/>
                  <a:gd name="connsiteX30" fmla="*/ 118020 w 143420"/>
                  <a:gd name="connsiteY30" fmla="*/ 755650 h 806450"/>
                  <a:gd name="connsiteX31" fmla="*/ 124370 w 143420"/>
                  <a:gd name="connsiteY31" fmla="*/ 746125 h 806450"/>
                  <a:gd name="connsiteX32" fmla="*/ 137070 w 143420"/>
                  <a:gd name="connsiteY32" fmla="*/ 717550 h 806450"/>
                  <a:gd name="connsiteX33" fmla="*/ 140245 w 143420"/>
                  <a:gd name="connsiteY33" fmla="*/ 692150 h 806450"/>
                  <a:gd name="connsiteX34" fmla="*/ 143420 w 143420"/>
                  <a:gd name="connsiteY34" fmla="*/ 682625 h 806450"/>
                  <a:gd name="connsiteX35" fmla="*/ 140245 w 143420"/>
                  <a:gd name="connsiteY35" fmla="*/ 641350 h 806450"/>
                  <a:gd name="connsiteX36" fmla="*/ 130720 w 143420"/>
                  <a:gd name="connsiteY36" fmla="*/ 508000 h 806450"/>
                  <a:gd name="connsiteX37" fmla="*/ 130720 w 143420"/>
                  <a:gd name="connsiteY37" fmla="*/ 415925 h 806450"/>
                  <a:gd name="connsiteX38" fmla="*/ 121195 w 143420"/>
                  <a:gd name="connsiteY38" fmla="*/ 374650 h 806450"/>
                  <a:gd name="connsiteX39" fmla="*/ 102145 w 143420"/>
                  <a:gd name="connsiteY39" fmla="*/ 358775 h 806450"/>
                  <a:gd name="connsiteX40" fmla="*/ 83095 w 143420"/>
                  <a:gd name="connsiteY40" fmla="*/ 349250 h 806450"/>
                  <a:gd name="connsiteX41" fmla="*/ 86270 w 143420"/>
                  <a:gd name="connsiteY41" fmla="*/ 336550 h 806450"/>
                  <a:gd name="connsiteX42" fmla="*/ 95795 w 143420"/>
                  <a:gd name="connsiteY42" fmla="*/ 330200 h 806450"/>
                  <a:gd name="connsiteX43" fmla="*/ 105320 w 143420"/>
                  <a:gd name="connsiteY43" fmla="*/ 320675 h 806450"/>
                  <a:gd name="connsiteX44" fmla="*/ 118020 w 143420"/>
                  <a:gd name="connsiteY44" fmla="*/ 292100 h 806450"/>
                  <a:gd name="connsiteX45" fmla="*/ 124370 w 143420"/>
                  <a:gd name="connsiteY45" fmla="*/ 279400 h 806450"/>
                  <a:gd name="connsiteX46" fmla="*/ 127545 w 143420"/>
                  <a:gd name="connsiteY46" fmla="*/ 250825 h 806450"/>
                  <a:gd name="connsiteX47" fmla="*/ 121195 w 143420"/>
                  <a:gd name="connsiteY47" fmla="*/ 177800 h 806450"/>
                  <a:gd name="connsiteX48" fmla="*/ 124370 w 143420"/>
                  <a:gd name="connsiteY48" fmla="*/ 130175 h 806450"/>
                  <a:gd name="connsiteX49" fmla="*/ 114845 w 143420"/>
                  <a:gd name="connsiteY49" fmla="*/ 44450 h 806450"/>
                  <a:gd name="connsiteX50" fmla="*/ 102145 w 143420"/>
                  <a:gd name="connsiteY50" fmla="*/ 15875 h 806450"/>
                  <a:gd name="connsiteX51" fmla="*/ 98970 w 143420"/>
                  <a:gd name="connsiteY51" fmla="*/ 6350 h 806450"/>
                  <a:gd name="connsiteX52" fmla="*/ 79920 w 143420"/>
                  <a:gd name="connsiteY52" fmla="*/ 0 h 806450"/>
                  <a:gd name="connsiteX53" fmla="*/ 54520 w 143420"/>
                  <a:gd name="connsiteY53" fmla="*/ 3175 h 806450"/>
                  <a:gd name="connsiteX54" fmla="*/ 35470 w 143420"/>
                  <a:gd name="connsiteY54" fmla="*/ 6350 h 80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3420" h="806450">
                    <a:moveTo>
                      <a:pt x="35470" y="6350"/>
                    </a:moveTo>
                    <a:cubicBezTo>
                      <a:pt x="29649" y="10583"/>
                      <a:pt x="23911" y="20559"/>
                      <a:pt x="19595" y="28575"/>
                    </a:cubicBezTo>
                    <a:cubicBezTo>
                      <a:pt x="16422" y="34468"/>
                      <a:pt x="15362" y="41275"/>
                      <a:pt x="13245" y="47625"/>
                    </a:cubicBezTo>
                    <a:lnTo>
                      <a:pt x="10070" y="57150"/>
                    </a:lnTo>
                    <a:cubicBezTo>
                      <a:pt x="11128" y="63500"/>
                      <a:pt x="13245" y="69762"/>
                      <a:pt x="13245" y="76200"/>
                    </a:cubicBezTo>
                    <a:cubicBezTo>
                      <a:pt x="13245" y="160070"/>
                      <a:pt x="15730" y="143149"/>
                      <a:pt x="6895" y="187325"/>
                    </a:cubicBezTo>
                    <a:cubicBezTo>
                      <a:pt x="5837" y="206375"/>
                      <a:pt x="5304" y="225462"/>
                      <a:pt x="3720" y="244475"/>
                    </a:cubicBezTo>
                    <a:cubicBezTo>
                      <a:pt x="863" y="278760"/>
                      <a:pt x="-2985" y="248520"/>
                      <a:pt x="3720" y="292100"/>
                    </a:cubicBezTo>
                    <a:cubicBezTo>
                      <a:pt x="5675" y="304811"/>
                      <a:pt x="9845" y="314100"/>
                      <a:pt x="19595" y="323850"/>
                    </a:cubicBezTo>
                    <a:lnTo>
                      <a:pt x="38645" y="342900"/>
                    </a:lnTo>
                    <a:cubicBezTo>
                      <a:pt x="32464" y="361443"/>
                      <a:pt x="40306" y="344414"/>
                      <a:pt x="25945" y="358775"/>
                    </a:cubicBezTo>
                    <a:cubicBezTo>
                      <a:pt x="23247" y="361473"/>
                      <a:pt x="22038" y="365369"/>
                      <a:pt x="19595" y="368300"/>
                    </a:cubicBezTo>
                    <a:cubicBezTo>
                      <a:pt x="-777" y="392746"/>
                      <a:pt x="19486" y="363701"/>
                      <a:pt x="3720" y="387350"/>
                    </a:cubicBezTo>
                    <a:cubicBezTo>
                      <a:pt x="4778" y="392642"/>
                      <a:pt x="5475" y="398019"/>
                      <a:pt x="6895" y="403225"/>
                    </a:cubicBezTo>
                    <a:cubicBezTo>
                      <a:pt x="8656" y="409683"/>
                      <a:pt x="13245" y="422275"/>
                      <a:pt x="13245" y="422275"/>
                    </a:cubicBezTo>
                    <a:cubicBezTo>
                      <a:pt x="14303" y="443442"/>
                      <a:pt x="14660" y="464655"/>
                      <a:pt x="16420" y="485775"/>
                    </a:cubicBezTo>
                    <a:cubicBezTo>
                      <a:pt x="16782" y="490124"/>
                      <a:pt x="19305" y="494121"/>
                      <a:pt x="19595" y="498475"/>
                    </a:cubicBezTo>
                    <a:cubicBezTo>
                      <a:pt x="21427" y="525951"/>
                      <a:pt x="21712" y="553508"/>
                      <a:pt x="22770" y="581025"/>
                    </a:cubicBezTo>
                    <a:cubicBezTo>
                      <a:pt x="20653" y="601133"/>
                      <a:pt x="21324" y="621734"/>
                      <a:pt x="16420" y="641350"/>
                    </a:cubicBezTo>
                    <a:lnTo>
                      <a:pt x="10070" y="666750"/>
                    </a:lnTo>
                    <a:cubicBezTo>
                      <a:pt x="12118" y="697477"/>
                      <a:pt x="12180" y="712216"/>
                      <a:pt x="16420" y="739775"/>
                    </a:cubicBezTo>
                    <a:cubicBezTo>
                      <a:pt x="17374" y="745976"/>
                      <a:pt x="20774" y="761697"/>
                      <a:pt x="22770" y="768350"/>
                    </a:cubicBezTo>
                    <a:cubicBezTo>
                      <a:pt x="24693" y="774761"/>
                      <a:pt x="27003" y="781050"/>
                      <a:pt x="29120" y="787400"/>
                    </a:cubicBezTo>
                    <a:cubicBezTo>
                      <a:pt x="34412" y="803275"/>
                      <a:pt x="29120" y="795867"/>
                      <a:pt x="51345" y="803275"/>
                    </a:cubicBezTo>
                    <a:lnTo>
                      <a:pt x="60870" y="806450"/>
                    </a:lnTo>
                    <a:cubicBezTo>
                      <a:pt x="64045" y="805392"/>
                      <a:pt x="67610" y="805131"/>
                      <a:pt x="70395" y="803275"/>
                    </a:cubicBezTo>
                    <a:cubicBezTo>
                      <a:pt x="74131" y="800784"/>
                      <a:pt x="76471" y="796625"/>
                      <a:pt x="79920" y="793750"/>
                    </a:cubicBezTo>
                    <a:cubicBezTo>
                      <a:pt x="82851" y="791307"/>
                      <a:pt x="86270" y="789517"/>
                      <a:pt x="89445" y="787400"/>
                    </a:cubicBezTo>
                    <a:cubicBezTo>
                      <a:pt x="91562" y="784225"/>
                      <a:pt x="92815" y="780259"/>
                      <a:pt x="95795" y="777875"/>
                    </a:cubicBezTo>
                    <a:cubicBezTo>
                      <a:pt x="98408" y="775784"/>
                      <a:pt x="102953" y="777067"/>
                      <a:pt x="105320" y="774700"/>
                    </a:cubicBezTo>
                    <a:cubicBezTo>
                      <a:pt x="110716" y="769304"/>
                      <a:pt x="113787" y="762000"/>
                      <a:pt x="118020" y="755650"/>
                    </a:cubicBezTo>
                    <a:cubicBezTo>
                      <a:pt x="120137" y="752475"/>
                      <a:pt x="123163" y="749745"/>
                      <a:pt x="124370" y="746125"/>
                    </a:cubicBezTo>
                    <a:cubicBezTo>
                      <a:pt x="131927" y="723455"/>
                      <a:pt x="127007" y="732644"/>
                      <a:pt x="137070" y="717550"/>
                    </a:cubicBezTo>
                    <a:cubicBezTo>
                      <a:pt x="138128" y="709083"/>
                      <a:pt x="138719" y="700545"/>
                      <a:pt x="140245" y="692150"/>
                    </a:cubicBezTo>
                    <a:cubicBezTo>
                      <a:pt x="140844" y="688857"/>
                      <a:pt x="143420" y="685972"/>
                      <a:pt x="143420" y="682625"/>
                    </a:cubicBezTo>
                    <a:cubicBezTo>
                      <a:pt x="143420" y="668826"/>
                      <a:pt x="141040" y="655126"/>
                      <a:pt x="140245" y="641350"/>
                    </a:cubicBezTo>
                    <a:cubicBezTo>
                      <a:pt x="132738" y="511225"/>
                      <a:pt x="147044" y="556973"/>
                      <a:pt x="130720" y="508000"/>
                    </a:cubicBezTo>
                    <a:cubicBezTo>
                      <a:pt x="138581" y="468693"/>
                      <a:pt x="135529" y="490469"/>
                      <a:pt x="130720" y="415925"/>
                    </a:cubicBezTo>
                    <a:cubicBezTo>
                      <a:pt x="130359" y="410325"/>
                      <a:pt x="126548" y="380003"/>
                      <a:pt x="121195" y="374650"/>
                    </a:cubicBezTo>
                    <a:cubicBezTo>
                      <a:pt x="114173" y="367628"/>
                      <a:pt x="110986" y="363195"/>
                      <a:pt x="102145" y="358775"/>
                    </a:cubicBezTo>
                    <a:cubicBezTo>
                      <a:pt x="75855" y="345630"/>
                      <a:pt x="110392" y="367448"/>
                      <a:pt x="83095" y="349250"/>
                    </a:cubicBezTo>
                    <a:cubicBezTo>
                      <a:pt x="84153" y="345017"/>
                      <a:pt x="83849" y="340181"/>
                      <a:pt x="86270" y="336550"/>
                    </a:cubicBezTo>
                    <a:cubicBezTo>
                      <a:pt x="88387" y="333375"/>
                      <a:pt x="92864" y="332643"/>
                      <a:pt x="95795" y="330200"/>
                    </a:cubicBezTo>
                    <a:cubicBezTo>
                      <a:pt x="99244" y="327325"/>
                      <a:pt x="102445" y="324124"/>
                      <a:pt x="105320" y="320675"/>
                    </a:cubicBezTo>
                    <a:cubicBezTo>
                      <a:pt x="116994" y="306666"/>
                      <a:pt x="107637" y="312866"/>
                      <a:pt x="118020" y="292100"/>
                    </a:cubicBezTo>
                    <a:lnTo>
                      <a:pt x="124370" y="279400"/>
                    </a:lnTo>
                    <a:cubicBezTo>
                      <a:pt x="125428" y="269875"/>
                      <a:pt x="127545" y="260409"/>
                      <a:pt x="127545" y="250825"/>
                    </a:cubicBezTo>
                    <a:cubicBezTo>
                      <a:pt x="127545" y="199760"/>
                      <a:pt x="128516" y="207084"/>
                      <a:pt x="121195" y="177800"/>
                    </a:cubicBezTo>
                    <a:cubicBezTo>
                      <a:pt x="122253" y="161925"/>
                      <a:pt x="124370" y="146085"/>
                      <a:pt x="124370" y="130175"/>
                    </a:cubicBezTo>
                    <a:cubicBezTo>
                      <a:pt x="124370" y="97955"/>
                      <a:pt x="124504" y="73427"/>
                      <a:pt x="114845" y="44450"/>
                    </a:cubicBezTo>
                    <a:cubicBezTo>
                      <a:pt x="98463" y="-4697"/>
                      <a:pt x="117239" y="46064"/>
                      <a:pt x="102145" y="15875"/>
                    </a:cubicBezTo>
                    <a:cubicBezTo>
                      <a:pt x="100648" y="12882"/>
                      <a:pt x="101693" y="8295"/>
                      <a:pt x="98970" y="6350"/>
                    </a:cubicBezTo>
                    <a:cubicBezTo>
                      <a:pt x="93523" y="2459"/>
                      <a:pt x="79920" y="0"/>
                      <a:pt x="79920" y="0"/>
                    </a:cubicBezTo>
                    <a:cubicBezTo>
                      <a:pt x="71453" y="1058"/>
                      <a:pt x="62915" y="1649"/>
                      <a:pt x="54520" y="3175"/>
                    </a:cubicBezTo>
                    <a:cubicBezTo>
                      <a:pt x="48355" y="4296"/>
                      <a:pt x="41291" y="2117"/>
                      <a:pt x="35470" y="6350"/>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27" name="Freeform 299">
                <a:extLst>
                  <a:ext uri="{FF2B5EF4-FFF2-40B4-BE49-F238E27FC236}">
                    <a16:creationId xmlns:a16="http://schemas.microsoft.com/office/drawing/2014/main" id="{894F9C44-0903-7D30-5FD5-485B717BEB12}"/>
                  </a:ext>
                </a:extLst>
              </p:cNvPr>
              <p:cNvSpPr/>
              <p:nvPr/>
            </p:nvSpPr>
            <p:spPr>
              <a:xfrm>
                <a:off x="1632266" y="2254248"/>
                <a:ext cx="20408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28" name="Freeform 300">
                <a:extLst>
                  <a:ext uri="{FF2B5EF4-FFF2-40B4-BE49-F238E27FC236}">
                    <a16:creationId xmlns:a16="http://schemas.microsoft.com/office/drawing/2014/main" id="{1EFE4691-3867-7A07-E08D-300022AA83A1}"/>
                  </a:ext>
                </a:extLst>
              </p:cNvPr>
              <p:cNvSpPr/>
              <p:nvPr/>
            </p:nvSpPr>
            <p:spPr>
              <a:xfrm>
                <a:off x="1640454" y="2374606"/>
                <a:ext cx="194841" cy="51090"/>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29" name="Freeform 301">
                <a:extLst>
                  <a:ext uri="{FF2B5EF4-FFF2-40B4-BE49-F238E27FC236}">
                    <a16:creationId xmlns:a16="http://schemas.microsoft.com/office/drawing/2014/main" id="{8728464E-41FB-CA45-C903-17B445130753}"/>
                  </a:ext>
                </a:extLst>
              </p:cNvPr>
              <p:cNvSpPr/>
              <p:nvPr/>
            </p:nvSpPr>
            <p:spPr>
              <a:xfrm>
                <a:off x="1620756" y="2529578"/>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0" name="Freeform 302">
                <a:extLst>
                  <a:ext uri="{FF2B5EF4-FFF2-40B4-BE49-F238E27FC236}">
                    <a16:creationId xmlns:a16="http://schemas.microsoft.com/office/drawing/2014/main" id="{CB449712-0387-5F71-8BE6-FF1A0CAA6980}"/>
                  </a:ext>
                </a:extLst>
              </p:cNvPr>
              <p:cNvSpPr/>
              <p:nvPr/>
            </p:nvSpPr>
            <p:spPr>
              <a:xfrm>
                <a:off x="1632266" y="287923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1" name="Freeform 303">
                <a:extLst>
                  <a:ext uri="{FF2B5EF4-FFF2-40B4-BE49-F238E27FC236}">
                    <a16:creationId xmlns:a16="http://schemas.microsoft.com/office/drawing/2014/main" id="{50E27FB9-A8E6-A665-A463-40A41D953652}"/>
                  </a:ext>
                </a:extLst>
              </p:cNvPr>
              <p:cNvSpPr/>
              <p:nvPr/>
            </p:nvSpPr>
            <p:spPr>
              <a:xfrm rot="10800000">
                <a:off x="1635000" y="293057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2" name="Freeform 304">
                <a:extLst>
                  <a:ext uri="{FF2B5EF4-FFF2-40B4-BE49-F238E27FC236}">
                    <a16:creationId xmlns:a16="http://schemas.microsoft.com/office/drawing/2014/main" id="{2873C166-4094-B9DC-1F34-509224AD8D1F}"/>
                  </a:ext>
                </a:extLst>
              </p:cNvPr>
              <p:cNvSpPr/>
              <p:nvPr/>
            </p:nvSpPr>
            <p:spPr>
              <a:xfrm>
                <a:off x="1645148" y="325061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3" name="Freeform 305">
                <a:extLst>
                  <a:ext uri="{FF2B5EF4-FFF2-40B4-BE49-F238E27FC236}">
                    <a16:creationId xmlns:a16="http://schemas.microsoft.com/office/drawing/2014/main" id="{DDDE6C7A-4D4B-13F1-CDBB-77FCD97E6C4C}"/>
                  </a:ext>
                </a:extLst>
              </p:cNvPr>
              <p:cNvSpPr/>
              <p:nvPr/>
            </p:nvSpPr>
            <p:spPr>
              <a:xfrm rot="10800000">
                <a:off x="1651602" y="3151500"/>
                <a:ext cx="223377"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4" name="Freeform 306">
                <a:extLst>
                  <a:ext uri="{FF2B5EF4-FFF2-40B4-BE49-F238E27FC236}">
                    <a16:creationId xmlns:a16="http://schemas.microsoft.com/office/drawing/2014/main" id="{A588BE03-2E5B-47E7-05A5-E76CF2B70F00}"/>
                  </a:ext>
                </a:extLst>
              </p:cNvPr>
              <p:cNvSpPr/>
              <p:nvPr/>
            </p:nvSpPr>
            <p:spPr>
              <a:xfrm>
                <a:off x="1641682" y="3011180"/>
                <a:ext cx="223377"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5" name="Freeform 307">
                <a:extLst>
                  <a:ext uri="{FF2B5EF4-FFF2-40B4-BE49-F238E27FC236}">
                    <a16:creationId xmlns:a16="http://schemas.microsoft.com/office/drawing/2014/main" id="{85DD8AD1-C599-6380-5626-F149CCEC7B0B}"/>
                  </a:ext>
                </a:extLst>
              </p:cNvPr>
              <p:cNvSpPr/>
              <p:nvPr/>
            </p:nvSpPr>
            <p:spPr>
              <a:xfrm>
                <a:off x="1670338" y="2735940"/>
                <a:ext cx="102948" cy="472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6" name="Freeform 308">
                <a:extLst>
                  <a:ext uri="{FF2B5EF4-FFF2-40B4-BE49-F238E27FC236}">
                    <a16:creationId xmlns:a16="http://schemas.microsoft.com/office/drawing/2014/main" id="{20F1F06E-D02B-B601-87A2-0BA43FF19054}"/>
                  </a:ext>
                </a:extLst>
              </p:cNvPr>
              <p:cNvSpPr/>
              <p:nvPr/>
            </p:nvSpPr>
            <p:spPr>
              <a:xfrm>
                <a:off x="1635124" y="2219322"/>
                <a:ext cx="185537" cy="2540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7" name="Freeform 309">
                <a:extLst>
                  <a:ext uri="{FF2B5EF4-FFF2-40B4-BE49-F238E27FC236}">
                    <a16:creationId xmlns:a16="http://schemas.microsoft.com/office/drawing/2014/main" id="{3092FB7B-A085-8827-34D4-E206AAD5E334}"/>
                  </a:ext>
                </a:extLst>
              </p:cNvPr>
              <p:cNvSpPr/>
              <p:nvPr/>
            </p:nvSpPr>
            <p:spPr>
              <a:xfrm>
                <a:off x="1614898" y="2460610"/>
                <a:ext cx="226059" cy="63936"/>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8" name="Freeform 310">
                <a:extLst>
                  <a:ext uri="{FF2B5EF4-FFF2-40B4-BE49-F238E27FC236}">
                    <a16:creationId xmlns:a16="http://schemas.microsoft.com/office/drawing/2014/main" id="{B5656339-DFC8-5CB2-BD79-7500D19DF5DF}"/>
                  </a:ext>
                </a:extLst>
              </p:cNvPr>
              <p:cNvSpPr/>
              <p:nvPr/>
            </p:nvSpPr>
            <p:spPr>
              <a:xfrm>
                <a:off x="1628828" y="3324378"/>
                <a:ext cx="244089" cy="13601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39" name="Freeform 311">
                <a:extLst>
                  <a:ext uri="{FF2B5EF4-FFF2-40B4-BE49-F238E27FC236}">
                    <a16:creationId xmlns:a16="http://schemas.microsoft.com/office/drawing/2014/main" id="{5F7042CF-F23F-853D-8CF6-FBCFF6485409}"/>
                  </a:ext>
                </a:extLst>
              </p:cNvPr>
              <p:cNvSpPr/>
              <p:nvPr/>
            </p:nvSpPr>
            <p:spPr>
              <a:xfrm rot="10800000">
                <a:off x="1635442" y="3313226"/>
                <a:ext cx="240651"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40" name="Freeform 312">
                <a:extLst>
                  <a:ext uri="{FF2B5EF4-FFF2-40B4-BE49-F238E27FC236}">
                    <a16:creationId xmlns:a16="http://schemas.microsoft.com/office/drawing/2014/main" id="{F4C78BF5-57A9-96DD-13AA-A12405009AAE}"/>
                  </a:ext>
                </a:extLst>
              </p:cNvPr>
              <p:cNvSpPr/>
              <p:nvPr/>
            </p:nvSpPr>
            <p:spPr>
              <a:xfrm rot="10800000">
                <a:off x="1611916" y="2632962"/>
                <a:ext cx="223379"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209" name="Group 313">
              <a:extLst>
                <a:ext uri="{FF2B5EF4-FFF2-40B4-BE49-F238E27FC236}">
                  <a16:creationId xmlns:a16="http://schemas.microsoft.com/office/drawing/2014/main" id="{2765F26A-B9BE-6FD5-9AF2-7E6E3BB05272}"/>
                </a:ext>
              </a:extLst>
            </p:cNvPr>
            <p:cNvGrpSpPr/>
            <p:nvPr/>
          </p:nvGrpSpPr>
          <p:grpSpPr>
            <a:xfrm>
              <a:off x="4461909" y="1726612"/>
              <a:ext cx="144163" cy="642926"/>
              <a:chOff x="2073412" y="2165657"/>
              <a:chExt cx="314361" cy="1401954"/>
            </a:xfrm>
            <a:solidFill>
              <a:srgbClr val="0D0D0D">
                <a:alpha val="29804"/>
              </a:srgbClr>
            </a:solidFill>
          </p:grpSpPr>
          <p:sp>
            <p:nvSpPr>
              <p:cNvPr id="1212" name="Freeform 314">
                <a:extLst>
                  <a:ext uri="{FF2B5EF4-FFF2-40B4-BE49-F238E27FC236}">
                    <a16:creationId xmlns:a16="http://schemas.microsoft.com/office/drawing/2014/main" id="{D9409ECB-9645-359B-1190-FE6EE659ED88}"/>
                  </a:ext>
                </a:extLst>
              </p:cNvPr>
              <p:cNvSpPr/>
              <p:nvPr/>
            </p:nvSpPr>
            <p:spPr>
              <a:xfrm>
                <a:off x="2076568" y="2165657"/>
                <a:ext cx="303348" cy="1401954"/>
              </a:xfrm>
              <a:custGeom>
                <a:avLst/>
                <a:gdLst>
                  <a:gd name="connsiteX0" fmla="*/ 101646 w 168321"/>
                  <a:gd name="connsiteY0" fmla="*/ 3215 h 777915"/>
                  <a:gd name="connsiteX1" fmla="*/ 85771 w 168321"/>
                  <a:gd name="connsiteY1" fmla="*/ 25440 h 777915"/>
                  <a:gd name="connsiteX2" fmla="*/ 76246 w 168321"/>
                  <a:gd name="connsiteY2" fmla="*/ 31790 h 777915"/>
                  <a:gd name="connsiteX3" fmla="*/ 63546 w 168321"/>
                  <a:gd name="connsiteY3" fmla="*/ 50840 h 777915"/>
                  <a:gd name="connsiteX4" fmla="*/ 57196 w 168321"/>
                  <a:gd name="connsiteY4" fmla="*/ 60365 h 777915"/>
                  <a:gd name="connsiteX5" fmla="*/ 50846 w 168321"/>
                  <a:gd name="connsiteY5" fmla="*/ 69890 h 777915"/>
                  <a:gd name="connsiteX6" fmla="*/ 44496 w 168321"/>
                  <a:gd name="connsiteY6" fmla="*/ 95290 h 777915"/>
                  <a:gd name="connsiteX7" fmla="*/ 38146 w 168321"/>
                  <a:gd name="connsiteY7" fmla="*/ 114340 h 777915"/>
                  <a:gd name="connsiteX8" fmla="*/ 34971 w 168321"/>
                  <a:gd name="connsiteY8" fmla="*/ 123865 h 777915"/>
                  <a:gd name="connsiteX9" fmla="*/ 25446 w 168321"/>
                  <a:gd name="connsiteY9" fmla="*/ 155615 h 777915"/>
                  <a:gd name="connsiteX10" fmla="*/ 15921 w 168321"/>
                  <a:gd name="connsiteY10" fmla="*/ 184190 h 777915"/>
                  <a:gd name="connsiteX11" fmla="*/ 12746 w 168321"/>
                  <a:gd name="connsiteY11" fmla="*/ 193715 h 777915"/>
                  <a:gd name="connsiteX12" fmla="*/ 12746 w 168321"/>
                  <a:gd name="connsiteY12" fmla="*/ 269915 h 777915"/>
                  <a:gd name="connsiteX13" fmla="*/ 22271 w 168321"/>
                  <a:gd name="connsiteY13" fmla="*/ 308015 h 777915"/>
                  <a:gd name="connsiteX14" fmla="*/ 31796 w 168321"/>
                  <a:gd name="connsiteY14" fmla="*/ 314365 h 777915"/>
                  <a:gd name="connsiteX15" fmla="*/ 31796 w 168321"/>
                  <a:gd name="connsiteY15" fmla="*/ 333415 h 777915"/>
                  <a:gd name="connsiteX16" fmla="*/ 12746 w 168321"/>
                  <a:gd name="connsiteY16" fmla="*/ 346115 h 777915"/>
                  <a:gd name="connsiteX17" fmla="*/ 6396 w 168321"/>
                  <a:gd name="connsiteY17" fmla="*/ 355640 h 777915"/>
                  <a:gd name="connsiteX18" fmla="*/ 3221 w 168321"/>
                  <a:gd name="connsiteY18" fmla="*/ 368340 h 777915"/>
                  <a:gd name="connsiteX19" fmla="*/ 46 w 168321"/>
                  <a:gd name="connsiteY19" fmla="*/ 438190 h 777915"/>
                  <a:gd name="connsiteX20" fmla="*/ 3221 w 168321"/>
                  <a:gd name="connsiteY20" fmla="*/ 514390 h 777915"/>
                  <a:gd name="connsiteX21" fmla="*/ 3221 w 168321"/>
                  <a:gd name="connsiteY21" fmla="*/ 581065 h 777915"/>
                  <a:gd name="connsiteX22" fmla="*/ 9571 w 168321"/>
                  <a:gd name="connsiteY22" fmla="*/ 717590 h 777915"/>
                  <a:gd name="connsiteX23" fmla="*/ 12746 w 168321"/>
                  <a:gd name="connsiteY23" fmla="*/ 730290 h 777915"/>
                  <a:gd name="connsiteX24" fmla="*/ 19096 w 168321"/>
                  <a:gd name="connsiteY24" fmla="*/ 762040 h 777915"/>
                  <a:gd name="connsiteX25" fmla="*/ 25446 w 168321"/>
                  <a:gd name="connsiteY25" fmla="*/ 771565 h 777915"/>
                  <a:gd name="connsiteX26" fmla="*/ 54021 w 168321"/>
                  <a:gd name="connsiteY26" fmla="*/ 774740 h 777915"/>
                  <a:gd name="connsiteX27" fmla="*/ 63546 w 168321"/>
                  <a:gd name="connsiteY27" fmla="*/ 777915 h 777915"/>
                  <a:gd name="connsiteX28" fmla="*/ 85771 w 168321"/>
                  <a:gd name="connsiteY28" fmla="*/ 755690 h 777915"/>
                  <a:gd name="connsiteX29" fmla="*/ 88946 w 168321"/>
                  <a:gd name="connsiteY29" fmla="*/ 746165 h 777915"/>
                  <a:gd name="connsiteX30" fmla="*/ 98471 w 168321"/>
                  <a:gd name="connsiteY30" fmla="*/ 736640 h 777915"/>
                  <a:gd name="connsiteX31" fmla="*/ 107996 w 168321"/>
                  <a:gd name="connsiteY31" fmla="*/ 708065 h 777915"/>
                  <a:gd name="connsiteX32" fmla="*/ 111171 w 168321"/>
                  <a:gd name="connsiteY32" fmla="*/ 698540 h 777915"/>
                  <a:gd name="connsiteX33" fmla="*/ 114346 w 168321"/>
                  <a:gd name="connsiteY33" fmla="*/ 689015 h 777915"/>
                  <a:gd name="connsiteX34" fmla="*/ 120696 w 168321"/>
                  <a:gd name="connsiteY34" fmla="*/ 654090 h 777915"/>
                  <a:gd name="connsiteX35" fmla="*/ 123871 w 168321"/>
                  <a:gd name="connsiteY35" fmla="*/ 523915 h 777915"/>
                  <a:gd name="connsiteX36" fmla="*/ 120696 w 168321"/>
                  <a:gd name="connsiteY36" fmla="*/ 514390 h 777915"/>
                  <a:gd name="connsiteX37" fmla="*/ 123871 w 168321"/>
                  <a:gd name="connsiteY37" fmla="*/ 485815 h 777915"/>
                  <a:gd name="connsiteX38" fmla="*/ 117521 w 168321"/>
                  <a:gd name="connsiteY38" fmla="*/ 428665 h 777915"/>
                  <a:gd name="connsiteX39" fmla="*/ 114346 w 168321"/>
                  <a:gd name="connsiteY39" fmla="*/ 368340 h 777915"/>
                  <a:gd name="connsiteX40" fmla="*/ 107996 w 168321"/>
                  <a:gd name="connsiteY40" fmla="*/ 349290 h 777915"/>
                  <a:gd name="connsiteX41" fmla="*/ 79421 w 168321"/>
                  <a:gd name="connsiteY41" fmla="*/ 327065 h 777915"/>
                  <a:gd name="connsiteX42" fmla="*/ 92121 w 168321"/>
                  <a:gd name="connsiteY42" fmla="*/ 308015 h 777915"/>
                  <a:gd name="connsiteX43" fmla="*/ 98471 w 168321"/>
                  <a:gd name="connsiteY43" fmla="*/ 288965 h 777915"/>
                  <a:gd name="connsiteX44" fmla="*/ 107996 w 168321"/>
                  <a:gd name="connsiteY44" fmla="*/ 260390 h 777915"/>
                  <a:gd name="connsiteX45" fmla="*/ 117521 w 168321"/>
                  <a:gd name="connsiteY45" fmla="*/ 241340 h 777915"/>
                  <a:gd name="connsiteX46" fmla="*/ 123871 w 168321"/>
                  <a:gd name="connsiteY46" fmla="*/ 222290 h 777915"/>
                  <a:gd name="connsiteX47" fmla="*/ 136571 w 168321"/>
                  <a:gd name="connsiteY47" fmla="*/ 184190 h 777915"/>
                  <a:gd name="connsiteX48" fmla="*/ 139746 w 168321"/>
                  <a:gd name="connsiteY48" fmla="*/ 174665 h 777915"/>
                  <a:gd name="connsiteX49" fmla="*/ 142921 w 168321"/>
                  <a:gd name="connsiteY49" fmla="*/ 165140 h 777915"/>
                  <a:gd name="connsiteX50" fmla="*/ 146096 w 168321"/>
                  <a:gd name="connsiteY50" fmla="*/ 120690 h 777915"/>
                  <a:gd name="connsiteX51" fmla="*/ 158796 w 168321"/>
                  <a:gd name="connsiteY51" fmla="*/ 76240 h 777915"/>
                  <a:gd name="connsiteX52" fmla="*/ 168321 w 168321"/>
                  <a:gd name="connsiteY52" fmla="*/ 57190 h 777915"/>
                  <a:gd name="connsiteX53" fmla="*/ 165146 w 168321"/>
                  <a:gd name="connsiteY53" fmla="*/ 28615 h 777915"/>
                  <a:gd name="connsiteX54" fmla="*/ 161971 w 168321"/>
                  <a:gd name="connsiteY54" fmla="*/ 19090 h 777915"/>
                  <a:gd name="connsiteX55" fmla="*/ 152446 w 168321"/>
                  <a:gd name="connsiteY55" fmla="*/ 15915 h 777915"/>
                  <a:gd name="connsiteX56" fmla="*/ 136571 w 168321"/>
                  <a:gd name="connsiteY56" fmla="*/ 12740 h 777915"/>
                  <a:gd name="connsiteX57" fmla="*/ 130221 w 168321"/>
                  <a:gd name="connsiteY57" fmla="*/ 3215 h 777915"/>
                  <a:gd name="connsiteX58" fmla="*/ 111171 w 168321"/>
                  <a:gd name="connsiteY58" fmla="*/ 3215 h 777915"/>
                  <a:gd name="connsiteX59" fmla="*/ 101646 w 168321"/>
                  <a:gd name="connsiteY59" fmla="*/ 9565 h 777915"/>
                  <a:gd name="connsiteX60" fmla="*/ 101646 w 168321"/>
                  <a:gd name="connsiteY60" fmla="*/ 3215 h 77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68321" h="777915">
                    <a:moveTo>
                      <a:pt x="101646" y="3215"/>
                    </a:moveTo>
                    <a:cubicBezTo>
                      <a:pt x="99000" y="5861"/>
                      <a:pt x="91819" y="18635"/>
                      <a:pt x="85771" y="25440"/>
                    </a:cubicBezTo>
                    <a:cubicBezTo>
                      <a:pt x="83236" y="28292"/>
                      <a:pt x="78759" y="28918"/>
                      <a:pt x="76246" y="31790"/>
                    </a:cubicBezTo>
                    <a:cubicBezTo>
                      <a:pt x="71220" y="37533"/>
                      <a:pt x="67779" y="44490"/>
                      <a:pt x="63546" y="50840"/>
                    </a:cubicBezTo>
                    <a:lnTo>
                      <a:pt x="57196" y="60365"/>
                    </a:lnTo>
                    <a:lnTo>
                      <a:pt x="50846" y="69890"/>
                    </a:lnTo>
                    <a:cubicBezTo>
                      <a:pt x="48729" y="78357"/>
                      <a:pt x="47256" y="87011"/>
                      <a:pt x="44496" y="95290"/>
                    </a:cubicBezTo>
                    <a:lnTo>
                      <a:pt x="38146" y="114340"/>
                    </a:lnTo>
                    <a:cubicBezTo>
                      <a:pt x="37088" y="117515"/>
                      <a:pt x="35783" y="120618"/>
                      <a:pt x="34971" y="123865"/>
                    </a:cubicBezTo>
                    <a:cubicBezTo>
                      <a:pt x="30173" y="143059"/>
                      <a:pt x="33176" y="132425"/>
                      <a:pt x="25446" y="155615"/>
                    </a:cubicBezTo>
                    <a:lnTo>
                      <a:pt x="15921" y="184190"/>
                    </a:lnTo>
                    <a:lnTo>
                      <a:pt x="12746" y="193715"/>
                    </a:lnTo>
                    <a:cubicBezTo>
                      <a:pt x="8656" y="234614"/>
                      <a:pt x="8027" y="222721"/>
                      <a:pt x="12746" y="269915"/>
                    </a:cubicBezTo>
                    <a:cubicBezTo>
                      <a:pt x="13173" y="274183"/>
                      <a:pt x="17887" y="305092"/>
                      <a:pt x="22271" y="308015"/>
                    </a:cubicBezTo>
                    <a:lnTo>
                      <a:pt x="31796" y="314365"/>
                    </a:lnTo>
                    <a:cubicBezTo>
                      <a:pt x="33913" y="320715"/>
                      <a:pt x="38146" y="327065"/>
                      <a:pt x="31796" y="333415"/>
                    </a:cubicBezTo>
                    <a:cubicBezTo>
                      <a:pt x="26400" y="338811"/>
                      <a:pt x="12746" y="346115"/>
                      <a:pt x="12746" y="346115"/>
                    </a:cubicBezTo>
                    <a:cubicBezTo>
                      <a:pt x="10629" y="349290"/>
                      <a:pt x="7899" y="352133"/>
                      <a:pt x="6396" y="355640"/>
                    </a:cubicBezTo>
                    <a:cubicBezTo>
                      <a:pt x="4677" y="359651"/>
                      <a:pt x="3556" y="363989"/>
                      <a:pt x="3221" y="368340"/>
                    </a:cubicBezTo>
                    <a:cubicBezTo>
                      <a:pt x="1433" y="391579"/>
                      <a:pt x="1104" y="414907"/>
                      <a:pt x="46" y="438190"/>
                    </a:cubicBezTo>
                    <a:cubicBezTo>
                      <a:pt x="1104" y="463590"/>
                      <a:pt x="3221" y="488968"/>
                      <a:pt x="3221" y="514390"/>
                    </a:cubicBezTo>
                    <a:cubicBezTo>
                      <a:pt x="3221" y="590058"/>
                      <a:pt x="-4028" y="537574"/>
                      <a:pt x="3221" y="581065"/>
                    </a:cubicBezTo>
                    <a:cubicBezTo>
                      <a:pt x="4112" y="606007"/>
                      <a:pt x="5954" y="683227"/>
                      <a:pt x="9571" y="717590"/>
                    </a:cubicBezTo>
                    <a:cubicBezTo>
                      <a:pt x="10028" y="721930"/>
                      <a:pt x="11890" y="726011"/>
                      <a:pt x="12746" y="730290"/>
                    </a:cubicBezTo>
                    <a:cubicBezTo>
                      <a:pt x="13731" y="735214"/>
                      <a:pt x="16330" y="755587"/>
                      <a:pt x="19096" y="762040"/>
                    </a:cubicBezTo>
                    <a:cubicBezTo>
                      <a:pt x="20599" y="765547"/>
                      <a:pt x="21860" y="770261"/>
                      <a:pt x="25446" y="771565"/>
                    </a:cubicBezTo>
                    <a:cubicBezTo>
                      <a:pt x="34453" y="774840"/>
                      <a:pt x="44496" y="773682"/>
                      <a:pt x="54021" y="774740"/>
                    </a:cubicBezTo>
                    <a:cubicBezTo>
                      <a:pt x="57196" y="775798"/>
                      <a:pt x="60199" y="777915"/>
                      <a:pt x="63546" y="777915"/>
                    </a:cubicBezTo>
                    <a:cubicBezTo>
                      <a:pt x="75257" y="777915"/>
                      <a:pt x="82741" y="764781"/>
                      <a:pt x="85771" y="755690"/>
                    </a:cubicBezTo>
                    <a:cubicBezTo>
                      <a:pt x="86829" y="752515"/>
                      <a:pt x="87090" y="748950"/>
                      <a:pt x="88946" y="746165"/>
                    </a:cubicBezTo>
                    <a:cubicBezTo>
                      <a:pt x="91437" y="742429"/>
                      <a:pt x="95296" y="739815"/>
                      <a:pt x="98471" y="736640"/>
                    </a:cubicBezTo>
                    <a:lnTo>
                      <a:pt x="107996" y="708065"/>
                    </a:lnTo>
                    <a:lnTo>
                      <a:pt x="111171" y="698540"/>
                    </a:lnTo>
                    <a:cubicBezTo>
                      <a:pt x="112229" y="695365"/>
                      <a:pt x="113690" y="692297"/>
                      <a:pt x="114346" y="689015"/>
                    </a:cubicBezTo>
                    <a:cubicBezTo>
                      <a:pt x="118784" y="666827"/>
                      <a:pt x="116634" y="678463"/>
                      <a:pt x="120696" y="654090"/>
                    </a:cubicBezTo>
                    <a:cubicBezTo>
                      <a:pt x="125896" y="586493"/>
                      <a:pt x="130248" y="581311"/>
                      <a:pt x="123871" y="523915"/>
                    </a:cubicBezTo>
                    <a:cubicBezTo>
                      <a:pt x="123501" y="520589"/>
                      <a:pt x="121754" y="517565"/>
                      <a:pt x="120696" y="514390"/>
                    </a:cubicBezTo>
                    <a:cubicBezTo>
                      <a:pt x="121754" y="504865"/>
                      <a:pt x="123871" y="495399"/>
                      <a:pt x="123871" y="485815"/>
                    </a:cubicBezTo>
                    <a:cubicBezTo>
                      <a:pt x="123871" y="470405"/>
                      <a:pt x="119883" y="445198"/>
                      <a:pt x="117521" y="428665"/>
                    </a:cubicBezTo>
                    <a:cubicBezTo>
                      <a:pt x="116463" y="408557"/>
                      <a:pt x="116745" y="388333"/>
                      <a:pt x="114346" y="368340"/>
                    </a:cubicBezTo>
                    <a:cubicBezTo>
                      <a:pt x="113549" y="361694"/>
                      <a:pt x="113565" y="353003"/>
                      <a:pt x="107996" y="349290"/>
                    </a:cubicBezTo>
                    <a:cubicBezTo>
                      <a:pt x="85210" y="334099"/>
                      <a:pt x="94342" y="341986"/>
                      <a:pt x="79421" y="327065"/>
                    </a:cubicBezTo>
                    <a:cubicBezTo>
                      <a:pt x="89925" y="295553"/>
                      <a:pt x="72302" y="343690"/>
                      <a:pt x="92121" y="308015"/>
                    </a:cubicBezTo>
                    <a:cubicBezTo>
                      <a:pt x="95372" y="302164"/>
                      <a:pt x="96354" y="295315"/>
                      <a:pt x="98471" y="288965"/>
                    </a:cubicBezTo>
                    <a:lnTo>
                      <a:pt x="107996" y="260390"/>
                    </a:lnTo>
                    <a:cubicBezTo>
                      <a:pt x="119575" y="225652"/>
                      <a:pt x="101108" y="278269"/>
                      <a:pt x="117521" y="241340"/>
                    </a:cubicBezTo>
                    <a:cubicBezTo>
                      <a:pt x="120239" y="235223"/>
                      <a:pt x="121754" y="228640"/>
                      <a:pt x="123871" y="222290"/>
                    </a:cubicBezTo>
                    <a:lnTo>
                      <a:pt x="136571" y="184190"/>
                    </a:lnTo>
                    <a:lnTo>
                      <a:pt x="139746" y="174665"/>
                    </a:lnTo>
                    <a:lnTo>
                      <a:pt x="142921" y="165140"/>
                    </a:lnTo>
                    <a:cubicBezTo>
                      <a:pt x="143979" y="150323"/>
                      <a:pt x="144089" y="135408"/>
                      <a:pt x="146096" y="120690"/>
                    </a:cubicBezTo>
                    <a:cubicBezTo>
                      <a:pt x="146459" y="118029"/>
                      <a:pt x="155523" y="81149"/>
                      <a:pt x="158796" y="76240"/>
                    </a:cubicBezTo>
                    <a:cubicBezTo>
                      <a:pt x="167002" y="63930"/>
                      <a:pt x="163939" y="70335"/>
                      <a:pt x="168321" y="57190"/>
                    </a:cubicBezTo>
                    <a:cubicBezTo>
                      <a:pt x="167263" y="47665"/>
                      <a:pt x="166722" y="38068"/>
                      <a:pt x="165146" y="28615"/>
                    </a:cubicBezTo>
                    <a:cubicBezTo>
                      <a:pt x="164596" y="25314"/>
                      <a:pt x="164338" y="21457"/>
                      <a:pt x="161971" y="19090"/>
                    </a:cubicBezTo>
                    <a:cubicBezTo>
                      <a:pt x="159604" y="16723"/>
                      <a:pt x="155693" y="16727"/>
                      <a:pt x="152446" y="15915"/>
                    </a:cubicBezTo>
                    <a:cubicBezTo>
                      <a:pt x="147211" y="14606"/>
                      <a:pt x="141863" y="13798"/>
                      <a:pt x="136571" y="12740"/>
                    </a:cubicBezTo>
                    <a:cubicBezTo>
                      <a:pt x="134454" y="9565"/>
                      <a:pt x="133201" y="5599"/>
                      <a:pt x="130221" y="3215"/>
                    </a:cubicBezTo>
                    <a:cubicBezTo>
                      <a:pt x="123708" y="-1995"/>
                      <a:pt x="117684" y="-41"/>
                      <a:pt x="111171" y="3215"/>
                    </a:cubicBezTo>
                    <a:cubicBezTo>
                      <a:pt x="107758" y="4922"/>
                      <a:pt x="105059" y="7858"/>
                      <a:pt x="101646" y="9565"/>
                    </a:cubicBezTo>
                    <a:cubicBezTo>
                      <a:pt x="87053" y="16862"/>
                      <a:pt x="104292" y="569"/>
                      <a:pt x="101646" y="3215"/>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13" name="Freeform 315">
                <a:extLst>
                  <a:ext uri="{FF2B5EF4-FFF2-40B4-BE49-F238E27FC236}">
                    <a16:creationId xmlns:a16="http://schemas.microsoft.com/office/drawing/2014/main" id="{556827A0-E742-3FC1-7C0F-983C1A13CAE0}"/>
                  </a:ext>
                </a:extLst>
              </p:cNvPr>
              <p:cNvSpPr/>
              <p:nvPr/>
            </p:nvSpPr>
            <p:spPr>
              <a:xfrm>
                <a:off x="2136451" y="2733425"/>
                <a:ext cx="88615" cy="45718"/>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14" name="Freeform 316">
                <a:extLst>
                  <a:ext uri="{FF2B5EF4-FFF2-40B4-BE49-F238E27FC236}">
                    <a16:creationId xmlns:a16="http://schemas.microsoft.com/office/drawing/2014/main" id="{0D9896AA-62A8-9404-125D-345E241554EA}"/>
                  </a:ext>
                </a:extLst>
              </p:cNvPr>
              <p:cNvSpPr/>
              <p:nvPr/>
            </p:nvSpPr>
            <p:spPr>
              <a:xfrm>
                <a:off x="2077078" y="3177188"/>
                <a:ext cx="235338"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15" name="Freeform 317">
                <a:extLst>
                  <a:ext uri="{FF2B5EF4-FFF2-40B4-BE49-F238E27FC236}">
                    <a16:creationId xmlns:a16="http://schemas.microsoft.com/office/drawing/2014/main" id="{40786AF4-5697-99EF-B13F-7EA272D28AFA}"/>
                  </a:ext>
                </a:extLst>
              </p:cNvPr>
              <p:cNvSpPr/>
              <p:nvPr/>
            </p:nvSpPr>
            <p:spPr>
              <a:xfrm>
                <a:off x="2082019" y="3327430"/>
                <a:ext cx="212529" cy="106483"/>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16" name="Freeform 318">
                <a:extLst>
                  <a:ext uri="{FF2B5EF4-FFF2-40B4-BE49-F238E27FC236}">
                    <a16:creationId xmlns:a16="http://schemas.microsoft.com/office/drawing/2014/main" id="{47AFAAAB-C707-0322-96E7-CD75942B7CEC}"/>
                  </a:ext>
                </a:extLst>
              </p:cNvPr>
              <p:cNvSpPr/>
              <p:nvPr/>
            </p:nvSpPr>
            <p:spPr>
              <a:xfrm rot="1266082">
                <a:off x="2115143" y="2437475"/>
                <a:ext cx="218879" cy="70147"/>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17" name="Freeform 319">
                <a:extLst>
                  <a:ext uri="{FF2B5EF4-FFF2-40B4-BE49-F238E27FC236}">
                    <a16:creationId xmlns:a16="http://schemas.microsoft.com/office/drawing/2014/main" id="{E162D320-BA8E-2BAC-DABE-19F5ECC01FFF}"/>
                  </a:ext>
                </a:extLst>
              </p:cNvPr>
              <p:cNvSpPr/>
              <p:nvPr/>
            </p:nvSpPr>
            <p:spPr>
              <a:xfrm rot="1266082">
                <a:off x="2095970" y="2503880"/>
                <a:ext cx="213921" cy="48671"/>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18" name="Freeform 320">
                <a:extLst>
                  <a:ext uri="{FF2B5EF4-FFF2-40B4-BE49-F238E27FC236}">
                    <a16:creationId xmlns:a16="http://schemas.microsoft.com/office/drawing/2014/main" id="{DA2582E1-E7C5-003F-F73D-3E5EA708A254}"/>
                  </a:ext>
                </a:extLst>
              </p:cNvPr>
              <p:cNvSpPr/>
              <p:nvPr/>
            </p:nvSpPr>
            <p:spPr>
              <a:xfrm rot="900000">
                <a:off x="2144470" y="2349041"/>
                <a:ext cx="194840" cy="51091"/>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19" name="Freeform 321">
                <a:extLst>
                  <a:ext uri="{FF2B5EF4-FFF2-40B4-BE49-F238E27FC236}">
                    <a16:creationId xmlns:a16="http://schemas.microsoft.com/office/drawing/2014/main" id="{306CC503-69BD-88D7-80CF-889F58258CE2}"/>
                  </a:ext>
                </a:extLst>
              </p:cNvPr>
              <p:cNvSpPr/>
              <p:nvPr/>
            </p:nvSpPr>
            <p:spPr>
              <a:xfrm rot="900000">
                <a:off x="2088300" y="2608839"/>
                <a:ext cx="179344"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20" name="Freeform 322">
                <a:extLst>
                  <a:ext uri="{FF2B5EF4-FFF2-40B4-BE49-F238E27FC236}">
                    <a16:creationId xmlns:a16="http://schemas.microsoft.com/office/drawing/2014/main" id="{2C15FFB4-BEE0-A031-6C03-F83551DD9ED6}"/>
                  </a:ext>
                </a:extLst>
              </p:cNvPr>
              <p:cNvSpPr/>
              <p:nvPr/>
            </p:nvSpPr>
            <p:spPr>
              <a:xfrm>
                <a:off x="2077345" y="3005410"/>
                <a:ext cx="22181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21" name="Freeform 323">
                <a:extLst>
                  <a:ext uri="{FF2B5EF4-FFF2-40B4-BE49-F238E27FC236}">
                    <a16:creationId xmlns:a16="http://schemas.microsoft.com/office/drawing/2014/main" id="{774F4EB7-D51C-2FD6-1135-8CB0CD186A7A}"/>
                  </a:ext>
                </a:extLst>
              </p:cNvPr>
              <p:cNvSpPr/>
              <p:nvPr/>
            </p:nvSpPr>
            <p:spPr>
              <a:xfrm>
                <a:off x="2073412" y="286645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22" name="Freeform 324">
                <a:extLst>
                  <a:ext uri="{FF2B5EF4-FFF2-40B4-BE49-F238E27FC236}">
                    <a16:creationId xmlns:a16="http://schemas.microsoft.com/office/drawing/2014/main" id="{079DB427-D28A-DD95-DB38-A2E4B72BA3DD}"/>
                  </a:ext>
                </a:extLst>
              </p:cNvPr>
              <p:cNvSpPr/>
              <p:nvPr/>
            </p:nvSpPr>
            <p:spPr>
              <a:xfrm rot="10800000">
                <a:off x="2076143" y="291779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23" name="Freeform 325">
                <a:extLst>
                  <a:ext uri="{FF2B5EF4-FFF2-40B4-BE49-F238E27FC236}">
                    <a16:creationId xmlns:a16="http://schemas.microsoft.com/office/drawing/2014/main" id="{A58F5F60-BB0F-A699-86D1-80AC210BE890}"/>
                  </a:ext>
                </a:extLst>
              </p:cNvPr>
              <p:cNvSpPr/>
              <p:nvPr/>
            </p:nvSpPr>
            <p:spPr>
              <a:xfrm rot="1219864">
                <a:off x="2169688" y="2254021"/>
                <a:ext cx="196434"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24" name="Freeform 326">
                <a:extLst>
                  <a:ext uri="{FF2B5EF4-FFF2-40B4-BE49-F238E27FC236}">
                    <a16:creationId xmlns:a16="http://schemas.microsoft.com/office/drawing/2014/main" id="{E896B62F-C295-B098-B9B8-9D2D037A526B}"/>
                  </a:ext>
                </a:extLst>
              </p:cNvPr>
              <p:cNvSpPr/>
              <p:nvPr/>
            </p:nvSpPr>
            <p:spPr>
              <a:xfrm rot="1219864">
                <a:off x="2208117" y="2227334"/>
                <a:ext cx="179656" cy="25401"/>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25" name="Freeform 327">
                <a:extLst>
                  <a:ext uri="{FF2B5EF4-FFF2-40B4-BE49-F238E27FC236}">
                    <a16:creationId xmlns:a16="http://schemas.microsoft.com/office/drawing/2014/main" id="{1E7C590C-053B-A811-8C52-C1150B1A94E5}"/>
                  </a:ext>
                </a:extLst>
              </p:cNvPr>
              <p:cNvSpPr/>
              <p:nvPr/>
            </p:nvSpPr>
            <p:spPr>
              <a:xfrm>
                <a:off x="2080401" y="3262318"/>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pic>
          <p:nvPicPr>
            <p:cNvPr id="1210" name="Picture 422">
              <a:extLst>
                <a:ext uri="{FF2B5EF4-FFF2-40B4-BE49-F238E27FC236}">
                  <a16:creationId xmlns:a16="http://schemas.microsoft.com/office/drawing/2014/main" id="{41EC5AAA-171B-B6CD-51E9-F67BE82C7473}"/>
                </a:ext>
              </a:extLst>
            </p:cNvPr>
            <p:cNvPicPr>
              <a:picLocks noChangeAspect="1"/>
            </p:cNvPicPr>
            <p:nvPr/>
          </p:nvPicPr>
          <p:blipFill>
            <a:blip r:embed="rId23" cstate="print">
              <a:duotone>
                <a:schemeClr val="accent3">
                  <a:shade val="45000"/>
                  <a:satMod val="135000"/>
                </a:schemeClr>
                <a:prstClr val="white"/>
              </a:duotone>
              <a:extLst>
                <a:ext uri="{BEBA8EAE-BF5A-486C-A8C5-ECC9F3942E4B}">
                  <a14:imgProps xmlns:a14="http://schemas.microsoft.com/office/drawing/2010/main">
                    <a14:imgLayer r:embed="rId24">
                      <a14:imgEffect>
                        <a14:backgroundRemoval t="2564" b="94231" l="1667" r="96111">
                          <a14:foregroundMark x1="80556" y1="13462" x2="80556" y2="13462"/>
                          <a14:foregroundMark x1="80000" y1="6410" x2="80000" y2="6410"/>
                          <a14:foregroundMark x1="91111" y1="20513" x2="91111" y2="20513"/>
                          <a14:foregroundMark x1="94444" y1="21795" x2="94444" y2="21795"/>
                          <a14:foregroundMark x1="78333" y1="4487" x2="78333" y2="4487"/>
                          <a14:foregroundMark x1="37778" y1="94231" x2="37778" y2="94231"/>
                          <a14:foregroundMark x1="9444" y1="76282" x2="9444" y2="76282"/>
                          <a14:foregroundMark x1="1667" y1="63462" x2="1667" y2="63462"/>
                          <a14:foregroundMark x1="92222" y1="11538" x2="92222" y2="11538"/>
                          <a14:foregroundMark x1="93333" y1="11538" x2="93889" y2="10256"/>
                          <a14:foregroundMark x1="95556" y1="26282" x2="96111" y2="22436"/>
                        </a14:backgroundRemoval>
                      </a14:imgEffect>
                    </a14:imgLayer>
                  </a14:imgProps>
                </a:ext>
                <a:ext uri="{28A0092B-C50C-407E-A947-70E740481C1C}">
                  <a14:useLocalDpi xmlns:a14="http://schemas.microsoft.com/office/drawing/2010/main" val="0"/>
                </a:ext>
              </a:extLst>
            </a:blip>
            <a:stretch>
              <a:fillRect/>
            </a:stretch>
          </p:blipFill>
          <p:spPr>
            <a:xfrm flipH="1">
              <a:off x="5237208" y="1179926"/>
              <a:ext cx="495804" cy="429115"/>
            </a:xfrm>
            <a:prstGeom prst="rect">
              <a:avLst/>
            </a:prstGeom>
            <a:effectLst>
              <a:reflection endPos="0" dir="5400000" sy="-100000" algn="bl" rotWithShape="0"/>
            </a:effectLst>
          </p:spPr>
        </p:pic>
        <p:pic>
          <p:nvPicPr>
            <p:cNvPr id="1211" name="Picture 424">
              <a:extLst>
                <a:ext uri="{FF2B5EF4-FFF2-40B4-BE49-F238E27FC236}">
                  <a16:creationId xmlns:a16="http://schemas.microsoft.com/office/drawing/2014/main" id="{80996384-76C1-A9BB-86EA-88E998E9B498}"/>
                </a:ext>
              </a:extLst>
            </p:cNvPr>
            <p:cNvPicPr>
              <a:picLocks noChangeAspect="1"/>
            </p:cNvPicPr>
            <p:nvPr/>
          </p:nvPicPr>
          <p:blipFill>
            <a:blip r:embed="rId25">
              <a:duotone>
                <a:schemeClr val="accent3">
                  <a:shade val="45000"/>
                  <a:satMod val="135000"/>
                </a:schemeClr>
                <a:prstClr val="white"/>
              </a:duotone>
            </a:blip>
            <a:stretch>
              <a:fillRect/>
            </a:stretch>
          </p:blipFill>
          <p:spPr>
            <a:xfrm flipH="1">
              <a:off x="4257340" y="1127900"/>
              <a:ext cx="461093" cy="481142"/>
            </a:xfrm>
            <a:prstGeom prst="rect">
              <a:avLst/>
            </a:prstGeom>
          </p:spPr>
        </p:pic>
      </p:grpSp>
      <p:grpSp>
        <p:nvGrpSpPr>
          <p:cNvPr id="1277" name="Group 55">
            <a:extLst>
              <a:ext uri="{FF2B5EF4-FFF2-40B4-BE49-F238E27FC236}">
                <a16:creationId xmlns:a16="http://schemas.microsoft.com/office/drawing/2014/main" id="{351387B1-5206-6FFB-7251-F5BFD0549E83}"/>
              </a:ext>
            </a:extLst>
          </p:cNvPr>
          <p:cNvGrpSpPr/>
          <p:nvPr/>
        </p:nvGrpSpPr>
        <p:grpSpPr>
          <a:xfrm>
            <a:off x="6074045" y="1057976"/>
            <a:ext cx="2265957" cy="1261886"/>
            <a:chOff x="74248" y="2131496"/>
            <a:chExt cx="2015916" cy="1192681"/>
          </a:xfrm>
        </p:grpSpPr>
        <p:sp>
          <p:nvSpPr>
            <p:cNvPr id="1278" name="Oval 80">
              <a:extLst>
                <a:ext uri="{FF2B5EF4-FFF2-40B4-BE49-F238E27FC236}">
                  <a16:creationId xmlns:a16="http://schemas.microsoft.com/office/drawing/2014/main" id="{EC024927-CA25-9617-46B1-5B1EEC39AC4A}"/>
                </a:ext>
              </a:extLst>
            </p:cNvPr>
            <p:cNvSpPr/>
            <p:nvPr/>
          </p:nvSpPr>
          <p:spPr>
            <a:xfrm rot="16200000">
              <a:off x="74247" y="2352678"/>
              <a:ext cx="971500" cy="971498"/>
            </a:xfrm>
            <a:prstGeom prst="ellipse">
              <a:avLst/>
            </a:prstGeom>
            <a:solidFill>
              <a:srgbClr val="89CBCE"/>
            </a:solidFill>
            <a:ln>
              <a:solidFill>
                <a:srgbClr val="4E92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40" dirty="0"/>
            </a:p>
          </p:txBody>
        </p:sp>
        <p:sp>
          <p:nvSpPr>
            <p:cNvPr id="1279" name="Oval 81">
              <a:extLst>
                <a:ext uri="{FF2B5EF4-FFF2-40B4-BE49-F238E27FC236}">
                  <a16:creationId xmlns:a16="http://schemas.microsoft.com/office/drawing/2014/main" id="{5419663A-9A7E-9674-2021-F3669530279A}"/>
                </a:ext>
              </a:extLst>
            </p:cNvPr>
            <p:cNvSpPr/>
            <p:nvPr/>
          </p:nvSpPr>
          <p:spPr>
            <a:xfrm rot="16200000">
              <a:off x="1118665" y="2352678"/>
              <a:ext cx="971500" cy="971498"/>
            </a:xfrm>
            <a:prstGeom prst="ellipse">
              <a:avLst/>
            </a:prstGeom>
            <a:solidFill>
              <a:srgbClr val="FFD579"/>
            </a:solidFill>
            <a:ln>
              <a:solidFill>
                <a:srgbClr val="E8A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1440" dirty="0"/>
            </a:p>
          </p:txBody>
        </p:sp>
        <p:grpSp>
          <p:nvGrpSpPr>
            <p:cNvPr id="1280" name="Group 86">
              <a:extLst>
                <a:ext uri="{FF2B5EF4-FFF2-40B4-BE49-F238E27FC236}">
                  <a16:creationId xmlns:a16="http://schemas.microsoft.com/office/drawing/2014/main" id="{28C3184B-1BF0-FCDE-8937-77B8A373A2F0}"/>
                </a:ext>
              </a:extLst>
            </p:cNvPr>
            <p:cNvGrpSpPr/>
            <p:nvPr/>
          </p:nvGrpSpPr>
          <p:grpSpPr>
            <a:xfrm>
              <a:off x="411319" y="2610509"/>
              <a:ext cx="93496" cy="514376"/>
              <a:chOff x="1611916" y="2139958"/>
              <a:chExt cx="264177" cy="1453393"/>
            </a:xfrm>
            <a:solidFill>
              <a:srgbClr val="0D0D0D">
                <a:alpha val="29804"/>
              </a:srgbClr>
            </a:solidFill>
          </p:grpSpPr>
          <p:sp>
            <p:nvSpPr>
              <p:cNvPr id="1329" name="Freeform 104">
                <a:extLst>
                  <a:ext uri="{FF2B5EF4-FFF2-40B4-BE49-F238E27FC236}">
                    <a16:creationId xmlns:a16="http://schemas.microsoft.com/office/drawing/2014/main" id="{F5740138-7D44-F220-D604-3F8A1F33631E}"/>
                  </a:ext>
                </a:extLst>
              </p:cNvPr>
              <p:cNvSpPr/>
              <p:nvPr/>
            </p:nvSpPr>
            <p:spPr>
              <a:xfrm>
                <a:off x="1614442" y="2139958"/>
                <a:ext cx="258474" cy="1453393"/>
              </a:xfrm>
              <a:custGeom>
                <a:avLst/>
                <a:gdLst>
                  <a:gd name="connsiteX0" fmla="*/ 35470 w 143420"/>
                  <a:gd name="connsiteY0" fmla="*/ 6350 h 806450"/>
                  <a:gd name="connsiteX1" fmla="*/ 19595 w 143420"/>
                  <a:gd name="connsiteY1" fmla="*/ 28575 h 806450"/>
                  <a:gd name="connsiteX2" fmla="*/ 13245 w 143420"/>
                  <a:gd name="connsiteY2" fmla="*/ 47625 h 806450"/>
                  <a:gd name="connsiteX3" fmla="*/ 10070 w 143420"/>
                  <a:gd name="connsiteY3" fmla="*/ 57150 h 806450"/>
                  <a:gd name="connsiteX4" fmla="*/ 13245 w 143420"/>
                  <a:gd name="connsiteY4" fmla="*/ 76200 h 806450"/>
                  <a:gd name="connsiteX5" fmla="*/ 6895 w 143420"/>
                  <a:gd name="connsiteY5" fmla="*/ 187325 h 806450"/>
                  <a:gd name="connsiteX6" fmla="*/ 3720 w 143420"/>
                  <a:gd name="connsiteY6" fmla="*/ 244475 h 806450"/>
                  <a:gd name="connsiteX7" fmla="*/ 3720 w 143420"/>
                  <a:gd name="connsiteY7" fmla="*/ 292100 h 806450"/>
                  <a:gd name="connsiteX8" fmla="*/ 19595 w 143420"/>
                  <a:gd name="connsiteY8" fmla="*/ 323850 h 806450"/>
                  <a:gd name="connsiteX9" fmla="*/ 38645 w 143420"/>
                  <a:gd name="connsiteY9" fmla="*/ 342900 h 806450"/>
                  <a:gd name="connsiteX10" fmla="*/ 25945 w 143420"/>
                  <a:gd name="connsiteY10" fmla="*/ 358775 h 806450"/>
                  <a:gd name="connsiteX11" fmla="*/ 19595 w 143420"/>
                  <a:gd name="connsiteY11" fmla="*/ 368300 h 806450"/>
                  <a:gd name="connsiteX12" fmla="*/ 3720 w 143420"/>
                  <a:gd name="connsiteY12" fmla="*/ 387350 h 806450"/>
                  <a:gd name="connsiteX13" fmla="*/ 6895 w 143420"/>
                  <a:gd name="connsiteY13" fmla="*/ 403225 h 806450"/>
                  <a:gd name="connsiteX14" fmla="*/ 13245 w 143420"/>
                  <a:gd name="connsiteY14" fmla="*/ 422275 h 806450"/>
                  <a:gd name="connsiteX15" fmla="*/ 16420 w 143420"/>
                  <a:gd name="connsiteY15" fmla="*/ 485775 h 806450"/>
                  <a:gd name="connsiteX16" fmla="*/ 19595 w 143420"/>
                  <a:gd name="connsiteY16" fmla="*/ 498475 h 806450"/>
                  <a:gd name="connsiteX17" fmla="*/ 22770 w 143420"/>
                  <a:gd name="connsiteY17" fmla="*/ 581025 h 806450"/>
                  <a:gd name="connsiteX18" fmla="*/ 16420 w 143420"/>
                  <a:gd name="connsiteY18" fmla="*/ 641350 h 806450"/>
                  <a:gd name="connsiteX19" fmla="*/ 10070 w 143420"/>
                  <a:gd name="connsiteY19" fmla="*/ 666750 h 806450"/>
                  <a:gd name="connsiteX20" fmla="*/ 16420 w 143420"/>
                  <a:gd name="connsiteY20" fmla="*/ 739775 h 806450"/>
                  <a:gd name="connsiteX21" fmla="*/ 22770 w 143420"/>
                  <a:gd name="connsiteY21" fmla="*/ 768350 h 806450"/>
                  <a:gd name="connsiteX22" fmla="*/ 29120 w 143420"/>
                  <a:gd name="connsiteY22" fmla="*/ 787400 h 806450"/>
                  <a:gd name="connsiteX23" fmla="*/ 51345 w 143420"/>
                  <a:gd name="connsiteY23" fmla="*/ 803275 h 806450"/>
                  <a:gd name="connsiteX24" fmla="*/ 60870 w 143420"/>
                  <a:gd name="connsiteY24" fmla="*/ 806450 h 806450"/>
                  <a:gd name="connsiteX25" fmla="*/ 70395 w 143420"/>
                  <a:gd name="connsiteY25" fmla="*/ 803275 h 806450"/>
                  <a:gd name="connsiteX26" fmla="*/ 79920 w 143420"/>
                  <a:gd name="connsiteY26" fmla="*/ 793750 h 806450"/>
                  <a:gd name="connsiteX27" fmla="*/ 89445 w 143420"/>
                  <a:gd name="connsiteY27" fmla="*/ 787400 h 806450"/>
                  <a:gd name="connsiteX28" fmla="*/ 95795 w 143420"/>
                  <a:gd name="connsiteY28" fmla="*/ 777875 h 806450"/>
                  <a:gd name="connsiteX29" fmla="*/ 105320 w 143420"/>
                  <a:gd name="connsiteY29" fmla="*/ 774700 h 806450"/>
                  <a:gd name="connsiteX30" fmla="*/ 118020 w 143420"/>
                  <a:gd name="connsiteY30" fmla="*/ 755650 h 806450"/>
                  <a:gd name="connsiteX31" fmla="*/ 124370 w 143420"/>
                  <a:gd name="connsiteY31" fmla="*/ 746125 h 806450"/>
                  <a:gd name="connsiteX32" fmla="*/ 137070 w 143420"/>
                  <a:gd name="connsiteY32" fmla="*/ 717550 h 806450"/>
                  <a:gd name="connsiteX33" fmla="*/ 140245 w 143420"/>
                  <a:gd name="connsiteY33" fmla="*/ 692150 h 806450"/>
                  <a:gd name="connsiteX34" fmla="*/ 143420 w 143420"/>
                  <a:gd name="connsiteY34" fmla="*/ 682625 h 806450"/>
                  <a:gd name="connsiteX35" fmla="*/ 140245 w 143420"/>
                  <a:gd name="connsiteY35" fmla="*/ 641350 h 806450"/>
                  <a:gd name="connsiteX36" fmla="*/ 130720 w 143420"/>
                  <a:gd name="connsiteY36" fmla="*/ 508000 h 806450"/>
                  <a:gd name="connsiteX37" fmla="*/ 130720 w 143420"/>
                  <a:gd name="connsiteY37" fmla="*/ 415925 h 806450"/>
                  <a:gd name="connsiteX38" fmla="*/ 121195 w 143420"/>
                  <a:gd name="connsiteY38" fmla="*/ 374650 h 806450"/>
                  <a:gd name="connsiteX39" fmla="*/ 102145 w 143420"/>
                  <a:gd name="connsiteY39" fmla="*/ 358775 h 806450"/>
                  <a:gd name="connsiteX40" fmla="*/ 83095 w 143420"/>
                  <a:gd name="connsiteY40" fmla="*/ 349250 h 806450"/>
                  <a:gd name="connsiteX41" fmla="*/ 86270 w 143420"/>
                  <a:gd name="connsiteY41" fmla="*/ 336550 h 806450"/>
                  <a:gd name="connsiteX42" fmla="*/ 95795 w 143420"/>
                  <a:gd name="connsiteY42" fmla="*/ 330200 h 806450"/>
                  <a:gd name="connsiteX43" fmla="*/ 105320 w 143420"/>
                  <a:gd name="connsiteY43" fmla="*/ 320675 h 806450"/>
                  <a:gd name="connsiteX44" fmla="*/ 118020 w 143420"/>
                  <a:gd name="connsiteY44" fmla="*/ 292100 h 806450"/>
                  <a:gd name="connsiteX45" fmla="*/ 124370 w 143420"/>
                  <a:gd name="connsiteY45" fmla="*/ 279400 h 806450"/>
                  <a:gd name="connsiteX46" fmla="*/ 127545 w 143420"/>
                  <a:gd name="connsiteY46" fmla="*/ 250825 h 806450"/>
                  <a:gd name="connsiteX47" fmla="*/ 121195 w 143420"/>
                  <a:gd name="connsiteY47" fmla="*/ 177800 h 806450"/>
                  <a:gd name="connsiteX48" fmla="*/ 124370 w 143420"/>
                  <a:gd name="connsiteY48" fmla="*/ 130175 h 806450"/>
                  <a:gd name="connsiteX49" fmla="*/ 114845 w 143420"/>
                  <a:gd name="connsiteY49" fmla="*/ 44450 h 806450"/>
                  <a:gd name="connsiteX50" fmla="*/ 102145 w 143420"/>
                  <a:gd name="connsiteY50" fmla="*/ 15875 h 806450"/>
                  <a:gd name="connsiteX51" fmla="*/ 98970 w 143420"/>
                  <a:gd name="connsiteY51" fmla="*/ 6350 h 806450"/>
                  <a:gd name="connsiteX52" fmla="*/ 79920 w 143420"/>
                  <a:gd name="connsiteY52" fmla="*/ 0 h 806450"/>
                  <a:gd name="connsiteX53" fmla="*/ 54520 w 143420"/>
                  <a:gd name="connsiteY53" fmla="*/ 3175 h 806450"/>
                  <a:gd name="connsiteX54" fmla="*/ 35470 w 143420"/>
                  <a:gd name="connsiteY54" fmla="*/ 6350 h 80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3420" h="806450">
                    <a:moveTo>
                      <a:pt x="35470" y="6350"/>
                    </a:moveTo>
                    <a:cubicBezTo>
                      <a:pt x="29649" y="10583"/>
                      <a:pt x="23911" y="20559"/>
                      <a:pt x="19595" y="28575"/>
                    </a:cubicBezTo>
                    <a:cubicBezTo>
                      <a:pt x="16422" y="34468"/>
                      <a:pt x="15362" y="41275"/>
                      <a:pt x="13245" y="47625"/>
                    </a:cubicBezTo>
                    <a:lnTo>
                      <a:pt x="10070" y="57150"/>
                    </a:lnTo>
                    <a:cubicBezTo>
                      <a:pt x="11128" y="63500"/>
                      <a:pt x="13245" y="69762"/>
                      <a:pt x="13245" y="76200"/>
                    </a:cubicBezTo>
                    <a:cubicBezTo>
                      <a:pt x="13245" y="160070"/>
                      <a:pt x="15730" y="143149"/>
                      <a:pt x="6895" y="187325"/>
                    </a:cubicBezTo>
                    <a:cubicBezTo>
                      <a:pt x="5837" y="206375"/>
                      <a:pt x="5304" y="225462"/>
                      <a:pt x="3720" y="244475"/>
                    </a:cubicBezTo>
                    <a:cubicBezTo>
                      <a:pt x="863" y="278760"/>
                      <a:pt x="-2985" y="248520"/>
                      <a:pt x="3720" y="292100"/>
                    </a:cubicBezTo>
                    <a:cubicBezTo>
                      <a:pt x="5675" y="304811"/>
                      <a:pt x="9845" y="314100"/>
                      <a:pt x="19595" y="323850"/>
                    </a:cubicBezTo>
                    <a:lnTo>
                      <a:pt x="38645" y="342900"/>
                    </a:lnTo>
                    <a:cubicBezTo>
                      <a:pt x="32464" y="361443"/>
                      <a:pt x="40306" y="344414"/>
                      <a:pt x="25945" y="358775"/>
                    </a:cubicBezTo>
                    <a:cubicBezTo>
                      <a:pt x="23247" y="361473"/>
                      <a:pt x="22038" y="365369"/>
                      <a:pt x="19595" y="368300"/>
                    </a:cubicBezTo>
                    <a:cubicBezTo>
                      <a:pt x="-777" y="392746"/>
                      <a:pt x="19486" y="363701"/>
                      <a:pt x="3720" y="387350"/>
                    </a:cubicBezTo>
                    <a:cubicBezTo>
                      <a:pt x="4778" y="392642"/>
                      <a:pt x="5475" y="398019"/>
                      <a:pt x="6895" y="403225"/>
                    </a:cubicBezTo>
                    <a:cubicBezTo>
                      <a:pt x="8656" y="409683"/>
                      <a:pt x="13245" y="422275"/>
                      <a:pt x="13245" y="422275"/>
                    </a:cubicBezTo>
                    <a:cubicBezTo>
                      <a:pt x="14303" y="443442"/>
                      <a:pt x="14660" y="464655"/>
                      <a:pt x="16420" y="485775"/>
                    </a:cubicBezTo>
                    <a:cubicBezTo>
                      <a:pt x="16782" y="490124"/>
                      <a:pt x="19305" y="494121"/>
                      <a:pt x="19595" y="498475"/>
                    </a:cubicBezTo>
                    <a:cubicBezTo>
                      <a:pt x="21427" y="525951"/>
                      <a:pt x="21712" y="553508"/>
                      <a:pt x="22770" y="581025"/>
                    </a:cubicBezTo>
                    <a:cubicBezTo>
                      <a:pt x="20653" y="601133"/>
                      <a:pt x="21324" y="621734"/>
                      <a:pt x="16420" y="641350"/>
                    </a:cubicBezTo>
                    <a:lnTo>
                      <a:pt x="10070" y="666750"/>
                    </a:lnTo>
                    <a:cubicBezTo>
                      <a:pt x="12118" y="697477"/>
                      <a:pt x="12180" y="712216"/>
                      <a:pt x="16420" y="739775"/>
                    </a:cubicBezTo>
                    <a:cubicBezTo>
                      <a:pt x="17374" y="745976"/>
                      <a:pt x="20774" y="761697"/>
                      <a:pt x="22770" y="768350"/>
                    </a:cubicBezTo>
                    <a:cubicBezTo>
                      <a:pt x="24693" y="774761"/>
                      <a:pt x="27003" y="781050"/>
                      <a:pt x="29120" y="787400"/>
                    </a:cubicBezTo>
                    <a:cubicBezTo>
                      <a:pt x="34412" y="803275"/>
                      <a:pt x="29120" y="795867"/>
                      <a:pt x="51345" y="803275"/>
                    </a:cubicBezTo>
                    <a:lnTo>
                      <a:pt x="60870" y="806450"/>
                    </a:lnTo>
                    <a:cubicBezTo>
                      <a:pt x="64045" y="805392"/>
                      <a:pt x="67610" y="805131"/>
                      <a:pt x="70395" y="803275"/>
                    </a:cubicBezTo>
                    <a:cubicBezTo>
                      <a:pt x="74131" y="800784"/>
                      <a:pt x="76471" y="796625"/>
                      <a:pt x="79920" y="793750"/>
                    </a:cubicBezTo>
                    <a:cubicBezTo>
                      <a:pt x="82851" y="791307"/>
                      <a:pt x="86270" y="789517"/>
                      <a:pt x="89445" y="787400"/>
                    </a:cubicBezTo>
                    <a:cubicBezTo>
                      <a:pt x="91562" y="784225"/>
                      <a:pt x="92815" y="780259"/>
                      <a:pt x="95795" y="777875"/>
                    </a:cubicBezTo>
                    <a:cubicBezTo>
                      <a:pt x="98408" y="775784"/>
                      <a:pt x="102953" y="777067"/>
                      <a:pt x="105320" y="774700"/>
                    </a:cubicBezTo>
                    <a:cubicBezTo>
                      <a:pt x="110716" y="769304"/>
                      <a:pt x="113787" y="762000"/>
                      <a:pt x="118020" y="755650"/>
                    </a:cubicBezTo>
                    <a:cubicBezTo>
                      <a:pt x="120137" y="752475"/>
                      <a:pt x="123163" y="749745"/>
                      <a:pt x="124370" y="746125"/>
                    </a:cubicBezTo>
                    <a:cubicBezTo>
                      <a:pt x="131927" y="723455"/>
                      <a:pt x="127007" y="732644"/>
                      <a:pt x="137070" y="717550"/>
                    </a:cubicBezTo>
                    <a:cubicBezTo>
                      <a:pt x="138128" y="709083"/>
                      <a:pt x="138719" y="700545"/>
                      <a:pt x="140245" y="692150"/>
                    </a:cubicBezTo>
                    <a:cubicBezTo>
                      <a:pt x="140844" y="688857"/>
                      <a:pt x="143420" y="685972"/>
                      <a:pt x="143420" y="682625"/>
                    </a:cubicBezTo>
                    <a:cubicBezTo>
                      <a:pt x="143420" y="668826"/>
                      <a:pt x="141040" y="655126"/>
                      <a:pt x="140245" y="641350"/>
                    </a:cubicBezTo>
                    <a:cubicBezTo>
                      <a:pt x="132738" y="511225"/>
                      <a:pt x="147044" y="556973"/>
                      <a:pt x="130720" y="508000"/>
                    </a:cubicBezTo>
                    <a:cubicBezTo>
                      <a:pt x="138581" y="468693"/>
                      <a:pt x="135529" y="490469"/>
                      <a:pt x="130720" y="415925"/>
                    </a:cubicBezTo>
                    <a:cubicBezTo>
                      <a:pt x="130359" y="410325"/>
                      <a:pt x="126548" y="380003"/>
                      <a:pt x="121195" y="374650"/>
                    </a:cubicBezTo>
                    <a:cubicBezTo>
                      <a:pt x="114173" y="367628"/>
                      <a:pt x="110986" y="363195"/>
                      <a:pt x="102145" y="358775"/>
                    </a:cubicBezTo>
                    <a:cubicBezTo>
                      <a:pt x="75855" y="345630"/>
                      <a:pt x="110392" y="367448"/>
                      <a:pt x="83095" y="349250"/>
                    </a:cubicBezTo>
                    <a:cubicBezTo>
                      <a:pt x="84153" y="345017"/>
                      <a:pt x="83849" y="340181"/>
                      <a:pt x="86270" y="336550"/>
                    </a:cubicBezTo>
                    <a:cubicBezTo>
                      <a:pt x="88387" y="333375"/>
                      <a:pt x="92864" y="332643"/>
                      <a:pt x="95795" y="330200"/>
                    </a:cubicBezTo>
                    <a:cubicBezTo>
                      <a:pt x="99244" y="327325"/>
                      <a:pt x="102445" y="324124"/>
                      <a:pt x="105320" y="320675"/>
                    </a:cubicBezTo>
                    <a:cubicBezTo>
                      <a:pt x="116994" y="306666"/>
                      <a:pt x="107637" y="312866"/>
                      <a:pt x="118020" y="292100"/>
                    </a:cubicBezTo>
                    <a:lnTo>
                      <a:pt x="124370" y="279400"/>
                    </a:lnTo>
                    <a:cubicBezTo>
                      <a:pt x="125428" y="269875"/>
                      <a:pt x="127545" y="260409"/>
                      <a:pt x="127545" y="250825"/>
                    </a:cubicBezTo>
                    <a:cubicBezTo>
                      <a:pt x="127545" y="199760"/>
                      <a:pt x="128516" y="207084"/>
                      <a:pt x="121195" y="177800"/>
                    </a:cubicBezTo>
                    <a:cubicBezTo>
                      <a:pt x="122253" y="161925"/>
                      <a:pt x="124370" y="146085"/>
                      <a:pt x="124370" y="130175"/>
                    </a:cubicBezTo>
                    <a:cubicBezTo>
                      <a:pt x="124370" y="97955"/>
                      <a:pt x="124504" y="73427"/>
                      <a:pt x="114845" y="44450"/>
                    </a:cubicBezTo>
                    <a:cubicBezTo>
                      <a:pt x="98463" y="-4697"/>
                      <a:pt x="117239" y="46064"/>
                      <a:pt x="102145" y="15875"/>
                    </a:cubicBezTo>
                    <a:cubicBezTo>
                      <a:pt x="100648" y="12882"/>
                      <a:pt x="101693" y="8295"/>
                      <a:pt x="98970" y="6350"/>
                    </a:cubicBezTo>
                    <a:cubicBezTo>
                      <a:pt x="93523" y="2459"/>
                      <a:pt x="79920" y="0"/>
                      <a:pt x="79920" y="0"/>
                    </a:cubicBezTo>
                    <a:cubicBezTo>
                      <a:pt x="71453" y="1058"/>
                      <a:pt x="62915" y="1649"/>
                      <a:pt x="54520" y="3175"/>
                    </a:cubicBezTo>
                    <a:cubicBezTo>
                      <a:pt x="48355" y="4296"/>
                      <a:pt x="41291" y="2117"/>
                      <a:pt x="35470" y="6350"/>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330" name="Freeform 105">
                <a:extLst>
                  <a:ext uri="{FF2B5EF4-FFF2-40B4-BE49-F238E27FC236}">
                    <a16:creationId xmlns:a16="http://schemas.microsoft.com/office/drawing/2014/main" id="{471BBFD9-5583-E27D-F045-F60244D86E53}"/>
                  </a:ext>
                </a:extLst>
              </p:cNvPr>
              <p:cNvSpPr/>
              <p:nvPr/>
            </p:nvSpPr>
            <p:spPr>
              <a:xfrm>
                <a:off x="1632266" y="2254248"/>
                <a:ext cx="20408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1" name="Freeform 106">
                <a:extLst>
                  <a:ext uri="{FF2B5EF4-FFF2-40B4-BE49-F238E27FC236}">
                    <a16:creationId xmlns:a16="http://schemas.microsoft.com/office/drawing/2014/main" id="{DE89287B-ED1B-9741-083D-DA4C7A9E4D54}"/>
                  </a:ext>
                </a:extLst>
              </p:cNvPr>
              <p:cNvSpPr/>
              <p:nvPr/>
            </p:nvSpPr>
            <p:spPr>
              <a:xfrm>
                <a:off x="1640454" y="2374606"/>
                <a:ext cx="194841" cy="51090"/>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2" name="Freeform 107">
                <a:extLst>
                  <a:ext uri="{FF2B5EF4-FFF2-40B4-BE49-F238E27FC236}">
                    <a16:creationId xmlns:a16="http://schemas.microsoft.com/office/drawing/2014/main" id="{0D2C1686-A51A-1B6D-D862-BAABE24284F1}"/>
                  </a:ext>
                </a:extLst>
              </p:cNvPr>
              <p:cNvSpPr/>
              <p:nvPr/>
            </p:nvSpPr>
            <p:spPr>
              <a:xfrm>
                <a:off x="1620756" y="2529578"/>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3" name="Freeform 108">
                <a:extLst>
                  <a:ext uri="{FF2B5EF4-FFF2-40B4-BE49-F238E27FC236}">
                    <a16:creationId xmlns:a16="http://schemas.microsoft.com/office/drawing/2014/main" id="{0F515940-91F7-4E45-5BFB-637D63C3DC4A}"/>
                  </a:ext>
                </a:extLst>
              </p:cNvPr>
              <p:cNvSpPr/>
              <p:nvPr/>
            </p:nvSpPr>
            <p:spPr>
              <a:xfrm>
                <a:off x="1632266" y="287923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4" name="Freeform 109">
                <a:extLst>
                  <a:ext uri="{FF2B5EF4-FFF2-40B4-BE49-F238E27FC236}">
                    <a16:creationId xmlns:a16="http://schemas.microsoft.com/office/drawing/2014/main" id="{82F388E9-D5D4-FFDB-3D40-C154F6A27F9A}"/>
                  </a:ext>
                </a:extLst>
              </p:cNvPr>
              <p:cNvSpPr/>
              <p:nvPr/>
            </p:nvSpPr>
            <p:spPr>
              <a:xfrm rot="10800000">
                <a:off x="1635000" y="293057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5" name="Freeform 110">
                <a:extLst>
                  <a:ext uri="{FF2B5EF4-FFF2-40B4-BE49-F238E27FC236}">
                    <a16:creationId xmlns:a16="http://schemas.microsoft.com/office/drawing/2014/main" id="{66B2EF9D-D10C-337C-AF1F-28D274CBF4F1}"/>
                  </a:ext>
                </a:extLst>
              </p:cNvPr>
              <p:cNvSpPr/>
              <p:nvPr/>
            </p:nvSpPr>
            <p:spPr>
              <a:xfrm>
                <a:off x="1645148" y="325061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6" name="Freeform 111">
                <a:extLst>
                  <a:ext uri="{FF2B5EF4-FFF2-40B4-BE49-F238E27FC236}">
                    <a16:creationId xmlns:a16="http://schemas.microsoft.com/office/drawing/2014/main" id="{7858BF68-B075-ED19-C2A9-A69173CAA6B9}"/>
                  </a:ext>
                </a:extLst>
              </p:cNvPr>
              <p:cNvSpPr/>
              <p:nvPr/>
            </p:nvSpPr>
            <p:spPr>
              <a:xfrm rot="10800000">
                <a:off x="1651602" y="3151500"/>
                <a:ext cx="223377"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7" name="Freeform 112">
                <a:extLst>
                  <a:ext uri="{FF2B5EF4-FFF2-40B4-BE49-F238E27FC236}">
                    <a16:creationId xmlns:a16="http://schemas.microsoft.com/office/drawing/2014/main" id="{5D73959F-720F-4607-21F5-03400643762F}"/>
                  </a:ext>
                </a:extLst>
              </p:cNvPr>
              <p:cNvSpPr/>
              <p:nvPr/>
            </p:nvSpPr>
            <p:spPr>
              <a:xfrm>
                <a:off x="1641682" y="3011180"/>
                <a:ext cx="223377"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8" name="Freeform 113">
                <a:extLst>
                  <a:ext uri="{FF2B5EF4-FFF2-40B4-BE49-F238E27FC236}">
                    <a16:creationId xmlns:a16="http://schemas.microsoft.com/office/drawing/2014/main" id="{48876CD6-D289-089E-55B8-B335B975769C}"/>
                  </a:ext>
                </a:extLst>
              </p:cNvPr>
              <p:cNvSpPr/>
              <p:nvPr/>
            </p:nvSpPr>
            <p:spPr>
              <a:xfrm>
                <a:off x="1670338" y="2735940"/>
                <a:ext cx="102948" cy="472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39" name="Freeform 114">
                <a:extLst>
                  <a:ext uri="{FF2B5EF4-FFF2-40B4-BE49-F238E27FC236}">
                    <a16:creationId xmlns:a16="http://schemas.microsoft.com/office/drawing/2014/main" id="{286CB99B-7777-864C-3DFD-334BB5F76D58}"/>
                  </a:ext>
                </a:extLst>
              </p:cNvPr>
              <p:cNvSpPr/>
              <p:nvPr/>
            </p:nvSpPr>
            <p:spPr>
              <a:xfrm>
                <a:off x="1635124" y="2219322"/>
                <a:ext cx="185537" cy="2540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40" name="Freeform 115">
                <a:extLst>
                  <a:ext uri="{FF2B5EF4-FFF2-40B4-BE49-F238E27FC236}">
                    <a16:creationId xmlns:a16="http://schemas.microsoft.com/office/drawing/2014/main" id="{0959810F-1077-A37E-A035-DB2322D65013}"/>
                  </a:ext>
                </a:extLst>
              </p:cNvPr>
              <p:cNvSpPr/>
              <p:nvPr/>
            </p:nvSpPr>
            <p:spPr>
              <a:xfrm>
                <a:off x="1614898" y="2460610"/>
                <a:ext cx="226059" cy="63936"/>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41" name="Freeform 116">
                <a:extLst>
                  <a:ext uri="{FF2B5EF4-FFF2-40B4-BE49-F238E27FC236}">
                    <a16:creationId xmlns:a16="http://schemas.microsoft.com/office/drawing/2014/main" id="{81064DC1-7BF6-5E43-5007-CDDBF2CC8A21}"/>
                  </a:ext>
                </a:extLst>
              </p:cNvPr>
              <p:cNvSpPr/>
              <p:nvPr/>
            </p:nvSpPr>
            <p:spPr>
              <a:xfrm>
                <a:off x="1628828" y="3324378"/>
                <a:ext cx="244089" cy="13601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42" name="Freeform 117">
                <a:extLst>
                  <a:ext uri="{FF2B5EF4-FFF2-40B4-BE49-F238E27FC236}">
                    <a16:creationId xmlns:a16="http://schemas.microsoft.com/office/drawing/2014/main" id="{8800FA26-36CF-E942-FB6F-56740E2E5E1F}"/>
                  </a:ext>
                </a:extLst>
              </p:cNvPr>
              <p:cNvSpPr/>
              <p:nvPr/>
            </p:nvSpPr>
            <p:spPr>
              <a:xfrm rot="10800000">
                <a:off x="1635442" y="3313226"/>
                <a:ext cx="240651"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43" name="Freeform 118">
                <a:extLst>
                  <a:ext uri="{FF2B5EF4-FFF2-40B4-BE49-F238E27FC236}">
                    <a16:creationId xmlns:a16="http://schemas.microsoft.com/office/drawing/2014/main" id="{F89439F2-5A45-D7BF-055E-1CE24B9DD966}"/>
                  </a:ext>
                </a:extLst>
              </p:cNvPr>
              <p:cNvSpPr/>
              <p:nvPr/>
            </p:nvSpPr>
            <p:spPr>
              <a:xfrm rot="10800000">
                <a:off x="1611916" y="2632962"/>
                <a:ext cx="223379"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281" name="Group 87">
              <a:extLst>
                <a:ext uri="{FF2B5EF4-FFF2-40B4-BE49-F238E27FC236}">
                  <a16:creationId xmlns:a16="http://schemas.microsoft.com/office/drawing/2014/main" id="{EA945CA3-0A34-C50F-6E3E-128497C8F9AC}"/>
                </a:ext>
              </a:extLst>
            </p:cNvPr>
            <p:cNvGrpSpPr/>
            <p:nvPr/>
          </p:nvGrpSpPr>
          <p:grpSpPr>
            <a:xfrm>
              <a:off x="585108" y="2615167"/>
              <a:ext cx="114294" cy="509717"/>
              <a:chOff x="2073412" y="2165657"/>
              <a:chExt cx="314361" cy="1401954"/>
            </a:xfrm>
            <a:solidFill>
              <a:srgbClr val="0D0D0D">
                <a:alpha val="29804"/>
              </a:srgbClr>
            </a:solidFill>
          </p:grpSpPr>
          <p:sp>
            <p:nvSpPr>
              <p:cNvPr id="1315" name="Freeform 90">
                <a:extLst>
                  <a:ext uri="{FF2B5EF4-FFF2-40B4-BE49-F238E27FC236}">
                    <a16:creationId xmlns:a16="http://schemas.microsoft.com/office/drawing/2014/main" id="{51094081-D277-3455-018A-979029FE9004}"/>
                  </a:ext>
                </a:extLst>
              </p:cNvPr>
              <p:cNvSpPr/>
              <p:nvPr/>
            </p:nvSpPr>
            <p:spPr>
              <a:xfrm>
                <a:off x="2076568" y="2165657"/>
                <a:ext cx="303348" cy="1401954"/>
              </a:xfrm>
              <a:custGeom>
                <a:avLst/>
                <a:gdLst>
                  <a:gd name="connsiteX0" fmla="*/ 101646 w 168321"/>
                  <a:gd name="connsiteY0" fmla="*/ 3215 h 777915"/>
                  <a:gd name="connsiteX1" fmla="*/ 85771 w 168321"/>
                  <a:gd name="connsiteY1" fmla="*/ 25440 h 777915"/>
                  <a:gd name="connsiteX2" fmla="*/ 76246 w 168321"/>
                  <a:gd name="connsiteY2" fmla="*/ 31790 h 777915"/>
                  <a:gd name="connsiteX3" fmla="*/ 63546 w 168321"/>
                  <a:gd name="connsiteY3" fmla="*/ 50840 h 777915"/>
                  <a:gd name="connsiteX4" fmla="*/ 57196 w 168321"/>
                  <a:gd name="connsiteY4" fmla="*/ 60365 h 777915"/>
                  <a:gd name="connsiteX5" fmla="*/ 50846 w 168321"/>
                  <a:gd name="connsiteY5" fmla="*/ 69890 h 777915"/>
                  <a:gd name="connsiteX6" fmla="*/ 44496 w 168321"/>
                  <a:gd name="connsiteY6" fmla="*/ 95290 h 777915"/>
                  <a:gd name="connsiteX7" fmla="*/ 38146 w 168321"/>
                  <a:gd name="connsiteY7" fmla="*/ 114340 h 777915"/>
                  <a:gd name="connsiteX8" fmla="*/ 34971 w 168321"/>
                  <a:gd name="connsiteY8" fmla="*/ 123865 h 777915"/>
                  <a:gd name="connsiteX9" fmla="*/ 25446 w 168321"/>
                  <a:gd name="connsiteY9" fmla="*/ 155615 h 777915"/>
                  <a:gd name="connsiteX10" fmla="*/ 15921 w 168321"/>
                  <a:gd name="connsiteY10" fmla="*/ 184190 h 777915"/>
                  <a:gd name="connsiteX11" fmla="*/ 12746 w 168321"/>
                  <a:gd name="connsiteY11" fmla="*/ 193715 h 777915"/>
                  <a:gd name="connsiteX12" fmla="*/ 12746 w 168321"/>
                  <a:gd name="connsiteY12" fmla="*/ 269915 h 777915"/>
                  <a:gd name="connsiteX13" fmla="*/ 22271 w 168321"/>
                  <a:gd name="connsiteY13" fmla="*/ 308015 h 777915"/>
                  <a:gd name="connsiteX14" fmla="*/ 31796 w 168321"/>
                  <a:gd name="connsiteY14" fmla="*/ 314365 h 777915"/>
                  <a:gd name="connsiteX15" fmla="*/ 31796 w 168321"/>
                  <a:gd name="connsiteY15" fmla="*/ 333415 h 777915"/>
                  <a:gd name="connsiteX16" fmla="*/ 12746 w 168321"/>
                  <a:gd name="connsiteY16" fmla="*/ 346115 h 777915"/>
                  <a:gd name="connsiteX17" fmla="*/ 6396 w 168321"/>
                  <a:gd name="connsiteY17" fmla="*/ 355640 h 777915"/>
                  <a:gd name="connsiteX18" fmla="*/ 3221 w 168321"/>
                  <a:gd name="connsiteY18" fmla="*/ 368340 h 777915"/>
                  <a:gd name="connsiteX19" fmla="*/ 46 w 168321"/>
                  <a:gd name="connsiteY19" fmla="*/ 438190 h 777915"/>
                  <a:gd name="connsiteX20" fmla="*/ 3221 w 168321"/>
                  <a:gd name="connsiteY20" fmla="*/ 514390 h 777915"/>
                  <a:gd name="connsiteX21" fmla="*/ 3221 w 168321"/>
                  <a:gd name="connsiteY21" fmla="*/ 581065 h 777915"/>
                  <a:gd name="connsiteX22" fmla="*/ 9571 w 168321"/>
                  <a:gd name="connsiteY22" fmla="*/ 717590 h 777915"/>
                  <a:gd name="connsiteX23" fmla="*/ 12746 w 168321"/>
                  <a:gd name="connsiteY23" fmla="*/ 730290 h 777915"/>
                  <a:gd name="connsiteX24" fmla="*/ 19096 w 168321"/>
                  <a:gd name="connsiteY24" fmla="*/ 762040 h 777915"/>
                  <a:gd name="connsiteX25" fmla="*/ 25446 w 168321"/>
                  <a:gd name="connsiteY25" fmla="*/ 771565 h 777915"/>
                  <a:gd name="connsiteX26" fmla="*/ 54021 w 168321"/>
                  <a:gd name="connsiteY26" fmla="*/ 774740 h 777915"/>
                  <a:gd name="connsiteX27" fmla="*/ 63546 w 168321"/>
                  <a:gd name="connsiteY27" fmla="*/ 777915 h 777915"/>
                  <a:gd name="connsiteX28" fmla="*/ 85771 w 168321"/>
                  <a:gd name="connsiteY28" fmla="*/ 755690 h 777915"/>
                  <a:gd name="connsiteX29" fmla="*/ 88946 w 168321"/>
                  <a:gd name="connsiteY29" fmla="*/ 746165 h 777915"/>
                  <a:gd name="connsiteX30" fmla="*/ 98471 w 168321"/>
                  <a:gd name="connsiteY30" fmla="*/ 736640 h 777915"/>
                  <a:gd name="connsiteX31" fmla="*/ 107996 w 168321"/>
                  <a:gd name="connsiteY31" fmla="*/ 708065 h 777915"/>
                  <a:gd name="connsiteX32" fmla="*/ 111171 w 168321"/>
                  <a:gd name="connsiteY32" fmla="*/ 698540 h 777915"/>
                  <a:gd name="connsiteX33" fmla="*/ 114346 w 168321"/>
                  <a:gd name="connsiteY33" fmla="*/ 689015 h 777915"/>
                  <a:gd name="connsiteX34" fmla="*/ 120696 w 168321"/>
                  <a:gd name="connsiteY34" fmla="*/ 654090 h 777915"/>
                  <a:gd name="connsiteX35" fmla="*/ 123871 w 168321"/>
                  <a:gd name="connsiteY35" fmla="*/ 523915 h 777915"/>
                  <a:gd name="connsiteX36" fmla="*/ 120696 w 168321"/>
                  <a:gd name="connsiteY36" fmla="*/ 514390 h 777915"/>
                  <a:gd name="connsiteX37" fmla="*/ 123871 w 168321"/>
                  <a:gd name="connsiteY37" fmla="*/ 485815 h 777915"/>
                  <a:gd name="connsiteX38" fmla="*/ 117521 w 168321"/>
                  <a:gd name="connsiteY38" fmla="*/ 428665 h 777915"/>
                  <a:gd name="connsiteX39" fmla="*/ 114346 w 168321"/>
                  <a:gd name="connsiteY39" fmla="*/ 368340 h 777915"/>
                  <a:gd name="connsiteX40" fmla="*/ 107996 w 168321"/>
                  <a:gd name="connsiteY40" fmla="*/ 349290 h 777915"/>
                  <a:gd name="connsiteX41" fmla="*/ 79421 w 168321"/>
                  <a:gd name="connsiteY41" fmla="*/ 327065 h 777915"/>
                  <a:gd name="connsiteX42" fmla="*/ 92121 w 168321"/>
                  <a:gd name="connsiteY42" fmla="*/ 308015 h 777915"/>
                  <a:gd name="connsiteX43" fmla="*/ 98471 w 168321"/>
                  <a:gd name="connsiteY43" fmla="*/ 288965 h 777915"/>
                  <a:gd name="connsiteX44" fmla="*/ 107996 w 168321"/>
                  <a:gd name="connsiteY44" fmla="*/ 260390 h 777915"/>
                  <a:gd name="connsiteX45" fmla="*/ 117521 w 168321"/>
                  <a:gd name="connsiteY45" fmla="*/ 241340 h 777915"/>
                  <a:gd name="connsiteX46" fmla="*/ 123871 w 168321"/>
                  <a:gd name="connsiteY46" fmla="*/ 222290 h 777915"/>
                  <a:gd name="connsiteX47" fmla="*/ 136571 w 168321"/>
                  <a:gd name="connsiteY47" fmla="*/ 184190 h 777915"/>
                  <a:gd name="connsiteX48" fmla="*/ 139746 w 168321"/>
                  <a:gd name="connsiteY48" fmla="*/ 174665 h 777915"/>
                  <a:gd name="connsiteX49" fmla="*/ 142921 w 168321"/>
                  <a:gd name="connsiteY49" fmla="*/ 165140 h 777915"/>
                  <a:gd name="connsiteX50" fmla="*/ 146096 w 168321"/>
                  <a:gd name="connsiteY50" fmla="*/ 120690 h 777915"/>
                  <a:gd name="connsiteX51" fmla="*/ 158796 w 168321"/>
                  <a:gd name="connsiteY51" fmla="*/ 76240 h 777915"/>
                  <a:gd name="connsiteX52" fmla="*/ 168321 w 168321"/>
                  <a:gd name="connsiteY52" fmla="*/ 57190 h 777915"/>
                  <a:gd name="connsiteX53" fmla="*/ 165146 w 168321"/>
                  <a:gd name="connsiteY53" fmla="*/ 28615 h 777915"/>
                  <a:gd name="connsiteX54" fmla="*/ 161971 w 168321"/>
                  <a:gd name="connsiteY54" fmla="*/ 19090 h 777915"/>
                  <a:gd name="connsiteX55" fmla="*/ 152446 w 168321"/>
                  <a:gd name="connsiteY55" fmla="*/ 15915 h 777915"/>
                  <a:gd name="connsiteX56" fmla="*/ 136571 w 168321"/>
                  <a:gd name="connsiteY56" fmla="*/ 12740 h 777915"/>
                  <a:gd name="connsiteX57" fmla="*/ 130221 w 168321"/>
                  <a:gd name="connsiteY57" fmla="*/ 3215 h 777915"/>
                  <a:gd name="connsiteX58" fmla="*/ 111171 w 168321"/>
                  <a:gd name="connsiteY58" fmla="*/ 3215 h 777915"/>
                  <a:gd name="connsiteX59" fmla="*/ 101646 w 168321"/>
                  <a:gd name="connsiteY59" fmla="*/ 9565 h 777915"/>
                  <a:gd name="connsiteX60" fmla="*/ 101646 w 168321"/>
                  <a:gd name="connsiteY60" fmla="*/ 3215 h 77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68321" h="777915">
                    <a:moveTo>
                      <a:pt x="101646" y="3215"/>
                    </a:moveTo>
                    <a:cubicBezTo>
                      <a:pt x="99000" y="5861"/>
                      <a:pt x="91819" y="18635"/>
                      <a:pt x="85771" y="25440"/>
                    </a:cubicBezTo>
                    <a:cubicBezTo>
                      <a:pt x="83236" y="28292"/>
                      <a:pt x="78759" y="28918"/>
                      <a:pt x="76246" y="31790"/>
                    </a:cubicBezTo>
                    <a:cubicBezTo>
                      <a:pt x="71220" y="37533"/>
                      <a:pt x="67779" y="44490"/>
                      <a:pt x="63546" y="50840"/>
                    </a:cubicBezTo>
                    <a:lnTo>
                      <a:pt x="57196" y="60365"/>
                    </a:lnTo>
                    <a:lnTo>
                      <a:pt x="50846" y="69890"/>
                    </a:lnTo>
                    <a:cubicBezTo>
                      <a:pt x="48729" y="78357"/>
                      <a:pt x="47256" y="87011"/>
                      <a:pt x="44496" y="95290"/>
                    </a:cubicBezTo>
                    <a:lnTo>
                      <a:pt x="38146" y="114340"/>
                    </a:lnTo>
                    <a:cubicBezTo>
                      <a:pt x="37088" y="117515"/>
                      <a:pt x="35783" y="120618"/>
                      <a:pt x="34971" y="123865"/>
                    </a:cubicBezTo>
                    <a:cubicBezTo>
                      <a:pt x="30173" y="143059"/>
                      <a:pt x="33176" y="132425"/>
                      <a:pt x="25446" y="155615"/>
                    </a:cubicBezTo>
                    <a:lnTo>
                      <a:pt x="15921" y="184190"/>
                    </a:lnTo>
                    <a:lnTo>
                      <a:pt x="12746" y="193715"/>
                    </a:lnTo>
                    <a:cubicBezTo>
                      <a:pt x="8656" y="234614"/>
                      <a:pt x="8027" y="222721"/>
                      <a:pt x="12746" y="269915"/>
                    </a:cubicBezTo>
                    <a:cubicBezTo>
                      <a:pt x="13173" y="274183"/>
                      <a:pt x="17887" y="305092"/>
                      <a:pt x="22271" y="308015"/>
                    </a:cubicBezTo>
                    <a:lnTo>
                      <a:pt x="31796" y="314365"/>
                    </a:lnTo>
                    <a:cubicBezTo>
                      <a:pt x="33913" y="320715"/>
                      <a:pt x="38146" y="327065"/>
                      <a:pt x="31796" y="333415"/>
                    </a:cubicBezTo>
                    <a:cubicBezTo>
                      <a:pt x="26400" y="338811"/>
                      <a:pt x="12746" y="346115"/>
                      <a:pt x="12746" y="346115"/>
                    </a:cubicBezTo>
                    <a:cubicBezTo>
                      <a:pt x="10629" y="349290"/>
                      <a:pt x="7899" y="352133"/>
                      <a:pt x="6396" y="355640"/>
                    </a:cubicBezTo>
                    <a:cubicBezTo>
                      <a:pt x="4677" y="359651"/>
                      <a:pt x="3556" y="363989"/>
                      <a:pt x="3221" y="368340"/>
                    </a:cubicBezTo>
                    <a:cubicBezTo>
                      <a:pt x="1433" y="391579"/>
                      <a:pt x="1104" y="414907"/>
                      <a:pt x="46" y="438190"/>
                    </a:cubicBezTo>
                    <a:cubicBezTo>
                      <a:pt x="1104" y="463590"/>
                      <a:pt x="3221" y="488968"/>
                      <a:pt x="3221" y="514390"/>
                    </a:cubicBezTo>
                    <a:cubicBezTo>
                      <a:pt x="3221" y="590058"/>
                      <a:pt x="-4028" y="537574"/>
                      <a:pt x="3221" y="581065"/>
                    </a:cubicBezTo>
                    <a:cubicBezTo>
                      <a:pt x="4112" y="606007"/>
                      <a:pt x="5954" y="683227"/>
                      <a:pt x="9571" y="717590"/>
                    </a:cubicBezTo>
                    <a:cubicBezTo>
                      <a:pt x="10028" y="721930"/>
                      <a:pt x="11890" y="726011"/>
                      <a:pt x="12746" y="730290"/>
                    </a:cubicBezTo>
                    <a:cubicBezTo>
                      <a:pt x="13731" y="735214"/>
                      <a:pt x="16330" y="755587"/>
                      <a:pt x="19096" y="762040"/>
                    </a:cubicBezTo>
                    <a:cubicBezTo>
                      <a:pt x="20599" y="765547"/>
                      <a:pt x="21860" y="770261"/>
                      <a:pt x="25446" y="771565"/>
                    </a:cubicBezTo>
                    <a:cubicBezTo>
                      <a:pt x="34453" y="774840"/>
                      <a:pt x="44496" y="773682"/>
                      <a:pt x="54021" y="774740"/>
                    </a:cubicBezTo>
                    <a:cubicBezTo>
                      <a:pt x="57196" y="775798"/>
                      <a:pt x="60199" y="777915"/>
                      <a:pt x="63546" y="777915"/>
                    </a:cubicBezTo>
                    <a:cubicBezTo>
                      <a:pt x="75257" y="777915"/>
                      <a:pt x="82741" y="764781"/>
                      <a:pt x="85771" y="755690"/>
                    </a:cubicBezTo>
                    <a:cubicBezTo>
                      <a:pt x="86829" y="752515"/>
                      <a:pt x="87090" y="748950"/>
                      <a:pt x="88946" y="746165"/>
                    </a:cubicBezTo>
                    <a:cubicBezTo>
                      <a:pt x="91437" y="742429"/>
                      <a:pt x="95296" y="739815"/>
                      <a:pt x="98471" y="736640"/>
                    </a:cubicBezTo>
                    <a:lnTo>
                      <a:pt x="107996" y="708065"/>
                    </a:lnTo>
                    <a:lnTo>
                      <a:pt x="111171" y="698540"/>
                    </a:lnTo>
                    <a:cubicBezTo>
                      <a:pt x="112229" y="695365"/>
                      <a:pt x="113690" y="692297"/>
                      <a:pt x="114346" y="689015"/>
                    </a:cubicBezTo>
                    <a:cubicBezTo>
                      <a:pt x="118784" y="666827"/>
                      <a:pt x="116634" y="678463"/>
                      <a:pt x="120696" y="654090"/>
                    </a:cubicBezTo>
                    <a:cubicBezTo>
                      <a:pt x="125896" y="586493"/>
                      <a:pt x="130248" y="581311"/>
                      <a:pt x="123871" y="523915"/>
                    </a:cubicBezTo>
                    <a:cubicBezTo>
                      <a:pt x="123501" y="520589"/>
                      <a:pt x="121754" y="517565"/>
                      <a:pt x="120696" y="514390"/>
                    </a:cubicBezTo>
                    <a:cubicBezTo>
                      <a:pt x="121754" y="504865"/>
                      <a:pt x="123871" y="495399"/>
                      <a:pt x="123871" y="485815"/>
                    </a:cubicBezTo>
                    <a:cubicBezTo>
                      <a:pt x="123871" y="470405"/>
                      <a:pt x="119883" y="445198"/>
                      <a:pt x="117521" y="428665"/>
                    </a:cubicBezTo>
                    <a:cubicBezTo>
                      <a:pt x="116463" y="408557"/>
                      <a:pt x="116745" y="388333"/>
                      <a:pt x="114346" y="368340"/>
                    </a:cubicBezTo>
                    <a:cubicBezTo>
                      <a:pt x="113549" y="361694"/>
                      <a:pt x="113565" y="353003"/>
                      <a:pt x="107996" y="349290"/>
                    </a:cubicBezTo>
                    <a:cubicBezTo>
                      <a:pt x="85210" y="334099"/>
                      <a:pt x="94342" y="341986"/>
                      <a:pt x="79421" y="327065"/>
                    </a:cubicBezTo>
                    <a:cubicBezTo>
                      <a:pt x="89925" y="295553"/>
                      <a:pt x="72302" y="343690"/>
                      <a:pt x="92121" y="308015"/>
                    </a:cubicBezTo>
                    <a:cubicBezTo>
                      <a:pt x="95372" y="302164"/>
                      <a:pt x="96354" y="295315"/>
                      <a:pt x="98471" y="288965"/>
                    </a:cubicBezTo>
                    <a:lnTo>
                      <a:pt x="107996" y="260390"/>
                    </a:lnTo>
                    <a:cubicBezTo>
                      <a:pt x="119575" y="225652"/>
                      <a:pt x="101108" y="278269"/>
                      <a:pt x="117521" y="241340"/>
                    </a:cubicBezTo>
                    <a:cubicBezTo>
                      <a:pt x="120239" y="235223"/>
                      <a:pt x="121754" y="228640"/>
                      <a:pt x="123871" y="222290"/>
                    </a:cubicBezTo>
                    <a:lnTo>
                      <a:pt x="136571" y="184190"/>
                    </a:lnTo>
                    <a:lnTo>
                      <a:pt x="139746" y="174665"/>
                    </a:lnTo>
                    <a:lnTo>
                      <a:pt x="142921" y="165140"/>
                    </a:lnTo>
                    <a:cubicBezTo>
                      <a:pt x="143979" y="150323"/>
                      <a:pt x="144089" y="135408"/>
                      <a:pt x="146096" y="120690"/>
                    </a:cubicBezTo>
                    <a:cubicBezTo>
                      <a:pt x="146459" y="118029"/>
                      <a:pt x="155523" y="81149"/>
                      <a:pt x="158796" y="76240"/>
                    </a:cubicBezTo>
                    <a:cubicBezTo>
                      <a:pt x="167002" y="63930"/>
                      <a:pt x="163939" y="70335"/>
                      <a:pt x="168321" y="57190"/>
                    </a:cubicBezTo>
                    <a:cubicBezTo>
                      <a:pt x="167263" y="47665"/>
                      <a:pt x="166722" y="38068"/>
                      <a:pt x="165146" y="28615"/>
                    </a:cubicBezTo>
                    <a:cubicBezTo>
                      <a:pt x="164596" y="25314"/>
                      <a:pt x="164338" y="21457"/>
                      <a:pt x="161971" y="19090"/>
                    </a:cubicBezTo>
                    <a:cubicBezTo>
                      <a:pt x="159604" y="16723"/>
                      <a:pt x="155693" y="16727"/>
                      <a:pt x="152446" y="15915"/>
                    </a:cubicBezTo>
                    <a:cubicBezTo>
                      <a:pt x="147211" y="14606"/>
                      <a:pt x="141863" y="13798"/>
                      <a:pt x="136571" y="12740"/>
                    </a:cubicBezTo>
                    <a:cubicBezTo>
                      <a:pt x="134454" y="9565"/>
                      <a:pt x="133201" y="5599"/>
                      <a:pt x="130221" y="3215"/>
                    </a:cubicBezTo>
                    <a:cubicBezTo>
                      <a:pt x="123708" y="-1995"/>
                      <a:pt x="117684" y="-41"/>
                      <a:pt x="111171" y="3215"/>
                    </a:cubicBezTo>
                    <a:cubicBezTo>
                      <a:pt x="107758" y="4922"/>
                      <a:pt x="105059" y="7858"/>
                      <a:pt x="101646" y="9565"/>
                    </a:cubicBezTo>
                    <a:cubicBezTo>
                      <a:pt x="87053" y="16862"/>
                      <a:pt x="104292" y="569"/>
                      <a:pt x="101646" y="3215"/>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316" name="Freeform 91">
                <a:extLst>
                  <a:ext uri="{FF2B5EF4-FFF2-40B4-BE49-F238E27FC236}">
                    <a16:creationId xmlns:a16="http://schemas.microsoft.com/office/drawing/2014/main" id="{3FFA2CB7-CE93-AE78-DFDB-82AF6B283FB3}"/>
                  </a:ext>
                </a:extLst>
              </p:cNvPr>
              <p:cNvSpPr/>
              <p:nvPr/>
            </p:nvSpPr>
            <p:spPr>
              <a:xfrm>
                <a:off x="2136451" y="2733425"/>
                <a:ext cx="88615" cy="45718"/>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7" name="Freeform 92">
                <a:extLst>
                  <a:ext uri="{FF2B5EF4-FFF2-40B4-BE49-F238E27FC236}">
                    <a16:creationId xmlns:a16="http://schemas.microsoft.com/office/drawing/2014/main" id="{D1C22F0C-BBD2-C33A-B92F-85E0187FD340}"/>
                  </a:ext>
                </a:extLst>
              </p:cNvPr>
              <p:cNvSpPr/>
              <p:nvPr/>
            </p:nvSpPr>
            <p:spPr>
              <a:xfrm>
                <a:off x="2077078" y="3177188"/>
                <a:ext cx="235338"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8" name="Freeform 93">
                <a:extLst>
                  <a:ext uri="{FF2B5EF4-FFF2-40B4-BE49-F238E27FC236}">
                    <a16:creationId xmlns:a16="http://schemas.microsoft.com/office/drawing/2014/main" id="{52A8930E-B391-7CD3-7819-E0A94D6693A9}"/>
                  </a:ext>
                </a:extLst>
              </p:cNvPr>
              <p:cNvSpPr/>
              <p:nvPr/>
            </p:nvSpPr>
            <p:spPr>
              <a:xfrm>
                <a:off x="2082019" y="3327430"/>
                <a:ext cx="212529" cy="106483"/>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9" name="Freeform 94">
                <a:extLst>
                  <a:ext uri="{FF2B5EF4-FFF2-40B4-BE49-F238E27FC236}">
                    <a16:creationId xmlns:a16="http://schemas.microsoft.com/office/drawing/2014/main" id="{59765C5A-0578-BF61-2AB3-8758DA2F7EBD}"/>
                  </a:ext>
                </a:extLst>
              </p:cNvPr>
              <p:cNvSpPr/>
              <p:nvPr/>
            </p:nvSpPr>
            <p:spPr>
              <a:xfrm rot="1266082">
                <a:off x="2115143" y="2437475"/>
                <a:ext cx="218879" cy="70147"/>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0" name="Freeform 95">
                <a:extLst>
                  <a:ext uri="{FF2B5EF4-FFF2-40B4-BE49-F238E27FC236}">
                    <a16:creationId xmlns:a16="http://schemas.microsoft.com/office/drawing/2014/main" id="{D82B1199-5EF1-F799-EC3F-F8EF295A9282}"/>
                  </a:ext>
                </a:extLst>
              </p:cNvPr>
              <p:cNvSpPr/>
              <p:nvPr/>
            </p:nvSpPr>
            <p:spPr>
              <a:xfrm rot="1266082">
                <a:off x="2095970" y="2503880"/>
                <a:ext cx="213921" cy="48671"/>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1" name="Freeform 96">
                <a:extLst>
                  <a:ext uri="{FF2B5EF4-FFF2-40B4-BE49-F238E27FC236}">
                    <a16:creationId xmlns:a16="http://schemas.microsoft.com/office/drawing/2014/main" id="{445AE18D-F1A5-C610-B896-37B93C8DF28E}"/>
                  </a:ext>
                </a:extLst>
              </p:cNvPr>
              <p:cNvSpPr/>
              <p:nvPr/>
            </p:nvSpPr>
            <p:spPr>
              <a:xfrm rot="900000">
                <a:off x="2144470" y="2349041"/>
                <a:ext cx="194840" cy="51091"/>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2" name="Freeform 97">
                <a:extLst>
                  <a:ext uri="{FF2B5EF4-FFF2-40B4-BE49-F238E27FC236}">
                    <a16:creationId xmlns:a16="http://schemas.microsoft.com/office/drawing/2014/main" id="{FBBEF61D-4DA6-DBD2-EB62-730D9D0A6AEE}"/>
                  </a:ext>
                </a:extLst>
              </p:cNvPr>
              <p:cNvSpPr/>
              <p:nvPr/>
            </p:nvSpPr>
            <p:spPr>
              <a:xfrm rot="900000">
                <a:off x="2088300" y="2608839"/>
                <a:ext cx="179344"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3" name="Freeform 98">
                <a:extLst>
                  <a:ext uri="{FF2B5EF4-FFF2-40B4-BE49-F238E27FC236}">
                    <a16:creationId xmlns:a16="http://schemas.microsoft.com/office/drawing/2014/main" id="{FC097E0B-B1FB-38F5-5F9D-09871677D6C8}"/>
                  </a:ext>
                </a:extLst>
              </p:cNvPr>
              <p:cNvSpPr/>
              <p:nvPr/>
            </p:nvSpPr>
            <p:spPr>
              <a:xfrm>
                <a:off x="2077345" y="3005410"/>
                <a:ext cx="22181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4" name="Freeform 99">
                <a:extLst>
                  <a:ext uri="{FF2B5EF4-FFF2-40B4-BE49-F238E27FC236}">
                    <a16:creationId xmlns:a16="http://schemas.microsoft.com/office/drawing/2014/main" id="{C25B8B77-2471-F001-344C-77557FDE56C7}"/>
                  </a:ext>
                </a:extLst>
              </p:cNvPr>
              <p:cNvSpPr/>
              <p:nvPr/>
            </p:nvSpPr>
            <p:spPr>
              <a:xfrm>
                <a:off x="2073412" y="286645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5" name="Freeform 100">
                <a:extLst>
                  <a:ext uri="{FF2B5EF4-FFF2-40B4-BE49-F238E27FC236}">
                    <a16:creationId xmlns:a16="http://schemas.microsoft.com/office/drawing/2014/main" id="{D99F2FD5-D7C0-9BED-2C21-7930FFDD40D3}"/>
                  </a:ext>
                </a:extLst>
              </p:cNvPr>
              <p:cNvSpPr/>
              <p:nvPr/>
            </p:nvSpPr>
            <p:spPr>
              <a:xfrm rot="10800000">
                <a:off x="2076143" y="291779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6" name="Freeform 101">
                <a:extLst>
                  <a:ext uri="{FF2B5EF4-FFF2-40B4-BE49-F238E27FC236}">
                    <a16:creationId xmlns:a16="http://schemas.microsoft.com/office/drawing/2014/main" id="{7AD8B64E-57C5-EB97-9804-659F8317326B}"/>
                  </a:ext>
                </a:extLst>
              </p:cNvPr>
              <p:cNvSpPr/>
              <p:nvPr/>
            </p:nvSpPr>
            <p:spPr>
              <a:xfrm rot="1219864">
                <a:off x="2169688" y="2254021"/>
                <a:ext cx="196434"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27" name="Freeform 102">
                <a:extLst>
                  <a:ext uri="{FF2B5EF4-FFF2-40B4-BE49-F238E27FC236}">
                    <a16:creationId xmlns:a16="http://schemas.microsoft.com/office/drawing/2014/main" id="{91A19915-1CBD-408C-F969-CD01336999FA}"/>
                  </a:ext>
                </a:extLst>
              </p:cNvPr>
              <p:cNvSpPr/>
              <p:nvPr/>
            </p:nvSpPr>
            <p:spPr>
              <a:xfrm rot="1219864">
                <a:off x="2208117" y="2227334"/>
                <a:ext cx="179656" cy="25401"/>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328" name="Freeform 103">
                <a:extLst>
                  <a:ext uri="{FF2B5EF4-FFF2-40B4-BE49-F238E27FC236}">
                    <a16:creationId xmlns:a16="http://schemas.microsoft.com/office/drawing/2014/main" id="{601FCDEC-9326-458E-CBF5-7A1363B8D790}"/>
                  </a:ext>
                </a:extLst>
              </p:cNvPr>
              <p:cNvSpPr/>
              <p:nvPr/>
            </p:nvSpPr>
            <p:spPr>
              <a:xfrm>
                <a:off x="2080401" y="3262318"/>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pic>
          <p:nvPicPr>
            <p:cNvPr id="1282" name="Picture 89">
              <a:extLst>
                <a:ext uri="{FF2B5EF4-FFF2-40B4-BE49-F238E27FC236}">
                  <a16:creationId xmlns:a16="http://schemas.microsoft.com/office/drawing/2014/main" id="{9CEDFB22-16A6-176E-12A9-066067ABE02B}"/>
                </a:ext>
              </a:extLst>
            </p:cNvPr>
            <p:cNvPicPr>
              <a:picLocks noChangeAspect="1"/>
            </p:cNvPicPr>
            <p:nvPr/>
          </p:nvPicPr>
          <p:blipFill>
            <a:blip r:embed="rId25">
              <a:duotone>
                <a:schemeClr val="accent3">
                  <a:shade val="45000"/>
                  <a:satMod val="135000"/>
                </a:schemeClr>
                <a:prstClr val="white"/>
              </a:duotone>
            </a:blip>
            <a:stretch>
              <a:fillRect/>
            </a:stretch>
          </p:blipFill>
          <p:spPr>
            <a:xfrm flipH="1">
              <a:off x="421394" y="2131496"/>
              <a:ext cx="365558" cy="381453"/>
            </a:xfrm>
            <a:prstGeom prst="rect">
              <a:avLst/>
            </a:prstGeom>
          </p:spPr>
        </p:pic>
        <p:grpSp>
          <p:nvGrpSpPr>
            <p:cNvPr id="1283" name="Group 84">
              <a:extLst>
                <a:ext uri="{FF2B5EF4-FFF2-40B4-BE49-F238E27FC236}">
                  <a16:creationId xmlns:a16="http://schemas.microsoft.com/office/drawing/2014/main" id="{E0EE50EF-D390-8C29-7E5E-3EC9383EEA7C}"/>
                </a:ext>
              </a:extLst>
            </p:cNvPr>
            <p:cNvGrpSpPr/>
            <p:nvPr/>
          </p:nvGrpSpPr>
          <p:grpSpPr>
            <a:xfrm flipH="1">
              <a:off x="1648119" y="2622854"/>
              <a:ext cx="86903" cy="514376"/>
              <a:chOff x="1611916" y="2139959"/>
              <a:chExt cx="264177" cy="1453393"/>
            </a:xfrm>
            <a:solidFill>
              <a:srgbClr val="0D0D0D">
                <a:alpha val="29804"/>
              </a:srgbClr>
            </a:solidFill>
          </p:grpSpPr>
          <p:sp>
            <p:nvSpPr>
              <p:cNvPr id="1300" name="Freeform 135">
                <a:extLst>
                  <a:ext uri="{FF2B5EF4-FFF2-40B4-BE49-F238E27FC236}">
                    <a16:creationId xmlns:a16="http://schemas.microsoft.com/office/drawing/2014/main" id="{973EA77D-F7F0-DE01-4746-A90E9C1B40E8}"/>
                  </a:ext>
                </a:extLst>
              </p:cNvPr>
              <p:cNvSpPr/>
              <p:nvPr/>
            </p:nvSpPr>
            <p:spPr>
              <a:xfrm>
                <a:off x="1614442" y="2139959"/>
                <a:ext cx="258475" cy="1453393"/>
              </a:xfrm>
              <a:custGeom>
                <a:avLst/>
                <a:gdLst>
                  <a:gd name="connsiteX0" fmla="*/ 35470 w 143420"/>
                  <a:gd name="connsiteY0" fmla="*/ 6350 h 806450"/>
                  <a:gd name="connsiteX1" fmla="*/ 19595 w 143420"/>
                  <a:gd name="connsiteY1" fmla="*/ 28575 h 806450"/>
                  <a:gd name="connsiteX2" fmla="*/ 13245 w 143420"/>
                  <a:gd name="connsiteY2" fmla="*/ 47625 h 806450"/>
                  <a:gd name="connsiteX3" fmla="*/ 10070 w 143420"/>
                  <a:gd name="connsiteY3" fmla="*/ 57150 h 806450"/>
                  <a:gd name="connsiteX4" fmla="*/ 13245 w 143420"/>
                  <a:gd name="connsiteY4" fmla="*/ 76200 h 806450"/>
                  <a:gd name="connsiteX5" fmla="*/ 6895 w 143420"/>
                  <a:gd name="connsiteY5" fmla="*/ 187325 h 806450"/>
                  <a:gd name="connsiteX6" fmla="*/ 3720 w 143420"/>
                  <a:gd name="connsiteY6" fmla="*/ 244475 h 806450"/>
                  <a:gd name="connsiteX7" fmla="*/ 3720 w 143420"/>
                  <a:gd name="connsiteY7" fmla="*/ 292100 h 806450"/>
                  <a:gd name="connsiteX8" fmla="*/ 19595 w 143420"/>
                  <a:gd name="connsiteY8" fmla="*/ 323850 h 806450"/>
                  <a:gd name="connsiteX9" fmla="*/ 38645 w 143420"/>
                  <a:gd name="connsiteY9" fmla="*/ 342900 h 806450"/>
                  <a:gd name="connsiteX10" fmla="*/ 25945 w 143420"/>
                  <a:gd name="connsiteY10" fmla="*/ 358775 h 806450"/>
                  <a:gd name="connsiteX11" fmla="*/ 19595 w 143420"/>
                  <a:gd name="connsiteY11" fmla="*/ 368300 h 806450"/>
                  <a:gd name="connsiteX12" fmla="*/ 3720 w 143420"/>
                  <a:gd name="connsiteY12" fmla="*/ 387350 h 806450"/>
                  <a:gd name="connsiteX13" fmla="*/ 6895 w 143420"/>
                  <a:gd name="connsiteY13" fmla="*/ 403225 h 806450"/>
                  <a:gd name="connsiteX14" fmla="*/ 13245 w 143420"/>
                  <a:gd name="connsiteY14" fmla="*/ 422275 h 806450"/>
                  <a:gd name="connsiteX15" fmla="*/ 16420 w 143420"/>
                  <a:gd name="connsiteY15" fmla="*/ 485775 h 806450"/>
                  <a:gd name="connsiteX16" fmla="*/ 19595 w 143420"/>
                  <a:gd name="connsiteY16" fmla="*/ 498475 h 806450"/>
                  <a:gd name="connsiteX17" fmla="*/ 22770 w 143420"/>
                  <a:gd name="connsiteY17" fmla="*/ 581025 h 806450"/>
                  <a:gd name="connsiteX18" fmla="*/ 16420 w 143420"/>
                  <a:gd name="connsiteY18" fmla="*/ 641350 h 806450"/>
                  <a:gd name="connsiteX19" fmla="*/ 10070 w 143420"/>
                  <a:gd name="connsiteY19" fmla="*/ 666750 h 806450"/>
                  <a:gd name="connsiteX20" fmla="*/ 16420 w 143420"/>
                  <a:gd name="connsiteY20" fmla="*/ 739775 h 806450"/>
                  <a:gd name="connsiteX21" fmla="*/ 22770 w 143420"/>
                  <a:gd name="connsiteY21" fmla="*/ 768350 h 806450"/>
                  <a:gd name="connsiteX22" fmla="*/ 29120 w 143420"/>
                  <a:gd name="connsiteY22" fmla="*/ 787400 h 806450"/>
                  <a:gd name="connsiteX23" fmla="*/ 51345 w 143420"/>
                  <a:gd name="connsiteY23" fmla="*/ 803275 h 806450"/>
                  <a:gd name="connsiteX24" fmla="*/ 60870 w 143420"/>
                  <a:gd name="connsiteY24" fmla="*/ 806450 h 806450"/>
                  <a:gd name="connsiteX25" fmla="*/ 70395 w 143420"/>
                  <a:gd name="connsiteY25" fmla="*/ 803275 h 806450"/>
                  <a:gd name="connsiteX26" fmla="*/ 79920 w 143420"/>
                  <a:gd name="connsiteY26" fmla="*/ 793750 h 806450"/>
                  <a:gd name="connsiteX27" fmla="*/ 89445 w 143420"/>
                  <a:gd name="connsiteY27" fmla="*/ 787400 h 806450"/>
                  <a:gd name="connsiteX28" fmla="*/ 95795 w 143420"/>
                  <a:gd name="connsiteY28" fmla="*/ 777875 h 806450"/>
                  <a:gd name="connsiteX29" fmla="*/ 105320 w 143420"/>
                  <a:gd name="connsiteY29" fmla="*/ 774700 h 806450"/>
                  <a:gd name="connsiteX30" fmla="*/ 118020 w 143420"/>
                  <a:gd name="connsiteY30" fmla="*/ 755650 h 806450"/>
                  <a:gd name="connsiteX31" fmla="*/ 124370 w 143420"/>
                  <a:gd name="connsiteY31" fmla="*/ 746125 h 806450"/>
                  <a:gd name="connsiteX32" fmla="*/ 137070 w 143420"/>
                  <a:gd name="connsiteY32" fmla="*/ 717550 h 806450"/>
                  <a:gd name="connsiteX33" fmla="*/ 140245 w 143420"/>
                  <a:gd name="connsiteY33" fmla="*/ 692150 h 806450"/>
                  <a:gd name="connsiteX34" fmla="*/ 143420 w 143420"/>
                  <a:gd name="connsiteY34" fmla="*/ 682625 h 806450"/>
                  <a:gd name="connsiteX35" fmla="*/ 140245 w 143420"/>
                  <a:gd name="connsiteY35" fmla="*/ 641350 h 806450"/>
                  <a:gd name="connsiteX36" fmla="*/ 130720 w 143420"/>
                  <a:gd name="connsiteY36" fmla="*/ 508000 h 806450"/>
                  <a:gd name="connsiteX37" fmla="*/ 130720 w 143420"/>
                  <a:gd name="connsiteY37" fmla="*/ 415925 h 806450"/>
                  <a:gd name="connsiteX38" fmla="*/ 121195 w 143420"/>
                  <a:gd name="connsiteY38" fmla="*/ 374650 h 806450"/>
                  <a:gd name="connsiteX39" fmla="*/ 102145 w 143420"/>
                  <a:gd name="connsiteY39" fmla="*/ 358775 h 806450"/>
                  <a:gd name="connsiteX40" fmla="*/ 83095 w 143420"/>
                  <a:gd name="connsiteY40" fmla="*/ 349250 h 806450"/>
                  <a:gd name="connsiteX41" fmla="*/ 86270 w 143420"/>
                  <a:gd name="connsiteY41" fmla="*/ 336550 h 806450"/>
                  <a:gd name="connsiteX42" fmla="*/ 95795 w 143420"/>
                  <a:gd name="connsiteY42" fmla="*/ 330200 h 806450"/>
                  <a:gd name="connsiteX43" fmla="*/ 105320 w 143420"/>
                  <a:gd name="connsiteY43" fmla="*/ 320675 h 806450"/>
                  <a:gd name="connsiteX44" fmla="*/ 118020 w 143420"/>
                  <a:gd name="connsiteY44" fmla="*/ 292100 h 806450"/>
                  <a:gd name="connsiteX45" fmla="*/ 124370 w 143420"/>
                  <a:gd name="connsiteY45" fmla="*/ 279400 h 806450"/>
                  <a:gd name="connsiteX46" fmla="*/ 127545 w 143420"/>
                  <a:gd name="connsiteY46" fmla="*/ 250825 h 806450"/>
                  <a:gd name="connsiteX47" fmla="*/ 121195 w 143420"/>
                  <a:gd name="connsiteY47" fmla="*/ 177800 h 806450"/>
                  <a:gd name="connsiteX48" fmla="*/ 124370 w 143420"/>
                  <a:gd name="connsiteY48" fmla="*/ 130175 h 806450"/>
                  <a:gd name="connsiteX49" fmla="*/ 114845 w 143420"/>
                  <a:gd name="connsiteY49" fmla="*/ 44450 h 806450"/>
                  <a:gd name="connsiteX50" fmla="*/ 102145 w 143420"/>
                  <a:gd name="connsiteY50" fmla="*/ 15875 h 806450"/>
                  <a:gd name="connsiteX51" fmla="*/ 98970 w 143420"/>
                  <a:gd name="connsiteY51" fmla="*/ 6350 h 806450"/>
                  <a:gd name="connsiteX52" fmla="*/ 79920 w 143420"/>
                  <a:gd name="connsiteY52" fmla="*/ 0 h 806450"/>
                  <a:gd name="connsiteX53" fmla="*/ 54520 w 143420"/>
                  <a:gd name="connsiteY53" fmla="*/ 3175 h 806450"/>
                  <a:gd name="connsiteX54" fmla="*/ 35470 w 143420"/>
                  <a:gd name="connsiteY54" fmla="*/ 6350 h 80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3420" h="806450">
                    <a:moveTo>
                      <a:pt x="35470" y="6350"/>
                    </a:moveTo>
                    <a:cubicBezTo>
                      <a:pt x="29649" y="10583"/>
                      <a:pt x="23911" y="20559"/>
                      <a:pt x="19595" y="28575"/>
                    </a:cubicBezTo>
                    <a:cubicBezTo>
                      <a:pt x="16422" y="34468"/>
                      <a:pt x="15362" y="41275"/>
                      <a:pt x="13245" y="47625"/>
                    </a:cubicBezTo>
                    <a:lnTo>
                      <a:pt x="10070" y="57150"/>
                    </a:lnTo>
                    <a:cubicBezTo>
                      <a:pt x="11128" y="63500"/>
                      <a:pt x="13245" y="69762"/>
                      <a:pt x="13245" y="76200"/>
                    </a:cubicBezTo>
                    <a:cubicBezTo>
                      <a:pt x="13245" y="160070"/>
                      <a:pt x="15730" y="143149"/>
                      <a:pt x="6895" y="187325"/>
                    </a:cubicBezTo>
                    <a:cubicBezTo>
                      <a:pt x="5837" y="206375"/>
                      <a:pt x="5304" y="225462"/>
                      <a:pt x="3720" y="244475"/>
                    </a:cubicBezTo>
                    <a:cubicBezTo>
                      <a:pt x="863" y="278760"/>
                      <a:pt x="-2985" y="248520"/>
                      <a:pt x="3720" y="292100"/>
                    </a:cubicBezTo>
                    <a:cubicBezTo>
                      <a:pt x="5675" y="304811"/>
                      <a:pt x="9845" y="314100"/>
                      <a:pt x="19595" y="323850"/>
                    </a:cubicBezTo>
                    <a:lnTo>
                      <a:pt x="38645" y="342900"/>
                    </a:lnTo>
                    <a:cubicBezTo>
                      <a:pt x="32464" y="361443"/>
                      <a:pt x="40306" y="344414"/>
                      <a:pt x="25945" y="358775"/>
                    </a:cubicBezTo>
                    <a:cubicBezTo>
                      <a:pt x="23247" y="361473"/>
                      <a:pt x="22038" y="365369"/>
                      <a:pt x="19595" y="368300"/>
                    </a:cubicBezTo>
                    <a:cubicBezTo>
                      <a:pt x="-777" y="392746"/>
                      <a:pt x="19486" y="363701"/>
                      <a:pt x="3720" y="387350"/>
                    </a:cubicBezTo>
                    <a:cubicBezTo>
                      <a:pt x="4778" y="392642"/>
                      <a:pt x="5475" y="398019"/>
                      <a:pt x="6895" y="403225"/>
                    </a:cubicBezTo>
                    <a:cubicBezTo>
                      <a:pt x="8656" y="409683"/>
                      <a:pt x="13245" y="422275"/>
                      <a:pt x="13245" y="422275"/>
                    </a:cubicBezTo>
                    <a:cubicBezTo>
                      <a:pt x="14303" y="443442"/>
                      <a:pt x="14660" y="464655"/>
                      <a:pt x="16420" y="485775"/>
                    </a:cubicBezTo>
                    <a:cubicBezTo>
                      <a:pt x="16782" y="490124"/>
                      <a:pt x="19305" y="494121"/>
                      <a:pt x="19595" y="498475"/>
                    </a:cubicBezTo>
                    <a:cubicBezTo>
                      <a:pt x="21427" y="525951"/>
                      <a:pt x="21712" y="553508"/>
                      <a:pt x="22770" y="581025"/>
                    </a:cubicBezTo>
                    <a:cubicBezTo>
                      <a:pt x="20653" y="601133"/>
                      <a:pt x="21324" y="621734"/>
                      <a:pt x="16420" y="641350"/>
                    </a:cubicBezTo>
                    <a:lnTo>
                      <a:pt x="10070" y="666750"/>
                    </a:lnTo>
                    <a:cubicBezTo>
                      <a:pt x="12118" y="697477"/>
                      <a:pt x="12180" y="712216"/>
                      <a:pt x="16420" y="739775"/>
                    </a:cubicBezTo>
                    <a:cubicBezTo>
                      <a:pt x="17374" y="745976"/>
                      <a:pt x="20774" y="761697"/>
                      <a:pt x="22770" y="768350"/>
                    </a:cubicBezTo>
                    <a:cubicBezTo>
                      <a:pt x="24693" y="774761"/>
                      <a:pt x="27003" y="781050"/>
                      <a:pt x="29120" y="787400"/>
                    </a:cubicBezTo>
                    <a:cubicBezTo>
                      <a:pt x="34412" y="803275"/>
                      <a:pt x="29120" y="795867"/>
                      <a:pt x="51345" y="803275"/>
                    </a:cubicBezTo>
                    <a:lnTo>
                      <a:pt x="60870" y="806450"/>
                    </a:lnTo>
                    <a:cubicBezTo>
                      <a:pt x="64045" y="805392"/>
                      <a:pt x="67610" y="805131"/>
                      <a:pt x="70395" y="803275"/>
                    </a:cubicBezTo>
                    <a:cubicBezTo>
                      <a:pt x="74131" y="800784"/>
                      <a:pt x="76471" y="796625"/>
                      <a:pt x="79920" y="793750"/>
                    </a:cubicBezTo>
                    <a:cubicBezTo>
                      <a:pt x="82851" y="791307"/>
                      <a:pt x="86270" y="789517"/>
                      <a:pt x="89445" y="787400"/>
                    </a:cubicBezTo>
                    <a:cubicBezTo>
                      <a:pt x="91562" y="784225"/>
                      <a:pt x="92815" y="780259"/>
                      <a:pt x="95795" y="777875"/>
                    </a:cubicBezTo>
                    <a:cubicBezTo>
                      <a:pt x="98408" y="775784"/>
                      <a:pt x="102953" y="777067"/>
                      <a:pt x="105320" y="774700"/>
                    </a:cubicBezTo>
                    <a:cubicBezTo>
                      <a:pt x="110716" y="769304"/>
                      <a:pt x="113787" y="762000"/>
                      <a:pt x="118020" y="755650"/>
                    </a:cubicBezTo>
                    <a:cubicBezTo>
                      <a:pt x="120137" y="752475"/>
                      <a:pt x="123163" y="749745"/>
                      <a:pt x="124370" y="746125"/>
                    </a:cubicBezTo>
                    <a:cubicBezTo>
                      <a:pt x="131927" y="723455"/>
                      <a:pt x="127007" y="732644"/>
                      <a:pt x="137070" y="717550"/>
                    </a:cubicBezTo>
                    <a:cubicBezTo>
                      <a:pt x="138128" y="709083"/>
                      <a:pt x="138719" y="700545"/>
                      <a:pt x="140245" y="692150"/>
                    </a:cubicBezTo>
                    <a:cubicBezTo>
                      <a:pt x="140844" y="688857"/>
                      <a:pt x="143420" y="685972"/>
                      <a:pt x="143420" y="682625"/>
                    </a:cubicBezTo>
                    <a:cubicBezTo>
                      <a:pt x="143420" y="668826"/>
                      <a:pt x="141040" y="655126"/>
                      <a:pt x="140245" y="641350"/>
                    </a:cubicBezTo>
                    <a:cubicBezTo>
                      <a:pt x="132738" y="511225"/>
                      <a:pt x="147044" y="556973"/>
                      <a:pt x="130720" y="508000"/>
                    </a:cubicBezTo>
                    <a:cubicBezTo>
                      <a:pt x="138581" y="468693"/>
                      <a:pt x="135529" y="490469"/>
                      <a:pt x="130720" y="415925"/>
                    </a:cubicBezTo>
                    <a:cubicBezTo>
                      <a:pt x="130359" y="410325"/>
                      <a:pt x="126548" y="380003"/>
                      <a:pt x="121195" y="374650"/>
                    </a:cubicBezTo>
                    <a:cubicBezTo>
                      <a:pt x="114173" y="367628"/>
                      <a:pt x="110986" y="363195"/>
                      <a:pt x="102145" y="358775"/>
                    </a:cubicBezTo>
                    <a:cubicBezTo>
                      <a:pt x="75855" y="345630"/>
                      <a:pt x="110392" y="367448"/>
                      <a:pt x="83095" y="349250"/>
                    </a:cubicBezTo>
                    <a:cubicBezTo>
                      <a:pt x="84153" y="345017"/>
                      <a:pt x="83849" y="340181"/>
                      <a:pt x="86270" y="336550"/>
                    </a:cubicBezTo>
                    <a:cubicBezTo>
                      <a:pt x="88387" y="333375"/>
                      <a:pt x="92864" y="332643"/>
                      <a:pt x="95795" y="330200"/>
                    </a:cubicBezTo>
                    <a:cubicBezTo>
                      <a:pt x="99244" y="327325"/>
                      <a:pt x="102445" y="324124"/>
                      <a:pt x="105320" y="320675"/>
                    </a:cubicBezTo>
                    <a:cubicBezTo>
                      <a:pt x="116994" y="306666"/>
                      <a:pt x="107637" y="312866"/>
                      <a:pt x="118020" y="292100"/>
                    </a:cubicBezTo>
                    <a:lnTo>
                      <a:pt x="124370" y="279400"/>
                    </a:lnTo>
                    <a:cubicBezTo>
                      <a:pt x="125428" y="269875"/>
                      <a:pt x="127545" y="260409"/>
                      <a:pt x="127545" y="250825"/>
                    </a:cubicBezTo>
                    <a:cubicBezTo>
                      <a:pt x="127545" y="199760"/>
                      <a:pt x="128516" y="207084"/>
                      <a:pt x="121195" y="177800"/>
                    </a:cubicBezTo>
                    <a:cubicBezTo>
                      <a:pt x="122253" y="161925"/>
                      <a:pt x="124370" y="146085"/>
                      <a:pt x="124370" y="130175"/>
                    </a:cubicBezTo>
                    <a:cubicBezTo>
                      <a:pt x="124370" y="97955"/>
                      <a:pt x="124504" y="73427"/>
                      <a:pt x="114845" y="44450"/>
                    </a:cubicBezTo>
                    <a:cubicBezTo>
                      <a:pt x="98463" y="-4697"/>
                      <a:pt x="117239" y="46064"/>
                      <a:pt x="102145" y="15875"/>
                    </a:cubicBezTo>
                    <a:cubicBezTo>
                      <a:pt x="100648" y="12882"/>
                      <a:pt x="101693" y="8295"/>
                      <a:pt x="98970" y="6350"/>
                    </a:cubicBezTo>
                    <a:cubicBezTo>
                      <a:pt x="93523" y="2459"/>
                      <a:pt x="79920" y="0"/>
                      <a:pt x="79920" y="0"/>
                    </a:cubicBezTo>
                    <a:cubicBezTo>
                      <a:pt x="71453" y="1058"/>
                      <a:pt x="62915" y="1649"/>
                      <a:pt x="54520" y="3175"/>
                    </a:cubicBezTo>
                    <a:cubicBezTo>
                      <a:pt x="48355" y="4296"/>
                      <a:pt x="41291" y="2117"/>
                      <a:pt x="35470" y="6350"/>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301" name="Freeform 136">
                <a:extLst>
                  <a:ext uri="{FF2B5EF4-FFF2-40B4-BE49-F238E27FC236}">
                    <a16:creationId xmlns:a16="http://schemas.microsoft.com/office/drawing/2014/main" id="{FDDE6EEC-7D69-0720-8FE8-426E335B754F}"/>
                  </a:ext>
                </a:extLst>
              </p:cNvPr>
              <p:cNvSpPr/>
              <p:nvPr/>
            </p:nvSpPr>
            <p:spPr>
              <a:xfrm>
                <a:off x="1632266" y="2254248"/>
                <a:ext cx="20408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2" name="Freeform 137">
                <a:extLst>
                  <a:ext uri="{FF2B5EF4-FFF2-40B4-BE49-F238E27FC236}">
                    <a16:creationId xmlns:a16="http://schemas.microsoft.com/office/drawing/2014/main" id="{9D475F17-EB25-74F8-A457-3195C3C34CCD}"/>
                  </a:ext>
                </a:extLst>
              </p:cNvPr>
              <p:cNvSpPr/>
              <p:nvPr/>
            </p:nvSpPr>
            <p:spPr>
              <a:xfrm>
                <a:off x="1640454" y="2374606"/>
                <a:ext cx="194841" cy="51090"/>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3" name="Freeform 139">
                <a:extLst>
                  <a:ext uri="{FF2B5EF4-FFF2-40B4-BE49-F238E27FC236}">
                    <a16:creationId xmlns:a16="http://schemas.microsoft.com/office/drawing/2014/main" id="{80F103AD-DFDC-F3D9-828F-A59C7B27FA5F}"/>
                  </a:ext>
                </a:extLst>
              </p:cNvPr>
              <p:cNvSpPr/>
              <p:nvPr/>
            </p:nvSpPr>
            <p:spPr>
              <a:xfrm>
                <a:off x="1620756" y="2529578"/>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4" name="Freeform 140">
                <a:extLst>
                  <a:ext uri="{FF2B5EF4-FFF2-40B4-BE49-F238E27FC236}">
                    <a16:creationId xmlns:a16="http://schemas.microsoft.com/office/drawing/2014/main" id="{F75C03D9-0A97-D7F9-B888-C48798465311}"/>
                  </a:ext>
                </a:extLst>
              </p:cNvPr>
              <p:cNvSpPr/>
              <p:nvPr/>
            </p:nvSpPr>
            <p:spPr>
              <a:xfrm>
                <a:off x="1632266" y="287923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5" name="Freeform 145">
                <a:extLst>
                  <a:ext uri="{FF2B5EF4-FFF2-40B4-BE49-F238E27FC236}">
                    <a16:creationId xmlns:a16="http://schemas.microsoft.com/office/drawing/2014/main" id="{87F1FBB8-14AE-554D-DD00-C25D6F47F0D3}"/>
                  </a:ext>
                </a:extLst>
              </p:cNvPr>
              <p:cNvSpPr/>
              <p:nvPr/>
            </p:nvSpPr>
            <p:spPr>
              <a:xfrm rot="10800000">
                <a:off x="1635000" y="293057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6" name="Freeform 146">
                <a:extLst>
                  <a:ext uri="{FF2B5EF4-FFF2-40B4-BE49-F238E27FC236}">
                    <a16:creationId xmlns:a16="http://schemas.microsoft.com/office/drawing/2014/main" id="{0E944CF5-F51C-05DD-42E2-2D043D4E0187}"/>
                  </a:ext>
                </a:extLst>
              </p:cNvPr>
              <p:cNvSpPr/>
              <p:nvPr/>
            </p:nvSpPr>
            <p:spPr>
              <a:xfrm>
                <a:off x="1645148" y="325061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7" name="Freeform 147">
                <a:extLst>
                  <a:ext uri="{FF2B5EF4-FFF2-40B4-BE49-F238E27FC236}">
                    <a16:creationId xmlns:a16="http://schemas.microsoft.com/office/drawing/2014/main" id="{8F01DDF5-13BF-DB29-6830-6A8010AA597C}"/>
                  </a:ext>
                </a:extLst>
              </p:cNvPr>
              <p:cNvSpPr/>
              <p:nvPr/>
            </p:nvSpPr>
            <p:spPr>
              <a:xfrm rot="10800000">
                <a:off x="1651602" y="3151500"/>
                <a:ext cx="223377"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8" name="Freeform 148">
                <a:extLst>
                  <a:ext uri="{FF2B5EF4-FFF2-40B4-BE49-F238E27FC236}">
                    <a16:creationId xmlns:a16="http://schemas.microsoft.com/office/drawing/2014/main" id="{4995810F-06C4-585A-940E-5B91090389FE}"/>
                  </a:ext>
                </a:extLst>
              </p:cNvPr>
              <p:cNvSpPr/>
              <p:nvPr/>
            </p:nvSpPr>
            <p:spPr>
              <a:xfrm>
                <a:off x="1641682" y="3011180"/>
                <a:ext cx="223377"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09" name="Freeform 150">
                <a:extLst>
                  <a:ext uri="{FF2B5EF4-FFF2-40B4-BE49-F238E27FC236}">
                    <a16:creationId xmlns:a16="http://schemas.microsoft.com/office/drawing/2014/main" id="{73486C29-45FA-292A-567D-F61D29C88B35}"/>
                  </a:ext>
                </a:extLst>
              </p:cNvPr>
              <p:cNvSpPr/>
              <p:nvPr/>
            </p:nvSpPr>
            <p:spPr>
              <a:xfrm>
                <a:off x="1670338" y="2735940"/>
                <a:ext cx="102948" cy="472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0" name="Freeform 151">
                <a:extLst>
                  <a:ext uri="{FF2B5EF4-FFF2-40B4-BE49-F238E27FC236}">
                    <a16:creationId xmlns:a16="http://schemas.microsoft.com/office/drawing/2014/main" id="{3EE5FFBF-5B0E-B13A-EE1C-5015DFF699A8}"/>
                  </a:ext>
                </a:extLst>
              </p:cNvPr>
              <p:cNvSpPr/>
              <p:nvPr/>
            </p:nvSpPr>
            <p:spPr>
              <a:xfrm>
                <a:off x="1635124" y="2219322"/>
                <a:ext cx="185537" cy="2540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1" name="Freeform 155">
                <a:extLst>
                  <a:ext uri="{FF2B5EF4-FFF2-40B4-BE49-F238E27FC236}">
                    <a16:creationId xmlns:a16="http://schemas.microsoft.com/office/drawing/2014/main" id="{DE70B84E-3C70-551E-ACF7-8D283DA60BF2}"/>
                  </a:ext>
                </a:extLst>
              </p:cNvPr>
              <p:cNvSpPr/>
              <p:nvPr/>
            </p:nvSpPr>
            <p:spPr>
              <a:xfrm>
                <a:off x="1614898" y="2460610"/>
                <a:ext cx="226059" cy="63936"/>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2" name="Freeform 156">
                <a:extLst>
                  <a:ext uri="{FF2B5EF4-FFF2-40B4-BE49-F238E27FC236}">
                    <a16:creationId xmlns:a16="http://schemas.microsoft.com/office/drawing/2014/main" id="{AE3FFB84-3EBE-2C85-DD4F-E860F67D6398}"/>
                  </a:ext>
                </a:extLst>
              </p:cNvPr>
              <p:cNvSpPr/>
              <p:nvPr/>
            </p:nvSpPr>
            <p:spPr>
              <a:xfrm>
                <a:off x="1628828" y="3324378"/>
                <a:ext cx="244089" cy="13601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3" name="Freeform 157">
                <a:extLst>
                  <a:ext uri="{FF2B5EF4-FFF2-40B4-BE49-F238E27FC236}">
                    <a16:creationId xmlns:a16="http://schemas.microsoft.com/office/drawing/2014/main" id="{02C678DF-F15A-6578-0120-8373A0EDAF46}"/>
                  </a:ext>
                </a:extLst>
              </p:cNvPr>
              <p:cNvSpPr/>
              <p:nvPr/>
            </p:nvSpPr>
            <p:spPr>
              <a:xfrm rot="10800000">
                <a:off x="1635442" y="3313226"/>
                <a:ext cx="240651"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14" name="Freeform 158">
                <a:extLst>
                  <a:ext uri="{FF2B5EF4-FFF2-40B4-BE49-F238E27FC236}">
                    <a16:creationId xmlns:a16="http://schemas.microsoft.com/office/drawing/2014/main" id="{31849A23-429D-11BD-8070-AEC5CD82C311}"/>
                  </a:ext>
                </a:extLst>
              </p:cNvPr>
              <p:cNvSpPr/>
              <p:nvPr/>
            </p:nvSpPr>
            <p:spPr>
              <a:xfrm rot="10800000">
                <a:off x="1611916" y="2632962"/>
                <a:ext cx="223379"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284" name="Group 85">
              <a:extLst>
                <a:ext uri="{FF2B5EF4-FFF2-40B4-BE49-F238E27FC236}">
                  <a16:creationId xmlns:a16="http://schemas.microsoft.com/office/drawing/2014/main" id="{967D59DF-23A6-4868-4F12-79043E5193AF}"/>
                </a:ext>
              </a:extLst>
            </p:cNvPr>
            <p:cNvGrpSpPr/>
            <p:nvPr/>
          </p:nvGrpSpPr>
          <p:grpSpPr>
            <a:xfrm flipH="1">
              <a:off x="1430562" y="2620492"/>
              <a:ext cx="114370" cy="509717"/>
              <a:chOff x="2073412" y="2165654"/>
              <a:chExt cx="314361" cy="1401954"/>
            </a:xfrm>
            <a:solidFill>
              <a:srgbClr val="0D0D0D">
                <a:alpha val="29804"/>
              </a:srgbClr>
            </a:solidFill>
          </p:grpSpPr>
          <p:sp>
            <p:nvSpPr>
              <p:cNvPr id="1286" name="Freeform 119">
                <a:extLst>
                  <a:ext uri="{FF2B5EF4-FFF2-40B4-BE49-F238E27FC236}">
                    <a16:creationId xmlns:a16="http://schemas.microsoft.com/office/drawing/2014/main" id="{96387112-5280-FA8A-E96C-E7646F93EBC5}"/>
                  </a:ext>
                </a:extLst>
              </p:cNvPr>
              <p:cNvSpPr/>
              <p:nvPr/>
            </p:nvSpPr>
            <p:spPr>
              <a:xfrm>
                <a:off x="2076568" y="2165654"/>
                <a:ext cx="303348" cy="1401954"/>
              </a:xfrm>
              <a:custGeom>
                <a:avLst/>
                <a:gdLst>
                  <a:gd name="connsiteX0" fmla="*/ 101646 w 168321"/>
                  <a:gd name="connsiteY0" fmla="*/ 3215 h 777915"/>
                  <a:gd name="connsiteX1" fmla="*/ 85771 w 168321"/>
                  <a:gd name="connsiteY1" fmla="*/ 25440 h 777915"/>
                  <a:gd name="connsiteX2" fmla="*/ 76246 w 168321"/>
                  <a:gd name="connsiteY2" fmla="*/ 31790 h 777915"/>
                  <a:gd name="connsiteX3" fmla="*/ 63546 w 168321"/>
                  <a:gd name="connsiteY3" fmla="*/ 50840 h 777915"/>
                  <a:gd name="connsiteX4" fmla="*/ 57196 w 168321"/>
                  <a:gd name="connsiteY4" fmla="*/ 60365 h 777915"/>
                  <a:gd name="connsiteX5" fmla="*/ 50846 w 168321"/>
                  <a:gd name="connsiteY5" fmla="*/ 69890 h 777915"/>
                  <a:gd name="connsiteX6" fmla="*/ 44496 w 168321"/>
                  <a:gd name="connsiteY6" fmla="*/ 95290 h 777915"/>
                  <a:gd name="connsiteX7" fmla="*/ 38146 w 168321"/>
                  <a:gd name="connsiteY7" fmla="*/ 114340 h 777915"/>
                  <a:gd name="connsiteX8" fmla="*/ 34971 w 168321"/>
                  <a:gd name="connsiteY8" fmla="*/ 123865 h 777915"/>
                  <a:gd name="connsiteX9" fmla="*/ 25446 w 168321"/>
                  <a:gd name="connsiteY9" fmla="*/ 155615 h 777915"/>
                  <a:gd name="connsiteX10" fmla="*/ 15921 w 168321"/>
                  <a:gd name="connsiteY10" fmla="*/ 184190 h 777915"/>
                  <a:gd name="connsiteX11" fmla="*/ 12746 w 168321"/>
                  <a:gd name="connsiteY11" fmla="*/ 193715 h 777915"/>
                  <a:gd name="connsiteX12" fmla="*/ 12746 w 168321"/>
                  <a:gd name="connsiteY12" fmla="*/ 269915 h 777915"/>
                  <a:gd name="connsiteX13" fmla="*/ 22271 w 168321"/>
                  <a:gd name="connsiteY13" fmla="*/ 308015 h 777915"/>
                  <a:gd name="connsiteX14" fmla="*/ 31796 w 168321"/>
                  <a:gd name="connsiteY14" fmla="*/ 314365 h 777915"/>
                  <a:gd name="connsiteX15" fmla="*/ 31796 w 168321"/>
                  <a:gd name="connsiteY15" fmla="*/ 333415 h 777915"/>
                  <a:gd name="connsiteX16" fmla="*/ 12746 w 168321"/>
                  <a:gd name="connsiteY16" fmla="*/ 346115 h 777915"/>
                  <a:gd name="connsiteX17" fmla="*/ 6396 w 168321"/>
                  <a:gd name="connsiteY17" fmla="*/ 355640 h 777915"/>
                  <a:gd name="connsiteX18" fmla="*/ 3221 w 168321"/>
                  <a:gd name="connsiteY18" fmla="*/ 368340 h 777915"/>
                  <a:gd name="connsiteX19" fmla="*/ 46 w 168321"/>
                  <a:gd name="connsiteY19" fmla="*/ 438190 h 777915"/>
                  <a:gd name="connsiteX20" fmla="*/ 3221 w 168321"/>
                  <a:gd name="connsiteY20" fmla="*/ 514390 h 777915"/>
                  <a:gd name="connsiteX21" fmla="*/ 3221 w 168321"/>
                  <a:gd name="connsiteY21" fmla="*/ 581065 h 777915"/>
                  <a:gd name="connsiteX22" fmla="*/ 9571 w 168321"/>
                  <a:gd name="connsiteY22" fmla="*/ 717590 h 777915"/>
                  <a:gd name="connsiteX23" fmla="*/ 12746 w 168321"/>
                  <a:gd name="connsiteY23" fmla="*/ 730290 h 777915"/>
                  <a:gd name="connsiteX24" fmla="*/ 19096 w 168321"/>
                  <a:gd name="connsiteY24" fmla="*/ 762040 h 777915"/>
                  <a:gd name="connsiteX25" fmla="*/ 25446 w 168321"/>
                  <a:gd name="connsiteY25" fmla="*/ 771565 h 777915"/>
                  <a:gd name="connsiteX26" fmla="*/ 54021 w 168321"/>
                  <a:gd name="connsiteY26" fmla="*/ 774740 h 777915"/>
                  <a:gd name="connsiteX27" fmla="*/ 63546 w 168321"/>
                  <a:gd name="connsiteY27" fmla="*/ 777915 h 777915"/>
                  <a:gd name="connsiteX28" fmla="*/ 85771 w 168321"/>
                  <a:gd name="connsiteY28" fmla="*/ 755690 h 777915"/>
                  <a:gd name="connsiteX29" fmla="*/ 88946 w 168321"/>
                  <a:gd name="connsiteY29" fmla="*/ 746165 h 777915"/>
                  <a:gd name="connsiteX30" fmla="*/ 98471 w 168321"/>
                  <a:gd name="connsiteY30" fmla="*/ 736640 h 777915"/>
                  <a:gd name="connsiteX31" fmla="*/ 107996 w 168321"/>
                  <a:gd name="connsiteY31" fmla="*/ 708065 h 777915"/>
                  <a:gd name="connsiteX32" fmla="*/ 111171 w 168321"/>
                  <a:gd name="connsiteY32" fmla="*/ 698540 h 777915"/>
                  <a:gd name="connsiteX33" fmla="*/ 114346 w 168321"/>
                  <a:gd name="connsiteY33" fmla="*/ 689015 h 777915"/>
                  <a:gd name="connsiteX34" fmla="*/ 120696 w 168321"/>
                  <a:gd name="connsiteY34" fmla="*/ 654090 h 777915"/>
                  <a:gd name="connsiteX35" fmla="*/ 123871 w 168321"/>
                  <a:gd name="connsiteY35" fmla="*/ 523915 h 777915"/>
                  <a:gd name="connsiteX36" fmla="*/ 120696 w 168321"/>
                  <a:gd name="connsiteY36" fmla="*/ 514390 h 777915"/>
                  <a:gd name="connsiteX37" fmla="*/ 123871 w 168321"/>
                  <a:gd name="connsiteY37" fmla="*/ 485815 h 777915"/>
                  <a:gd name="connsiteX38" fmla="*/ 117521 w 168321"/>
                  <a:gd name="connsiteY38" fmla="*/ 428665 h 777915"/>
                  <a:gd name="connsiteX39" fmla="*/ 114346 w 168321"/>
                  <a:gd name="connsiteY39" fmla="*/ 368340 h 777915"/>
                  <a:gd name="connsiteX40" fmla="*/ 107996 w 168321"/>
                  <a:gd name="connsiteY40" fmla="*/ 349290 h 777915"/>
                  <a:gd name="connsiteX41" fmla="*/ 79421 w 168321"/>
                  <a:gd name="connsiteY41" fmla="*/ 327065 h 777915"/>
                  <a:gd name="connsiteX42" fmla="*/ 92121 w 168321"/>
                  <a:gd name="connsiteY42" fmla="*/ 308015 h 777915"/>
                  <a:gd name="connsiteX43" fmla="*/ 98471 w 168321"/>
                  <a:gd name="connsiteY43" fmla="*/ 288965 h 777915"/>
                  <a:gd name="connsiteX44" fmla="*/ 107996 w 168321"/>
                  <a:gd name="connsiteY44" fmla="*/ 260390 h 777915"/>
                  <a:gd name="connsiteX45" fmla="*/ 117521 w 168321"/>
                  <a:gd name="connsiteY45" fmla="*/ 241340 h 777915"/>
                  <a:gd name="connsiteX46" fmla="*/ 123871 w 168321"/>
                  <a:gd name="connsiteY46" fmla="*/ 222290 h 777915"/>
                  <a:gd name="connsiteX47" fmla="*/ 136571 w 168321"/>
                  <a:gd name="connsiteY47" fmla="*/ 184190 h 777915"/>
                  <a:gd name="connsiteX48" fmla="*/ 139746 w 168321"/>
                  <a:gd name="connsiteY48" fmla="*/ 174665 h 777915"/>
                  <a:gd name="connsiteX49" fmla="*/ 142921 w 168321"/>
                  <a:gd name="connsiteY49" fmla="*/ 165140 h 777915"/>
                  <a:gd name="connsiteX50" fmla="*/ 146096 w 168321"/>
                  <a:gd name="connsiteY50" fmla="*/ 120690 h 777915"/>
                  <a:gd name="connsiteX51" fmla="*/ 158796 w 168321"/>
                  <a:gd name="connsiteY51" fmla="*/ 76240 h 777915"/>
                  <a:gd name="connsiteX52" fmla="*/ 168321 w 168321"/>
                  <a:gd name="connsiteY52" fmla="*/ 57190 h 777915"/>
                  <a:gd name="connsiteX53" fmla="*/ 165146 w 168321"/>
                  <a:gd name="connsiteY53" fmla="*/ 28615 h 777915"/>
                  <a:gd name="connsiteX54" fmla="*/ 161971 w 168321"/>
                  <a:gd name="connsiteY54" fmla="*/ 19090 h 777915"/>
                  <a:gd name="connsiteX55" fmla="*/ 152446 w 168321"/>
                  <a:gd name="connsiteY55" fmla="*/ 15915 h 777915"/>
                  <a:gd name="connsiteX56" fmla="*/ 136571 w 168321"/>
                  <a:gd name="connsiteY56" fmla="*/ 12740 h 777915"/>
                  <a:gd name="connsiteX57" fmla="*/ 130221 w 168321"/>
                  <a:gd name="connsiteY57" fmla="*/ 3215 h 777915"/>
                  <a:gd name="connsiteX58" fmla="*/ 111171 w 168321"/>
                  <a:gd name="connsiteY58" fmla="*/ 3215 h 777915"/>
                  <a:gd name="connsiteX59" fmla="*/ 101646 w 168321"/>
                  <a:gd name="connsiteY59" fmla="*/ 9565 h 777915"/>
                  <a:gd name="connsiteX60" fmla="*/ 101646 w 168321"/>
                  <a:gd name="connsiteY60" fmla="*/ 3215 h 77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68321" h="777915">
                    <a:moveTo>
                      <a:pt x="101646" y="3215"/>
                    </a:moveTo>
                    <a:cubicBezTo>
                      <a:pt x="99000" y="5861"/>
                      <a:pt x="91819" y="18635"/>
                      <a:pt x="85771" y="25440"/>
                    </a:cubicBezTo>
                    <a:cubicBezTo>
                      <a:pt x="83236" y="28292"/>
                      <a:pt x="78759" y="28918"/>
                      <a:pt x="76246" y="31790"/>
                    </a:cubicBezTo>
                    <a:cubicBezTo>
                      <a:pt x="71220" y="37533"/>
                      <a:pt x="67779" y="44490"/>
                      <a:pt x="63546" y="50840"/>
                    </a:cubicBezTo>
                    <a:lnTo>
                      <a:pt x="57196" y="60365"/>
                    </a:lnTo>
                    <a:lnTo>
                      <a:pt x="50846" y="69890"/>
                    </a:lnTo>
                    <a:cubicBezTo>
                      <a:pt x="48729" y="78357"/>
                      <a:pt x="47256" y="87011"/>
                      <a:pt x="44496" y="95290"/>
                    </a:cubicBezTo>
                    <a:lnTo>
                      <a:pt x="38146" y="114340"/>
                    </a:lnTo>
                    <a:cubicBezTo>
                      <a:pt x="37088" y="117515"/>
                      <a:pt x="35783" y="120618"/>
                      <a:pt x="34971" y="123865"/>
                    </a:cubicBezTo>
                    <a:cubicBezTo>
                      <a:pt x="30173" y="143059"/>
                      <a:pt x="33176" y="132425"/>
                      <a:pt x="25446" y="155615"/>
                    </a:cubicBezTo>
                    <a:lnTo>
                      <a:pt x="15921" y="184190"/>
                    </a:lnTo>
                    <a:lnTo>
                      <a:pt x="12746" y="193715"/>
                    </a:lnTo>
                    <a:cubicBezTo>
                      <a:pt x="8656" y="234614"/>
                      <a:pt x="8027" y="222721"/>
                      <a:pt x="12746" y="269915"/>
                    </a:cubicBezTo>
                    <a:cubicBezTo>
                      <a:pt x="13173" y="274183"/>
                      <a:pt x="17887" y="305092"/>
                      <a:pt x="22271" y="308015"/>
                    </a:cubicBezTo>
                    <a:lnTo>
                      <a:pt x="31796" y="314365"/>
                    </a:lnTo>
                    <a:cubicBezTo>
                      <a:pt x="33913" y="320715"/>
                      <a:pt x="38146" y="327065"/>
                      <a:pt x="31796" y="333415"/>
                    </a:cubicBezTo>
                    <a:cubicBezTo>
                      <a:pt x="26400" y="338811"/>
                      <a:pt x="12746" y="346115"/>
                      <a:pt x="12746" y="346115"/>
                    </a:cubicBezTo>
                    <a:cubicBezTo>
                      <a:pt x="10629" y="349290"/>
                      <a:pt x="7899" y="352133"/>
                      <a:pt x="6396" y="355640"/>
                    </a:cubicBezTo>
                    <a:cubicBezTo>
                      <a:pt x="4677" y="359651"/>
                      <a:pt x="3556" y="363989"/>
                      <a:pt x="3221" y="368340"/>
                    </a:cubicBezTo>
                    <a:cubicBezTo>
                      <a:pt x="1433" y="391579"/>
                      <a:pt x="1104" y="414907"/>
                      <a:pt x="46" y="438190"/>
                    </a:cubicBezTo>
                    <a:cubicBezTo>
                      <a:pt x="1104" y="463590"/>
                      <a:pt x="3221" y="488968"/>
                      <a:pt x="3221" y="514390"/>
                    </a:cubicBezTo>
                    <a:cubicBezTo>
                      <a:pt x="3221" y="590058"/>
                      <a:pt x="-4028" y="537574"/>
                      <a:pt x="3221" y="581065"/>
                    </a:cubicBezTo>
                    <a:cubicBezTo>
                      <a:pt x="4112" y="606007"/>
                      <a:pt x="5954" y="683227"/>
                      <a:pt x="9571" y="717590"/>
                    </a:cubicBezTo>
                    <a:cubicBezTo>
                      <a:pt x="10028" y="721930"/>
                      <a:pt x="11890" y="726011"/>
                      <a:pt x="12746" y="730290"/>
                    </a:cubicBezTo>
                    <a:cubicBezTo>
                      <a:pt x="13731" y="735214"/>
                      <a:pt x="16330" y="755587"/>
                      <a:pt x="19096" y="762040"/>
                    </a:cubicBezTo>
                    <a:cubicBezTo>
                      <a:pt x="20599" y="765547"/>
                      <a:pt x="21860" y="770261"/>
                      <a:pt x="25446" y="771565"/>
                    </a:cubicBezTo>
                    <a:cubicBezTo>
                      <a:pt x="34453" y="774840"/>
                      <a:pt x="44496" y="773682"/>
                      <a:pt x="54021" y="774740"/>
                    </a:cubicBezTo>
                    <a:cubicBezTo>
                      <a:pt x="57196" y="775798"/>
                      <a:pt x="60199" y="777915"/>
                      <a:pt x="63546" y="777915"/>
                    </a:cubicBezTo>
                    <a:cubicBezTo>
                      <a:pt x="75257" y="777915"/>
                      <a:pt x="82741" y="764781"/>
                      <a:pt x="85771" y="755690"/>
                    </a:cubicBezTo>
                    <a:cubicBezTo>
                      <a:pt x="86829" y="752515"/>
                      <a:pt x="87090" y="748950"/>
                      <a:pt x="88946" y="746165"/>
                    </a:cubicBezTo>
                    <a:cubicBezTo>
                      <a:pt x="91437" y="742429"/>
                      <a:pt x="95296" y="739815"/>
                      <a:pt x="98471" y="736640"/>
                    </a:cubicBezTo>
                    <a:lnTo>
                      <a:pt x="107996" y="708065"/>
                    </a:lnTo>
                    <a:lnTo>
                      <a:pt x="111171" y="698540"/>
                    </a:lnTo>
                    <a:cubicBezTo>
                      <a:pt x="112229" y="695365"/>
                      <a:pt x="113690" y="692297"/>
                      <a:pt x="114346" y="689015"/>
                    </a:cubicBezTo>
                    <a:cubicBezTo>
                      <a:pt x="118784" y="666827"/>
                      <a:pt x="116634" y="678463"/>
                      <a:pt x="120696" y="654090"/>
                    </a:cubicBezTo>
                    <a:cubicBezTo>
                      <a:pt x="125896" y="586493"/>
                      <a:pt x="130248" y="581311"/>
                      <a:pt x="123871" y="523915"/>
                    </a:cubicBezTo>
                    <a:cubicBezTo>
                      <a:pt x="123501" y="520589"/>
                      <a:pt x="121754" y="517565"/>
                      <a:pt x="120696" y="514390"/>
                    </a:cubicBezTo>
                    <a:cubicBezTo>
                      <a:pt x="121754" y="504865"/>
                      <a:pt x="123871" y="495399"/>
                      <a:pt x="123871" y="485815"/>
                    </a:cubicBezTo>
                    <a:cubicBezTo>
                      <a:pt x="123871" y="470405"/>
                      <a:pt x="119883" y="445198"/>
                      <a:pt x="117521" y="428665"/>
                    </a:cubicBezTo>
                    <a:cubicBezTo>
                      <a:pt x="116463" y="408557"/>
                      <a:pt x="116745" y="388333"/>
                      <a:pt x="114346" y="368340"/>
                    </a:cubicBezTo>
                    <a:cubicBezTo>
                      <a:pt x="113549" y="361694"/>
                      <a:pt x="113565" y="353003"/>
                      <a:pt x="107996" y="349290"/>
                    </a:cubicBezTo>
                    <a:cubicBezTo>
                      <a:pt x="85210" y="334099"/>
                      <a:pt x="94342" y="341986"/>
                      <a:pt x="79421" y="327065"/>
                    </a:cubicBezTo>
                    <a:cubicBezTo>
                      <a:pt x="89925" y="295553"/>
                      <a:pt x="72302" y="343690"/>
                      <a:pt x="92121" y="308015"/>
                    </a:cubicBezTo>
                    <a:cubicBezTo>
                      <a:pt x="95372" y="302164"/>
                      <a:pt x="96354" y="295315"/>
                      <a:pt x="98471" y="288965"/>
                    </a:cubicBezTo>
                    <a:lnTo>
                      <a:pt x="107996" y="260390"/>
                    </a:lnTo>
                    <a:cubicBezTo>
                      <a:pt x="119575" y="225652"/>
                      <a:pt x="101108" y="278269"/>
                      <a:pt x="117521" y="241340"/>
                    </a:cubicBezTo>
                    <a:cubicBezTo>
                      <a:pt x="120239" y="235223"/>
                      <a:pt x="121754" y="228640"/>
                      <a:pt x="123871" y="222290"/>
                    </a:cubicBezTo>
                    <a:lnTo>
                      <a:pt x="136571" y="184190"/>
                    </a:lnTo>
                    <a:lnTo>
                      <a:pt x="139746" y="174665"/>
                    </a:lnTo>
                    <a:lnTo>
                      <a:pt x="142921" y="165140"/>
                    </a:lnTo>
                    <a:cubicBezTo>
                      <a:pt x="143979" y="150323"/>
                      <a:pt x="144089" y="135408"/>
                      <a:pt x="146096" y="120690"/>
                    </a:cubicBezTo>
                    <a:cubicBezTo>
                      <a:pt x="146459" y="118029"/>
                      <a:pt x="155523" y="81149"/>
                      <a:pt x="158796" y="76240"/>
                    </a:cubicBezTo>
                    <a:cubicBezTo>
                      <a:pt x="167002" y="63930"/>
                      <a:pt x="163939" y="70335"/>
                      <a:pt x="168321" y="57190"/>
                    </a:cubicBezTo>
                    <a:cubicBezTo>
                      <a:pt x="167263" y="47665"/>
                      <a:pt x="166722" y="38068"/>
                      <a:pt x="165146" y="28615"/>
                    </a:cubicBezTo>
                    <a:cubicBezTo>
                      <a:pt x="164596" y="25314"/>
                      <a:pt x="164338" y="21457"/>
                      <a:pt x="161971" y="19090"/>
                    </a:cubicBezTo>
                    <a:cubicBezTo>
                      <a:pt x="159604" y="16723"/>
                      <a:pt x="155693" y="16727"/>
                      <a:pt x="152446" y="15915"/>
                    </a:cubicBezTo>
                    <a:cubicBezTo>
                      <a:pt x="147211" y="14606"/>
                      <a:pt x="141863" y="13798"/>
                      <a:pt x="136571" y="12740"/>
                    </a:cubicBezTo>
                    <a:cubicBezTo>
                      <a:pt x="134454" y="9565"/>
                      <a:pt x="133201" y="5599"/>
                      <a:pt x="130221" y="3215"/>
                    </a:cubicBezTo>
                    <a:cubicBezTo>
                      <a:pt x="123708" y="-1995"/>
                      <a:pt x="117684" y="-41"/>
                      <a:pt x="111171" y="3215"/>
                    </a:cubicBezTo>
                    <a:cubicBezTo>
                      <a:pt x="107758" y="4922"/>
                      <a:pt x="105059" y="7858"/>
                      <a:pt x="101646" y="9565"/>
                    </a:cubicBezTo>
                    <a:cubicBezTo>
                      <a:pt x="87053" y="16862"/>
                      <a:pt x="104292" y="569"/>
                      <a:pt x="101646" y="3215"/>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87" name="Freeform 120">
                <a:extLst>
                  <a:ext uri="{FF2B5EF4-FFF2-40B4-BE49-F238E27FC236}">
                    <a16:creationId xmlns:a16="http://schemas.microsoft.com/office/drawing/2014/main" id="{F58BAA71-2A27-682A-372C-1E4EE08FBC76}"/>
                  </a:ext>
                </a:extLst>
              </p:cNvPr>
              <p:cNvSpPr/>
              <p:nvPr/>
            </p:nvSpPr>
            <p:spPr>
              <a:xfrm>
                <a:off x="2136451" y="2733425"/>
                <a:ext cx="88615" cy="45718"/>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88" name="Freeform 121">
                <a:extLst>
                  <a:ext uri="{FF2B5EF4-FFF2-40B4-BE49-F238E27FC236}">
                    <a16:creationId xmlns:a16="http://schemas.microsoft.com/office/drawing/2014/main" id="{1229B99B-80CA-8DF9-C74D-6F59B55F3EA2}"/>
                  </a:ext>
                </a:extLst>
              </p:cNvPr>
              <p:cNvSpPr/>
              <p:nvPr/>
            </p:nvSpPr>
            <p:spPr>
              <a:xfrm>
                <a:off x="2077078" y="3177188"/>
                <a:ext cx="235338"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89" name="Freeform 123">
                <a:extLst>
                  <a:ext uri="{FF2B5EF4-FFF2-40B4-BE49-F238E27FC236}">
                    <a16:creationId xmlns:a16="http://schemas.microsoft.com/office/drawing/2014/main" id="{712B9CB6-BBC4-9C6C-4262-E58D68BD111A}"/>
                  </a:ext>
                </a:extLst>
              </p:cNvPr>
              <p:cNvSpPr/>
              <p:nvPr/>
            </p:nvSpPr>
            <p:spPr>
              <a:xfrm>
                <a:off x="2082019" y="3327430"/>
                <a:ext cx="212529" cy="106483"/>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0" name="Freeform 124">
                <a:extLst>
                  <a:ext uri="{FF2B5EF4-FFF2-40B4-BE49-F238E27FC236}">
                    <a16:creationId xmlns:a16="http://schemas.microsoft.com/office/drawing/2014/main" id="{4C571FF2-2224-A49D-8A78-D3E3C0516191}"/>
                  </a:ext>
                </a:extLst>
              </p:cNvPr>
              <p:cNvSpPr/>
              <p:nvPr/>
            </p:nvSpPr>
            <p:spPr>
              <a:xfrm rot="1266082">
                <a:off x="2115143" y="2437475"/>
                <a:ext cx="218879" cy="70147"/>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1" name="Freeform 125">
                <a:extLst>
                  <a:ext uri="{FF2B5EF4-FFF2-40B4-BE49-F238E27FC236}">
                    <a16:creationId xmlns:a16="http://schemas.microsoft.com/office/drawing/2014/main" id="{F48F56B1-116E-F0B0-B047-724906C26CFE}"/>
                  </a:ext>
                </a:extLst>
              </p:cNvPr>
              <p:cNvSpPr/>
              <p:nvPr/>
            </p:nvSpPr>
            <p:spPr>
              <a:xfrm rot="1266082">
                <a:off x="2095970" y="2503880"/>
                <a:ext cx="213921" cy="48671"/>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2" name="Freeform 126">
                <a:extLst>
                  <a:ext uri="{FF2B5EF4-FFF2-40B4-BE49-F238E27FC236}">
                    <a16:creationId xmlns:a16="http://schemas.microsoft.com/office/drawing/2014/main" id="{0DA83A45-AEF6-3D55-0BC6-87E6BA2015B6}"/>
                  </a:ext>
                </a:extLst>
              </p:cNvPr>
              <p:cNvSpPr/>
              <p:nvPr/>
            </p:nvSpPr>
            <p:spPr>
              <a:xfrm rot="900000">
                <a:off x="2144470" y="2349041"/>
                <a:ext cx="194840" cy="51091"/>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3" name="Freeform 127">
                <a:extLst>
                  <a:ext uri="{FF2B5EF4-FFF2-40B4-BE49-F238E27FC236}">
                    <a16:creationId xmlns:a16="http://schemas.microsoft.com/office/drawing/2014/main" id="{8B24B2C5-BE7C-A4AC-A205-16546B501C52}"/>
                  </a:ext>
                </a:extLst>
              </p:cNvPr>
              <p:cNvSpPr/>
              <p:nvPr/>
            </p:nvSpPr>
            <p:spPr>
              <a:xfrm rot="900000">
                <a:off x="2088300" y="2608839"/>
                <a:ext cx="179344"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4" name="Freeform 128">
                <a:extLst>
                  <a:ext uri="{FF2B5EF4-FFF2-40B4-BE49-F238E27FC236}">
                    <a16:creationId xmlns:a16="http://schemas.microsoft.com/office/drawing/2014/main" id="{8A365356-E20B-C88A-D4B8-522547A767A8}"/>
                  </a:ext>
                </a:extLst>
              </p:cNvPr>
              <p:cNvSpPr/>
              <p:nvPr/>
            </p:nvSpPr>
            <p:spPr>
              <a:xfrm>
                <a:off x="2077345" y="3005410"/>
                <a:ext cx="22181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5" name="Freeform 129">
                <a:extLst>
                  <a:ext uri="{FF2B5EF4-FFF2-40B4-BE49-F238E27FC236}">
                    <a16:creationId xmlns:a16="http://schemas.microsoft.com/office/drawing/2014/main" id="{A0132A0E-D085-DF50-D778-310C4EA3FA35}"/>
                  </a:ext>
                </a:extLst>
              </p:cNvPr>
              <p:cNvSpPr/>
              <p:nvPr/>
            </p:nvSpPr>
            <p:spPr>
              <a:xfrm>
                <a:off x="2073412" y="286645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6" name="Freeform 131">
                <a:extLst>
                  <a:ext uri="{FF2B5EF4-FFF2-40B4-BE49-F238E27FC236}">
                    <a16:creationId xmlns:a16="http://schemas.microsoft.com/office/drawing/2014/main" id="{4BD6D2A1-E01C-56F4-0BD1-A007304D0A3F}"/>
                  </a:ext>
                </a:extLst>
              </p:cNvPr>
              <p:cNvSpPr/>
              <p:nvPr/>
            </p:nvSpPr>
            <p:spPr>
              <a:xfrm rot="10800000">
                <a:off x="2076143" y="291779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7" name="Freeform 132">
                <a:extLst>
                  <a:ext uri="{FF2B5EF4-FFF2-40B4-BE49-F238E27FC236}">
                    <a16:creationId xmlns:a16="http://schemas.microsoft.com/office/drawing/2014/main" id="{B5FDF354-86E3-8841-DA67-D79A93C0DD1E}"/>
                  </a:ext>
                </a:extLst>
              </p:cNvPr>
              <p:cNvSpPr/>
              <p:nvPr/>
            </p:nvSpPr>
            <p:spPr>
              <a:xfrm rot="1219864">
                <a:off x="2169688" y="2254021"/>
                <a:ext cx="196434"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298" name="Freeform 133">
                <a:extLst>
                  <a:ext uri="{FF2B5EF4-FFF2-40B4-BE49-F238E27FC236}">
                    <a16:creationId xmlns:a16="http://schemas.microsoft.com/office/drawing/2014/main" id="{9DCE110B-286D-7BE2-16DA-B43FED3BB775}"/>
                  </a:ext>
                </a:extLst>
              </p:cNvPr>
              <p:cNvSpPr/>
              <p:nvPr/>
            </p:nvSpPr>
            <p:spPr>
              <a:xfrm rot="1219864">
                <a:off x="2208117" y="2227334"/>
                <a:ext cx="179656" cy="25401"/>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299" name="Freeform 134">
                <a:extLst>
                  <a:ext uri="{FF2B5EF4-FFF2-40B4-BE49-F238E27FC236}">
                    <a16:creationId xmlns:a16="http://schemas.microsoft.com/office/drawing/2014/main" id="{0FF76932-AA7C-3272-A472-DDF137C7821D}"/>
                  </a:ext>
                </a:extLst>
              </p:cNvPr>
              <p:cNvSpPr/>
              <p:nvPr/>
            </p:nvSpPr>
            <p:spPr>
              <a:xfrm>
                <a:off x="2080401" y="3262318"/>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defTabSz="1219170"/>
                <a:endParaRPr lang="en-US" sz="2880"/>
              </a:p>
            </p:txBody>
          </p:sp>
        </p:grpSp>
        <p:pic>
          <p:nvPicPr>
            <p:cNvPr id="1285" name="Picture 88">
              <a:extLst>
                <a:ext uri="{FF2B5EF4-FFF2-40B4-BE49-F238E27FC236}">
                  <a16:creationId xmlns:a16="http://schemas.microsoft.com/office/drawing/2014/main" id="{1EDBF978-B04F-49C2-0C82-E1E495B7B765}"/>
                </a:ext>
              </a:extLst>
            </p:cNvPr>
            <p:cNvPicPr>
              <a:picLocks noChangeAspect="1"/>
            </p:cNvPicPr>
            <p:nvPr/>
          </p:nvPicPr>
          <p:blipFill>
            <a:blip r:embed="rId23" cstate="print">
              <a:duotone>
                <a:schemeClr val="accent3">
                  <a:shade val="45000"/>
                  <a:satMod val="135000"/>
                </a:schemeClr>
                <a:prstClr val="white"/>
              </a:duotone>
              <a:extLst>
                <a:ext uri="{BEBA8EAE-BF5A-486C-A8C5-ECC9F3942E4B}">
                  <a14:imgProps xmlns:a14="http://schemas.microsoft.com/office/drawing/2010/main">
                    <a14:imgLayer r:embed="rId24">
                      <a14:imgEffect>
                        <a14:backgroundRemoval t="2564" b="94231" l="1667" r="96111">
                          <a14:foregroundMark x1="80556" y1="13462" x2="80556" y2="13462"/>
                          <a14:foregroundMark x1="80000" y1="6410" x2="80000" y2="6410"/>
                          <a14:foregroundMark x1="91111" y1="20513" x2="91111" y2="20513"/>
                          <a14:foregroundMark x1="94444" y1="21795" x2="94444" y2="21795"/>
                          <a14:foregroundMark x1="78333" y1="4487" x2="78333" y2="4487"/>
                          <a14:foregroundMark x1="37778" y1="94231" x2="37778" y2="94231"/>
                          <a14:foregroundMark x1="9444" y1="76282" x2="9444" y2="76282"/>
                          <a14:foregroundMark x1="1667" y1="63462" x2="1667" y2="63462"/>
                          <a14:foregroundMark x1="92222" y1="11538" x2="92222" y2="11538"/>
                          <a14:foregroundMark x1="93333" y1="11538" x2="93889" y2="10256"/>
                          <a14:foregroundMark x1="95556" y1="26282" x2="96111" y2="22436"/>
                        </a14:backgroundRemoval>
                      </a14:imgEffect>
                    </a14:imgLayer>
                  </a14:imgProps>
                </a:ext>
                <a:ext uri="{28A0092B-C50C-407E-A947-70E740481C1C}">
                  <a14:useLocalDpi xmlns:a14="http://schemas.microsoft.com/office/drawing/2010/main" val="0"/>
                </a:ext>
              </a:extLst>
            </a:blip>
            <a:stretch>
              <a:fillRect/>
            </a:stretch>
          </p:blipFill>
          <p:spPr>
            <a:xfrm flipH="1">
              <a:off x="1410051" y="2172742"/>
              <a:ext cx="393077" cy="340207"/>
            </a:xfrm>
            <a:prstGeom prst="rect">
              <a:avLst/>
            </a:prstGeom>
            <a:effectLst>
              <a:reflection endPos="0" dir="5400000" sy="-100000" algn="bl" rotWithShape="0"/>
            </a:effectLst>
          </p:spPr>
        </p:pic>
      </p:grpSp>
      <p:grpSp>
        <p:nvGrpSpPr>
          <p:cNvPr id="1344" name="Group 175">
            <a:extLst>
              <a:ext uri="{FF2B5EF4-FFF2-40B4-BE49-F238E27FC236}">
                <a16:creationId xmlns:a16="http://schemas.microsoft.com/office/drawing/2014/main" id="{EF97EF15-DD68-53A7-AA29-79C35B4BEDEA}"/>
              </a:ext>
            </a:extLst>
          </p:cNvPr>
          <p:cNvGrpSpPr/>
          <p:nvPr/>
        </p:nvGrpSpPr>
        <p:grpSpPr>
          <a:xfrm>
            <a:off x="8426084" y="1291990"/>
            <a:ext cx="1086115" cy="1078197"/>
            <a:chOff x="2980599" y="1597222"/>
            <a:chExt cx="814586" cy="808648"/>
          </a:xfrm>
        </p:grpSpPr>
        <p:sp>
          <p:nvSpPr>
            <p:cNvPr id="1345" name="Striped Right Arrow 169">
              <a:extLst>
                <a:ext uri="{FF2B5EF4-FFF2-40B4-BE49-F238E27FC236}">
                  <a16:creationId xmlns:a16="http://schemas.microsoft.com/office/drawing/2014/main" id="{1FC4277D-934C-C98D-1590-D93BBCDD6A6A}"/>
                </a:ext>
              </a:extLst>
            </p:cNvPr>
            <p:cNvSpPr/>
            <p:nvPr/>
          </p:nvSpPr>
          <p:spPr>
            <a:xfrm>
              <a:off x="2980599" y="1597222"/>
              <a:ext cx="761602" cy="808648"/>
            </a:xfrm>
            <a:prstGeom prst="stripedRightArrow">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880" dirty="0"/>
            </a:p>
          </p:txBody>
        </p:sp>
        <p:sp>
          <p:nvSpPr>
            <p:cNvPr id="1346" name="TextBox 171">
              <a:extLst>
                <a:ext uri="{FF2B5EF4-FFF2-40B4-BE49-F238E27FC236}">
                  <a16:creationId xmlns:a16="http://schemas.microsoft.com/office/drawing/2014/main" id="{E1FC4374-B2A3-0A6B-8113-3DE895C7FD98}"/>
                </a:ext>
              </a:extLst>
            </p:cNvPr>
            <p:cNvSpPr txBox="1"/>
            <p:nvPr/>
          </p:nvSpPr>
          <p:spPr>
            <a:xfrm>
              <a:off x="3025571" y="1841010"/>
              <a:ext cx="769614" cy="284742"/>
            </a:xfrm>
            <a:prstGeom prst="rect">
              <a:avLst/>
            </a:prstGeom>
            <a:noFill/>
          </p:spPr>
          <p:txBody>
            <a:bodyPr wrap="square">
              <a:spAutoFit/>
            </a:bodyPr>
            <a:lstStyle/>
            <a:p>
              <a:r>
                <a:rPr lang="en-US" sz="1867" dirty="0">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rPr>
                <a:t>Fusion</a:t>
              </a:r>
              <a:endParaRPr lang="en-IL" sz="2133" dirty="0">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grpSp>
      <p:sp>
        <p:nvSpPr>
          <p:cNvPr id="1350" name="Title 20">
            <a:extLst>
              <a:ext uri="{FF2B5EF4-FFF2-40B4-BE49-F238E27FC236}">
                <a16:creationId xmlns:a16="http://schemas.microsoft.com/office/drawing/2014/main" id="{FE72AE43-4D76-1266-6FFB-50D20CBDE4DA}"/>
              </a:ext>
            </a:extLst>
          </p:cNvPr>
          <p:cNvSpPr txBox="1">
            <a:spLocks/>
          </p:cNvSpPr>
          <p:nvPr/>
        </p:nvSpPr>
        <p:spPr>
          <a:xfrm>
            <a:off x="12787" y="8394699"/>
            <a:ext cx="3608236" cy="675725"/>
          </a:xfrm>
          <a:prstGeom prst="rect">
            <a:avLst/>
          </a:prstGeom>
        </p:spPr>
        <p:txBody>
          <a:bodyPr vert="horz" lIns="121920" tIns="60960" rIns="121920" bIns="60960" rtlCol="1" anchor="b">
            <a:noAutofit/>
          </a:bodyPr>
          <a:lstStyle/>
          <a:p>
            <a:pPr rtl="0">
              <a:spcBef>
                <a:spcPct val="0"/>
              </a:spcBef>
              <a:defRPr/>
            </a:pPr>
            <a:r>
              <a:rPr lang="en-US" sz="1467" dirty="0">
                <a:solidFill>
                  <a:schemeClr val="tx1">
                    <a:lumMod val="85000"/>
                    <a:lumOff val="15000"/>
                  </a:schemeClr>
                </a:solidFill>
                <a:latin typeface="Helvetica Neue Thin" panose="020B0403020202020204" pitchFamily="34" charset="0"/>
                <a:ea typeface="Helvetica Neue Thin" panose="020B0403020202020204" pitchFamily="34" charset="0"/>
                <a:cs typeface="Calibri Light" panose="020F0302020204030204" pitchFamily="34" charset="0"/>
              </a:rPr>
              <a:t>Gokhman et al., </a:t>
            </a:r>
            <a:r>
              <a:rPr lang="en-US" sz="1467" i="1" dirty="0">
                <a:solidFill>
                  <a:schemeClr val="tx1">
                    <a:lumMod val="85000"/>
                    <a:lumOff val="15000"/>
                  </a:schemeClr>
                </a:solidFill>
                <a:latin typeface="Helvetica Neue Thin" panose="020B0403020202020204" pitchFamily="34" charset="0"/>
                <a:ea typeface="Helvetica Neue Thin" panose="020B0403020202020204" pitchFamily="34" charset="0"/>
                <a:cs typeface="Calibri Light" panose="020F0302020204030204" pitchFamily="34" charset="0"/>
              </a:rPr>
              <a:t>Nature Genetics</a:t>
            </a:r>
            <a:r>
              <a:rPr lang="en-US" sz="1467" dirty="0">
                <a:solidFill>
                  <a:schemeClr val="tx1">
                    <a:lumMod val="85000"/>
                    <a:lumOff val="15000"/>
                  </a:schemeClr>
                </a:solidFill>
                <a:latin typeface="Helvetica Neue Thin" panose="020B0403020202020204" pitchFamily="34" charset="0"/>
                <a:ea typeface="Helvetica Neue Thin" panose="020B0403020202020204" pitchFamily="34" charset="0"/>
                <a:cs typeface="Calibri Light" panose="020F0302020204030204" pitchFamily="34" charset="0"/>
              </a:rPr>
              <a:t>, 2021</a:t>
            </a:r>
          </a:p>
          <a:p>
            <a:pPr rtl="0">
              <a:spcBef>
                <a:spcPct val="0"/>
              </a:spcBef>
              <a:defRPr/>
            </a:pPr>
            <a:r>
              <a:rPr lang="en-US" sz="1467" dirty="0">
                <a:solidFill>
                  <a:schemeClr val="tx1">
                    <a:lumMod val="85000"/>
                    <a:lumOff val="15000"/>
                  </a:schemeClr>
                </a:solidFill>
                <a:latin typeface="Helvetica Neue Thin" panose="020B0403020202020204" pitchFamily="34" charset="0"/>
                <a:ea typeface="Helvetica Neue Thin" panose="020B0403020202020204" pitchFamily="34" charset="0"/>
                <a:cs typeface="Calibri Light" panose="020F0302020204030204" pitchFamily="34" charset="0"/>
              </a:rPr>
              <a:t>Agoglia et al., </a:t>
            </a:r>
            <a:r>
              <a:rPr lang="en-US" sz="1467" i="1" dirty="0">
                <a:solidFill>
                  <a:schemeClr val="tx1">
                    <a:lumMod val="85000"/>
                    <a:lumOff val="15000"/>
                  </a:schemeClr>
                </a:solidFill>
                <a:latin typeface="Helvetica Neue Thin" panose="020B0403020202020204" pitchFamily="34" charset="0"/>
                <a:ea typeface="Helvetica Neue Thin" panose="020B0403020202020204" pitchFamily="34" charset="0"/>
                <a:cs typeface="Calibri Light" panose="020F0302020204030204" pitchFamily="34" charset="0"/>
              </a:rPr>
              <a:t>Nature</a:t>
            </a:r>
            <a:r>
              <a:rPr lang="en-US" sz="1467" dirty="0">
                <a:solidFill>
                  <a:schemeClr val="tx1">
                    <a:lumMod val="85000"/>
                    <a:lumOff val="15000"/>
                  </a:schemeClr>
                </a:solidFill>
                <a:latin typeface="Helvetica Neue Thin" panose="020B0403020202020204" pitchFamily="34" charset="0"/>
                <a:ea typeface="Helvetica Neue Thin" panose="020B0403020202020204" pitchFamily="34" charset="0"/>
                <a:cs typeface="Calibri Light" panose="020F0302020204030204" pitchFamily="34" charset="0"/>
              </a:rPr>
              <a:t>, 2021</a:t>
            </a:r>
          </a:p>
        </p:txBody>
      </p:sp>
      <p:grpSp>
        <p:nvGrpSpPr>
          <p:cNvPr id="1351" name="Group 4">
            <a:extLst>
              <a:ext uri="{FF2B5EF4-FFF2-40B4-BE49-F238E27FC236}">
                <a16:creationId xmlns:a16="http://schemas.microsoft.com/office/drawing/2014/main" id="{B8EAED6C-E4EF-61F6-D561-6963DECC46CB}"/>
              </a:ext>
            </a:extLst>
          </p:cNvPr>
          <p:cNvGrpSpPr/>
          <p:nvPr/>
        </p:nvGrpSpPr>
        <p:grpSpPr>
          <a:xfrm>
            <a:off x="6938528" y="2495257"/>
            <a:ext cx="4245003" cy="4327997"/>
            <a:chOff x="7047754" y="1893462"/>
            <a:chExt cx="1481271" cy="1510231"/>
          </a:xfrm>
        </p:grpSpPr>
        <p:sp>
          <p:nvSpPr>
            <p:cNvPr id="1352" name="Oval 83">
              <a:extLst>
                <a:ext uri="{FF2B5EF4-FFF2-40B4-BE49-F238E27FC236}">
                  <a16:creationId xmlns:a16="http://schemas.microsoft.com/office/drawing/2014/main" id="{A378CD4E-0E08-E9BE-0320-231DFA8A400E}"/>
                </a:ext>
              </a:extLst>
            </p:cNvPr>
            <p:cNvSpPr/>
            <p:nvPr/>
          </p:nvSpPr>
          <p:spPr>
            <a:xfrm>
              <a:off x="7047754" y="1922423"/>
              <a:ext cx="1481271" cy="1481270"/>
            </a:xfrm>
            <a:prstGeom prst="ellipse">
              <a:avLst/>
            </a:prstGeom>
            <a:solidFill>
              <a:srgbClr val="A3D1A8"/>
            </a:solidFill>
            <a:ln>
              <a:solidFill>
                <a:srgbClr val="4E8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1440" dirty="0"/>
            </a:p>
          </p:txBody>
        </p:sp>
        <p:grpSp>
          <p:nvGrpSpPr>
            <p:cNvPr id="1353" name="Group 328">
              <a:extLst>
                <a:ext uri="{FF2B5EF4-FFF2-40B4-BE49-F238E27FC236}">
                  <a16:creationId xmlns:a16="http://schemas.microsoft.com/office/drawing/2014/main" id="{B77A29C2-6E75-B674-7C03-C4D0D0CE2642}"/>
                </a:ext>
              </a:extLst>
            </p:cNvPr>
            <p:cNvGrpSpPr/>
            <p:nvPr/>
          </p:nvGrpSpPr>
          <p:grpSpPr>
            <a:xfrm>
              <a:off x="8131638" y="2424371"/>
              <a:ext cx="135223" cy="743943"/>
              <a:chOff x="1611916" y="2139960"/>
              <a:chExt cx="264177" cy="1453392"/>
            </a:xfrm>
            <a:solidFill>
              <a:srgbClr val="0D0D0D">
                <a:alpha val="29804"/>
              </a:srgbClr>
            </a:solidFill>
          </p:grpSpPr>
          <p:sp>
            <p:nvSpPr>
              <p:cNvPr id="1402" name="Freeform 329">
                <a:extLst>
                  <a:ext uri="{FF2B5EF4-FFF2-40B4-BE49-F238E27FC236}">
                    <a16:creationId xmlns:a16="http://schemas.microsoft.com/office/drawing/2014/main" id="{48CE2282-D626-0A85-2FA3-2EA72D53AEDE}"/>
                  </a:ext>
                </a:extLst>
              </p:cNvPr>
              <p:cNvSpPr/>
              <p:nvPr/>
            </p:nvSpPr>
            <p:spPr>
              <a:xfrm>
                <a:off x="1614442" y="2139960"/>
                <a:ext cx="258475" cy="1453392"/>
              </a:xfrm>
              <a:custGeom>
                <a:avLst/>
                <a:gdLst>
                  <a:gd name="connsiteX0" fmla="*/ 35470 w 143420"/>
                  <a:gd name="connsiteY0" fmla="*/ 6350 h 806450"/>
                  <a:gd name="connsiteX1" fmla="*/ 19595 w 143420"/>
                  <a:gd name="connsiteY1" fmla="*/ 28575 h 806450"/>
                  <a:gd name="connsiteX2" fmla="*/ 13245 w 143420"/>
                  <a:gd name="connsiteY2" fmla="*/ 47625 h 806450"/>
                  <a:gd name="connsiteX3" fmla="*/ 10070 w 143420"/>
                  <a:gd name="connsiteY3" fmla="*/ 57150 h 806450"/>
                  <a:gd name="connsiteX4" fmla="*/ 13245 w 143420"/>
                  <a:gd name="connsiteY4" fmla="*/ 76200 h 806450"/>
                  <a:gd name="connsiteX5" fmla="*/ 6895 w 143420"/>
                  <a:gd name="connsiteY5" fmla="*/ 187325 h 806450"/>
                  <a:gd name="connsiteX6" fmla="*/ 3720 w 143420"/>
                  <a:gd name="connsiteY6" fmla="*/ 244475 h 806450"/>
                  <a:gd name="connsiteX7" fmla="*/ 3720 w 143420"/>
                  <a:gd name="connsiteY7" fmla="*/ 292100 h 806450"/>
                  <a:gd name="connsiteX8" fmla="*/ 19595 w 143420"/>
                  <a:gd name="connsiteY8" fmla="*/ 323850 h 806450"/>
                  <a:gd name="connsiteX9" fmla="*/ 38645 w 143420"/>
                  <a:gd name="connsiteY9" fmla="*/ 342900 h 806450"/>
                  <a:gd name="connsiteX10" fmla="*/ 25945 w 143420"/>
                  <a:gd name="connsiteY10" fmla="*/ 358775 h 806450"/>
                  <a:gd name="connsiteX11" fmla="*/ 19595 w 143420"/>
                  <a:gd name="connsiteY11" fmla="*/ 368300 h 806450"/>
                  <a:gd name="connsiteX12" fmla="*/ 3720 w 143420"/>
                  <a:gd name="connsiteY12" fmla="*/ 387350 h 806450"/>
                  <a:gd name="connsiteX13" fmla="*/ 6895 w 143420"/>
                  <a:gd name="connsiteY13" fmla="*/ 403225 h 806450"/>
                  <a:gd name="connsiteX14" fmla="*/ 13245 w 143420"/>
                  <a:gd name="connsiteY14" fmla="*/ 422275 h 806450"/>
                  <a:gd name="connsiteX15" fmla="*/ 16420 w 143420"/>
                  <a:gd name="connsiteY15" fmla="*/ 485775 h 806450"/>
                  <a:gd name="connsiteX16" fmla="*/ 19595 w 143420"/>
                  <a:gd name="connsiteY16" fmla="*/ 498475 h 806450"/>
                  <a:gd name="connsiteX17" fmla="*/ 22770 w 143420"/>
                  <a:gd name="connsiteY17" fmla="*/ 581025 h 806450"/>
                  <a:gd name="connsiteX18" fmla="*/ 16420 w 143420"/>
                  <a:gd name="connsiteY18" fmla="*/ 641350 h 806450"/>
                  <a:gd name="connsiteX19" fmla="*/ 10070 w 143420"/>
                  <a:gd name="connsiteY19" fmla="*/ 666750 h 806450"/>
                  <a:gd name="connsiteX20" fmla="*/ 16420 w 143420"/>
                  <a:gd name="connsiteY20" fmla="*/ 739775 h 806450"/>
                  <a:gd name="connsiteX21" fmla="*/ 22770 w 143420"/>
                  <a:gd name="connsiteY21" fmla="*/ 768350 h 806450"/>
                  <a:gd name="connsiteX22" fmla="*/ 29120 w 143420"/>
                  <a:gd name="connsiteY22" fmla="*/ 787400 h 806450"/>
                  <a:gd name="connsiteX23" fmla="*/ 51345 w 143420"/>
                  <a:gd name="connsiteY23" fmla="*/ 803275 h 806450"/>
                  <a:gd name="connsiteX24" fmla="*/ 60870 w 143420"/>
                  <a:gd name="connsiteY24" fmla="*/ 806450 h 806450"/>
                  <a:gd name="connsiteX25" fmla="*/ 70395 w 143420"/>
                  <a:gd name="connsiteY25" fmla="*/ 803275 h 806450"/>
                  <a:gd name="connsiteX26" fmla="*/ 79920 w 143420"/>
                  <a:gd name="connsiteY26" fmla="*/ 793750 h 806450"/>
                  <a:gd name="connsiteX27" fmla="*/ 89445 w 143420"/>
                  <a:gd name="connsiteY27" fmla="*/ 787400 h 806450"/>
                  <a:gd name="connsiteX28" fmla="*/ 95795 w 143420"/>
                  <a:gd name="connsiteY28" fmla="*/ 777875 h 806450"/>
                  <a:gd name="connsiteX29" fmla="*/ 105320 w 143420"/>
                  <a:gd name="connsiteY29" fmla="*/ 774700 h 806450"/>
                  <a:gd name="connsiteX30" fmla="*/ 118020 w 143420"/>
                  <a:gd name="connsiteY30" fmla="*/ 755650 h 806450"/>
                  <a:gd name="connsiteX31" fmla="*/ 124370 w 143420"/>
                  <a:gd name="connsiteY31" fmla="*/ 746125 h 806450"/>
                  <a:gd name="connsiteX32" fmla="*/ 137070 w 143420"/>
                  <a:gd name="connsiteY32" fmla="*/ 717550 h 806450"/>
                  <a:gd name="connsiteX33" fmla="*/ 140245 w 143420"/>
                  <a:gd name="connsiteY33" fmla="*/ 692150 h 806450"/>
                  <a:gd name="connsiteX34" fmla="*/ 143420 w 143420"/>
                  <a:gd name="connsiteY34" fmla="*/ 682625 h 806450"/>
                  <a:gd name="connsiteX35" fmla="*/ 140245 w 143420"/>
                  <a:gd name="connsiteY35" fmla="*/ 641350 h 806450"/>
                  <a:gd name="connsiteX36" fmla="*/ 130720 w 143420"/>
                  <a:gd name="connsiteY36" fmla="*/ 508000 h 806450"/>
                  <a:gd name="connsiteX37" fmla="*/ 130720 w 143420"/>
                  <a:gd name="connsiteY37" fmla="*/ 415925 h 806450"/>
                  <a:gd name="connsiteX38" fmla="*/ 121195 w 143420"/>
                  <a:gd name="connsiteY38" fmla="*/ 374650 h 806450"/>
                  <a:gd name="connsiteX39" fmla="*/ 102145 w 143420"/>
                  <a:gd name="connsiteY39" fmla="*/ 358775 h 806450"/>
                  <a:gd name="connsiteX40" fmla="*/ 83095 w 143420"/>
                  <a:gd name="connsiteY40" fmla="*/ 349250 h 806450"/>
                  <a:gd name="connsiteX41" fmla="*/ 86270 w 143420"/>
                  <a:gd name="connsiteY41" fmla="*/ 336550 h 806450"/>
                  <a:gd name="connsiteX42" fmla="*/ 95795 w 143420"/>
                  <a:gd name="connsiteY42" fmla="*/ 330200 h 806450"/>
                  <a:gd name="connsiteX43" fmla="*/ 105320 w 143420"/>
                  <a:gd name="connsiteY43" fmla="*/ 320675 h 806450"/>
                  <a:gd name="connsiteX44" fmla="*/ 118020 w 143420"/>
                  <a:gd name="connsiteY44" fmla="*/ 292100 h 806450"/>
                  <a:gd name="connsiteX45" fmla="*/ 124370 w 143420"/>
                  <a:gd name="connsiteY45" fmla="*/ 279400 h 806450"/>
                  <a:gd name="connsiteX46" fmla="*/ 127545 w 143420"/>
                  <a:gd name="connsiteY46" fmla="*/ 250825 h 806450"/>
                  <a:gd name="connsiteX47" fmla="*/ 121195 w 143420"/>
                  <a:gd name="connsiteY47" fmla="*/ 177800 h 806450"/>
                  <a:gd name="connsiteX48" fmla="*/ 124370 w 143420"/>
                  <a:gd name="connsiteY48" fmla="*/ 130175 h 806450"/>
                  <a:gd name="connsiteX49" fmla="*/ 114845 w 143420"/>
                  <a:gd name="connsiteY49" fmla="*/ 44450 h 806450"/>
                  <a:gd name="connsiteX50" fmla="*/ 102145 w 143420"/>
                  <a:gd name="connsiteY50" fmla="*/ 15875 h 806450"/>
                  <a:gd name="connsiteX51" fmla="*/ 98970 w 143420"/>
                  <a:gd name="connsiteY51" fmla="*/ 6350 h 806450"/>
                  <a:gd name="connsiteX52" fmla="*/ 79920 w 143420"/>
                  <a:gd name="connsiteY52" fmla="*/ 0 h 806450"/>
                  <a:gd name="connsiteX53" fmla="*/ 54520 w 143420"/>
                  <a:gd name="connsiteY53" fmla="*/ 3175 h 806450"/>
                  <a:gd name="connsiteX54" fmla="*/ 35470 w 143420"/>
                  <a:gd name="connsiteY54" fmla="*/ 6350 h 80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3420" h="806450">
                    <a:moveTo>
                      <a:pt x="35470" y="6350"/>
                    </a:moveTo>
                    <a:cubicBezTo>
                      <a:pt x="29649" y="10583"/>
                      <a:pt x="23911" y="20559"/>
                      <a:pt x="19595" y="28575"/>
                    </a:cubicBezTo>
                    <a:cubicBezTo>
                      <a:pt x="16422" y="34468"/>
                      <a:pt x="15362" y="41275"/>
                      <a:pt x="13245" y="47625"/>
                    </a:cubicBezTo>
                    <a:lnTo>
                      <a:pt x="10070" y="57150"/>
                    </a:lnTo>
                    <a:cubicBezTo>
                      <a:pt x="11128" y="63500"/>
                      <a:pt x="13245" y="69762"/>
                      <a:pt x="13245" y="76200"/>
                    </a:cubicBezTo>
                    <a:cubicBezTo>
                      <a:pt x="13245" y="160070"/>
                      <a:pt x="15730" y="143149"/>
                      <a:pt x="6895" y="187325"/>
                    </a:cubicBezTo>
                    <a:cubicBezTo>
                      <a:pt x="5837" y="206375"/>
                      <a:pt x="5304" y="225462"/>
                      <a:pt x="3720" y="244475"/>
                    </a:cubicBezTo>
                    <a:cubicBezTo>
                      <a:pt x="863" y="278760"/>
                      <a:pt x="-2985" y="248520"/>
                      <a:pt x="3720" y="292100"/>
                    </a:cubicBezTo>
                    <a:cubicBezTo>
                      <a:pt x="5675" y="304811"/>
                      <a:pt x="9845" y="314100"/>
                      <a:pt x="19595" y="323850"/>
                    </a:cubicBezTo>
                    <a:lnTo>
                      <a:pt x="38645" y="342900"/>
                    </a:lnTo>
                    <a:cubicBezTo>
                      <a:pt x="32464" y="361443"/>
                      <a:pt x="40306" y="344414"/>
                      <a:pt x="25945" y="358775"/>
                    </a:cubicBezTo>
                    <a:cubicBezTo>
                      <a:pt x="23247" y="361473"/>
                      <a:pt x="22038" y="365369"/>
                      <a:pt x="19595" y="368300"/>
                    </a:cubicBezTo>
                    <a:cubicBezTo>
                      <a:pt x="-777" y="392746"/>
                      <a:pt x="19486" y="363701"/>
                      <a:pt x="3720" y="387350"/>
                    </a:cubicBezTo>
                    <a:cubicBezTo>
                      <a:pt x="4778" y="392642"/>
                      <a:pt x="5475" y="398019"/>
                      <a:pt x="6895" y="403225"/>
                    </a:cubicBezTo>
                    <a:cubicBezTo>
                      <a:pt x="8656" y="409683"/>
                      <a:pt x="13245" y="422275"/>
                      <a:pt x="13245" y="422275"/>
                    </a:cubicBezTo>
                    <a:cubicBezTo>
                      <a:pt x="14303" y="443442"/>
                      <a:pt x="14660" y="464655"/>
                      <a:pt x="16420" y="485775"/>
                    </a:cubicBezTo>
                    <a:cubicBezTo>
                      <a:pt x="16782" y="490124"/>
                      <a:pt x="19305" y="494121"/>
                      <a:pt x="19595" y="498475"/>
                    </a:cubicBezTo>
                    <a:cubicBezTo>
                      <a:pt x="21427" y="525951"/>
                      <a:pt x="21712" y="553508"/>
                      <a:pt x="22770" y="581025"/>
                    </a:cubicBezTo>
                    <a:cubicBezTo>
                      <a:pt x="20653" y="601133"/>
                      <a:pt x="21324" y="621734"/>
                      <a:pt x="16420" y="641350"/>
                    </a:cubicBezTo>
                    <a:lnTo>
                      <a:pt x="10070" y="666750"/>
                    </a:lnTo>
                    <a:cubicBezTo>
                      <a:pt x="12118" y="697477"/>
                      <a:pt x="12180" y="712216"/>
                      <a:pt x="16420" y="739775"/>
                    </a:cubicBezTo>
                    <a:cubicBezTo>
                      <a:pt x="17374" y="745976"/>
                      <a:pt x="20774" y="761697"/>
                      <a:pt x="22770" y="768350"/>
                    </a:cubicBezTo>
                    <a:cubicBezTo>
                      <a:pt x="24693" y="774761"/>
                      <a:pt x="27003" y="781050"/>
                      <a:pt x="29120" y="787400"/>
                    </a:cubicBezTo>
                    <a:cubicBezTo>
                      <a:pt x="34412" y="803275"/>
                      <a:pt x="29120" y="795867"/>
                      <a:pt x="51345" y="803275"/>
                    </a:cubicBezTo>
                    <a:lnTo>
                      <a:pt x="60870" y="806450"/>
                    </a:lnTo>
                    <a:cubicBezTo>
                      <a:pt x="64045" y="805392"/>
                      <a:pt x="67610" y="805131"/>
                      <a:pt x="70395" y="803275"/>
                    </a:cubicBezTo>
                    <a:cubicBezTo>
                      <a:pt x="74131" y="800784"/>
                      <a:pt x="76471" y="796625"/>
                      <a:pt x="79920" y="793750"/>
                    </a:cubicBezTo>
                    <a:cubicBezTo>
                      <a:pt x="82851" y="791307"/>
                      <a:pt x="86270" y="789517"/>
                      <a:pt x="89445" y="787400"/>
                    </a:cubicBezTo>
                    <a:cubicBezTo>
                      <a:pt x="91562" y="784225"/>
                      <a:pt x="92815" y="780259"/>
                      <a:pt x="95795" y="777875"/>
                    </a:cubicBezTo>
                    <a:cubicBezTo>
                      <a:pt x="98408" y="775784"/>
                      <a:pt x="102953" y="777067"/>
                      <a:pt x="105320" y="774700"/>
                    </a:cubicBezTo>
                    <a:cubicBezTo>
                      <a:pt x="110716" y="769304"/>
                      <a:pt x="113787" y="762000"/>
                      <a:pt x="118020" y="755650"/>
                    </a:cubicBezTo>
                    <a:cubicBezTo>
                      <a:pt x="120137" y="752475"/>
                      <a:pt x="123163" y="749745"/>
                      <a:pt x="124370" y="746125"/>
                    </a:cubicBezTo>
                    <a:cubicBezTo>
                      <a:pt x="131927" y="723455"/>
                      <a:pt x="127007" y="732644"/>
                      <a:pt x="137070" y="717550"/>
                    </a:cubicBezTo>
                    <a:cubicBezTo>
                      <a:pt x="138128" y="709083"/>
                      <a:pt x="138719" y="700545"/>
                      <a:pt x="140245" y="692150"/>
                    </a:cubicBezTo>
                    <a:cubicBezTo>
                      <a:pt x="140844" y="688857"/>
                      <a:pt x="143420" y="685972"/>
                      <a:pt x="143420" y="682625"/>
                    </a:cubicBezTo>
                    <a:cubicBezTo>
                      <a:pt x="143420" y="668826"/>
                      <a:pt x="141040" y="655126"/>
                      <a:pt x="140245" y="641350"/>
                    </a:cubicBezTo>
                    <a:cubicBezTo>
                      <a:pt x="132738" y="511225"/>
                      <a:pt x="147044" y="556973"/>
                      <a:pt x="130720" y="508000"/>
                    </a:cubicBezTo>
                    <a:cubicBezTo>
                      <a:pt x="138581" y="468693"/>
                      <a:pt x="135529" y="490469"/>
                      <a:pt x="130720" y="415925"/>
                    </a:cubicBezTo>
                    <a:cubicBezTo>
                      <a:pt x="130359" y="410325"/>
                      <a:pt x="126548" y="380003"/>
                      <a:pt x="121195" y="374650"/>
                    </a:cubicBezTo>
                    <a:cubicBezTo>
                      <a:pt x="114173" y="367628"/>
                      <a:pt x="110986" y="363195"/>
                      <a:pt x="102145" y="358775"/>
                    </a:cubicBezTo>
                    <a:cubicBezTo>
                      <a:pt x="75855" y="345630"/>
                      <a:pt x="110392" y="367448"/>
                      <a:pt x="83095" y="349250"/>
                    </a:cubicBezTo>
                    <a:cubicBezTo>
                      <a:pt x="84153" y="345017"/>
                      <a:pt x="83849" y="340181"/>
                      <a:pt x="86270" y="336550"/>
                    </a:cubicBezTo>
                    <a:cubicBezTo>
                      <a:pt x="88387" y="333375"/>
                      <a:pt x="92864" y="332643"/>
                      <a:pt x="95795" y="330200"/>
                    </a:cubicBezTo>
                    <a:cubicBezTo>
                      <a:pt x="99244" y="327325"/>
                      <a:pt x="102445" y="324124"/>
                      <a:pt x="105320" y="320675"/>
                    </a:cubicBezTo>
                    <a:cubicBezTo>
                      <a:pt x="116994" y="306666"/>
                      <a:pt x="107637" y="312866"/>
                      <a:pt x="118020" y="292100"/>
                    </a:cubicBezTo>
                    <a:lnTo>
                      <a:pt x="124370" y="279400"/>
                    </a:lnTo>
                    <a:cubicBezTo>
                      <a:pt x="125428" y="269875"/>
                      <a:pt x="127545" y="260409"/>
                      <a:pt x="127545" y="250825"/>
                    </a:cubicBezTo>
                    <a:cubicBezTo>
                      <a:pt x="127545" y="199760"/>
                      <a:pt x="128516" y="207084"/>
                      <a:pt x="121195" y="177800"/>
                    </a:cubicBezTo>
                    <a:cubicBezTo>
                      <a:pt x="122253" y="161925"/>
                      <a:pt x="124370" y="146085"/>
                      <a:pt x="124370" y="130175"/>
                    </a:cubicBezTo>
                    <a:cubicBezTo>
                      <a:pt x="124370" y="97955"/>
                      <a:pt x="124504" y="73427"/>
                      <a:pt x="114845" y="44450"/>
                    </a:cubicBezTo>
                    <a:cubicBezTo>
                      <a:pt x="98463" y="-4697"/>
                      <a:pt x="117239" y="46064"/>
                      <a:pt x="102145" y="15875"/>
                    </a:cubicBezTo>
                    <a:cubicBezTo>
                      <a:pt x="100648" y="12882"/>
                      <a:pt x="101693" y="8295"/>
                      <a:pt x="98970" y="6350"/>
                    </a:cubicBezTo>
                    <a:cubicBezTo>
                      <a:pt x="93523" y="2459"/>
                      <a:pt x="79920" y="0"/>
                      <a:pt x="79920" y="0"/>
                    </a:cubicBezTo>
                    <a:cubicBezTo>
                      <a:pt x="71453" y="1058"/>
                      <a:pt x="62915" y="1649"/>
                      <a:pt x="54520" y="3175"/>
                    </a:cubicBezTo>
                    <a:cubicBezTo>
                      <a:pt x="48355" y="4296"/>
                      <a:pt x="41291" y="2117"/>
                      <a:pt x="35470" y="6350"/>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403" name="Freeform 330">
                <a:extLst>
                  <a:ext uri="{FF2B5EF4-FFF2-40B4-BE49-F238E27FC236}">
                    <a16:creationId xmlns:a16="http://schemas.microsoft.com/office/drawing/2014/main" id="{5A078A1B-E893-E44A-2287-CC65CDA598DD}"/>
                  </a:ext>
                </a:extLst>
              </p:cNvPr>
              <p:cNvSpPr/>
              <p:nvPr/>
            </p:nvSpPr>
            <p:spPr>
              <a:xfrm>
                <a:off x="1632266" y="2254248"/>
                <a:ext cx="20408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04" name="Freeform 331">
                <a:extLst>
                  <a:ext uri="{FF2B5EF4-FFF2-40B4-BE49-F238E27FC236}">
                    <a16:creationId xmlns:a16="http://schemas.microsoft.com/office/drawing/2014/main" id="{56F560D4-262C-B26A-087D-1DB209B6D88B}"/>
                  </a:ext>
                </a:extLst>
              </p:cNvPr>
              <p:cNvSpPr/>
              <p:nvPr/>
            </p:nvSpPr>
            <p:spPr>
              <a:xfrm>
                <a:off x="1640454" y="2374606"/>
                <a:ext cx="194841" cy="51090"/>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05" name="Freeform 332">
                <a:extLst>
                  <a:ext uri="{FF2B5EF4-FFF2-40B4-BE49-F238E27FC236}">
                    <a16:creationId xmlns:a16="http://schemas.microsoft.com/office/drawing/2014/main" id="{A248AB36-7C4F-7D28-4490-C769CBA07C0E}"/>
                  </a:ext>
                </a:extLst>
              </p:cNvPr>
              <p:cNvSpPr/>
              <p:nvPr/>
            </p:nvSpPr>
            <p:spPr>
              <a:xfrm>
                <a:off x="1620756" y="2529578"/>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06" name="Freeform 333">
                <a:extLst>
                  <a:ext uri="{FF2B5EF4-FFF2-40B4-BE49-F238E27FC236}">
                    <a16:creationId xmlns:a16="http://schemas.microsoft.com/office/drawing/2014/main" id="{65E9BBAA-07E0-2DA5-709F-AB2612D6B620}"/>
                  </a:ext>
                </a:extLst>
              </p:cNvPr>
              <p:cNvSpPr/>
              <p:nvPr/>
            </p:nvSpPr>
            <p:spPr>
              <a:xfrm>
                <a:off x="1632266" y="287923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07" name="Freeform 334">
                <a:extLst>
                  <a:ext uri="{FF2B5EF4-FFF2-40B4-BE49-F238E27FC236}">
                    <a16:creationId xmlns:a16="http://schemas.microsoft.com/office/drawing/2014/main" id="{3F3EFFD2-70B9-9052-79F4-95FCB2468D31}"/>
                  </a:ext>
                </a:extLst>
              </p:cNvPr>
              <p:cNvSpPr/>
              <p:nvPr/>
            </p:nvSpPr>
            <p:spPr>
              <a:xfrm rot="10800000">
                <a:off x="1635000" y="293057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08" name="Freeform 335">
                <a:extLst>
                  <a:ext uri="{FF2B5EF4-FFF2-40B4-BE49-F238E27FC236}">
                    <a16:creationId xmlns:a16="http://schemas.microsoft.com/office/drawing/2014/main" id="{DBB086BA-81BB-50EE-6BE3-6733DB29CFC8}"/>
                  </a:ext>
                </a:extLst>
              </p:cNvPr>
              <p:cNvSpPr/>
              <p:nvPr/>
            </p:nvSpPr>
            <p:spPr>
              <a:xfrm>
                <a:off x="1645148" y="325061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09" name="Freeform 336">
                <a:extLst>
                  <a:ext uri="{FF2B5EF4-FFF2-40B4-BE49-F238E27FC236}">
                    <a16:creationId xmlns:a16="http://schemas.microsoft.com/office/drawing/2014/main" id="{A5AAB2A9-0453-0D01-FDB6-B8FC3D9177E6}"/>
                  </a:ext>
                </a:extLst>
              </p:cNvPr>
              <p:cNvSpPr/>
              <p:nvPr/>
            </p:nvSpPr>
            <p:spPr>
              <a:xfrm rot="10800000">
                <a:off x="1651602" y="3151500"/>
                <a:ext cx="223377"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10" name="Freeform 337">
                <a:extLst>
                  <a:ext uri="{FF2B5EF4-FFF2-40B4-BE49-F238E27FC236}">
                    <a16:creationId xmlns:a16="http://schemas.microsoft.com/office/drawing/2014/main" id="{8546569C-BAFE-8143-F4FC-A1985577078F}"/>
                  </a:ext>
                </a:extLst>
              </p:cNvPr>
              <p:cNvSpPr/>
              <p:nvPr/>
            </p:nvSpPr>
            <p:spPr>
              <a:xfrm>
                <a:off x="1641682" y="3011180"/>
                <a:ext cx="223377"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11" name="Freeform 338">
                <a:extLst>
                  <a:ext uri="{FF2B5EF4-FFF2-40B4-BE49-F238E27FC236}">
                    <a16:creationId xmlns:a16="http://schemas.microsoft.com/office/drawing/2014/main" id="{0C515C63-1B59-E312-BA1D-491E5A5C1CEB}"/>
                  </a:ext>
                </a:extLst>
              </p:cNvPr>
              <p:cNvSpPr/>
              <p:nvPr/>
            </p:nvSpPr>
            <p:spPr>
              <a:xfrm>
                <a:off x="1670338" y="2735940"/>
                <a:ext cx="102948" cy="472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12" name="Freeform 339">
                <a:extLst>
                  <a:ext uri="{FF2B5EF4-FFF2-40B4-BE49-F238E27FC236}">
                    <a16:creationId xmlns:a16="http://schemas.microsoft.com/office/drawing/2014/main" id="{0E8771FF-AB84-9B06-C98A-3872D5BE6100}"/>
                  </a:ext>
                </a:extLst>
              </p:cNvPr>
              <p:cNvSpPr/>
              <p:nvPr/>
            </p:nvSpPr>
            <p:spPr>
              <a:xfrm>
                <a:off x="1635124" y="2219322"/>
                <a:ext cx="185537" cy="2540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13" name="Freeform 340">
                <a:extLst>
                  <a:ext uri="{FF2B5EF4-FFF2-40B4-BE49-F238E27FC236}">
                    <a16:creationId xmlns:a16="http://schemas.microsoft.com/office/drawing/2014/main" id="{CEFBE015-317D-2F90-9CA0-0355443E1CF6}"/>
                  </a:ext>
                </a:extLst>
              </p:cNvPr>
              <p:cNvSpPr/>
              <p:nvPr/>
            </p:nvSpPr>
            <p:spPr>
              <a:xfrm>
                <a:off x="1614898" y="2460610"/>
                <a:ext cx="226059" cy="63936"/>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14" name="Freeform 341">
                <a:extLst>
                  <a:ext uri="{FF2B5EF4-FFF2-40B4-BE49-F238E27FC236}">
                    <a16:creationId xmlns:a16="http://schemas.microsoft.com/office/drawing/2014/main" id="{E7626AF2-546B-FC08-E29A-258E728C4241}"/>
                  </a:ext>
                </a:extLst>
              </p:cNvPr>
              <p:cNvSpPr/>
              <p:nvPr/>
            </p:nvSpPr>
            <p:spPr>
              <a:xfrm>
                <a:off x="1628828" y="3324378"/>
                <a:ext cx="244089" cy="13601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15" name="Freeform 342">
                <a:extLst>
                  <a:ext uri="{FF2B5EF4-FFF2-40B4-BE49-F238E27FC236}">
                    <a16:creationId xmlns:a16="http://schemas.microsoft.com/office/drawing/2014/main" id="{36D76443-D1CE-86A0-8E08-9CD65E8F94C6}"/>
                  </a:ext>
                </a:extLst>
              </p:cNvPr>
              <p:cNvSpPr/>
              <p:nvPr/>
            </p:nvSpPr>
            <p:spPr>
              <a:xfrm rot="10800000">
                <a:off x="1635442" y="3313226"/>
                <a:ext cx="240651"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16" name="Freeform 343">
                <a:extLst>
                  <a:ext uri="{FF2B5EF4-FFF2-40B4-BE49-F238E27FC236}">
                    <a16:creationId xmlns:a16="http://schemas.microsoft.com/office/drawing/2014/main" id="{2423B773-EC17-C836-8B0C-7503C602520C}"/>
                  </a:ext>
                </a:extLst>
              </p:cNvPr>
              <p:cNvSpPr/>
              <p:nvPr/>
            </p:nvSpPr>
            <p:spPr>
              <a:xfrm rot="10800000">
                <a:off x="1611916" y="2632962"/>
                <a:ext cx="223379"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354" name="Group 344">
              <a:extLst>
                <a:ext uri="{FF2B5EF4-FFF2-40B4-BE49-F238E27FC236}">
                  <a16:creationId xmlns:a16="http://schemas.microsoft.com/office/drawing/2014/main" id="{67B506DD-B006-7913-939D-A7287059945A}"/>
                </a:ext>
              </a:extLst>
            </p:cNvPr>
            <p:cNvGrpSpPr/>
            <p:nvPr/>
          </p:nvGrpSpPr>
          <p:grpSpPr>
            <a:xfrm>
              <a:off x="7903084" y="2431109"/>
              <a:ext cx="165303" cy="737204"/>
              <a:chOff x="2073412" y="2165656"/>
              <a:chExt cx="314361" cy="1401953"/>
            </a:xfrm>
            <a:solidFill>
              <a:srgbClr val="0D0D0D">
                <a:alpha val="29804"/>
              </a:srgbClr>
            </a:solidFill>
          </p:grpSpPr>
          <p:sp>
            <p:nvSpPr>
              <p:cNvPr id="1388" name="Freeform 345">
                <a:extLst>
                  <a:ext uri="{FF2B5EF4-FFF2-40B4-BE49-F238E27FC236}">
                    <a16:creationId xmlns:a16="http://schemas.microsoft.com/office/drawing/2014/main" id="{5E81A7B5-660A-BAE3-0562-4172D90CA617}"/>
                  </a:ext>
                </a:extLst>
              </p:cNvPr>
              <p:cNvSpPr/>
              <p:nvPr/>
            </p:nvSpPr>
            <p:spPr>
              <a:xfrm>
                <a:off x="2076568" y="2165656"/>
                <a:ext cx="303348" cy="1401953"/>
              </a:xfrm>
              <a:custGeom>
                <a:avLst/>
                <a:gdLst>
                  <a:gd name="connsiteX0" fmla="*/ 101646 w 168321"/>
                  <a:gd name="connsiteY0" fmla="*/ 3215 h 777915"/>
                  <a:gd name="connsiteX1" fmla="*/ 85771 w 168321"/>
                  <a:gd name="connsiteY1" fmla="*/ 25440 h 777915"/>
                  <a:gd name="connsiteX2" fmla="*/ 76246 w 168321"/>
                  <a:gd name="connsiteY2" fmla="*/ 31790 h 777915"/>
                  <a:gd name="connsiteX3" fmla="*/ 63546 w 168321"/>
                  <a:gd name="connsiteY3" fmla="*/ 50840 h 777915"/>
                  <a:gd name="connsiteX4" fmla="*/ 57196 w 168321"/>
                  <a:gd name="connsiteY4" fmla="*/ 60365 h 777915"/>
                  <a:gd name="connsiteX5" fmla="*/ 50846 w 168321"/>
                  <a:gd name="connsiteY5" fmla="*/ 69890 h 777915"/>
                  <a:gd name="connsiteX6" fmla="*/ 44496 w 168321"/>
                  <a:gd name="connsiteY6" fmla="*/ 95290 h 777915"/>
                  <a:gd name="connsiteX7" fmla="*/ 38146 w 168321"/>
                  <a:gd name="connsiteY7" fmla="*/ 114340 h 777915"/>
                  <a:gd name="connsiteX8" fmla="*/ 34971 w 168321"/>
                  <a:gd name="connsiteY8" fmla="*/ 123865 h 777915"/>
                  <a:gd name="connsiteX9" fmla="*/ 25446 w 168321"/>
                  <a:gd name="connsiteY9" fmla="*/ 155615 h 777915"/>
                  <a:gd name="connsiteX10" fmla="*/ 15921 w 168321"/>
                  <a:gd name="connsiteY10" fmla="*/ 184190 h 777915"/>
                  <a:gd name="connsiteX11" fmla="*/ 12746 w 168321"/>
                  <a:gd name="connsiteY11" fmla="*/ 193715 h 777915"/>
                  <a:gd name="connsiteX12" fmla="*/ 12746 w 168321"/>
                  <a:gd name="connsiteY12" fmla="*/ 269915 h 777915"/>
                  <a:gd name="connsiteX13" fmla="*/ 22271 w 168321"/>
                  <a:gd name="connsiteY13" fmla="*/ 308015 h 777915"/>
                  <a:gd name="connsiteX14" fmla="*/ 31796 w 168321"/>
                  <a:gd name="connsiteY14" fmla="*/ 314365 h 777915"/>
                  <a:gd name="connsiteX15" fmla="*/ 31796 w 168321"/>
                  <a:gd name="connsiteY15" fmla="*/ 333415 h 777915"/>
                  <a:gd name="connsiteX16" fmla="*/ 12746 w 168321"/>
                  <a:gd name="connsiteY16" fmla="*/ 346115 h 777915"/>
                  <a:gd name="connsiteX17" fmla="*/ 6396 w 168321"/>
                  <a:gd name="connsiteY17" fmla="*/ 355640 h 777915"/>
                  <a:gd name="connsiteX18" fmla="*/ 3221 w 168321"/>
                  <a:gd name="connsiteY18" fmla="*/ 368340 h 777915"/>
                  <a:gd name="connsiteX19" fmla="*/ 46 w 168321"/>
                  <a:gd name="connsiteY19" fmla="*/ 438190 h 777915"/>
                  <a:gd name="connsiteX20" fmla="*/ 3221 w 168321"/>
                  <a:gd name="connsiteY20" fmla="*/ 514390 h 777915"/>
                  <a:gd name="connsiteX21" fmla="*/ 3221 w 168321"/>
                  <a:gd name="connsiteY21" fmla="*/ 581065 h 777915"/>
                  <a:gd name="connsiteX22" fmla="*/ 9571 w 168321"/>
                  <a:gd name="connsiteY22" fmla="*/ 717590 h 777915"/>
                  <a:gd name="connsiteX23" fmla="*/ 12746 w 168321"/>
                  <a:gd name="connsiteY23" fmla="*/ 730290 h 777915"/>
                  <a:gd name="connsiteX24" fmla="*/ 19096 w 168321"/>
                  <a:gd name="connsiteY24" fmla="*/ 762040 h 777915"/>
                  <a:gd name="connsiteX25" fmla="*/ 25446 w 168321"/>
                  <a:gd name="connsiteY25" fmla="*/ 771565 h 777915"/>
                  <a:gd name="connsiteX26" fmla="*/ 54021 w 168321"/>
                  <a:gd name="connsiteY26" fmla="*/ 774740 h 777915"/>
                  <a:gd name="connsiteX27" fmla="*/ 63546 w 168321"/>
                  <a:gd name="connsiteY27" fmla="*/ 777915 h 777915"/>
                  <a:gd name="connsiteX28" fmla="*/ 85771 w 168321"/>
                  <a:gd name="connsiteY28" fmla="*/ 755690 h 777915"/>
                  <a:gd name="connsiteX29" fmla="*/ 88946 w 168321"/>
                  <a:gd name="connsiteY29" fmla="*/ 746165 h 777915"/>
                  <a:gd name="connsiteX30" fmla="*/ 98471 w 168321"/>
                  <a:gd name="connsiteY30" fmla="*/ 736640 h 777915"/>
                  <a:gd name="connsiteX31" fmla="*/ 107996 w 168321"/>
                  <a:gd name="connsiteY31" fmla="*/ 708065 h 777915"/>
                  <a:gd name="connsiteX32" fmla="*/ 111171 w 168321"/>
                  <a:gd name="connsiteY32" fmla="*/ 698540 h 777915"/>
                  <a:gd name="connsiteX33" fmla="*/ 114346 w 168321"/>
                  <a:gd name="connsiteY33" fmla="*/ 689015 h 777915"/>
                  <a:gd name="connsiteX34" fmla="*/ 120696 w 168321"/>
                  <a:gd name="connsiteY34" fmla="*/ 654090 h 777915"/>
                  <a:gd name="connsiteX35" fmla="*/ 123871 w 168321"/>
                  <a:gd name="connsiteY35" fmla="*/ 523915 h 777915"/>
                  <a:gd name="connsiteX36" fmla="*/ 120696 w 168321"/>
                  <a:gd name="connsiteY36" fmla="*/ 514390 h 777915"/>
                  <a:gd name="connsiteX37" fmla="*/ 123871 w 168321"/>
                  <a:gd name="connsiteY37" fmla="*/ 485815 h 777915"/>
                  <a:gd name="connsiteX38" fmla="*/ 117521 w 168321"/>
                  <a:gd name="connsiteY38" fmla="*/ 428665 h 777915"/>
                  <a:gd name="connsiteX39" fmla="*/ 114346 w 168321"/>
                  <a:gd name="connsiteY39" fmla="*/ 368340 h 777915"/>
                  <a:gd name="connsiteX40" fmla="*/ 107996 w 168321"/>
                  <a:gd name="connsiteY40" fmla="*/ 349290 h 777915"/>
                  <a:gd name="connsiteX41" fmla="*/ 79421 w 168321"/>
                  <a:gd name="connsiteY41" fmla="*/ 327065 h 777915"/>
                  <a:gd name="connsiteX42" fmla="*/ 92121 w 168321"/>
                  <a:gd name="connsiteY42" fmla="*/ 308015 h 777915"/>
                  <a:gd name="connsiteX43" fmla="*/ 98471 w 168321"/>
                  <a:gd name="connsiteY43" fmla="*/ 288965 h 777915"/>
                  <a:gd name="connsiteX44" fmla="*/ 107996 w 168321"/>
                  <a:gd name="connsiteY44" fmla="*/ 260390 h 777915"/>
                  <a:gd name="connsiteX45" fmla="*/ 117521 w 168321"/>
                  <a:gd name="connsiteY45" fmla="*/ 241340 h 777915"/>
                  <a:gd name="connsiteX46" fmla="*/ 123871 w 168321"/>
                  <a:gd name="connsiteY46" fmla="*/ 222290 h 777915"/>
                  <a:gd name="connsiteX47" fmla="*/ 136571 w 168321"/>
                  <a:gd name="connsiteY47" fmla="*/ 184190 h 777915"/>
                  <a:gd name="connsiteX48" fmla="*/ 139746 w 168321"/>
                  <a:gd name="connsiteY48" fmla="*/ 174665 h 777915"/>
                  <a:gd name="connsiteX49" fmla="*/ 142921 w 168321"/>
                  <a:gd name="connsiteY49" fmla="*/ 165140 h 777915"/>
                  <a:gd name="connsiteX50" fmla="*/ 146096 w 168321"/>
                  <a:gd name="connsiteY50" fmla="*/ 120690 h 777915"/>
                  <a:gd name="connsiteX51" fmla="*/ 158796 w 168321"/>
                  <a:gd name="connsiteY51" fmla="*/ 76240 h 777915"/>
                  <a:gd name="connsiteX52" fmla="*/ 168321 w 168321"/>
                  <a:gd name="connsiteY52" fmla="*/ 57190 h 777915"/>
                  <a:gd name="connsiteX53" fmla="*/ 165146 w 168321"/>
                  <a:gd name="connsiteY53" fmla="*/ 28615 h 777915"/>
                  <a:gd name="connsiteX54" fmla="*/ 161971 w 168321"/>
                  <a:gd name="connsiteY54" fmla="*/ 19090 h 777915"/>
                  <a:gd name="connsiteX55" fmla="*/ 152446 w 168321"/>
                  <a:gd name="connsiteY55" fmla="*/ 15915 h 777915"/>
                  <a:gd name="connsiteX56" fmla="*/ 136571 w 168321"/>
                  <a:gd name="connsiteY56" fmla="*/ 12740 h 777915"/>
                  <a:gd name="connsiteX57" fmla="*/ 130221 w 168321"/>
                  <a:gd name="connsiteY57" fmla="*/ 3215 h 777915"/>
                  <a:gd name="connsiteX58" fmla="*/ 111171 w 168321"/>
                  <a:gd name="connsiteY58" fmla="*/ 3215 h 777915"/>
                  <a:gd name="connsiteX59" fmla="*/ 101646 w 168321"/>
                  <a:gd name="connsiteY59" fmla="*/ 9565 h 777915"/>
                  <a:gd name="connsiteX60" fmla="*/ 101646 w 168321"/>
                  <a:gd name="connsiteY60" fmla="*/ 3215 h 77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68321" h="777915">
                    <a:moveTo>
                      <a:pt x="101646" y="3215"/>
                    </a:moveTo>
                    <a:cubicBezTo>
                      <a:pt x="99000" y="5861"/>
                      <a:pt x="91819" y="18635"/>
                      <a:pt x="85771" y="25440"/>
                    </a:cubicBezTo>
                    <a:cubicBezTo>
                      <a:pt x="83236" y="28292"/>
                      <a:pt x="78759" y="28918"/>
                      <a:pt x="76246" y="31790"/>
                    </a:cubicBezTo>
                    <a:cubicBezTo>
                      <a:pt x="71220" y="37533"/>
                      <a:pt x="67779" y="44490"/>
                      <a:pt x="63546" y="50840"/>
                    </a:cubicBezTo>
                    <a:lnTo>
                      <a:pt x="57196" y="60365"/>
                    </a:lnTo>
                    <a:lnTo>
                      <a:pt x="50846" y="69890"/>
                    </a:lnTo>
                    <a:cubicBezTo>
                      <a:pt x="48729" y="78357"/>
                      <a:pt x="47256" y="87011"/>
                      <a:pt x="44496" y="95290"/>
                    </a:cubicBezTo>
                    <a:lnTo>
                      <a:pt x="38146" y="114340"/>
                    </a:lnTo>
                    <a:cubicBezTo>
                      <a:pt x="37088" y="117515"/>
                      <a:pt x="35783" y="120618"/>
                      <a:pt x="34971" y="123865"/>
                    </a:cubicBezTo>
                    <a:cubicBezTo>
                      <a:pt x="30173" y="143059"/>
                      <a:pt x="33176" y="132425"/>
                      <a:pt x="25446" y="155615"/>
                    </a:cubicBezTo>
                    <a:lnTo>
                      <a:pt x="15921" y="184190"/>
                    </a:lnTo>
                    <a:lnTo>
                      <a:pt x="12746" y="193715"/>
                    </a:lnTo>
                    <a:cubicBezTo>
                      <a:pt x="8656" y="234614"/>
                      <a:pt x="8027" y="222721"/>
                      <a:pt x="12746" y="269915"/>
                    </a:cubicBezTo>
                    <a:cubicBezTo>
                      <a:pt x="13173" y="274183"/>
                      <a:pt x="17887" y="305092"/>
                      <a:pt x="22271" y="308015"/>
                    </a:cubicBezTo>
                    <a:lnTo>
                      <a:pt x="31796" y="314365"/>
                    </a:lnTo>
                    <a:cubicBezTo>
                      <a:pt x="33913" y="320715"/>
                      <a:pt x="38146" y="327065"/>
                      <a:pt x="31796" y="333415"/>
                    </a:cubicBezTo>
                    <a:cubicBezTo>
                      <a:pt x="26400" y="338811"/>
                      <a:pt x="12746" y="346115"/>
                      <a:pt x="12746" y="346115"/>
                    </a:cubicBezTo>
                    <a:cubicBezTo>
                      <a:pt x="10629" y="349290"/>
                      <a:pt x="7899" y="352133"/>
                      <a:pt x="6396" y="355640"/>
                    </a:cubicBezTo>
                    <a:cubicBezTo>
                      <a:pt x="4677" y="359651"/>
                      <a:pt x="3556" y="363989"/>
                      <a:pt x="3221" y="368340"/>
                    </a:cubicBezTo>
                    <a:cubicBezTo>
                      <a:pt x="1433" y="391579"/>
                      <a:pt x="1104" y="414907"/>
                      <a:pt x="46" y="438190"/>
                    </a:cubicBezTo>
                    <a:cubicBezTo>
                      <a:pt x="1104" y="463590"/>
                      <a:pt x="3221" y="488968"/>
                      <a:pt x="3221" y="514390"/>
                    </a:cubicBezTo>
                    <a:cubicBezTo>
                      <a:pt x="3221" y="590058"/>
                      <a:pt x="-4028" y="537574"/>
                      <a:pt x="3221" y="581065"/>
                    </a:cubicBezTo>
                    <a:cubicBezTo>
                      <a:pt x="4112" y="606007"/>
                      <a:pt x="5954" y="683227"/>
                      <a:pt x="9571" y="717590"/>
                    </a:cubicBezTo>
                    <a:cubicBezTo>
                      <a:pt x="10028" y="721930"/>
                      <a:pt x="11890" y="726011"/>
                      <a:pt x="12746" y="730290"/>
                    </a:cubicBezTo>
                    <a:cubicBezTo>
                      <a:pt x="13731" y="735214"/>
                      <a:pt x="16330" y="755587"/>
                      <a:pt x="19096" y="762040"/>
                    </a:cubicBezTo>
                    <a:cubicBezTo>
                      <a:pt x="20599" y="765547"/>
                      <a:pt x="21860" y="770261"/>
                      <a:pt x="25446" y="771565"/>
                    </a:cubicBezTo>
                    <a:cubicBezTo>
                      <a:pt x="34453" y="774840"/>
                      <a:pt x="44496" y="773682"/>
                      <a:pt x="54021" y="774740"/>
                    </a:cubicBezTo>
                    <a:cubicBezTo>
                      <a:pt x="57196" y="775798"/>
                      <a:pt x="60199" y="777915"/>
                      <a:pt x="63546" y="777915"/>
                    </a:cubicBezTo>
                    <a:cubicBezTo>
                      <a:pt x="75257" y="777915"/>
                      <a:pt x="82741" y="764781"/>
                      <a:pt x="85771" y="755690"/>
                    </a:cubicBezTo>
                    <a:cubicBezTo>
                      <a:pt x="86829" y="752515"/>
                      <a:pt x="87090" y="748950"/>
                      <a:pt x="88946" y="746165"/>
                    </a:cubicBezTo>
                    <a:cubicBezTo>
                      <a:pt x="91437" y="742429"/>
                      <a:pt x="95296" y="739815"/>
                      <a:pt x="98471" y="736640"/>
                    </a:cubicBezTo>
                    <a:lnTo>
                      <a:pt x="107996" y="708065"/>
                    </a:lnTo>
                    <a:lnTo>
                      <a:pt x="111171" y="698540"/>
                    </a:lnTo>
                    <a:cubicBezTo>
                      <a:pt x="112229" y="695365"/>
                      <a:pt x="113690" y="692297"/>
                      <a:pt x="114346" y="689015"/>
                    </a:cubicBezTo>
                    <a:cubicBezTo>
                      <a:pt x="118784" y="666827"/>
                      <a:pt x="116634" y="678463"/>
                      <a:pt x="120696" y="654090"/>
                    </a:cubicBezTo>
                    <a:cubicBezTo>
                      <a:pt x="125896" y="586493"/>
                      <a:pt x="130248" y="581311"/>
                      <a:pt x="123871" y="523915"/>
                    </a:cubicBezTo>
                    <a:cubicBezTo>
                      <a:pt x="123501" y="520589"/>
                      <a:pt x="121754" y="517565"/>
                      <a:pt x="120696" y="514390"/>
                    </a:cubicBezTo>
                    <a:cubicBezTo>
                      <a:pt x="121754" y="504865"/>
                      <a:pt x="123871" y="495399"/>
                      <a:pt x="123871" y="485815"/>
                    </a:cubicBezTo>
                    <a:cubicBezTo>
                      <a:pt x="123871" y="470405"/>
                      <a:pt x="119883" y="445198"/>
                      <a:pt x="117521" y="428665"/>
                    </a:cubicBezTo>
                    <a:cubicBezTo>
                      <a:pt x="116463" y="408557"/>
                      <a:pt x="116745" y="388333"/>
                      <a:pt x="114346" y="368340"/>
                    </a:cubicBezTo>
                    <a:cubicBezTo>
                      <a:pt x="113549" y="361694"/>
                      <a:pt x="113565" y="353003"/>
                      <a:pt x="107996" y="349290"/>
                    </a:cubicBezTo>
                    <a:cubicBezTo>
                      <a:pt x="85210" y="334099"/>
                      <a:pt x="94342" y="341986"/>
                      <a:pt x="79421" y="327065"/>
                    </a:cubicBezTo>
                    <a:cubicBezTo>
                      <a:pt x="89925" y="295553"/>
                      <a:pt x="72302" y="343690"/>
                      <a:pt x="92121" y="308015"/>
                    </a:cubicBezTo>
                    <a:cubicBezTo>
                      <a:pt x="95372" y="302164"/>
                      <a:pt x="96354" y="295315"/>
                      <a:pt x="98471" y="288965"/>
                    </a:cubicBezTo>
                    <a:lnTo>
                      <a:pt x="107996" y="260390"/>
                    </a:lnTo>
                    <a:cubicBezTo>
                      <a:pt x="119575" y="225652"/>
                      <a:pt x="101108" y="278269"/>
                      <a:pt x="117521" y="241340"/>
                    </a:cubicBezTo>
                    <a:cubicBezTo>
                      <a:pt x="120239" y="235223"/>
                      <a:pt x="121754" y="228640"/>
                      <a:pt x="123871" y="222290"/>
                    </a:cubicBezTo>
                    <a:lnTo>
                      <a:pt x="136571" y="184190"/>
                    </a:lnTo>
                    <a:lnTo>
                      <a:pt x="139746" y="174665"/>
                    </a:lnTo>
                    <a:lnTo>
                      <a:pt x="142921" y="165140"/>
                    </a:lnTo>
                    <a:cubicBezTo>
                      <a:pt x="143979" y="150323"/>
                      <a:pt x="144089" y="135408"/>
                      <a:pt x="146096" y="120690"/>
                    </a:cubicBezTo>
                    <a:cubicBezTo>
                      <a:pt x="146459" y="118029"/>
                      <a:pt x="155523" y="81149"/>
                      <a:pt x="158796" y="76240"/>
                    </a:cubicBezTo>
                    <a:cubicBezTo>
                      <a:pt x="167002" y="63930"/>
                      <a:pt x="163939" y="70335"/>
                      <a:pt x="168321" y="57190"/>
                    </a:cubicBezTo>
                    <a:cubicBezTo>
                      <a:pt x="167263" y="47665"/>
                      <a:pt x="166722" y="38068"/>
                      <a:pt x="165146" y="28615"/>
                    </a:cubicBezTo>
                    <a:cubicBezTo>
                      <a:pt x="164596" y="25314"/>
                      <a:pt x="164338" y="21457"/>
                      <a:pt x="161971" y="19090"/>
                    </a:cubicBezTo>
                    <a:cubicBezTo>
                      <a:pt x="159604" y="16723"/>
                      <a:pt x="155693" y="16727"/>
                      <a:pt x="152446" y="15915"/>
                    </a:cubicBezTo>
                    <a:cubicBezTo>
                      <a:pt x="147211" y="14606"/>
                      <a:pt x="141863" y="13798"/>
                      <a:pt x="136571" y="12740"/>
                    </a:cubicBezTo>
                    <a:cubicBezTo>
                      <a:pt x="134454" y="9565"/>
                      <a:pt x="133201" y="5599"/>
                      <a:pt x="130221" y="3215"/>
                    </a:cubicBezTo>
                    <a:cubicBezTo>
                      <a:pt x="123708" y="-1995"/>
                      <a:pt x="117684" y="-41"/>
                      <a:pt x="111171" y="3215"/>
                    </a:cubicBezTo>
                    <a:cubicBezTo>
                      <a:pt x="107758" y="4922"/>
                      <a:pt x="105059" y="7858"/>
                      <a:pt x="101646" y="9565"/>
                    </a:cubicBezTo>
                    <a:cubicBezTo>
                      <a:pt x="87053" y="16862"/>
                      <a:pt x="104292" y="569"/>
                      <a:pt x="101646" y="3215"/>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389" name="Freeform 346">
                <a:extLst>
                  <a:ext uri="{FF2B5EF4-FFF2-40B4-BE49-F238E27FC236}">
                    <a16:creationId xmlns:a16="http://schemas.microsoft.com/office/drawing/2014/main" id="{EA993097-22A7-D5EC-B3EB-ACFFD59464F3}"/>
                  </a:ext>
                </a:extLst>
              </p:cNvPr>
              <p:cNvSpPr/>
              <p:nvPr/>
            </p:nvSpPr>
            <p:spPr>
              <a:xfrm>
                <a:off x="2136451" y="2733425"/>
                <a:ext cx="88615" cy="45718"/>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0" name="Freeform 347">
                <a:extLst>
                  <a:ext uri="{FF2B5EF4-FFF2-40B4-BE49-F238E27FC236}">
                    <a16:creationId xmlns:a16="http://schemas.microsoft.com/office/drawing/2014/main" id="{84B3C1FE-9477-A8BC-BB80-0A98245AA34B}"/>
                  </a:ext>
                </a:extLst>
              </p:cNvPr>
              <p:cNvSpPr/>
              <p:nvPr/>
            </p:nvSpPr>
            <p:spPr>
              <a:xfrm>
                <a:off x="2077078" y="3177188"/>
                <a:ext cx="235338"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1" name="Freeform 348">
                <a:extLst>
                  <a:ext uri="{FF2B5EF4-FFF2-40B4-BE49-F238E27FC236}">
                    <a16:creationId xmlns:a16="http://schemas.microsoft.com/office/drawing/2014/main" id="{E4CBDA0C-B52C-375A-AA52-DA04B07080DC}"/>
                  </a:ext>
                </a:extLst>
              </p:cNvPr>
              <p:cNvSpPr/>
              <p:nvPr/>
            </p:nvSpPr>
            <p:spPr>
              <a:xfrm>
                <a:off x="2082019" y="3327430"/>
                <a:ext cx="212529" cy="106483"/>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2" name="Freeform 349">
                <a:extLst>
                  <a:ext uri="{FF2B5EF4-FFF2-40B4-BE49-F238E27FC236}">
                    <a16:creationId xmlns:a16="http://schemas.microsoft.com/office/drawing/2014/main" id="{19A70CBD-C527-1862-375D-5706BBD7817B}"/>
                  </a:ext>
                </a:extLst>
              </p:cNvPr>
              <p:cNvSpPr/>
              <p:nvPr/>
            </p:nvSpPr>
            <p:spPr>
              <a:xfrm rot="1266082">
                <a:off x="2115143" y="2437475"/>
                <a:ext cx="218879" cy="70147"/>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3" name="Freeform 350">
                <a:extLst>
                  <a:ext uri="{FF2B5EF4-FFF2-40B4-BE49-F238E27FC236}">
                    <a16:creationId xmlns:a16="http://schemas.microsoft.com/office/drawing/2014/main" id="{A131E514-C347-2E1E-747A-6F55F2D6ADB8}"/>
                  </a:ext>
                </a:extLst>
              </p:cNvPr>
              <p:cNvSpPr/>
              <p:nvPr/>
            </p:nvSpPr>
            <p:spPr>
              <a:xfrm rot="1266082">
                <a:off x="2095970" y="2503880"/>
                <a:ext cx="213921" cy="48671"/>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4" name="Freeform 351">
                <a:extLst>
                  <a:ext uri="{FF2B5EF4-FFF2-40B4-BE49-F238E27FC236}">
                    <a16:creationId xmlns:a16="http://schemas.microsoft.com/office/drawing/2014/main" id="{2C026A4B-4AAB-F0F8-E8FF-2E0E1FCE955F}"/>
                  </a:ext>
                </a:extLst>
              </p:cNvPr>
              <p:cNvSpPr/>
              <p:nvPr/>
            </p:nvSpPr>
            <p:spPr>
              <a:xfrm rot="900000">
                <a:off x="2144470" y="2349041"/>
                <a:ext cx="194840" cy="51091"/>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5" name="Freeform 352">
                <a:extLst>
                  <a:ext uri="{FF2B5EF4-FFF2-40B4-BE49-F238E27FC236}">
                    <a16:creationId xmlns:a16="http://schemas.microsoft.com/office/drawing/2014/main" id="{F5EAF31C-5B9F-812C-A4DF-329A6BCA18A9}"/>
                  </a:ext>
                </a:extLst>
              </p:cNvPr>
              <p:cNvSpPr/>
              <p:nvPr/>
            </p:nvSpPr>
            <p:spPr>
              <a:xfrm rot="900000">
                <a:off x="2088300" y="2608839"/>
                <a:ext cx="179344"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6" name="Freeform 353">
                <a:extLst>
                  <a:ext uri="{FF2B5EF4-FFF2-40B4-BE49-F238E27FC236}">
                    <a16:creationId xmlns:a16="http://schemas.microsoft.com/office/drawing/2014/main" id="{3C078E89-EE65-94F2-3400-FF3F6FB85B2C}"/>
                  </a:ext>
                </a:extLst>
              </p:cNvPr>
              <p:cNvSpPr/>
              <p:nvPr/>
            </p:nvSpPr>
            <p:spPr>
              <a:xfrm>
                <a:off x="2077345" y="3005410"/>
                <a:ext cx="22181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7" name="Freeform 354">
                <a:extLst>
                  <a:ext uri="{FF2B5EF4-FFF2-40B4-BE49-F238E27FC236}">
                    <a16:creationId xmlns:a16="http://schemas.microsoft.com/office/drawing/2014/main" id="{3615B0A1-C1C6-6931-ECE7-B156AFBAE2E2}"/>
                  </a:ext>
                </a:extLst>
              </p:cNvPr>
              <p:cNvSpPr/>
              <p:nvPr/>
            </p:nvSpPr>
            <p:spPr>
              <a:xfrm>
                <a:off x="2073412" y="286645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8" name="Freeform 355">
                <a:extLst>
                  <a:ext uri="{FF2B5EF4-FFF2-40B4-BE49-F238E27FC236}">
                    <a16:creationId xmlns:a16="http://schemas.microsoft.com/office/drawing/2014/main" id="{0F5F7BD3-D81E-D867-51AD-E023DC40ECEA}"/>
                  </a:ext>
                </a:extLst>
              </p:cNvPr>
              <p:cNvSpPr/>
              <p:nvPr/>
            </p:nvSpPr>
            <p:spPr>
              <a:xfrm rot="10800000">
                <a:off x="2076143" y="291779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99" name="Freeform 356">
                <a:extLst>
                  <a:ext uri="{FF2B5EF4-FFF2-40B4-BE49-F238E27FC236}">
                    <a16:creationId xmlns:a16="http://schemas.microsoft.com/office/drawing/2014/main" id="{400E0183-B73D-57CB-9500-285C3E5C5D9B}"/>
                  </a:ext>
                </a:extLst>
              </p:cNvPr>
              <p:cNvSpPr/>
              <p:nvPr/>
            </p:nvSpPr>
            <p:spPr>
              <a:xfrm rot="1219864">
                <a:off x="2169688" y="2254021"/>
                <a:ext cx="196434"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400" name="Freeform 357">
                <a:extLst>
                  <a:ext uri="{FF2B5EF4-FFF2-40B4-BE49-F238E27FC236}">
                    <a16:creationId xmlns:a16="http://schemas.microsoft.com/office/drawing/2014/main" id="{B2645A9C-5A3D-3622-0814-50FE06F93581}"/>
                  </a:ext>
                </a:extLst>
              </p:cNvPr>
              <p:cNvSpPr/>
              <p:nvPr/>
            </p:nvSpPr>
            <p:spPr>
              <a:xfrm rot="1219864">
                <a:off x="2208117" y="2227334"/>
                <a:ext cx="179656" cy="25401"/>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401" name="Freeform 358">
                <a:extLst>
                  <a:ext uri="{FF2B5EF4-FFF2-40B4-BE49-F238E27FC236}">
                    <a16:creationId xmlns:a16="http://schemas.microsoft.com/office/drawing/2014/main" id="{1331C891-6618-E546-6D3B-0F630BFB5D1C}"/>
                  </a:ext>
                </a:extLst>
              </p:cNvPr>
              <p:cNvSpPr/>
              <p:nvPr/>
            </p:nvSpPr>
            <p:spPr>
              <a:xfrm>
                <a:off x="2080401" y="3262318"/>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355" name="Group 359">
              <a:extLst>
                <a:ext uri="{FF2B5EF4-FFF2-40B4-BE49-F238E27FC236}">
                  <a16:creationId xmlns:a16="http://schemas.microsoft.com/office/drawing/2014/main" id="{6DA7372D-DC2A-ED26-1F72-77BD5C6EF20F}"/>
                </a:ext>
              </a:extLst>
            </p:cNvPr>
            <p:cNvGrpSpPr/>
            <p:nvPr/>
          </p:nvGrpSpPr>
          <p:grpSpPr>
            <a:xfrm flipH="1">
              <a:off x="7527307" y="2424371"/>
              <a:ext cx="125688" cy="743943"/>
              <a:chOff x="1611916" y="2139960"/>
              <a:chExt cx="264177" cy="1453392"/>
            </a:xfrm>
            <a:solidFill>
              <a:srgbClr val="0D0D0D">
                <a:alpha val="29804"/>
              </a:srgbClr>
            </a:solidFill>
          </p:grpSpPr>
          <p:sp>
            <p:nvSpPr>
              <p:cNvPr id="1373" name="Freeform 360">
                <a:extLst>
                  <a:ext uri="{FF2B5EF4-FFF2-40B4-BE49-F238E27FC236}">
                    <a16:creationId xmlns:a16="http://schemas.microsoft.com/office/drawing/2014/main" id="{CCCACAC1-C526-FF30-F147-15E34809E7A0}"/>
                  </a:ext>
                </a:extLst>
              </p:cNvPr>
              <p:cNvSpPr/>
              <p:nvPr/>
            </p:nvSpPr>
            <p:spPr>
              <a:xfrm>
                <a:off x="1614442" y="2139960"/>
                <a:ext cx="258475" cy="1453392"/>
              </a:xfrm>
              <a:custGeom>
                <a:avLst/>
                <a:gdLst>
                  <a:gd name="connsiteX0" fmla="*/ 35470 w 143420"/>
                  <a:gd name="connsiteY0" fmla="*/ 6350 h 806450"/>
                  <a:gd name="connsiteX1" fmla="*/ 19595 w 143420"/>
                  <a:gd name="connsiteY1" fmla="*/ 28575 h 806450"/>
                  <a:gd name="connsiteX2" fmla="*/ 13245 w 143420"/>
                  <a:gd name="connsiteY2" fmla="*/ 47625 h 806450"/>
                  <a:gd name="connsiteX3" fmla="*/ 10070 w 143420"/>
                  <a:gd name="connsiteY3" fmla="*/ 57150 h 806450"/>
                  <a:gd name="connsiteX4" fmla="*/ 13245 w 143420"/>
                  <a:gd name="connsiteY4" fmla="*/ 76200 h 806450"/>
                  <a:gd name="connsiteX5" fmla="*/ 6895 w 143420"/>
                  <a:gd name="connsiteY5" fmla="*/ 187325 h 806450"/>
                  <a:gd name="connsiteX6" fmla="*/ 3720 w 143420"/>
                  <a:gd name="connsiteY6" fmla="*/ 244475 h 806450"/>
                  <a:gd name="connsiteX7" fmla="*/ 3720 w 143420"/>
                  <a:gd name="connsiteY7" fmla="*/ 292100 h 806450"/>
                  <a:gd name="connsiteX8" fmla="*/ 19595 w 143420"/>
                  <a:gd name="connsiteY8" fmla="*/ 323850 h 806450"/>
                  <a:gd name="connsiteX9" fmla="*/ 38645 w 143420"/>
                  <a:gd name="connsiteY9" fmla="*/ 342900 h 806450"/>
                  <a:gd name="connsiteX10" fmla="*/ 25945 w 143420"/>
                  <a:gd name="connsiteY10" fmla="*/ 358775 h 806450"/>
                  <a:gd name="connsiteX11" fmla="*/ 19595 w 143420"/>
                  <a:gd name="connsiteY11" fmla="*/ 368300 h 806450"/>
                  <a:gd name="connsiteX12" fmla="*/ 3720 w 143420"/>
                  <a:gd name="connsiteY12" fmla="*/ 387350 h 806450"/>
                  <a:gd name="connsiteX13" fmla="*/ 6895 w 143420"/>
                  <a:gd name="connsiteY13" fmla="*/ 403225 h 806450"/>
                  <a:gd name="connsiteX14" fmla="*/ 13245 w 143420"/>
                  <a:gd name="connsiteY14" fmla="*/ 422275 h 806450"/>
                  <a:gd name="connsiteX15" fmla="*/ 16420 w 143420"/>
                  <a:gd name="connsiteY15" fmla="*/ 485775 h 806450"/>
                  <a:gd name="connsiteX16" fmla="*/ 19595 w 143420"/>
                  <a:gd name="connsiteY16" fmla="*/ 498475 h 806450"/>
                  <a:gd name="connsiteX17" fmla="*/ 22770 w 143420"/>
                  <a:gd name="connsiteY17" fmla="*/ 581025 h 806450"/>
                  <a:gd name="connsiteX18" fmla="*/ 16420 w 143420"/>
                  <a:gd name="connsiteY18" fmla="*/ 641350 h 806450"/>
                  <a:gd name="connsiteX19" fmla="*/ 10070 w 143420"/>
                  <a:gd name="connsiteY19" fmla="*/ 666750 h 806450"/>
                  <a:gd name="connsiteX20" fmla="*/ 16420 w 143420"/>
                  <a:gd name="connsiteY20" fmla="*/ 739775 h 806450"/>
                  <a:gd name="connsiteX21" fmla="*/ 22770 w 143420"/>
                  <a:gd name="connsiteY21" fmla="*/ 768350 h 806450"/>
                  <a:gd name="connsiteX22" fmla="*/ 29120 w 143420"/>
                  <a:gd name="connsiteY22" fmla="*/ 787400 h 806450"/>
                  <a:gd name="connsiteX23" fmla="*/ 51345 w 143420"/>
                  <a:gd name="connsiteY23" fmla="*/ 803275 h 806450"/>
                  <a:gd name="connsiteX24" fmla="*/ 60870 w 143420"/>
                  <a:gd name="connsiteY24" fmla="*/ 806450 h 806450"/>
                  <a:gd name="connsiteX25" fmla="*/ 70395 w 143420"/>
                  <a:gd name="connsiteY25" fmla="*/ 803275 h 806450"/>
                  <a:gd name="connsiteX26" fmla="*/ 79920 w 143420"/>
                  <a:gd name="connsiteY26" fmla="*/ 793750 h 806450"/>
                  <a:gd name="connsiteX27" fmla="*/ 89445 w 143420"/>
                  <a:gd name="connsiteY27" fmla="*/ 787400 h 806450"/>
                  <a:gd name="connsiteX28" fmla="*/ 95795 w 143420"/>
                  <a:gd name="connsiteY28" fmla="*/ 777875 h 806450"/>
                  <a:gd name="connsiteX29" fmla="*/ 105320 w 143420"/>
                  <a:gd name="connsiteY29" fmla="*/ 774700 h 806450"/>
                  <a:gd name="connsiteX30" fmla="*/ 118020 w 143420"/>
                  <a:gd name="connsiteY30" fmla="*/ 755650 h 806450"/>
                  <a:gd name="connsiteX31" fmla="*/ 124370 w 143420"/>
                  <a:gd name="connsiteY31" fmla="*/ 746125 h 806450"/>
                  <a:gd name="connsiteX32" fmla="*/ 137070 w 143420"/>
                  <a:gd name="connsiteY32" fmla="*/ 717550 h 806450"/>
                  <a:gd name="connsiteX33" fmla="*/ 140245 w 143420"/>
                  <a:gd name="connsiteY33" fmla="*/ 692150 h 806450"/>
                  <a:gd name="connsiteX34" fmla="*/ 143420 w 143420"/>
                  <a:gd name="connsiteY34" fmla="*/ 682625 h 806450"/>
                  <a:gd name="connsiteX35" fmla="*/ 140245 w 143420"/>
                  <a:gd name="connsiteY35" fmla="*/ 641350 h 806450"/>
                  <a:gd name="connsiteX36" fmla="*/ 130720 w 143420"/>
                  <a:gd name="connsiteY36" fmla="*/ 508000 h 806450"/>
                  <a:gd name="connsiteX37" fmla="*/ 130720 w 143420"/>
                  <a:gd name="connsiteY37" fmla="*/ 415925 h 806450"/>
                  <a:gd name="connsiteX38" fmla="*/ 121195 w 143420"/>
                  <a:gd name="connsiteY38" fmla="*/ 374650 h 806450"/>
                  <a:gd name="connsiteX39" fmla="*/ 102145 w 143420"/>
                  <a:gd name="connsiteY39" fmla="*/ 358775 h 806450"/>
                  <a:gd name="connsiteX40" fmla="*/ 83095 w 143420"/>
                  <a:gd name="connsiteY40" fmla="*/ 349250 h 806450"/>
                  <a:gd name="connsiteX41" fmla="*/ 86270 w 143420"/>
                  <a:gd name="connsiteY41" fmla="*/ 336550 h 806450"/>
                  <a:gd name="connsiteX42" fmla="*/ 95795 w 143420"/>
                  <a:gd name="connsiteY42" fmla="*/ 330200 h 806450"/>
                  <a:gd name="connsiteX43" fmla="*/ 105320 w 143420"/>
                  <a:gd name="connsiteY43" fmla="*/ 320675 h 806450"/>
                  <a:gd name="connsiteX44" fmla="*/ 118020 w 143420"/>
                  <a:gd name="connsiteY44" fmla="*/ 292100 h 806450"/>
                  <a:gd name="connsiteX45" fmla="*/ 124370 w 143420"/>
                  <a:gd name="connsiteY45" fmla="*/ 279400 h 806450"/>
                  <a:gd name="connsiteX46" fmla="*/ 127545 w 143420"/>
                  <a:gd name="connsiteY46" fmla="*/ 250825 h 806450"/>
                  <a:gd name="connsiteX47" fmla="*/ 121195 w 143420"/>
                  <a:gd name="connsiteY47" fmla="*/ 177800 h 806450"/>
                  <a:gd name="connsiteX48" fmla="*/ 124370 w 143420"/>
                  <a:gd name="connsiteY48" fmla="*/ 130175 h 806450"/>
                  <a:gd name="connsiteX49" fmla="*/ 114845 w 143420"/>
                  <a:gd name="connsiteY49" fmla="*/ 44450 h 806450"/>
                  <a:gd name="connsiteX50" fmla="*/ 102145 w 143420"/>
                  <a:gd name="connsiteY50" fmla="*/ 15875 h 806450"/>
                  <a:gd name="connsiteX51" fmla="*/ 98970 w 143420"/>
                  <a:gd name="connsiteY51" fmla="*/ 6350 h 806450"/>
                  <a:gd name="connsiteX52" fmla="*/ 79920 w 143420"/>
                  <a:gd name="connsiteY52" fmla="*/ 0 h 806450"/>
                  <a:gd name="connsiteX53" fmla="*/ 54520 w 143420"/>
                  <a:gd name="connsiteY53" fmla="*/ 3175 h 806450"/>
                  <a:gd name="connsiteX54" fmla="*/ 35470 w 143420"/>
                  <a:gd name="connsiteY54" fmla="*/ 6350 h 80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3420" h="806450">
                    <a:moveTo>
                      <a:pt x="35470" y="6350"/>
                    </a:moveTo>
                    <a:cubicBezTo>
                      <a:pt x="29649" y="10583"/>
                      <a:pt x="23911" y="20559"/>
                      <a:pt x="19595" y="28575"/>
                    </a:cubicBezTo>
                    <a:cubicBezTo>
                      <a:pt x="16422" y="34468"/>
                      <a:pt x="15362" y="41275"/>
                      <a:pt x="13245" y="47625"/>
                    </a:cubicBezTo>
                    <a:lnTo>
                      <a:pt x="10070" y="57150"/>
                    </a:lnTo>
                    <a:cubicBezTo>
                      <a:pt x="11128" y="63500"/>
                      <a:pt x="13245" y="69762"/>
                      <a:pt x="13245" y="76200"/>
                    </a:cubicBezTo>
                    <a:cubicBezTo>
                      <a:pt x="13245" y="160070"/>
                      <a:pt x="15730" y="143149"/>
                      <a:pt x="6895" y="187325"/>
                    </a:cubicBezTo>
                    <a:cubicBezTo>
                      <a:pt x="5837" y="206375"/>
                      <a:pt x="5304" y="225462"/>
                      <a:pt x="3720" y="244475"/>
                    </a:cubicBezTo>
                    <a:cubicBezTo>
                      <a:pt x="863" y="278760"/>
                      <a:pt x="-2985" y="248520"/>
                      <a:pt x="3720" y="292100"/>
                    </a:cubicBezTo>
                    <a:cubicBezTo>
                      <a:pt x="5675" y="304811"/>
                      <a:pt x="9845" y="314100"/>
                      <a:pt x="19595" y="323850"/>
                    </a:cubicBezTo>
                    <a:lnTo>
                      <a:pt x="38645" y="342900"/>
                    </a:lnTo>
                    <a:cubicBezTo>
                      <a:pt x="32464" y="361443"/>
                      <a:pt x="40306" y="344414"/>
                      <a:pt x="25945" y="358775"/>
                    </a:cubicBezTo>
                    <a:cubicBezTo>
                      <a:pt x="23247" y="361473"/>
                      <a:pt x="22038" y="365369"/>
                      <a:pt x="19595" y="368300"/>
                    </a:cubicBezTo>
                    <a:cubicBezTo>
                      <a:pt x="-777" y="392746"/>
                      <a:pt x="19486" y="363701"/>
                      <a:pt x="3720" y="387350"/>
                    </a:cubicBezTo>
                    <a:cubicBezTo>
                      <a:pt x="4778" y="392642"/>
                      <a:pt x="5475" y="398019"/>
                      <a:pt x="6895" y="403225"/>
                    </a:cubicBezTo>
                    <a:cubicBezTo>
                      <a:pt x="8656" y="409683"/>
                      <a:pt x="13245" y="422275"/>
                      <a:pt x="13245" y="422275"/>
                    </a:cubicBezTo>
                    <a:cubicBezTo>
                      <a:pt x="14303" y="443442"/>
                      <a:pt x="14660" y="464655"/>
                      <a:pt x="16420" y="485775"/>
                    </a:cubicBezTo>
                    <a:cubicBezTo>
                      <a:pt x="16782" y="490124"/>
                      <a:pt x="19305" y="494121"/>
                      <a:pt x="19595" y="498475"/>
                    </a:cubicBezTo>
                    <a:cubicBezTo>
                      <a:pt x="21427" y="525951"/>
                      <a:pt x="21712" y="553508"/>
                      <a:pt x="22770" y="581025"/>
                    </a:cubicBezTo>
                    <a:cubicBezTo>
                      <a:pt x="20653" y="601133"/>
                      <a:pt x="21324" y="621734"/>
                      <a:pt x="16420" y="641350"/>
                    </a:cubicBezTo>
                    <a:lnTo>
                      <a:pt x="10070" y="666750"/>
                    </a:lnTo>
                    <a:cubicBezTo>
                      <a:pt x="12118" y="697477"/>
                      <a:pt x="12180" y="712216"/>
                      <a:pt x="16420" y="739775"/>
                    </a:cubicBezTo>
                    <a:cubicBezTo>
                      <a:pt x="17374" y="745976"/>
                      <a:pt x="20774" y="761697"/>
                      <a:pt x="22770" y="768350"/>
                    </a:cubicBezTo>
                    <a:cubicBezTo>
                      <a:pt x="24693" y="774761"/>
                      <a:pt x="27003" y="781050"/>
                      <a:pt x="29120" y="787400"/>
                    </a:cubicBezTo>
                    <a:cubicBezTo>
                      <a:pt x="34412" y="803275"/>
                      <a:pt x="29120" y="795867"/>
                      <a:pt x="51345" y="803275"/>
                    </a:cubicBezTo>
                    <a:lnTo>
                      <a:pt x="60870" y="806450"/>
                    </a:lnTo>
                    <a:cubicBezTo>
                      <a:pt x="64045" y="805392"/>
                      <a:pt x="67610" y="805131"/>
                      <a:pt x="70395" y="803275"/>
                    </a:cubicBezTo>
                    <a:cubicBezTo>
                      <a:pt x="74131" y="800784"/>
                      <a:pt x="76471" y="796625"/>
                      <a:pt x="79920" y="793750"/>
                    </a:cubicBezTo>
                    <a:cubicBezTo>
                      <a:pt x="82851" y="791307"/>
                      <a:pt x="86270" y="789517"/>
                      <a:pt x="89445" y="787400"/>
                    </a:cubicBezTo>
                    <a:cubicBezTo>
                      <a:pt x="91562" y="784225"/>
                      <a:pt x="92815" y="780259"/>
                      <a:pt x="95795" y="777875"/>
                    </a:cubicBezTo>
                    <a:cubicBezTo>
                      <a:pt x="98408" y="775784"/>
                      <a:pt x="102953" y="777067"/>
                      <a:pt x="105320" y="774700"/>
                    </a:cubicBezTo>
                    <a:cubicBezTo>
                      <a:pt x="110716" y="769304"/>
                      <a:pt x="113787" y="762000"/>
                      <a:pt x="118020" y="755650"/>
                    </a:cubicBezTo>
                    <a:cubicBezTo>
                      <a:pt x="120137" y="752475"/>
                      <a:pt x="123163" y="749745"/>
                      <a:pt x="124370" y="746125"/>
                    </a:cubicBezTo>
                    <a:cubicBezTo>
                      <a:pt x="131927" y="723455"/>
                      <a:pt x="127007" y="732644"/>
                      <a:pt x="137070" y="717550"/>
                    </a:cubicBezTo>
                    <a:cubicBezTo>
                      <a:pt x="138128" y="709083"/>
                      <a:pt x="138719" y="700545"/>
                      <a:pt x="140245" y="692150"/>
                    </a:cubicBezTo>
                    <a:cubicBezTo>
                      <a:pt x="140844" y="688857"/>
                      <a:pt x="143420" y="685972"/>
                      <a:pt x="143420" y="682625"/>
                    </a:cubicBezTo>
                    <a:cubicBezTo>
                      <a:pt x="143420" y="668826"/>
                      <a:pt x="141040" y="655126"/>
                      <a:pt x="140245" y="641350"/>
                    </a:cubicBezTo>
                    <a:cubicBezTo>
                      <a:pt x="132738" y="511225"/>
                      <a:pt x="147044" y="556973"/>
                      <a:pt x="130720" y="508000"/>
                    </a:cubicBezTo>
                    <a:cubicBezTo>
                      <a:pt x="138581" y="468693"/>
                      <a:pt x="135529" y="490469"/>
                      <a:pt x="130720" y="415925"/>
                    </a:cubicBezTo>
                    <a:cubicBezTo>
                      <a:pt x="130359" y="410325"/>
                      <a:pt x="126548" y="380003"/>
                      <a:pt x="121195" y="374650"/>
                    </a:cubicBezTo>
                    <a:cubicBezTo>
                      <a:pt x="114173" y="367628"/>
                      <a:pt x="110986" y="363195"/>
                      <a:pt x="102145" y="358775"/>
                    </a:cubicBezTo>
                    <a:cubicBezTo>
                      <a:pt x="75855" y="345630"/>
                      <a:pt x="110392" y="367448"/>
                      <a:pt x="83095" y="349250"/>
                    </a:cubicBezTo>
                    <a:cubicBezTo>
                      <a:pt x="84153" y="345017"/>
                      <a:pt x="83849" y="340181"/>
                      <a:pt x="86270" y="336550"/>
                    </a:cubicBezTo>
                    <a:cubicBezTo>
                      <a:pt x="88387" y="333375"/>
                      <a:pt x="92864" y="332643"/>
                      <a:pt x="95795" y="330200"/>
                    </a:cubicBezTo>
                    <a:cubicBezTo>
                      <a:pt x="99244" y="327325"/>
                      <a:pt x="102445" y="324124"/>
                      <a:pt x="105320" y="320675"/>
                    </a:cubicBezTo>
                    <a:cubicBezTo>
                      <a:pt x="116994" y="306666"/>
                      <a:pt x="107637" y="312866"/>
                      <a:pt x="118020" y="292100"/>
                    </a:cubicBezTo>
                    <a:lnTo>
                      <a:pt x="124370" y="279400"/>
                    </a:lnTo>
                    <a:cubicBezTo>
                      <a:pt x="125428" y="269875"/>
                      <a:pt x="127545" y="260409"/>
                      <a:pt x="127545" y="250825"/>
                    </a:cubicBezTo>
                    <a:cubicBezTo>
                      <a:pt x="127545" y="199760"/>
                      <a:pt x="128516" y="207084"/>
                      <a:pt x="121195" y="177800"/>
                    </a:cubicBezTo>
                    <a:cubicBezTo>
                      <a:pt x="122253" y="161925"/>
                      <a:pt x="124370" y="146085"/>
                      <a:pt x="124370" y="130175"/>
                    </a:cubicBezTo>
                    <a:cubicBezTo>
                      <a:pt x="124370" y="97955"/>
                      <a:pt x="124504" y="73427"/>
                      <a:pt x="114845" y="44450"/>
                    </a:cubicBezTo>
                    <a:cubicBezTo>
                      <a:pt x="98463" y="-4697"/>
                      <a:pt x="117239" y="46064"/>
                      <a:pt x="102145" y="15875"/>
                    </a:cubicBezTo>
                    <a:cubicBezTo>
                      <a:pt x="100648" y="12882"/>
                      <a:pt x="101693" y="8295"/>
                      <a:pt x="98970" y="6350"/>
                    </a:cubicBezTo>
                    <a:cubicBezTo>
                      <a:pt x="93523" y="2459"/>
                      <a:pt x="79920" y="0"/>
                      <a:pt x="79920" y="0"/>
                    </a:cubicBezTo>
                    <a:cubicBezTo>
                      <a:pt x="71453" y="1058"/>
                      <a:pt x="62915" y="1649"/>
                      <a:pt x="54520" y="3175"/>
                    </a:cubicBezTo>
                    <a:cubicBezTo>
                      <a:pt x="48355" y="4296"/>
                      <a:pt x="41291" y="2117"/>
                      <a:pt x="35470" y="6350"/>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defTabSz="1219170"/>
                <a:endParaRPr lang="en-US" sz="2880" dirty="0"/>
              </a:p>
            </p:txBody>
          </p:sp>
          <p:sp>
            <p:nvSpPr>
              <p:cNvPr id="1374" name="Freeform 361">
                <a:extLst>
                  <a:ext uri="{FF2B5EF4-FFF2-40B4-BE49-F238E27FC236}">
                    <a16:creationId xmlns:a16="http://schemas.microsoft.com/office/drawing/2014/main" id="{891B98B1-CA2D-8884-7584-AA679F5C111A}"/>
                  </a:ext>
                </a:extLst>
              </p:cNvPr>
              <p:cNvSpPr/>
              <p:nvPr/>
            </p:nvSpPr>
            <p:spPr>
              <a:xfrm>
                <a:off x="1632266" y="2254248"/>
                <a:ext cx="20408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75" name="Freeform 362">
                <a:extLst>
                  <a:ext uri="{FF2B5EF4-FFF2-40B4-BE49-F238E27FC236}">
                    <a16:creationId xmlns:a16="http://schemas.microsoft.com/office/drawing/2014/main" id="{29641A9A-9DAB-553A-9308-6A8D49B0E010}"/>
                  </a:ext>
                </a:extLst>
              </p:cNvPr>
              <p:cNvSpPr/>
              <p:nvPr/>
            </p:nvSpPr>
            <p:spPr>
              <a:xfrm>
                <a:off x="1640454" y="2374606"/>
                <a:ext cx="194841" cy="51090"/>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76" name="Freeform 363">
                <a:extLst>
                  <a:ext uri="{FF2B5EF4-FFF2-40B4-BE49-F238E27FC236}">
                    <a16:creationId xmlns:a16="http://schemas.microsoft.com/office/drawing/2014/main" id="{E5D06FCB-B43B-14AF-A1AB-438D9CD9723A}"/>
                  </a:ext>
                </a:extLst>
              </p:cNvPr>
              <p:cNvSpPr/>
              <p:nvPr/>
            </p:nvSpPr>
            <p:spPr>
              <a:xfrm>
                <a:off x="1620756" y="2529578"/>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77" name="Freeform 364">
                <a:extLst>
                  <a:ext uri="{FF2B5EF4-FFF2-40B4-BE49-F238E27FC236}">
                    <a16:creationId xmlns:a16="http://schemas.microsoft.com/office/drawing/2014/main" id="{3ADADAE4-B917-E9B4-0C3A-EE2E2692B712}"/>
                  </a:ext>
                </a:extLst>
              </p:cNvPr>
              <p:cNvSpPr/>
              <p:nvPr/>
            </p:nvSpPr>
            <p:spPr>
              <a:xfrm>
                <a:off x="1632266" y="287923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78" name="Freeform 365">
                <a:extLst>
                  <a:ext uri="{FF2B5EF4-FFF2-40B4-BE49-F238E27FC236}">
                    <a16:creationId xmlns:a16="http://schemas.microsoft.com/office/drawing/2014/main" id="{C7B8B71A-5B69-A94F-A349-3CCFBC7B62F7}"/>
                  </a:ext>
                </a:extLst>
              </p:cNvPr>
              <p:cNvSpPr/>
              <p:nvPr/>
            </p:nvSpPr>
            <p:spPr>
              <a:xfrm rot="10800000">
                <a:off x="1635000" y="293057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79" name="Freeform 366">
                <a:extLst>
                  <a:ext uri="{FF2B5EF4-FFF2-40B4-BE49-F238E27FC236}">
                    <a16:creationId xmlns:a16="http://schemas.microsoft.com/office/drawing/2014/main" id="{C038A0FD-26D0-0BF4-779B-0293189063DA}"/>
                  </a:ext>
                </a:extLst>
              </p:cNvPr>
              <p:cNvSpPr/>
              <p:nvPr/>
            </p:nvSpPr>
            <p:spPr>
              <a:xfrm>
                <a:off x="1645148" y="3250616"/>
                <a:ext cx="223379"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0" name="Freeform 367">
                <a:extLst>
                  <a:ext uri="{FF2B5EF4-FFF2-40B4-BE49-F238E27FC236}">
                    <a16:creationId xmlns:a16="http://schemas.microsoft.com/office/drawing/2014/main" id="{21D7238C-410D-274E-8273-05783EBEF3D4}"/>
                  </a:ext>
                </a:extLst>
              </p:cNvPr>
              <p:cNvSpPr/>
              <p:nvPr/>
            </p:nvSpPr>
            <p:spPr>
              <a:xfrm rot="10800000">
                <a:off x="1651602" y="3151500"/>
                <a:ext cx="223377"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1" name="Freeform 368">
                <a:extLst>
                  <a:ext uri="{FF2B5EF4-FFF2-40B4-BE49-F238E27FC236}">
                    <a16:creationId xmlns:a16="http://schemas.microsoft.com/office/drawing/2014/main" id="{82A34AF9-56CA-60E0-D19A-04D525DADD76}"/>
                  </a:ext>
                </a:extLst>
              </p:cNvPr>
              <p:cNvSpPr/>
              <p:nvPr/>
            </p:nvSpPr>
            <p:spPr>
              <a:xfrm>
                <a:off x="1641682" y="3011180"/>
                <a:ext cx="223377"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2" name="Freeform 369">
                <a:extLst>
                  <a:ext uri="{FF2B5EF4-FFF2-40B4-BE49-F238E27FC236}">
                    <a16:creationId xmlns:a16="http://schemas.microsoft.com/office/drawing/2014/main" id="{3AD851DB-0978-166E-B04C-EFA33381650C}"/>
                  </a:ext>
                </a:extLst>
              </p:cNvPr>
              <p:cNvSpPr/>
              <p:nvPr/>
            </p:nvSpPr>
            <p:spPr>
              <a:xfrm>
                <a:off x="1670338" y="2735940"/>
                <a:ext cx="102948" cy="472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3" name="Freeform 370">
                <a:extLst>
                  <a:ext uri="{FF2B5EF4-FFF2-40B4-BE49-F238E27FC236}">
                    <a16:creationId xmlns:a16="http://schemas.microsoft.com/office/drawing/2014/main" id="{663CEEB6-0217-FE8E-5170-B59BB3AD0BCD}"/>
                  </a:ext>
                </a:extLst>
              </p:cNvPr>
              <p:cNvSpPr/>
              <p:nvPr/>
            </p:nvSpPr>
            <p:spPr>
              <a:xfrm>
                <a:off x="1635124" y="2219322"/>
                <a:ext cx="185537" cy="2540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4" name="Freeform 371">
                <a:extLst>
                  <a:ext uri="{FF2B5EF4-FFF2-40B4-BE49-F238E27FC236}">
                    <a16:creationId xmlns:a16="http://schemas.microsoft.com/office/drawing/2014/main" id="{CA12FD1A-5D77-03E9-5A28-259F44EB4913}"/>
                  </a:ext>
                </a:extLst>
              </p:cNvPr>
              <p:cNvSpPr/>
              <p:nvPr/>
            </p:nvSpPr>
            <p:spPr>
              <a:xfrm>
                <a:off x="1614898" y="2460610"/>
                <a:ext cx="226059" cy="63936"/>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5" name="Freeform 372">
                <a:extLst>
                  <a:ext uri="{FF2B5EF4-FFF2-40B4-BE49-F238E27FC236}">
                    <a16:creationId xmlns:a16="http://schemas.microsoft.com/office/drawing/2014/main" id="{07F38551-2DB8-E65D-F3C0-7CCED135425E}"/>
                  </a:ext>
                </a:extLst>
              </p:cNvPr>
              <p:cNvSpPr/>
              <p:nvPr/>
            </p:nvSpPr>
            <p:spPr>
              <a:xfrm>
                <a:off x="1628828" y="3324378"/>
                <a:ext cx="244089" cy="136010"/>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6" name="Freeform 373">
                <a:extLst>
                  <a:ext uri="{FF2B5EF4-FFF2-40B4-BE49-F238E27FC236}">
                    <a16:creationId xmlns:a16="http://schemas.microsoft.com/office/drawing/2014/main" id="{522DA525-F22C-BB2E-1D98-4973A3333D11}"/>
                  </a:ext>
                </a:extLst>
              </p:cNvPr>
              <p:cNvSpPr/>
              <p:nvPr/>
            </p:nvSpPr>
            <p:spPr>
              <a:xfrm rot="10800000">
                <a:off x="1635442" y="3313226"/>
                <a:ext cx="240651" cy="95442"/>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87" name="Freeform 374">
                <a:extLst>
                  <a:ext uri="{FF2B5EF4-FFF2-40B4-BE49-F238E27FC236}">
                    <a16:creationId xmlns:a16="http://schemas.microsoft.com/office/drawing/2014/main" id="{A8A2412C-073E-FD17-D061-A7D12762A9FB}"/>
                  </a:ext>
                </a:extLst>
              </p:cNvPr>
              <p:cNvSpPr/>
              <p:nvPr/>
            </p:nvSpPr>
            <p:spPr>
              <a:xfrm rot="10800000">
                <a:off x="1611916" y="2632962"/>
                <a:ext cx="223379"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grpSp>
        <p:grpSp>
          <p:nvGrpSpPr>
            <p:cNvPr id="1356" name="Group 375">
              <a:extLst>
                <a:ext uri="{FF2B5EF4-FFF2-40B4-BE49-F238E27FC236}">
                  <a16:creationId xmlns:a16="http://schemas.microsoft.com/office/drawing/2014/main" id="{17760D7B-CB17-EBBD-9B14-950435356438}"/>
                </a:ext>
              </a:extLst>
            </p:cNvPr>
            <p:cNvGrpSpPr/>
            <p:nvPr/>
          </p:nvGrpSpPr>
          <p:grpSpPr>
            <a:xfrm flipH="1">
              <a:off x="7287457" y="2431109"/>
              <a:ext cx="165414" cy="737204"/>
              <a:chOff x="2073412" y="2165656"/>
              <a:chExt cx="314361" cy="1401953"/>
            </a:xfrm>
            <a:solidFill>
              <a:srgbClr val="0D0D0D">
                <a:alpha val="29804"/>
              </a:srgbClr>
            </a:solidFill>
          </p:grpSpPr>
          <p:sp>
            <p:nvSpPr>
              <p:cNvPr id="1359" name="Freeform 376">
                <a:extLst>
                  <a:ext uri="{FF2B5EF4-FFF2-40B4-BE49-F238E27FC236}">
                    <a16:creationId xmlns:a16="http://schemas.microsoft.com/office/drawing/2014/main" id="{ACE710DA-B012-1E1A-8B37-CBBB531BB7DE}"/>
                  </a:ext>
                </a:extLst>
              </p:cNvPr>
              <p:cNvSpPr/>
              <p:nvPr/>
            </p:nvSpPr>
            <p:spPr>
              <a:xfrm>
                <a:off x="2076568" y="2165656"/>
                <a:ext cx="303348" cy="1401953"/>
              </a:xfrm>
              <a:custGeom>
                <a:avLst/>
                <a:gdLst>
                  <a:gd name="connsiteX0" fmla="*/ 101646 w 168321"/>
                  <a:gd name="connsiteY0" fmla="*/ 3215 h 777915"/>
                  <a:gd name="connsiteX1" fmla="*/ 85771 w 168321"/>
                  <a:gd name="connsiteY1" fmla="*/ 25440 h 777915"/>
                  <a:gd name="connsiteX2" fmla="*/ 76246 w 168321"/>
                  <a:gd name="connsiteY2" fmla="*/ 31790 h 777915"/>
                  <a:gd name="connsiteX3" fmla="*/ 63546 w 168321"/>
                  <a:gd name="connsiteY3" fmla="*/ 50840 h 777915"/>
                  <a:gd name="connsiteX4" fmla="*/ 57196 w 168321"/>
                  <a:gd name="connsiteY4" fmla="*/ 60365 h 777915"/>
                  <a:gd name="connsiteX5" fmla="*/ 50846 w 168321"/>
                  <a:gd name="connsiteY5" fmla="*/ 69890 h 777915"/>
                  <a:gd name="connsiteX6" fmla="*/ 44496 w 168321"/>
                  <a:gd name="connsiteY6" fmla="*/ 95290 h 777915"/>
                  <a:gd name="connsiteX7" fmla="*/ 38146 w 168321"/>
                  <a:gd name="connsiteY7" fmla="*/ 114340 h 777915"/>
                  <a:gd name="connsiteX8" fmla="*/ 34971 w 168321"/>
                  <a:gd name="connsiteY8" fmla="*/ 123865 h 777915"/>
                  <a:gd name="connsiteX9" fmla="*/ 25446 w 168321"/>
                  <a:gd name="connsiteY9" fmla="*/ 155615 h 777915"/>
                  <a:gd name="connsiteX10" fmla="*/ 15921 w 168321"/>
                  <a:gd name="connsiteY10" fmla="*/ 184190 h 777915"/>
                  <a:gd name="connsiteX11" fmla="*/ 12746 w 168321"/>
                  <a:gd name="connsiteY11" fmla="*/ 193715 h 777915"/>
                  <a:gd name="connsiteX12" fmla="*/ 12746 w 168321"/>
                  <a:gd name="connsiteY12" fmla="*/ 269915 h 777915"/>
                  <a:gd name="connsiteX13" fmla="*/ 22271 w 168321"/>
                  <a:gd name="connsiteY13" fmla="*/ 308015 h 777915"/>
                  <a:gd name="connsiteX14" fmla="*/ 31796 w 168321"/>
                  <a:gd name="connsiteY14" fmla="*/ 314365 h 777915"/>
                  <a:gd name="connsiteX15" fmla="*/ 31796 w 168321"/>
                  <a:gd name="connsiteY15" fmla="*/ 333415 h 777915"/>
                  <a:gd name="connsiteX16" fmla="*/ 12746 w 168321"/>
                  <a:gd name="connsiteY16" fmla="*/ 346115 h 777915"/>
                  <a:gd name="connsiteX17" fmla="*/ 6396 w 168321"/>
                  <a:gd name="connsiteY17" fmla="*/ 355640 h 777915"/>
                  <a:gd name="connsiteX18" fmla="*/ 3221 w 168321"/>
                  <a:gd name="connsiteY18" fmla="*/ 368340 h 777915"/>
                  <a:gd name="connsiteX19" fmla="*/ 46 w 168321"/>
                  <a:gd name="connsiteY19" fmla="*/ 438190 h 777915"/>
                  <a:gd name="connsiteX20" fmla="*/ 3221 w 168321"/>
                  <a:gd name="connsiteY20" fmla="*/ 514390 h 777915"/>
                  <a:gd name="connsiteX21" fmla="*/ 3221 w 168321"/>
                  <a:gd name="connsiteY21" fmla="*/ 581065 h 777915"/>
                  <a:gd name="connsiteX22" fmla="*/ 9571 w 168321"/>
                  <a:gd name="connsiteY22" fmla="*/ 717590 h 777915"/>
                  <a:gd name="connsiteX23" fmla="*/ 12746 w 168321"/>
                  <a:gd name="connsiteY23" fmla="*/ 730290 h 777915"/>
                  <a:gd name="connsiteX24" fmla="*/ 19096 w 168321"/>
                  <a:gd name="connsiteY24" fmla="*/ 762040 h 777915"/>
                  <a:gd name="connsiteX25" fmla="*/ 25446 w 168321"/>
                  <a:gd name="connsiteY25" fmla="*/ 771565 h 777915"/>
                  <a:gd name="connsiteX26" fmla="*/ 54021 w 168321"/>
                  <a:gd name="connsiteY26" fmla="*/ 774740 h 777915"/>
                  <a:gd name="connsiteX27" fmla="*/ 63546 w 168321"/>
                  <a:gd name="connsiteY27" fmla="*/ 777915 h 777915"/>
                  <a:gd name="connsiteX28" fmla="*/ 85771 w 168321"/>
                  <a:gd name="connsiteY28" fmla="*/ 755690 h 777915"/>
                  <a:gd name="connsiteX29" fmla="*/ 88946 w 168321"/>
                  <a:gd name="connsiteY29" fmla="*/ 746165 h 777915"/>
                  <a:gd name="connsiteX30" fmla="*/ 98471 w 168321"/>
                  <a:gd name="connsiteY30" fmla="*/ 736640 h 777915"/>
                  <a:gd name="connsiteX31" fmla="*/ 107996 w 168321"/>
                  <a:gd name="connsiteY31" fmla="*/ 708065 h 777915"/>
                  <a:gd name="connsiteX32" fmla="*/ 111171 w 168321"/>
                  <a:gd name="connsiteY32" fmla="*/ 698540 h 777915"/>
                  <a:gd name="connsiteX33" fmla="*/ 114346 w 168321"/>
                  <a:gd name="connsiteY33" fmla="*/ 689015 h 777915"/>
                  <a:gd name="connsiteX34" fmla="*/ 120696 w 168321"/>
                  <a:gd name="connsiteY34" fmla="*/ 654090 h 777915"/>
                  <a:gd name="connsiteX35" fmla="*/ 123871 w 168321"/>
                  <a:gd name="connsiteY35" fmla="*/ 523915 h 777915"/>
                  <a:gd name="connsiteX36" fmla="*/ 120696 w 168321"/>
                  <a:gd name="connsiteY36" fmla="*/ 514390 h 777915"/>
                  <a:gd name="connsiteX37" fmla="*/ 123871 w 168321"/>
                  <a:gd name="connsiteY37" fmla="*/ 485815 h 777915"/>
                  <a:gd name="connsiteX38" fmla="*/ 117521 w 168321"/>
                  <a:gd name="connsiteY38" fmla="*/ 428665 h 777915"/>
                  <a:gd name="connsiteX39" fmla="*/ 114346 w 168321"/>
                  <a:gd name="connsiteY39" fmla="*/ 368340 h 777915"/>
                  <a:gd name="connsiteX40" fmla="*/ 107996 w 168321"/>
                  <a:gd name="connsiteY40" fmla="*/ 349290 h 777915"/>
                  <a:gd name="connsiteX41" fmla="*/ 79421 w 168321"/>
                  <a:gd name="connsiteY41" fmla="*/ 327065 h 777915"/>
                  <a:gd name="connsiteX42" fmla="*/ 92121 w 168321"/>
                  <a:gd name="connsiteY42" fmla="*/ 308015 h 777915"/>
                  <a:gd name="connsiteX43" fmla="*/ 98471 w 168321"/>
                  <a:gd name="connsiteY43" fmla="*/ 288965 h 777915"/>
                  <a:gd name="connsiteX44" fmla="*/ 107996 w 168321"/>
                  <a:gd name="connsiteY44" fmla="*/ 260390 h 777915"/>
                  <a:gd name="connsiteX45" fmla="*/ 117521 w 168321"/>
                  <a:gd name="connsiteY45" fmla="*/ 241340 h 777915"/>
                  <a:gd name="connsiteX46" fmla="*/ 123871 w 168321"/>
                  <a:gd name="connsiteY46" fmla="*/ 222290 h 777915"/>
                  <a:gd name="connsiteX47" fmla="*/ 136571 w 168321"/>
                  <a:gd name="connsiteY47" fmla="*/ 184190 h 777915"/>
                  <a:gd name="connsiteX48" fmla="*/ 139746 w 168321"/>
                  <a:gd name="connsiteY48" fmla="*/ 174665 h 777915"/>
                  <a:gd name="connsiteX49" fmla="*/ 142921 w 168321"/>
                  <a:gd name="connsiteY49" fmla="*/ 165140 h 777915"/>
                  <a:gd name="connsiteX50" fmla="*/ 146096 w 168321"/>
                  <a:gd name="connsiteY50" fmla="*/ 120690 h 777915"/>
                  <a:gd name="connsiteX51" fmla="*/ 158796 w 168321"/>
                  <a:gd name="connsiteY51" fmla="*/ 76240 h 777915"/>
                  <a:gd name="connsiteX52" fmla="*/ 168321 w 168321"/>
                  <a:gd name="connsiteY52" fmla="*/ 57190 h 777915"/>
                  <a:gd name="connsiteX53" fmla="*/ 165146 w 168321"/>
                  <a:gd name="connsiteY53" fmla="*/ 28615 h 777915"/>
                  <a:gd name="connsiteX54" fmla="*/ 161971 w 168321"/>
                  <a:gd name="connsiteY54" fmla="*/ 19090 h 777915"/>
                  <a:gd name="connsiteX55" fmla="*/ 152446 w 168321"/>
                  <a:gd name="connsiteY55" fmla="*/ 15915 h 777915"/>
                  <a:gd name="connsiteX56" fmla="*/ 136571 w 168321"/>
                  <a:gd name="connsiteY56" fmla="*/ 12740 h 777915"/>
                  <a:gd name="connsiteX57" fmla="*/ 130221 w 168321"/>
                  <a:gd name="connsiteY57" fmla="*/ 3215 h 777915"/>
                  <a:gd name="connsiteX58" fmla="*/ 111171 w 168321"/>
                  <a:gd name="connsiteY58" fmla="*/ 3215 h 777915"/>
                  <a:gd name="connsiteX59" fmla="*/ 101646 w 168321"/>
                  <a:gd name="connsiteY59" fmla="*/ 9565 h 777915"/>
                  <a:gd name="connsiteX60" fmla="*/ 101646 w 168321"/>
                  <a:gd name="connsiteY60" fmla="*/ 3215 h 77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68321" h="777915">
                    <a:moveTo>
                      <a:pt x="101646" y="3215"/>
                    </a:moveTo>
                    <a:cubicBezTo>
                      <a:pt x="99000" y="5861"/>
                      <a:pt x="91819" y="18635"/>
                      <a:pt x="85771" y="25440"/>
                    </a:cubicBezTo>
                    <a:cubicBezTo>
                      <a:pt x="83236" y="28292"/>
                      <a:pt x="78759" y="28918"/>
                      <a:pt x="76246" y="31790"/>
                    </a:cubicBezTo>
                    <a:cubicBezTo>
                      <a:pt x="71220" y="37533"/>
                      <a:pt x="67779" y="44490"/>
                      <a:pt x="63546" y="50840"/>
                    </a:cubicBezTo>
                    <a:lnTo>
                      <a:pt x="57196" y="60365"/>
                    </a:lnTo>
                    <a:lnTo>
                      <a:pt x="50846" y="69890"/>
                    </a:lnTo>
                    <a:cubicBezTo>
                      <a:pt x="48729" y="78357"/>
                      <a:pt x="47256" y="87011"/>
                      <a:pt x="44496" y="95290"/>
                    </a:cubicBezTo>
                    <a:lnTo>
                      <a:pt x="38146" y="114340"/>
                    </a:lnTo>
                    <a:cubicBezTo>
                      <a:pt x="37088" y="117515"/>
                      <a:pt x="35783" y="120618"/>
                      <a:pt x="34971" y="123865"/>
                    </a:cubicBezTo>
                    <a:cubicBezTo>
                      <a:pt x="30173" y="143059"/>
                      <a:pt x="33176" y="132425"/>
                      <a:pt x="25446" y="155615"/>
                    </a:cubicBezTo>
                    <a:lnTo>
                      <a:pt x="15921" y="184190"/>
                    </a:lnTo>
                    <a:lnTo>
                      <a:pt x="12746" y="193715"/>
                    </a:lnTo>
                    <a:cubicBezTo>
                      <a:pt x="8656" y="234614"/>
                      <a:pt x="8027" y="222721"/>
                      <a:pt x="12746" y="269915"/>
                    </a:cubicBezTo>
                    <a:cubicBezTo>
                      <a:pt x="13173" y="274183"/>
                      <a:pt x="17887" y="305092"/>
                      <a:pt x="22271" y="308015"/>
                    </a:cubicBezTo>
                    <a:lnTo>
                      <a:pt x="31796" y="314365"/>
                    </a:lnTo>
                    <a:cubicBezTo>
                      <a:pt x="33913" y="320715"/>
                      <a:pt x="38146" y="327065"/>
                      <a:pt x="31796" y="333415"/>
                    </a:cubicBezTo>
                    <a:cubicBezTo>
                      <a:pt x="26400" y="338811"/>
                      <a:pt x="12746" y="346115"/>
                      <a:pt x="12746" y="346115"/>
                    </a:cubicBezTo>
                    <a:cubicBezTo>
                      <a:pt x="10629" y="349290"/>
                      <a:pt x="7899" y="352133"/>
                      <a:pt x="6396" y="355640"/>
                    </a:cubicBezTo>
                    <a:cubicBezTo>
                      <a:pt x="4677" y="359651"/>
                      <a:pt x="3556" y="363989"/>
                      <a:pt x="3221" y="368340"/>
                    </a:cubicBezTo>
                    <a:cubicBezTo>
                      <a:pt x="1433" y="391579"/>
                      <a:pt x="1104" y="414907"/>
                      <a:pt x="46" y="438190"/>
                    </a:cubicBezTo>
                    <a:cubicBezTo>
                      <a:pt x="1104" y="463590"/>
                      <a:pt x="3221" y="488968"/>
                      <a:pt x="3221" y="514390"/>
                    </a:cubicBezTo>
                    <a:cubicBezTo>
                      <a:pt x="3221" y="590058"/>
                      <a:pt x="-4028" y="537574"/>
                      <a:pt x="3221" y="581065"/>
                    </a:cubicBezTo>
                    <a:cubicBezTo>
                      <a:pt x="4112" y="606007"/>
                      <a:pt x="5954" y="683227"/>
                      <a:pt x="9571" y="717590"/>
                    </a:cubicBezTo>
                    <a:cubicBezTo>
                      <a:pt x="10028" y="721930"/>
                      <a:pt x="11890" y="726011"/>
                      <a:pt x="12746" y="730290"/>
                    </a:cubicBezTo>
                    <a:cubicBezTo>
                      <a:pt x="13731" y="735214"/>
                      <a:pt x="16330" y="755587"/>
                      <a:pt x="19096" y="762040"/>
                    </a:cubicBezTo>
                    <a:cubicBezTo>
                      <a:pt x="20599" y="765547"/>
                      <a:pt x="21860" y="770261"/>
                      <a:pt x="25446" y="771565"/>
                    </a:cubicBezTo>
                    <a:cubicBezTo>
                      <a:pt x="34453" y="774840"/>
                      <a:pt x="44496" y="773682"/>
                      <a:pt x="54021" y="774740"/>
                    </a:cubicBezTo>
                    <a:cubicBezTo>
                      <a:pt x="57196" y="775798"/>
                      <a:pt x="60199" y="777915"/>
                      <a:pt x="63546" y="777915"/>
                    </a:cubicBezTo>
                    <a:cubicBezTo>
                      <a:pt x="75257" y="777915"/>
                      <a:pt x="82741" y="764781"/>
                      <a:pt x="85771" y="755690"/>
                    </a:cubicBezTo>
                    <a:cubicBezTo>
                      <a:pt x="86829" y="752515"/>
                      <a:pt x="87090" y="748950"/>
                      <a:pt x="88946" y="746165"/>
                    </a:cubicBezTo>
                    <a:cubicBezTo>
                      <a:pt x="91437" y="742429"/>
                      <a:pt x="95296" y="739815"/>
                      <a:pt x="98471" y="736640"/>
                    </a:cubicBezTo>
                    <a:lnTo>
                      <a:pt x="107996" y="708065"/>
                    </a:lnTo>
                    <a:lnTo>
                      <a:pt x="111171" y="698540"/>
                    </a:lnTo>
                    <a:cubicBezTo>
                      <a:pt x="112229" y="695365"/>
                      <a:pt x="113690" y="692297"/>
                      <a:pt x="114346" y="689015"/>
                    </a:cubicBezTo>
                    <a:cubicBezTo>
                      <a:pt x="118784" y="666827"/>
                      <a:pt x="116634" y="678463"/>
                      <a:pt x="120696" y="654090"/>
                    </a:cubicBezTo>
                    <a:cubicBezTo>
                      <a:pt x="125896" y="586493"/>
                      <a:pt x="130248" y="581311"/>
                      <a:pt x="123871" y="523915"/>
                    </a:cubicBezTo>
                    <a:cubicBezTo>
                      <a:pt x="123501" y="520589"/>
                      <a:pt x="121754" y="517565"/>
                      <a:pt x="120696" y="514390"/>
                    </a:cubicBezTo>
                    <a:cubicBezTo>
                      <a:pt x="121754" y="504865"/>
                      <a:pt x="123871" y="495399"/>
                      <a:pt x="123871" y="485815"/>
                    </a:cubicBezTo>
                    <a:cubicBezTo>
                      <a:pt x="123871" y="470405"/>
                      <a:pt x="119883" y="445198"/>
                      <a:pt x="117521" y="428665"/>
                    </a:cubicBezTo>
                    <a:cubicBezTo>
                      <a:pt x="116463" y="408557"/>
                      <a:pt x="116745" y="388333"/>
                      <a:pt x="114346" y="368340"/>
                    </a:cubicBezTo>
                    <a:cubicBezTo>
                      <a:pt x="113549" y="361694"/>
                      <a:pt x="113565" y="353003"/>
                      <a:pt x="107996" y="349290"/>
                    </a:cubicBezTo>
                    <a:cubicBezTo>
                      <a:pt x="85210" y="334099"/>
                      <a:pt x="94342" y="341986"/>
                      <a:pt x="79421" y="327065"/>
                    </a:cubicBezTo>
                    <a:cubicBezTo>
                      <a:pt x="89925" y="295553"/>
                      <a:pt x="72302" y="343690"/>
                      <a:pt x="92121" y="308015"/>
                    </a:cubicBezTo>
                    <a:cubicBezTo>
                      <a:pt x="95372" y="302164"/>
                      <a:pt x="96354" y="295315"/>
                      <a:pt x="98471" y="288965"/>
                    </a:cubicBezTo>
                    <a:lnTo>
                      <a:pt x="107996" y="260390"/>
                    </a:lnTo>
                    <a:cubicBezTo>
                      <a:pt x="119575" y="225652"/>
                      <a:pt x="101108" y="278269"/>
                      <a:pt x="117521" y="241340"/>
                    </a:cubicBezTo>
                    <a:cubicBezTo>
                      <a:pt x="120239" y="235223"/>
                      <a:pt x="121754" y="228640"/>
                      <a:pt x="123871" y="222290"/>
                    </a:cubicBezTo>
                    <a:lnTo>
                      <a:pt x="136571" y="184190"/>
                    </a:lnTo>
                    <a:lnTo>
                      <a:pt x="139746" y="174665"/>
                    </a:lnTo>
                    <a:lnTo>
                      <a:pt x="142921" y="165140"/>
                    </a:lnTo>
                    <a:cubicBezTo>
                      <a:pt x="143979" y="150323"/>
                      <a:pt x="144089" y="135408"/>
                      <a:pt x="146096" y="120690"/>
                    </a:cubicBezTo>
                    <a:cubicBezTo>
                      <a:pt x="146459" y="118029"/>
                      <a:pt x="155523" y="81149"/>
                      <a:pt x="158796" y="76240"/>
                    </a:cubicBezTo>
                    <a:cubicBezTo>
                      <a:pt x="167002" y="63930"/>
                      <a:pt x="163939" y="70335"/>
                      <a:pt x="168321" y="57190"/>
                    </a:cubicBezTo>
                    <a:cubicBezTo>
                      <a:pt x="167263" y="47665"/>
                      <a:pt x="166722" y="38068"/>
                      <a:pt x="165146" y="28615"/>
                    </a:cubicBezTo>
                    <a:cubicBezTo>
                      <a:pt x="164596" y="25314"/>
                      <a:pt x="164338" y="21457"/>
                      <a:pt x="161971" y="19090"/>
                    </a:cubicBezTo>
                    <a:cubicBezTo>
                      <a:pt x="159604" y="16723"/>
                      <a:pt x="155693" y="16727"/>
                      <a:pt x="152446" y="15915"/>
                    </a:cubicBezTo>
                    <a:cubicBezTo>
                      <a:pt x="147211" y="14606"/>
                      <a:pt x="141863" y="13798"/>
                      <a:pt x="136571" y="12740"/>
                    </a:cubicBezTo>
                    <a:cubicBezTo>
                      <a:pt x="134454" y="9565"/>
                      <a:pt x="133201" y="5599"/>
                      <a:pt x="130221" y="3215"/>
                    </a:cubicBezTo>
                    <a:cubicBezTo>
                      <a:pt x="123708" y="-1995"/>
                      <a:pt x="117684" y="-41"/>
                      <a:pt x="111171" y="3215"/>
                    </a:cubicBezTo>
                    <a:cubicBezTo>
                      <a:pt x="107758" y="4922"/>
                      <a:pt x="105059" y="7858"/>
                      <a:pt x="101646" y="9565"/>
                    </a:cubicBezTo>
                    <a:cubicBezTo>
                      <a:pt x="87053" y="16862"/>
                      <a:pt x="104292" y="569"/>
                      <a:pt x="101646" y="3215"/>
                    </a:cubicBezTo>
                    <a:close/>
                  </a:path>
                </a:pathLst>
              </a:custGeom>
              <a:grp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360" name="Freeform 377">
                <a:extLst>
                  <a:ext uri="{FF2B5EF4-FFF2-40B4-BE49-F238E27FC236}">
                    <a16:creationId xmlns:a16="http://schemas.microsoft.com/office/drawing/2014/main" id="{6559BD76-EE49-2070-0E30-0E7ED22197C7}"/>
                  </a:ext>
                </a:extLst>
              </p:cNvPr>
              <p:cNvSpPr/>
              <p:nvPr/>
            </p:nvSpPr>
            <p:spPr>
              <a:xfrm>
                <a:off x="2136451" y="2733425"/>
                <a:ext cx="88615" cy="45718"/>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1" name="Freeform 378">
                <a:extLst>
                  <a:ext uri="{FF2B5EF4-FFF2-40B4-BE49-F238E27FC236}">
                    <a16:creationId xmlns:a16="http://schemas.microsoft.com/office/drawing/2014/main" id="{F37D7EF4-1008-CAF3-D7E5-80F9E973AA27}"/>
                  </a:ext>
                </a:extLst>
              </p:cNvPr>
              <p:cNvSpPr/>
              <p:nvPr/>
            </p:nvSpPr>
            <p:spPr>
              <a:xfrm>
                <a:off x="2077078" y="3177188"/>
                <a:ext cx="235338"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2" name="Freeform 379">
                <a:extLst>
                  <a:ext uri="{FF2B5EF4-FFF2-40B4-BE49-F238E27FC236}">
                    <a16:creationId xmlns:a16="http://schemas.microsoft.com/office/drawing/2014/main" id="{8FD1DDEF-AA07-0CC1-46FE-D48CE7C0C78F}"/>
                  </a:ext>
                </a:extLst>
              </p:cNvPr>
              <p:cNvSpPr/>
              <p:nvPr/>
            </p:nvSpPr>
            <p:spPr>
              <a:xfrm>
                <a:off x="2082019" y="3327430"/>
                <a:ext cx="212529" cy="106483"/>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3" name="Freeform 380">
                <a:extLst>
                  <a:ext uri="{FF2B5EF4-FFF2-40B4-BE49-F238E27FC236}">
                    <a16:creationId xmlns:a16="http://schemas.microsoft.com/office/drawing/2014/main" id="{1B599911-AB2C-0061-45D9-E9098565ECE9}"/>
                  </a:ext>
                </a:extLst>
              </p:cNvPr>
              <p:cNvSpPr/>
              <p:nvPr/>
            </p:nvSpPr>
            <p:spPr>
              <a:xfrm rot="1266082">
                <a:off x="2115143" y="2437475"/>
                <a:ext cx="218879" cy="70147"/>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4" name="Freeform 381">
                <a:extLst>
                  <a:ext uri="{FF2B5EF4-FFF2-40B4-BE49-F238E27FC236}">
                    <a16:creationId xmlns:a16="http://schemas.microsoft.com/office/drawing/2014/main" id="{7E63BF8B-BB75-DB40-197F-3648A0427131}"/>
                  </a:ext>
                </a:extLst>
              </p:cNvPr>
              <p:cNvSpPr/>
              <p:nvPr/>
            </p:nvSpPr>
            <p:spPr>
              <a:xfrm rot="1266082">
                <a:off x="2095970" y="2503880"/>
                <a:ext cx="213921" cy="48671"/>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5" name="Freeform 382">
                <a:extLst>
                  <a:ext uri="{FF2B5EF4-FFF2-40B4-BE49-F238E27FC236}">
                    <a16:creationId xmlns:a16="http://schemas.microsoft.com/office/drawing/2014/main" id="{9DEE0A3B-F791-E171-2183-A508372CE476}"/>
                  </a:ext>
                </a:extLst>
              </p:cNvPr>
              <p:cNvSpPr/>
              <p:nvPr/>
            </p:nvSpPr>
            <p:spPr>
              <a:xfrm rot="900000">
                <a:off x="2144470" y="2349041"/>
                <a:ext cx="194840" cy="51091"/>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6" name="Freeform 383">
                <a:extLst>
                  <a:ext uri="{FF2B5EF4-FFF2-40B4-BE49-F238E27FC236}">
                    <a16:creationId xmlns:a16="http://schemas.microsoft.com/office/drawing/2014/main" id="{660DD138-2BD9-4768-FC95-78BA1C3D200D}"/>
                  </a:ext>
                </a:extLst>
              </p:cNvPr>
              <p:cNvSpPr/>
              <p:nvPr/>
            </p:nvSpPr>
            <p:spPr>
              <a:xfrm rot="900000">
                <a:off x="2088300" y="2608839"/>
                <a:ext cx="179344" cy="45718"/>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7" name="Freeform 384">
                <a:extLst>
                  <a:ext uri="{FF2B5EF4-FFF2-40B4-BE49-F238E27FC236}">
                    <a16:creationId xmlns:a16="http://schemas.microsoft.com/office/drawing/2014/main" id="{4FE6C163-0408-6831-497D-83681F858F14}"/>
                  </a:ext>
                </a:extLst>
              </p:cNvPr>
              <p:cNvSpPr/>
              <p:nvPr/>
            </p:nvSpPr>
            <p:spPr>
              <a:xfrm>
                <a:off x="2077345" y="3005410"/>
                <a:ext cx="221815"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defTabSz="1219170"/>
                <a:endParaRPr lang="en-US" sz="2880"/>
              </a:p>
            </p:txBody>
          </p:sp>
          <p:sp>
            <p:nvSpPr>
              <p:cNvPr id="1368" name="Freeform 385">
                <a:extLst>
                  <a:ext uri="{FF2B5EF4-FFF2-40B4-BE49-F238E27FC236}">
                    <a16:creationId xmlns:a16="http://schemas.microsoft.com/office/drawing/2014/main" id="{C48DD43E-3150-0BA0-3B7D-2C01BF523010}"/>
                  </a:ext>
                </a:extLst>
              </p:cNvPr>
              <p:cNvSpPr/>
              <p:nvPr/>
            </p:nvSpPr>
            <p:spPr>
              <a:xfrm>
                <a:off x="2073412" y="286645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69" name="Freeform 386">
                <a:extLst>
                  <a:ext uri="{FF2B5EF4-FFF2-40B4-BE49-F238E27FC236}">
                    <a16:creationId xmlns:a16="http://schemas.microsoft.com/office/drawing/2014/main" id="{9C762927-6882-548C-0ABA-8D3490C6C0A6}"/>
                  </a:ext>
                </a:extLst>
              </p:cNvPr>
              <p:cNvSpPr/>
              <p:nvPr/>
            </p:nvSpPr>
            <p:spPr>
              <a:xfrm rot="10800000">
                <a:off x="2076143" y="2917790"/>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70" name="Freeform 387">
                <a:extLst>
                  <a:ext uri="{FF2B5EF4-FFF2-40B4-BE49-F238E27FC236}">
                    <a16:creationId xmlns:a16="http://schemas.microsoft.com/office/drawing/2014/main" id="{62E78EEE-9323-BB17-5725-5F6900BF53F5}"/>
                  </a:ext>
                </a:extLst>
              </p:cNvPr>
              <p:cNvSpPr/>
              <p:nvPr/>
            </p:nvSpPr>
            <p:spPr>
              <a:xfrm rot="1219864">
                <a:off x="2169688" y="2254021"/>
                <a:ext cx="196434" cy="92074"/>
              </a:xfrm>
              <a:custGeom>
                <a:avLst/>
                <a:gdLst>
                  <a:gd name="connsiteX0" fmla="*/ 2858 w 204085"/>
                  <a:gd name="connsiteY0" fmla="*/ 9525 h 92075"/>
                  <a:gd name="connsiteX1" fmla="*/ 53658 w 204085"/>
                  <a:gd name="connsiteY1" fmla="*/ 3175 h 92075"/>
                  <a:gd name="connsiteX2" fmla="*/ 117158 w 204085"/>
                  <a:gd name="connsiteY2" fmla="*/ 9525 h 92075"/>
                  <a:gd name="connsiteX3" fmla="*/ 155258 w 204085"/>
                  <a:gd name="connsiteY3" fmla="*/ 6350 h 92075"/>
                  <a:gd name="connsiteX4" fmla="*/ 174308 w 204085"/>
                  <a:gd name="connsiteY4" fmla="*/ 0 h 92075"/>
                  <a:gd name="connsiteX5" fmla="*/ 196533 w 204085"/>
                  <a:gd name="connsiteY5" fmla="*/ 3175 h 92075"/>
                  <a:gd name="connsiteX6" fmla="*/ 202883 w 204085"/>
                  <a:gd name="connsiteY6" fmla="*/ 22225 h 92075"/>
                  <a:gd name="connsiteX7" fmla="*/ 199708 w 204085"/>
                  <a:gd name="connsiteY7" fmla="*/ 66675 h 92075"/>
                  <a:gd name="connsiteX8" fmla="*/ 171133 w 204085"/>
                  <a:gd name="connsiteY8" fmla="*/ 69850 h 92075"/>
                  <a:gd name="connsiteX9" fmla="*/ 142558 w 204085"/>
                  <a:gd name="connsiteY9" fmla="*/ 79375 h 92075"/>
                  <a:gd name="connsiteX10" fmla="*/ 117158 w 204085"/>
                  <a:gd name="connsiteY10" fmla="*/ 85725 h 92075"/>
                  <a:gd name="connsiteX11" fmla="*/ 107633 w 204085"/>
                  <a:gd name="connsiteY11" fmla="*/ 88900 h 92075"/>
                  <a:gd name="connsiteX12" fmla="*/ 69533 w 204085"/>
                  <a:gd name="connsiteY12" fmla="*/ 92075 h 92075"/>
                  <a:gd name="connsiteX13" fmla="*/ 12383 w 204085"/>
                  <a:gd name="connsiteY13" fmla="*/ 88900 h 92075"/>
                  <a:gd name="connsiteX14" fmla="*/ 2858 w 204085"/>
                  <a:gd name="connsiteY14" fmla="*/ 85725 h 92075"/>
                  <a:gd name="connsiteX15" fmla="*/ 6033 w 204085"/>
                  <a:gd name="connsiteY15" fmla="*/ 73025 h 92075"/>
                  <a:gd name="connsiteX16" fmla="*/ 9208 w 204085"/>
                  <a:gd name="connsiteY16" fmla="*/ 47625 h 92075"/>
                  <a:gd name="connsiteX17" fmla="*/ 6033 w 204085"/>
                  <a:gd name="connsiteY17" fmla="*/ 38100 h 92075"/>
                  <a:gd name="connsiteX18" fmla="*/ 2858 w 204085"/>
                  <a:gd name="connsiteY18" fmla="*/ 9525 h 9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085" h="92075">
                    <a:moveTo>
                      <a:pt x="2858" y="9525"/>
                    </a:moveTo>
                    <a:cubicBezTo>
                      <a:pt x="10795" y="3704"/>
                      <a:pt x="36825" y="370"/>
                      <a:pt x="53658" y="3175"/>
                    </a:cubicBezTo>
                    <a:cubicBezTo>
                      <a:pt x="87360" y="8792"/>
                      <a:pt x="66287" y="5891"/>
                      <a:pt x="117158" y="9525"/>
                    </a:cubicBezTo>
                    <a:cubicBezTo>
                      <a:pt x="129858" y="8467"/>
                      <a:pt x="142687" y="8445"/>
                      <a:pt x="155258" y="6350"/>
                    </a:cubicBezTo>
                    <a:cubicBezTo>
                      <a:pt x="161860" y="5250"/>
                      <a:pt x="174308" y="0"/>
                      <a:pt x="174308" y="0"/>
                    </a:cubicBezTo>
                    <a:cubicBezTo>
                      <a:pt x="181716" y="1058"/>
                      <a:pt x="190626" y="-1419"/>
                      <a:pt x="196533" y="3175"/>
                    </a:cubicBezTo>
                    <a:cubicBezTo>
                      <a:pt x="201817" y="7284"/>
                      <a:pt x="202883" y="22225"/>
                      <a:pt x="202883" y="22225"/>
                    </a:cubicBezTo>
                    <a:cubicBezTo>
                      <a:pt x="201825" y="37042"/>
                      <a:pt x="207948" y="54315"/>
                      <a:pt x="199708" y="66675"/>
                    </a:cubicBezTo>
                    <a:cubicBezTo>
                      <a:pt x="194392" y="74649"/>
                      <a:pt x="180531" y="67970"/>
                      <a:pt x="171133" y="69850"/>
                    </a:cubicBezTo>
                    <a:cubicBezTo>
                      <a:pt x="155258" y="73025"/>
                      <a:pt x="155258" y="76200"/>
                      <a:pt x="142558" y="79375"/>
                    </a:cubicBezTo>
                    <a:cubicBezTo>
                      <a:pt x="134091" y="81492"/>
                      <a:pt x="125437" y="82965"/>
                      <a:pt x="117158" y="85725"/>
                    </a:cubicBezTo>
                    <a:cubicBezTo>
                      <a:pt x="113983" y="86783"/>
                      <a:pt x="110950" y="88458"/>
                      <a:pt x="107633" y="88900"/>
                    </a:cubicBezTo>
                    <a:cubicBezTo>
                      <a:pt x="95001" y="90584"/>
                      <a:pt x="82233" y="91017"/>
                      <a:pt x="69533" y="92075"/>
                    </a:cubicBezTo>
                    <a:cubicBezTo>
                      <a:pt x="50483" y="91017"/>
                      <a:pt x="31376" y="90709"/>
                      <a:pt x="12383" y="88900"/>
                    </a:cubicBezTo>
                    <a:cubicBezTo>
                      <a:pt x="9051" y="88583"/>
                      <a:pt x="4101" y="88832"/>
                      <a:pt x="2858" y="85725"/>
                    </a:cubicBezTo>
                    <a:cubicBezTo>
                      <a:pt x="1237" y="81673"/>
                      <a:pt x="5316" y="77329"/>
                      <a:pt x="6033" y="73025"/>
                    </a:cubicBezTo>
                    <a:cubicBezTo>
                      <a:pt x="7436" y="64609"/>
                      <a:pt x="8150" y="56092"/>
                      <a:pt x="9208" y="47625"/>
                    </a:cubicBezTo>
                    <a:cubicBezTo>
                      <a:pt x="8150" y="44450"/>
                      <a:pt x="6033" y="41447"/>
                      <a:pt x="6033" y="38100"/>
                    </a:cubicBezTo>
                    <a:cubicBezTo>
                      <a:pt x="6033" y="29567"/>
                      <a:pt x="-5079" y="15346"/>
                      <a:pt x="2858" y="952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a:p>
            </p:txBody>
          </p:sp>
          <p:sp>
            <p:nvSpPr>
              <p:cNvPr id="1371" name="Freeform 388">
                <a:extLst>
                  <a:ext uri="{FF2B5EF4-FFF2-40B4-BE49-F238E27FC236}">
                    <a16:creationId xmlns:a16="http://schemas.microsoft.com/office/drawing/2014/main" id="{3B1386EA-E551-34B5-3827-2BA068A9FB00}"/>
                  </a:ext>
                </a:extLst>
              </p:cNvPr>
              <p:cNvSpPr/>
              <p:nvPr/>
            </p:nvSpPr>
            <p:spPr>
              <a:xfrm rot="1219864">
                <a:off x="2208117" y="2227334"/>
                <a:ext cx="179656" cy="25401"/>
              </a:xfrm>
              <a:custGeom>
                <a:avLst/>
                <a:gdLst>
                  <a:gd name="connsiteX0" fmla="*/ 184150 w 185536"/>
                  <a:gd name="connsiteY0" fmla="*/ 3175 h 25400"/>
                  <a:gd name="connsiteX1" fmla="*/ 161925 w 185536"/>
                  <a:gd name="connsiteY1" fmla="*/ 9525 h 25400"/>
                  <a:gd name="connsiteX2" fmla="*/ 63500 w 185536"/>
                  <a:gd name="connsiteY2" fmla="*/ 3175 h 25400"/>
                  <a:gd name="connsiteX3" fmla="*/ 31750 w 185536"/>
                  <a:gd name="connsiteY3" fmla="*/ 0 h 25400"/>
                  <a:gd name="connsiteX4" fmla="*/ 19050 w 185536"/>
                  <a:gd name="connsiteY4" fmla="*/ 3175 h 25400"/>
                  <a:gd name="connsiteX5" fmla="*/ 0 w 185536"/>
                  <a:gd name="connsiteY5" fmla="*/ 9525 h 25400"/>
                  <a:gd name="connsiteX6" fmla="*/ 25400 w 185536"/>
                  <a:gd name="connsiteY6" fmla="*/ 22225 h 25400"/>
                  <a:gd name="connsiteX7" fmla="*/ 117475 w 185536"/>
                  <a:gd name="connsiteY7" fmla="*/ 25400 h 25400"/>
                  <a:gd name="connsiteX8" fmla="*/ 174625 w 185536"/>
                  <a:gd name="connsiteY8" fmla="*/ 22225 h 25400"/>
                  <a:gd name="connsiteX9" fmla="*/ 184150 w 185536"/>
                  <a:gd name="connsiteY9" fmla="*/ 3175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536" h="25400">
                    <a:moveTo>
                      <a:pt x="184150" y="3175"/>
                    </a:moveTo>
                    <a:cubicBezTo>
                      <a:pt x="182033" y="1058"/>
                      <a:pt x="169626" y="9268"/>
                      <a:pt x="161925" y="9525"/>
                    </a:cubicBezTo>
                    <a:cubicBezTo>
                      <a:pt x="110129" y="11252"/>
                      <a:pt x="102657" y="7526"/>
                      <a:pt x="63500" y="3175"/>
                    </a:cubicBezTo>
                    <a:cubicBezTo>
                      <a:pt x="52929" y="2000"/>
                      <a:pt x="42333" y="1058"/>
                      <a:pt x="31750" y="0"/>
                    </a:cubicBezTo>
                    <a:cubicBezTo>
                      <a:pt x="27517" y="1058"/>
                      <a:pt x="23230" y="1921"/>
                      <a:pt x="19050" y="3175"/>
                    </a:cubicBezTo>
                    <a:cubicBezTo>
                      <a:pt x="12639" y="5098"/>
                      <a:pt x="0" y="9525"/>
                      <a:pt x="0" y="9525"/>
                    </a:cubicBezTo>
                    <a:cubicBezTo>
                      <a:pt x="5203" y="25134"/>
                      <a:pt x="619" y="20848"/>
                      <a:pt x="25400" y="22225"/>
                    </a:cubicBezTo>
                    <a:cubicBezTo>
                      <a:pt x="56063" y="23928"/>
                      <a:pt x="86783" y="24342"/>
                      <a:pt x="117475" y="25400"/>
                    </a:cubicBezTo>
                    <a:cubicBezTo>
                      <a:pt x="136525" y="24342"/>
                      <a:pt x="155632" y="24034"/>
                      <a:pt x="174625" y="22225"/>
                    </a:cubicBezTo>
                    <a:cubicBezTo>
                      <a:pt x="187733" y="20977"/>
                      <a:pt x="186267" y="5292"/>
                      <a:pt x="184150" y="3175"/>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a:endParaRPr lang="en-US" sz="2880" dirty="0"/>
              </a:p>
            </p:txBody>
          </p:sp>
          <p:sp>
            <p:nvSpPr>
              <p:cNvPr id="1372" name="Freeform 389">
                <a:extLst>
                  <a:ext uri="{FF2B5EF4-FFF2-40B4-BE49-F238E27FC236}">
                    <a16:creationId xmlns:a16="http://schemas.microsoft.com/office/drawing/2014/main" id="{415A8B48-D7E4-468E-D045-1C092EC3090E}"/>
                  </a:ext>
                </a:extLst>
              </p:cNvPr>
              <p:cNvSpPr/>
              <p:nvPr/>
            </p:nvSpPr>
            <p:spPr>
              <a:xfrm>
                <a:off x="2080401" y="3262318"/>
                <a:ext cx="223377" cy="52232"/>
              </a:xfrm>
              <a:custGeom>
                <a:avLst/>
                <a:gdLst>
                  <a:gd name="connsiteX0" fmla="*/ 1021 w 194840"/>
                  <a:gd name="connsiteY0" fmla="*/ 12991 h 51091"/>
                  <a:gd name="connsiteX1" fmla="*/ 23246 w 194840"/>
                  <a:gd name="connsiteY1" fmla="*/ 19341 h 51091"/>
                  <a:gd name="connsiteX2" fmla="*/ 32771 w 194840"/>
                  <a:gd name="connsiteY2" fmla="*/ 22516 h 51091"/>
                  <a:gd name="connsiteX3" fmla="*/ 67696 w 194840"/>
                  <a:gd name="connsiteY3" fmla="*/ 19341 h 51091"/>
                  <a:gd name="connsiteX4" fmla="*/ 96271 w 194840"/>
                  <a:gd name="connsiteY4" fmla="*/ 12991 h 51091"/>
                  <a:gd name="connsiteX5" fmla="*/ 131196 w 194840"/>
                  <a:gd name="connsiteY5" fmla="*/ 9816 h 51091"/>
                  <a:gd name="connsiteX6" fmla="*/ 150246 w 194840"/>
                  <a:gd name="connsiteY6" fmla="*/ 3466 h 51091"/>
                  <a:gd name="connsiteX7" fmla="*/ 159771 w 194840"/>
                  <a:gd name="connsiteY7" fmla="*/ 291 h 51091"/>
                  <a:gd name="connsiteX8" fmla="*/ 172471 w 194840"/>
                  <a:gd name="connsiteY8" fmla="*/ 3466 h 51091"/>
                  <a:gd name="connsiteX9" fmla="*/ 188346 w 194840"/>
                  <a:gd name="connsiteY9" fmla="*/ 291 h 51091"/>
                  <a:gd name="connsiteX10" fmla="*/ 194696 w 194840"/>
                  <a:gd name="connsiteY10" fmla="*/ 9816 h 51091"/>
                  <a:gd name="connsiteX11" fmla="*/ 191521 w 194840"/>
                  <a:gd name="connsiteY11" fmla="*/ 35216 h 51091"/>
                  <a:gd name="connsiteX12" fmla="*/ 169296 w 194840"/>
                  <a:gd name="connsiteY12" fmla="*/ 38391 h 51091"/>
                  <a:gd name="connsiteX13" fmla="*/ 150246 w 194840"/>
                  <a:gd name="connsiteY13" fmla="*/ 44741 h 51091"/>
                  <a:gd name="connsiteX14" fmla="*/ 140721 w 194840"/>
                  <a:gd name="connsiteY14" fmla="*/ 47916 h 51091"/>
                  <a:gd name="connsiteX15" fmla="*/ 112146 w 194840"/>
                  <a:gd name="connsiteY15" fmla="*/ 51091 h 51091"/>
                  <a:gd name="connsiteX16" fmla="*/ 77221 w 194840"/>
                  <a:gd name="connsiteY16" fmla="*/ 47916 h 51091"/>
                  <a:gd name="connsiteX17" fmla="*/ 61346 w 194840"/>
                  <a:gd name="connsiteY17" fmla="*/ 44741 h 51091"/>
                  <a:gd name="connsiteX18" fmla="*/ 26421 w 194840"/>
                  <a:gd name="connsiteY18" fmla="*/ 47916 h 51091"/>
                  <a:gd name="connsiteX19" fmla="*/ 4196 w 194840"/>
                  <a:gd name="connsiteY19" fmla="*/ 41566 h 51091"/>
                  <a:gd name="connsiteX20" fmla="*/ 1021 w 194840"/>
                  <a:gd name="connsiteY20" fmla="*/ 32041 h 51091"/>
                  <a:gd name="connsiteX21" fmla="*/ 1021 w 194840"/>
                  <a:gd name="connsiteY21" fmla="*/ 12991 h 51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840" h="51091">
                    <a:moveTo>
                      <a:pt x="1021" y="12991"/>
                    </a:moveTo>
                    <a:cubicBezTo>
                      <a:pt x="4725" y="10874"/>
                      <a:pt x="15866" y="17127"/>
                      <a:pt x="23246" y="19341"/>
                    </a:cubicBezTo>
                    <a:cubicBezTo>
                      <a:pt x="26452" y="20303"/>
                      <a:pt x="29424" y="22516"/>
                      <a:pt x="32771" y="22516"/>
                    </a:cubicBezTo>
                    <a:cubicBezTo>
                      <a:pt x="44461" y="22516"/>
                      <a:pt x="56054" y="20399"/>
                      <a:pt x="67696" y="19341"/>
                    </a:cubicBezTo>
                    <a:cubicBezTo>
                      <a:pt x="75853" y="17302"/>
                      <a:pt x="88209" y="13999"/>
                      <a:pt x="96271" y="12991"/>
                    </a:cubicBezTo>
                    <a:cubicBezTo>
                      <a:pt x="107870" y="11541"/>
                      <a:pt x="119554" y="10874"/>
                      <a:pt x="131196" y="9816"/>
                    </a:cubicBezTo>
                    <a:lnTo>
                      <a:pt x="150246" y="3466"/>
                    </a:lnTo>
                    <a:lnTo>
                      <a:pt x="159771" y="291"/>
                    </a:lnTo>
                    <a:cubicBezTo>
                      <a:pt x="164004" y="1349"/>
                      <a:pt x="168107" y="3466"/>
                      <a:pt x="172471" y="3466"/>
                    </a:cubicBezTo>
                    <a:cubicBezTo>
                      <a:pt x="177867" y="3466"/>
                      <a:pt x="183157" y="-1192"/>
                      <a:pt x="188346" y="291"/>
                    </a:cubicBezTo>
                    <a:cubicBezTo>
                      <a:pt x="192015" y="1339"/>
                      <a:pt x="192579" y="6641"/>
                      <a:pt x="194696" y="9816"/>
                    </a:cubicBezTo>
                    <a:cubicBezTo>
                      <a:pt x="193638" y="18283"/>
                      <a:pt x="197190" y="28839"/>
                      <a:pt x="191521" y="35216"/>
                    </a:cubicBezTo>
                    <a:cubicBezTo>
                      <a:pt x="186549" y="40809"/>
                      <a:pt x="176588" y="36708"/>
                      <a:pt x="169296" y="38391"/>
                    </a:cubicBezTo>
                    <a:cubicBezTo>
                      <a:pt x="162774" y="39896"/>
                      <a:pt x="156596" y="42624"/>
                      <a:pt x="150246" y="44741"/>
                    </a:cubicBezTo>
                    <a:cubicBezTo>
                      <a:pt x="147071" y="45799"/>
                      <a:pt x="144047" y="47546"/>
                      <a:pt x="140721" y="47916"/>
                    </a:cubicBezTo>
                    <a:lnTo>
                      <a:pt x="112146" y="51091"/>
                    </a:lnTo>
                    <a:cubicBezTo>
                      <a:pt x="100504" y="50033"/>
                      <a:pt x="88820" y="49366"/>
                      <a:pt x="77221" y="47916"/>
                    </a:cubicBezTo>
                    <a:cubicBezTo>
                      <a:pt x="71866" y="47247"/>
                      <a:pt x="66742" y="44741"/>
                      <a:pt x="61346" y="44741"/>
                    </a:cubicBezTo>
                    <a:cubicBezTo>
                      <a:pt x="49656" y="44741"/>
                      <a:pt x="38063" y="46858"/>
                      <a:pt x="26421" y="47916"/>
                    </a:cubicBezTo>
                    <a:cubicBezTo>
                      <a:pt x="26311" y="47889"/>
                      <a:pt x="5714" y="43084"/>
                      <a:pt x="4196" y="41566"/>
                    </a:cubicBezTo>
                    <a:cubicBezTo>
                      <a:pt x="1829" y="39199"/>
                      <a:pt x="2079" y="35216"/>
                      <a:pt x="1021" y="32041"/>
                    </a:cubicBezTo>
                    <a:cubicBezTo>
                      <a:pt x="5200" y="19504"/>
                      <a:pt x="-2683" y="15108"/>
                      <a:pt x="1021" y="12991"/>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6304" tIns="73152" rIns="146304" bIns="73152" numCol="1" spcCol="0" rtlCol="0" fromWordArt="0" anchor="ctr" anchorCtr="0" forceAA="0" compatLnSpc="1">
                <a:prstTxWarp prst="textNoShape">
                  <a:avLst/>
                </a:prstTxWarp>
                <a:noAutofit/>
              </a:bodyPr>
              <a:lstStyle/>
              <a:p>
                <a:pPr algn="ctr" defTabSz="1219170" rtl="0"/>
                <a:endParaRPr lang="en-US" sz="2880"/>
              </a:p>
            </p:txBody>
          </p:sp>
        </p:grpSp>
        <p:pic>
          <p:nvPicPr>
            <p:cNvPr id="1357" name="Picture 390">
              <a:extLst>
                <a:ext uri="{FF2B5EF4-FFF2-40B4-BE49-F238E27FC236}">
                  <a16:creationId xmlns:a16="http://schemas.microsoft.com/office/drawing/2014/main" id="{3F71B508-9ECC-3BC9-7ED9-AB169DA0BFDF}"/>
                </a:ext>
              </a:extLst>
            </p:cNvPr>
            <p:cNvPicPr>
              <a:picLocks noChangeAspect="1"/>
            </p:cNvPicPr>
            <p:nvPr/>
          </p:nvPicPr>
          <p:blipFill>
            <a:blip r:embed="rId25">
              <a:duotone>
                <a:schemeClr val="accent3">
                  <a:shade val="45000"/>
                  <a:satMod val="135000"/>
                </a:schemeClr>
                <a:prstClr val="white"/>
              </a:duotone>
            </a:blip>
            <a:stretch>
              <a:fillRect/>
            </a:stretch>
          </p:blipFill>
          <p:spPr>
            <a:xfrm flipH="1">
              <a:off x="7284255" y="1893462"/>
              <a:ext cx="421980" cy="440328"/>
            </a:xfrm>
            <a:prstGeom prst="rect">
              <a:avLst/>
            </a:prstGeom>
          </p:spPr>
        </p:pic>
        <p:pic>
          <p:nvPicPr>
            <p:cNvPr id="1358" name="Picture 392">
              <a:extLst>
                <a:ext uri="{FF2B5EF4-FFF2-40B4-BE49-F238E27FC236}">
                  <a16:creationId xmlns:a16="http://schemas.microsoft.com/office/drawing/2014/main" id="{630618BA-8ACC-975F-41A8-9F4B07BFA1D1}"/>
                </a:ext>
              </a:extLst>
            </p:cNvPr>
            <p:cNvPicPr>
              <a:picLocks noChangeAspect="1"/>
            </p:cNvPicPr>
            <p:nvPr/>
          </p:nvPicPr>
          <p:blipFill>
            <a:blip r:embed="rId23" cstate="print">
              <a:duotone>
                <a:schemeClr val="accent3">
                  <a:shade val="45000"/>
                  <a:satMod val="135000"/>
                </a:schemeClr>
                <a:prstClr val="white"/>
              </a:duotone>
              <a:extLst>
                <a:ext uri="{BEBA8EAE-BF5A-486C-A8C5-ECC9F3942E4B}">
                  <a14:imgProps xmlns:a14="http://schemas.microsoft.com/office/drawing/2010/main">
                    <a14:imgLayer r:embed="rId24">
                      <a14:imgEffect>
                        <a14:backgroundRemoval t="2564" b="94231" l="1667" r="96111">
                          <a14:foregroundMark x1="80556" y1="13462" x2="80556" y2="13462"/>
                          <a14:foregroundMark x1="80000" y1="6410" x2="80000" y2="6410"/>
                          <a14:foregroundMark x1="91111" y1="20513" x2="91111" y2="20513"/>
                          <a14:foregroundMark x1="94444" y1="21795" x2="94444" y2="21795"/>
                          <a14:foregroundMark x1="78333" y1="4487" x2="78333" y2="4487"/>
                          <a14:foregroundMark x1="37778" y1="94231" x2="37778" y2="94231"/>
                          <a14:foregroundMark x1="9444" y1="76282" x2="9444" y2="76282"/>
                          <a14:foregroundMark x1="1667" y1="63462" x2="1667" y2="63462"/>
                          <a14:foregroundMark x1="92222" y1="11538" x2="92222" y2="11538"/>
                          <a14:foregroundMark x1="93333" y1="11538" x2="93889" y2="10256"/>
                          <a14:foregroundMark x1="95556" y1="26282" x2="96111" y2="22436"/>
                        </a14:backgroundRemoval>
                      </a14:imgEffect>
                    </a14:imgLayer>
                  </a14:imgProps>
                </a:ext>
                <a:ext uri="{28A0092B-C50C-407E-A947-70E740481C1C}">
                  <a14:useLocalDpi xmlns:a14="http://schemas.microsoft.com/office/drawing/2010/main" val="0"/>
                </a:ext>
              </a:extLst>
            </a:blip>
            <a:stretch>
              <a:fillRect/>
            </a:stretch>
          </p:blipFill>
          <p:spPr>
            <a:xfrm flipH="1">
              <a:off x="7848885" y="1929777"/>
              <a:ext cx="475867" cy="411861"/>
            </a:xfrm>
            <a:prstGeom prst="rect">
              <a:avLst/>
            </a:prstGeom>
            <a:effectLst>
              <a:reflection endPos="0" dir="5400000" sy="-100000" algn="bl" rotWithShape="0"/>
            </a:effectLst>
          </p:spPr>
        </p:pic>
      </p:grpSp>
      <p:grpSp>
        <p:nvGrpSpPr>
          <p:cNvPr id="1417" name="Group 5">
            <a:extLst>
              <a:ext uri="{FF2B5EF4-FFF2-40B4-BE49-F238E27FC236}">
                <a16:creationId xmlns:a16="http://schemas.microsoft.com/office/drawing/2014/main" id="{80652D1E-512F-21A9-9007-49DCBC22F8F1}"/>
              </a:ext>
            </a:extLst>
          </p:cNvPr>
          <p:cNvGrpSpPr/>
          <p:nvPr/>
        </p:nvGrpSpPr>
        <p:grpSpPr>
          <a:xfrm>
            <a:off x="7474382" y="4621486"/>
            <a:ext cx="633409" cy="591601"/>
            <a:chOff x="964222" y="1913482"/>
            <a:chExt cx="2041451" cy="1396429"/>
          </a:xfrm>
        </p:grpSpPr>
        <p:sp>
          <p:nvSpPr>
            <p:cNvPr id="1418" name="Freeform 24">
              <a:extLst>
                <a:ext uri="{FF2B5EF4-FFF2-40B4-BE49-F238E27FC236}">
                  <a16:creationId xmlns:a16="http://schemas.microsoft.com/office/drawing/2014/main" id="{914C5666-35FA-1B9B-FDE0-8716984BDC8E}"/>
                </a:ext>
              </a:extLst>
            </p:cNvPr>
            <p:cNvSpPr/>
            <p:nvPr/>
          </p:nvSpPr>
          <p:spPr>
            <a:xfrm>
              <a:off x="964222" y="2863344"/>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19" name="Freeform 25">
              <a:extLst>
                <a:ext uri="{FF2B5EF4-FFF2-40B4-BE49-F238E27FC236}">
                  <a16:creationId xmlns:a16="http://schemas.microsoft.com/office/drawing/2014/main" id="{81813CE2-333E-430F-826D-7BB47E82C68D}"/>
                </a:ext>
              </a:extLst>
            </p:cNvPr>
            <p:cNvSpPr/>
            <p:nvPr/>
          </p:nvSpPr>
          <p:spPr>
            <a:xfrm>
              <a:off x="964222" y="262587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20" name="Freeform 26">
              <a:extLst>
                <a:ext uri="{FF2B5EF4-FFF2-40B4-BE49-F238E27FC236}">
                  <a16:creationId xmlns:a16="http://schemas.microsoft.com/office/drawing/2014/main" id="{019E7360-FA37-86EB-BE5E-6214D13F5D12}"/>
                </a:ext>
              </a:extLst>
            </p:cNvPr>
            <p:cNvSpPr/>
            <p:nvPr/>
          </p:nvSpPr>
          <p:spPr>
            <a:xfrm>
              <a:off x="964222" y="2388413"/>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21" name="Freeform 27">
              <a:extLst>
                <a:ext uri="{FF2B5EF4-FFF2-40B4-BE49-F238E27FC236}">
                  <a16:creationId xmlns:a16="http://schemas.microsoft.com/office/drawing/2014/main" id="{20BE431E-A404-4EA0-2222-E4997A9A26B3}"/>
                </a:ext>
              </a:extLst>
            </p:cNvPr>
            <p:cNvSpPr/>
            <p:nvPr/>
          </p:nvSpPr>
          <p:spPr>
            <a:xfrm>
              <a:off x="964222" y="215094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22" name="Freeform 28">
              <a:extLst>
                <a:ext uri="{FF2B5EF4-FFF2-40B4-BE49-F238E27FC236}">
                  <a16:creationId xmlns:a16="http://schemas.microsoft.com/office/drawing/2014/main" id="{FC23C34E-B7F2-66A3-72E7-DD464CBB4A9D}"/>
                </a:ext>
              </a:extLst>
            </p:cNvPr>
            <p:cNvSpPr/>
            <p:nvPr/>
          </p:nvSpPr>
          <p:spPr>
            <a:xfrm>
              <a:off x="964222" y="1913482"/>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dirty="0"/>
            </a:p>
          </p:txBody>
        </p:sp>
      </p:grpSp>
      <p:grpSp>
        <p:nvGrpSpPr>
          <p:cNvPr id="1423" name="Group 29">
            <a:extLst>
              <a:ext uri="{FF2B5EF4-FFF2-40B4-BE49-F238E27FC236}">
                <a16:creationId xmlns:a16="http://schemas.microsoft.com/office/drawing/2014/main" id="{0DDB0BEB-2B83-1ADF-B20C-D0F0A2DDE205}"/>
              </a:ext>
            </a:extLst>
          </p:cNvPr>
          <p:cNvGrpSpPr/>
          <p:nvPr/>
        </p:nvGrpSpPr>
        <p:grpSpPr>
          <a:xfrm>
            <a:off x="9126258" y="4849041"/>
            <a:ext cx="633409" cy="289793"/>
            <a:chOff x="964222" y="2625878"/>
            <a:chExt cx="2041451" cy="684033"/>
          </a:xfrm>
        </p:grpSpPr>
        <p:sp>
          <p:nvSpPr>
            <p:cNvPr id="1424" name="Freeform 30">
              <a:extLst>
                <a:ext uri="{FF2B5EF4-FFF2-40B4-BE49-F238E27FC236}">
                  <a16:creationId xmlns:a16="http://schemas.microsoft.com/office/drawing/2014/main" id="{A50F91FA-179A-2D67-7D55-464BBB4964D8}"/>
                </a:ext>
              </a:extLst>
            </p:cNvPr>
            <p:cNvSpPr/>
            <p:nvPr/>
          </p:nvSpPr>
          <p:spPr>
            <a:xfrm>
              <a:off x="964222" y="2863344"/>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rgbClr val="FFD6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25" name="Freeform 31">
              <a:extLst>
                <a:ext uri="{FF2B5EF4-FFF2-40B4-BE49-F238E27FC236}">
                  <a16:creationId xmlns:a16="http://schemas.microsoft.com/office/drawing/2014/main" id="{3707D268-7DD1-5884-3C59-1BAD9FEB57CA}"/>
                </a:ext>
              </a:extLst>
            </p:cNvPr>
            <p:cNvSpPr/>
            <p:nvPr/>
          </p:nvSpPr>
          <p:spPr>
            <a:xfrm>
              <a:off x="964222" y="262587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rgbClr val="FFD6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grpSp>
      <p:grpSp>
        <p:nvGrpSpPr>
          <p:cNvPr id="1426" name="Group 38">
            <a:extLst>
              <a:ext uri="{FF2B5EF4-FFF2-40B4-BE49-F238E27FC236}">
                <a16:creationId xmlns:a16="http://schemas.microsoft.com/office/drawing/2014/main" id="{5D4E3491-25D6-CCFB-9FA4-3281839411B3}"/>
              </a:ext>
            </a:extLst>
          </p:cNvPr>
          <p:cNvGrpSpPr/>
          <p:nvPr/>
        </p:nvGrpSpPr>
        <p:grpSpPr>
          <a:xfrm>
            <a:off x="8184607" y="4621486"/>
            <a:ext cx="633409" cy="591601"/>
            <a:chOff x="964222" y="1913482"/>
            <a:chExt cx="2041451" cy="1396429"/>
          </a:xfrm>
        </p:grpSpPr>
        <p:sp>
          <p:nvSpPr>
            <p:cNvPr id="1427" name="Freeform 39">
              <a:extLst>
                <a:ext uri="{FF2B5EF4-FFF2-40B4-BE49-F238E27FC236}">
                  <a16:creationId xmlns:a16="http://schemas.microsoft.com/office/drawing/2014/main" id="{A9A1532B-E46C-2725-8080-7A597A2C2977}"/>
                </a:ext>
              </a:extLst>
            </p:cNvPr>
            <p:cNvSpPr/>
            <p:nvPr/>
          </p:nvSpPr>
          <p:spPr>
            <a:xfrm>
              <a:off x="964222" y="2863344"/>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28" name="Freeform 40">
              <a:extLst>
                <a:ext uri="{FF2B5EF4-FFF2-40B4-BE49-F238E27FC236}">
                  <a16:creationId xmlns:a16="http://schemas.microsoft.com/office/drawing/2014/main" id="{F4D3CA74-3F51-0778-5D62-FC3614C83CCB}"/>
                </a:ext>
              </a:extLst>
            </p:cNvPr>
            <p:cNvSpPr/>
            <p:nvPr/>
          </p:nvSpPr>
          <p:spPr>
            <a:xfrm>
              <a:off x="964222" y="262587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29" name="Freeform 41">
              <a:extLst>
                <a:ext uri="{FF2B5EF4-FFF2-40B4-BE49-F238E27FC236}">
                  <a16:creationId xmlns:a16="http://schemas.microsoft.com/office/drawing/2014/main" id="{C2DD8035-1315-6366-D8D3-250A09E06DC3}"/>
                </a:ext>
              </a:extLst>
            </p:cNvPr>
            <p:cNvSpPr/>
            <p:nvPr/>
          </p:nvSpPr>
          <p:spPr>
            <a:xfrm>
              <a:off x="964222" y="2388413"/>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30" name="Freeform 42">
              <a:extLst>
                <a:ext uri="{FF2B5EF4-FFF2-40B4-BE49-F238E27FC236}">
                  <a16:creationId xmlns:a16="http://schemas.microsoft.com/office/drawing/2014/main" id="{12A09078-71E3-AF60-81E0-DB4DB1A92804}"/>
                </a:ext>
              </a:extLst>
            </p:cNvPr>
            <p:cNvSpPr/>
            <p:nvPr/>
          </p:nvSpPr>
          <p:spPr>
            <a:xfrm>
              <a:off x="964222" y="215094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31" name="Freeform 43">
              <a:extLst>
                <a:ext uri="{FF2B5EF4-FFF2-40B4-BE49-F238E27FC236}">
                  <a16:creationId xmlns:a16="http://schemas.microsoft.com/office/drawing/2014/main" id="{539821EF-B27E-9CD3-0EC8-A179A465C283}"/>
                </a:ext>
              </a:extLst>
            </p:cNvPr>
            <p:cNvSpPr/>
            <p:nvPr/>
          </p:nvSpPr>
          <p:spPr>
            <a:xfrm>
              <a:off x="964222" y="1913482"/>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dirty="0"/>
            </a:p>
          </p:txBody>
        </p:sp>
      </p:grpSp>
      <p:grpSp>
        <p:nvGrpSpPr>
          <p:cNvPr id="1432" name="Group 44">
            <a:extLst>
              <a:ext uri="{FF2B5EF4-FFF2-40B4-BE49-F238E27FC236}">
                <a16:creationId xmlns:a16="http://schemas.microsoft.com/office/drawing/2014/main" id="{92011886-1271-1931-EC42-B33DB1C339F6}"/>
              </a:ext>
            </a:extLst>
          </p:cNvPr>
          <p:cNvGrpSpPr/>
          <p:nvPr/>
        </p:nvGrpSpPr>
        <p:grpSpPr>
          <a:xfrm>
            <a:off x="9866983" y="4851128"/>
            <a:ext cx="633409" cy="289793"/>
            <a:chOff x="964222" y="2625878"/>
            <a:chExt cx="2041451" cy="684033"/>
          </a:xfrm>
        </p:grpSpPr>
        <p:sp>
          <p:nvSpPr>
            <p:cNvPr id="1433" name="Freeform 45">
              <a:extLst>
                <a:ext uri="{FF2B5EF4-FFF2-40B4-BE49-F238E27FC236}">
                  <a16:creationId xmlns:a16="http://schemas.microsoft.com/office/drawing/2014/main" id="{D4D2D47B-7655-2F06-3D68-0BE2AEAD412A}"/>
                </a:ext>
              </a:extLst>
            </p:cNvPr>
            <p:cNvSpPr/>
            <p:nvPr/>
          </p:nvSpPr>
          <p:spPr>
            <a:xfrm>
              <a:off x="964222" y="2863344"/>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rgbClr val="FFD6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sp>
          <p:nvSpPr>
            <p:cNvPr id="1434" name="Freeform 46">
              <a:extLst>
                <a:ext uri="{FF2B5EF4-FFF2-40B4-BE49-F238E27FC236}">
                  <a16:creationId xmlns:a16="http://schemas.microsoft.com/office/drawing/2014/main" id="{1919521E-FA9C-5919-B8D0-EDC00E22886F}"/>
                </a:ext>
              </a:extLst>
            </p:cNvPr>
            <p:cNvSpPr/>
            <p:nvPr/>
          </p:nvSpPr>
          <p:spPr>
            <a:xfrm>
              <a:off x="964222" y="2625878"/>
              <a:ext cx="2041451" cy="446567"/>
            </a:xfrm>
            <a:custGeom>
              <a:avLst/>
              <a:gdLst>
                <a:gd name="connsiteX0" fmla="*/ 0 w 2041451"/>
                <a:gd name="connsiteY0" fmla="*/ 446567 h 446567"/>
                <a:gd name="connsiteX1" fmla="*/ 584791 w 2041451"/>
                <a:gd name="connsiteY1" fmla="*/ 10632 h 446567"/>
                <a:gd name="connsiteX2" fmla="*/ 1382233 w 2041451"/>
                <a:gd name="connsiteY2" fmla="*/ 435935 h 446567"/>
                <a:gd name="connsiteX3" fmla="*/ 2041451 w 2041451"/>
                <a:gd name="connsiteY3" fmla="*/ 0 h 446567"/>
              </a:gdLst>
              <a:ahLst/>
              <a:cxnLst>
                <a:cxn ang="0">
                  <a:pos x="connsiteX0" y="connsiteY0"/>
                </a:cxn>
                <a:cxn ang="0">
                  <a:pos x="connsiteX1" y="connsiteY1"/>
                </a:cxn>
                <a:cxn ang="0">
                  <a:pos x="connsiteX2" y="connsiteY2"/>
                </a:cxn>
                <a:cxn ang="0">
                  <a:pos x="connsiteX3" y="connsiteY3"/>
                </a:cxn>
              </a:cxnLst>
              <a:rect l="l" t="t" r="r" b="b"/>
              <a:pathLst>
                <a:path w="2041451" h="446567">
                  <a:moveTo>
                    <a:pt x="0" y="446567"/>
                  </a:moveTo>
                  <a:cubicBezTo>
                    <a:pt x="177209" y="229485"/>
                    <a:pt x="354419" y="12404"/>
                    <a:pt x="584791" y="10632"/>
                  </a:cubicBezTo>
                  <a:cubicBezTo>
                    <a:pt x="815163" y="8860"/>
                    <a:pt x="1139456" y="437707"/>
                    <a:pt x="1382233" y="435935"/>
                  </a:cubicBezTo>
                  <a:cubicBezTo>
                    <a:pt x="1625010" y="434163"/>
                    <a:pt x="1833230" y="217081"/>
                    <a:pt x="2041451" y="0"/>
                  </a:cubicBezTo>
                </a:path>
              </a:pathLst>
            </a:custGeom>
            <a:noFill/>
            <a:ln w="28575" cap="rnd">
              <a:solidFill>
                <a:srgbClr val="FFD6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80"/>
            </a:p>
          </p:txBody>
        </p:sp>
      </p:grpSp>
    </p:spTree>
    <p:extLst>
      <p:ext uri="{BB962C8B-B14F-4D97-AF65-F5344CB8AC3E}">
        <p14:creationId xmlns:p14="http://schemas.microsoft.com/office/powerpoint/2010/main" val="2299151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0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8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7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4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5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2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5DB8A-F329-066D-DECD-9917AF058516}"/>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0F9BD07F-9669-457A-D5D7-523BF791B40A}"/>
              </a:ext>
            </a:extLst>
          </p:cNvPr>
          <p:cNvSpPr>
            <a:spLocks noGrp="1"/>
          </p:cNvSpPr>
          <p:nvPr>
            <p:ph type="title"/>
          </p:nvPr>
        </p:nvSpPr>
        <p:spPr/>
        <p:txBody>
          <a:bodyPr>
            <a:normAutofit/>
          </a:bodyPr>
          <a:lstStyle/>
          <a:p>
            <a:pPr algn="ctr" rtl="0"/>
            <a:r>
              <a:rPr lang="en-US" dirty="0">
                <a:solidFill>
                  <a:srgbClr val="0070C0"/>
                </a:solidFill>
                <a:latin typeface="Comic Sans MS" panose="030F0702030302020204" pitchFamily="66" charset="0"/>
                <a:ea typeface="+mn-ea"/>
                <a:cs typeface="+mn-cs"/>
              </a:rPr>
              <a:t>Which diseases can we study using the hybrid system?</a:t>
            </a:r>
            <a:endParaRPr lang="he-IL" dirty="0"/>
          </a:p>
        </p:txBody>
      </p:sp>
      <p:pic>
        <p:nvPicPr>
          <p:cNvPr id="4" name="Picture 6" descr="‪How to search for literature? – JEPS Bulletin‬‏">
            <a:extLst>
              <a:ext uri="{FF2B5EF4-FFF2-40B4-BE49-F238E27FC236}">
                <a16:creationId xmlns:a16="http://schemas.microsoft.com/office/drawing/2014/main" id="{5813BF8E-8145-29F4-BB85-BF402C0681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6141" y="1880787"/>
            <a:ext cx="3999694" cy="4612088"/>
          </a:xfrm>
          <a:prstGeom prst="rect">
            <a:avLst/>
          </a:prstGeom>
          <a:noFill/>
          <a:extLst>
            <a:ext uri="{909E8E84-426E-40DD-AFC4-6F175D3DCCD1}">
              <a14:hiddenFill xmlns:a14="http://schemas.microsoft.com/office/drawing/2010/main">
                <a:solidFill>
                  <a:srgbClr val="FFFFFF"/>
                </a:solidFill>
              </a14:hiddenFill>
            </a:ext>
          </a:extLst>
        </p:spPr>
      </p:pic>
      <p:sp>
        <p:nvSpPr>
          <p:cNvPr id="5" name="מציין מיקום תוכן 2">
            <a:extLst>
              <a:ext uri="{FF2B5EF4-FFF2-40B4-BE49-F238E27FC236}">
                <a16:creationId xmlns:a16="http://schemas.microsoft.com/office/drawing/2014/main" id="{F430CEE6-B8B5-9F49-48E1-198B4749B9F4}"/>
              </a:ext>
            </a:extLst>
          </p:cNvPr>
          <p:cNvSpPr>
            <a:spLocks noGrp="1"/>
          </p:cNvSpPr>
          <p:nvPr>
            <p:ph idx="1"/>
          </p:nvPr>
        </p:nvSpPr>
        <p:spPr>
          <a:xfrm>
            <a:off x="838200" y="1825625"/>
            <a:ext cx="6530788" cy="4351338"/>
          </a:xfrm>
        </p:spPr>
        <p:txBody>
          <a:bodyPr>
            <a:normAutofit/>
          </a:bodyPr>
          <a:lstStyle/>
          <a:p>
            <a:pPr marL="514350" indent="-514350" algn="l" rtl="0">
              <a:buFont typeface="+mj-lt"/>
              <a:buAutoNum type="arabicPeriod"/>
            </a:pPr>
            <a:r>
              <a:rPr lang="en-US" b="1" i="1" dirty="0"/>
              <a:t>Curate list of human-specific diseases</a:t>
            </a:r>
          </a:p>
          <a:p>
            <a:pPr marL="514350" indent="-514350" algn="l" rtl="0">
              <a:buFont typeface="+mj-lt"/>
              <a:buAutoNum type="arabicPeriod"/>
            </a:pPr>
            <a:endParaRPr lang="en-US" b="1" i="1" dirty="0"/>
          </a:p>
          <a:p>
            <a:pPr marL="514350" indent="-514350" algn="l" rtl="0">
              <a:buFont typeface="+mj-lt"/>
              <a:buAutoNum type="arabicPeriod"/>
            </a:pPr>
            <a:r>
              <a:rPr lang="en-US" b="1" i="1" dirty="0"/>
              <a:t>Search literature to detect related </a:t>
            </a:r>
            <a:r>
              <a:rPr lang="en-US" b="1" i="1" dirty="0" err="1"/>
              <a:t>celltypes</a:t>
            </a:r>
            <a:endParaRPr lang="en-US" b="1" i="1" dirty="0"/>
          </a:p>
          <a:p>
            <a:pPr marL="514350" indent="-514350" algn="l" rtl="0">
              <a:buFont typeface="+mj-lt"/>
              <a:buAutoNum type="arabicPeriod"/>
            </a:pPr>
            <a:endParaRPr lang="en-US" b="1" i="1" dirty="0"/>
          </a:p>
          <a:p>
            <a:pPr marL="514350" indent="-514350" algn="l" rtl="0">
              <a:buFont typeface="+mj-lt"/>
              <a:buAutoNum type="arabicPeriod"/>
            </a:pPr>
            <a:r>
              <a:rPr lang="en-US" b="1" i="1" dirty="0"/>
              <a:t>Intersect with hybrid data</a:t>
            </a:r>
          </a:p>
          <a:p>
            <a:pPr marL="514350" indent="-514350" algn="l" rtl="0">
              <a:buFont typeface="+mj-lt"/>
              <a:buAutoNum type="arabicPeriod"/>
            </a:pPr>
            <a:endParaRPr lang="en-US" b="1" i="1" dirty="0"/>
          </a:p>
        </p:txBody>
      </p:sp>
    </p:spTree>
    <p:extLst>
      <p:ext uri="{BB962C8B-B14F-4D97-AF65-F5344CB8AC3E}">
        <p14:creationId xmlns:p14="http://schemas.microsoft.com/office/powerpoint/2010/main" val="1370063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0D6A5-41CD-AADA-7203-AD5479CA2A3A}"/>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E3C9B698-C5F6-8A97-D823-25339146FA2F}"/>
              </a:ext>
            </a:extLst>
          </p:cNvPr>
          <p:cNvSpPr>
            <a:spLocks noGrp="1"/>
          </p:cNvSpPr>
          <p:nvPr>
            <p:ph type="title"/>
          </p:nvPr>
        </p:nvSpPr>
        <p:spPr/>
        <p:txBody>
          <a:bodyPr>
            <a:normAutofit/>
          </a:bodyPr>
          <a:lstStyle/>
          <a:p>
            <a:pPr algn="ctr" rtl="0"/>
            <a:r>
              <a:rPr lang="en-US" dirty="0">
                <a:solidFill>
                  <a:srgbClr val="0070C0"/>
                </a:solidFill>
                <a:latin typeface="Comic Sans MS" panose="030F0702030302020204" pitchFamily="66" charset="0"/>
                <a:ea typeface="+mn-ea"/>
                <a:cs typeface="+mn-cs"/>
              </a:rPr>
              <a:t>Identifying disease-associated genes</a:t>
            </a:r>
            <a:endParaRPr lang="he-IL" dirty="0"/>
          </a:p>
        </p:txBody>
      </p:sp>
      <p:pic>
        <p:nvPicPr>
          <p:cNvPr id="5" name="תמונה 4">
            <a:extLst>
              <a:ext uri="{FF2B5EF4-FFF2-40B4-BE49-F238E27FC236}">
                <a16:creationId xmlns:a16="http://schemas.microsoft.com/office/drawing/2014/main" id="{DA094304-FBA3-E879-A9F9-656DAE608373}"/>
              </a:ext>
            </a:extLst>
          </p:cNvPr>
          <p:cNvPicPr>
            <a:picLocks noChangeAspect="1"/>
          </p:cNvPicPr>
          <p:nvPr/>
        </p:nvPicPr>
        <p:blipFill>
          <a:blip r:embed="rId3"/>
          <a:stretch>
            <a:fillRect/>
          </a:stretch>
        </p:blipFill>
        <p:spPr>
          <a:xfrm>
            <a:off x="3025949" y="2680352"/>
            <a:ext cx="6140103" cy="3692750"/>
          </a:xfrm>
          <a:prstGeom prst="rect">
            <a:avLst/>
          </a:prstGeom>
        </p:spPr>
      </p:pic>
      <p:pic>
        <p:nvPicPr>
          <p:cNvPr id="10" name="תמונה 9">
            <a:extLst>
              <a:ext uri="{FF2B5EF4-FFF2-40B4-BE49-F238E27FC236}">
                <a16:creationId xmlns:a16="http://schemas.microsoft.com/office/drawing/2014/main" id="{7F96DAC9-BC3B-F697-285A-73DA85353508}"/>
              </a:ext>
            </a:extLst>
          </p:cNvPr>
          <p:cNvPicPr>
            <a:picLocks noChangeAspect="1"/>
          </p:cNvPicPr>
          <p:nvPr/>
        </p:nvPicPr>
        <p:blipFill>
          <a:blip r:embed="rId4"/>
          <a:stretch>
            <a:fillRect/>
          </a:stretch>
        </p:blipFill>
        <p:spPr>
          <a:xfrm>
            <a:off x="2881871" y="1509713"/>
            <a:ext cx="6428258" cy="1035702"/>
          </a:xfrm>
          <a:prstGeom prst="rect">
            <a:avLst/>
          </a:prstGeom>
        </p:spPr>
      </p:pic>
    </p:spTree>
    <p:extLst>
      <p:ext uri="{BB962C8B-B14F-4D97-AF65-F5344CB8AC3E}">
        <p14:creationId xmlns:p14="http://schemas.microsoft.com/office/powerpoint/2010/main" val="3127496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635C-6F98-330D-ACED-0F9A765EF362}"/>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C595AEBC-1143-177C-76B9-5DFAE366B8C5}"/>
              </a:ext>
            </a:extLst>
          </p:cNvPr>
          <p:cNvSpPr>
            <a:spLocks noGrp="1"/>
          </p:cNvSpPr>
          <p:nvPr>
            <p:ph type="title"/>
          </p:nvPr>
        </p:nvSpPr>
        <p:spPr/>
        <p:txBody>
          <a:bodyPr>
            <a:normAutofit/>
          </a:bodyPr>
          <a:lstStyle/>
          <a:p>
            <a:pPr algn="ctr" rtl="0"/>
            <a:r>
              <a:rPr lang="en-US" dirty="0">
                <a:solidFill>
                  <a:srgbClr val="0070C0"/>
                </a:solidFill>
                <a:latin typeface="Comic Sans MS" panose="030F0702030302020204" pitchFamily="66" charset="0"/>
                <a:ea typeface="+mn-ea"/>
                <a:cs typeface="+mn-cs"/>
              </a:rPr>
              <a:t>Identifying disease-associated genes</a:t>
            </a:r>
            <a:endParaRPr lang="he-IL" dirty="0"/>
          </a:p>
        </p:txBody>
      </p:sp>
      <p:pic>
        <p:nvPicPr>
          <p:cNvPr id="7" name="מציין מיקום תוכן 6" descr="תמונה שמכילה טקסט, צילום מסך, עלילה, תרשים&#10;&#10;תוכן שנוצר על-ידי בינה מלאכותית עשוי להיות שגוי.">
            <a:extLst>
              <a:ext uri="{FF2B5EF4-FFF2-40B4-BE49-F238E27FC236}">
                <a16:creationId xmlns:a16="http://schemas.microsoft.com/office/drawing/2014/main" id="{E1036967-F43A-2288-7E4F-800F469F6B3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090920" y="1690688"/>
            <a:ext cx="6010160" cy="4861673"/>
          </a:xfrm>
        </p:spPr>
      </p:pic>
      <p:sp>
        <p:nvSpPr>
          <p:cNvPr id="8" name="כותרת משנה 2">
            <a:extLst>
              <a:ext uri="{FF2B5EF4-FFF2-40B4-BE49-F238E27FC236}">
                <a16:creationId xmlns:a16="http://schemas.microsoft.com/office/drawing/2014/main" id="{590EB39A-A8C7-5D36-4E98-37FD12A74CA5}"/>
              </a:ext>
            </a:extLst>
          </p:cNvPr>
          <p:cNvSpPr txBox="1">
            <a:spLocks/>
          </p:cNvSpPr>
          <p:nvPr/>
        </p:nvSpPr>
        <p:spPr>
          <a:xfrm>
            <a:off x="3415865" y="1352925"/>
            <a:ext cx="5685215" cy="675526"/>
          </a:xfrm>
          <a:prstGeom prst="rect">
            <a:avLst/>
          </a:prstGeom>
        </p:spPr>
        <p:txBody>
          <a:bodyPr vert="horz" lIns="91440" tIns="45720" rIns="91440" bIns="45720" rtlCol="1">
            <a:normAutofit/>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b="1" i="1" dirty="0"/>
              <a:t>Total number of genes per disease</a:t>
            </a:r>
            <a:endParaRPr lang="he-IL" sz="2000" b="1" i="1" dirty="0"/>
          </a:p>
        </p:txBody>
      </p:sp>
      <p:sp>
        <p:nvSpPr>
          <p:cNvPr id="9" name="תיבת טקסט 8">
            <a:extLst>
              <a:ext uri="{FF2B5EF4-FFF2-40B4-BE49-F238E27FC236}">
                <a16:creationId xmlns:a16="http://schemas.microsoft.com/office/drawing/2014/main" id="{3C8DD660-2C8E-211E-B5C5-C665A775C7BD}"/>
              </a:ext>
            </a:extLst>
          </p:cNvPr>
          <p:cNvSpPr txBox="1"/>
          <p:nvPr/>
        </p:nvSpPr>
        <p:spPr>
          <a:xfrm rot="16200000">
            <a:off x="2220316" y="3477613"/>
            <a:ext cx="2018207" cy="276999"/>
          </a:xfrm>
          <a:prstGeom prst="rect">
            <a:avLst/>
          </a:prstGeom>
          <a:solidFill>
            <a:schemeClr val="bg1"/>
          </a:solidFill>
        </p:spPr>
        <p:txBody>
          <a:bodyPr wrap="square" rtlCol="1">
            <a:spAutoFit/>
          </a:bodyPr>
          <a:lstStyle/>
          <a:p>
            <a:pPr algn="ctr"/>
            <a:endParaRPr lang="he-IL" sz="1200" dirty="0"/>
          </a:p>
        </p:txBody>
      </p:sp>
    </p:spTree>
    <p:extLst>
      <p:ext uri="{BB962C8B-B14F-4D97-AF65-F5344CB8AC3E}">
        <p14:creationId xmlns:p14="http://schemas.microsoft.com/office/powerpoint/2010/main" val="2320431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AFA2C-6DCA-D08C-D8CA-65EAC5213D18}"/>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A0A95015-B2EC-6BFE-7958-2E23654922E3}"/>
              </a:ext>
            </a:extLst>
          </p:cNvPr>
          <p:cNvSpPr>
            <a:spLocks noGrp="1"/>
          </p:cNvSpPr>
          <p:nvPr>
            <p:ph type="title"/>
          </p:nvPr>
        </p:nvSpPr>
        <p:spPr/>
        <p:txBody>
          <a:bodyPr>
            <a:normAutofit/>
          </a:bodyPr>
          <a:lstStyle/>
          <a:p>
            <a:pPr algn="ctr" rtl="0"/>
            <a:r>
              <a:rPr lang="en-US" dirty="0">
                <a:solidFill>
                  <a:srgbClr val="0070C0"/>
                </a:solidFill>
                <a:latin typeface="Comic Sans MS" panose="030F0702030302020204" pitchFamily="66" charset="0"/>
                <a:ea typeface="+mn-ea"/>
                <a:cs typeface="+mn-cs"/>
              </a:rPr>
              <a:t>What are we looking for?</a:t>
            </a:r>
            <a:endParaRPr lang="he-IL" dirty="0"/>
          </a:p>
        </p:txBody>
      </p:sp>
      <p:pic>
        <p:nvPicPr>
          <p:cNvPr id="4" name="Picture 44" descr="brain_sketch_by_pcek-d53270v.png">
            <a:extLst>
              <a:ext uri="{FF2B5EF4-FFF2-40B4-BE49-F238E27FC236}">
                <a16:creationId xmlns:a16="http://schemas.microsoft.com/office/drawing/2014/main" id="{EC806614-A13F-4A46-0F93-245AE7839F0B}"/>
              </a:ext>
            </a:extLst>
          </p:cNvPr>
          <p:cNvPicPr>
            <a:picLocks noChangeAspect="1"/>
          </p:cNvPicPr>
          <p:nvPr/>
        </p:nvPicPr>
        <p:blipFill>
          <a:blip r:embed="rId3" cstate="print">
            <a:duotone>
              <a:schemeClr val="accent5">
                <a:shade val="45000"/>
                <a:satMod val="135000"/>
              </a:schemeClr>
              <a:prstClr val="white"/>
            </a:duotone>
          </a:blip>
          <a:stretch>
            <a:fillRect/>
          </a:stretch>
        </p:blipFill>
        <p:spPr>
          <a:xfrm>
            <a:off x="1276238" y="1662794"/>
            <a:ext cx="1526951" cy="1111744"/>
          </a:xfrm>
          <a:prstGeom prst="rect">
            <a:avLst/>
          </a:prstGeom>
        </p:spPr>
      </p:pic>
      <p:pic>
        <p:nvPicPr>
          <p:cNvPr id="5" name="Picture 43" descr="human_heart_pencil_drawing.jpg">
            <a:extLst>
              <a:ext uri="{FF2B5EF4-FFF2-40B4-BE49-F238E27FC236}">
                <a16:creationId xmlns:a16="http://schemas.microsoft.com/office/drawing/2014/main" id="{42558F64-7915-E386-6196-193E16DDE670}"/>
              </a:ext>
            </a:extLst>
          </p:cNvPr>
          <p:cNvPicPr>
            <a:picLocks noChangeAspect="1"/>
          </p:cNvPicPr>
          <p:nvPr/>
        </p:nvPicPr>
        <p:blipFill rotWithShape="1">
          <a:blip r:embed="rId4" cstate="print">
            <a:duotone>
              <a:schemeClr val="accent5">
                <a:shade val="45000"/>
                <a:satMod val="135000"/>
              </a:schemeClr>
              <a:prstClr val="white"/>
            </a:duotone>
          </a:blip>
          <a:srcRect l="8093"/>
          <a:stretch/>
        </p:blipFill>
        <p:spPr>
          <a:xfrm>
            <a:off x="1340791" y="5263590"/>
            <a:ext cx="1048969" cy="1543056"/>
          </a:xfrm>
          <a:prstGeom prst="rect">
            <a:avLst/>
          </a:prstGeom>
        </p:spPr>
      </p:pic>
      <p:grpSp>
        <p:nvGrpSpPr>
          <p:cNvPr id="6" name="Group 62">
            <a:extLst>
              <a:ext uri="{FF2B5EF4-FFF2-40B4-BE49-F238E27FC236}">
                <a16:creationId xmlns:a16="http://schemas.microsoft.com/office/drawing/2014/main" id="{FAD67D56-23AB-3A03-7952-7D2C2B8E3126}"/>
              </a:ext>
            </a:extLst>
          </p:cNvPr>
          <p:cNvGrpSpPr/>
          <p:nvPr/>
        </p:nvGrpSpPr>
        <p:grpSpPr>
          <a:xfrm>
            <a:off x="1569201" y="2882162"/>
            <a:ext cx="820559" cy="2433043"/>
            <a:chOff x="4369354" y="616282"/>
            <a:chExt cx="615419" cy="1824782"/>
          </a:xfrm>
        </p:grpSpPr>
        <p:sp>
          <p:nvSpPr>
            <p:cNvPr id="7" name="Rectangle 60">
              <a:extLst>
                <a:ext uri="{FF2B5EF4-FFF2-40B4-BE49-F238E27FC236}">
                  <a16:creationId xmlns:a16="http://schemas.microsoft.com/office/drawing/2014/main" id="{A411B253-3DC1-2C5B-EBF5-C63DAA274624}"/>
                </a:ext>
              </a:extLst>
            </p:cNvPr>
            <p:cNvSpPr/>
            <p:nvPr/>
          </p:nvSpPr>
          <p:spPr>
            <a:xfrm>
              <a:off x="4369354" y="616282"/>
              <a:ext cx="615419" cy="1818878"/>
            </a:xfrm>
            <a:prstGeom prst="rect">
              <a:avLst/>
            </a:prstGeom>
            <a:solidFill>
              <a:schemeClr val="bg1">
                <a:alpha val="1294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grpSp>
          <p:nvGrpSpPr>
            <p:cNvPr id="8" name="Group 50">
              <a:extLst>
                <a:ext uri="{FF2B5EF4-FFF2-40B4-BE49-F238E27FC236}">
                  <a16:creationId xmlns:a16="http://schemas.microsoft.com/office/drawing/2014/main" id="{8C64076B-5032-B807-64FA-AB6D944798FD}"/>
                </a:ext>
              </a:extLst>
            </p:cNvPr>
            <p:cNvGrpSpPr/>
            <p:nvPr/>
          </p:nvGrpSpPr>
          <p:grpSpPr>
            <a:xfrm>
              <a:off x="4482472" y="622186"/>
              <a:ext cx="373391" cy="1818878"/>
              <a:chOff x="7430624" y="36225"/>
              <a:chExt cx="1013108" cy="4935102"/>
            </a:xfrm>
          </p:grpSpPr>
          <p:pic>
            <p:nvPicPr>
              <p:cNvPr id="9" name="Picture 2" descr="Anterior and Posterior Views of Spine">
                <a:extLst>
                  <a:ext uri="{FF2B5EF4-FFF2-40B4-BE49-F238E27FC236}">
                    <a16:creationId xmlns:a16="http://schemas.microsoft.com/office/drawing/2014/main" id="{587C814A-1F28-D194-0DFD-813B42C5456A}"/>
                  </a:ext>
                </a:extLst>
              </p:cNvPr>
              <p:cNvPicPr>
                <a:picLocks noChangeAspect="1" noChangeArrowheads="1"/>
              </p:cNvPicPr>
              <p:nvPr/>
            </p:nvPicPr>
            <p:blipFill rotWithShape="1">
              <a:blip r:embed="rId5">
                <a:duotone>
                  <a:schemeClr val="accent5">
                    <a:shade val="45000"/>
                    <a:satMod val="135000"/>
                  </a:schemeClr>
                  <a:prstClr val="white"/>
                </a:duotone>
                <a:extLst>
                  <a:ext uri="{28A0092B-C50C-407E-A947-70E740481C1C}">
                    <a14:useLocalDpi xmlns:a14="http://schemas.microsoft.com/office/drawing/2010/main" val="0"/>
                  </a:ext>
                </a:extLst>
              </a:blip>
              <a:srcRect r="55292"/>
              <a:stretch/>
            </p:blipFill>
            <p:spPr bwMode="auto">
              <a:xfrm>
                <a:off x="7534609" y="668457"/>
                <a:ext cx="855910" cy="4083451"/>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49">
                <a:extLst>
                  <a:ext uri="{FF2B5EF4-FFF2-40B4-BE49-F238E27FC236}">
                    <a16:creationId xmlns:a16="http://schemas.microsoft.com/office/drawing/2014/main" id="{9725C1B5-E8E6-16B1-906C-AC681A6F5A0A}"/>
                  </a:ext>
                </a:extLst>
              </p:cNvPr>
              <p:cNvSpPr/>
              <p:nvPr/>
            </p:nvSpPr>
            <p:spPr>
              <a:xfrm>
                <a:off x="8331200" y="4356100"/>
                <a:ext cx="112532" cy="6152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11" name="Rectangle 52">
                <a:extLst>
                  <a:ext uri="{FF2B5EF4-FFF2-40B4-BE49-F238E27FC236}">
                    <a16:creationId xmlns:a16="http://schemas.microsoft.com/office/drawing/2014/main" id="{B9988192-E530-38DC-0CC4-8A616ADCC255}"/>
                  </a:ext>
                </a:extLst>
              </p:cNvPr>
              <p:cNvSpPr/>
              <p:nvPr/>
            </p:nvSpPr>
            <p:spPr>
              <a:xfrm>
                <a:off x="8246801" y="3095535"/>
                <a:ext cx="168798" cy="205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12" name="Rectangle 53">
                <a:extLst>
                  <a:ext uri="{FF2B5EF4-FFF2-40B4-BE49-F238E27FC236}">
                    <a16:creationId xmlns:a16="http://schemas.microsoft.com/office/drawing/2014/main" id="{380A4870-0999-13ED-50F1-416001FCCAF4}"/>
                  </a:ext>
                </a:extLst>
              </p:cNvPr>
              <p:cNvSpPr/>
              <p:nvPr/>
            </p:nvSpPr>
            <p:spPr>
              <a:xfrm>
                <a:off x="8234262" y="1002820"/>
                <a:ext cx="168798" cy="205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13" name="Rectangle 54">
                <a:extLst>
                  <a:ext uri="{FF2B5EF4-FFF2-40B4-BE49-F238E27FC236}">
                    <a16:creationId xmlns:a16="http://schemas.microsoft.com/office/drawing/2014/main" id="{24B436D1-187A-2E70-0CE4-07C8EBE4219E}"/>
                  </a:ext>
                </a:extLst>
              </p:cNvPr>
              <p:cNvSpPr/>
              <p:nvPr/>
            </p:nvSpPr>
            <p:spPr>
              <a:xfrm>
                <a:off x="8274934" y="240197"/>
                <a:ext cx="168798" cy="205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14" name="Rectangle 55">
                <a:extLst>
                  <a:ext uri="{FF2B5EF4-FFF2-40B4-BE49-F238E27FC236}">
                    <a16:creationId xmlns:a16="http://schemas.microsoft.com/office/drawing/2014/main" id="{D1A07799-CF71-6905-60FF-336649519653}"/>
                  </a:ext>
                </a:extLst>
              </p:cNvPr>
              <p:cNvSpPr/>
              <p:nvPr/>
            </p:nvSpPr>
            <p:spPr>
              <a:xfrm>
                <a:off x="7483837" y="201250"/>
                <a:ext cx="168798" cy="205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15" name="Rectangle 56">
                <a:extLst>
                  <a:ext uri="{FF2B5EF4-FFF2-40B4-BE49-F238E27FC236}">
                    <a16:creationId xmlns:a16="http://schemas.microsoft.com/office/drawing/2014/main" id="{F6840572-9743-C2F0-7121-12DF562F1420}"/>
                  </a:ext>
                </a:extLst>
              </p:cNvPr>
              <p:cNvSpPr/>
              <p:nvPr/>
            </p:nvSpPr>
            <p:spPr>
              <a:xfrm>
                <a:off x="7430624" y="381592"/>
                <a:ext cx="341775" cy="813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sp>
            <p:nvSpPr>
              <p:cNvPr id="16" name="Rectangle 57">
                <a:extLst>
                  <a:ext uri="{FF2B5EF4-FFF2-40B4-BE49-F238E27FC236}">
                    <a16:creationId xmlns:a16="http://schemas.microsoft.com/office/drawing/2014/main" id="{4003A8F1-F80E-6200-414F-9D7FC64B4761}"/>
                  </a:ext>
                </a:extLst>
              </p:cNvPr>
              <p:cNvSpPr/>
              <p:nvPr/>
            </p:nvSpPr>
            <p:spPr>
              <a:xfrm>
                <a:off x="7836043" y="36225"/>
                <a:ext cx="245132" cy="1273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rtl="0"/>
                <a:endParaRPr lang="en-US" sz="2400">
                  <a:solidFill>
                    <a:schemeClr val="bg2">
                      <a:lumMod val="25000"/>
                    </a:schemeClr>
                  </a:solidFill>
                </a:endParaRPr>
              </a:p>
            </p:txBody>
          </p:sp>
        </p:grpSp>
      </p:grpSp>
      <p:sp>
        <p:nvSpPr>
          <p:cNvPr id="17" name="Rectangle 4">
            <a:extLst>
              <a:ext uri="{FF2B5EF4-FFF2-40B4-BE49-F238E27FC236}">
                <a16:creationId xmlns:a16="http://schemas.microsoft.com/office/drawing/2014/main" id="{036DF4CD-4EC1-C833-6CD8-8A331A89FDBA}"/>
              </a:ext>
            </a:extLst>
          </p:cNvPr>
          <p:cNvSpPr/>
          <p:nvPr/>
        </p:nvSpPr>
        <p:spPr>
          <a:xfrm>
            <a:off x="12751" y="1943712"/>
            <a:ext cx="1263487" cy="420115"/>
          </a:xfrm>
          <a:prstGeom prst="rect">
            <a:avLst/>
          </a:prstGeom>
        </p:spPr>
        <p:txBody>
          <a:bodyPr wrap="none">
            <a:spAutoFit/>
          </a:bodyPr>
          <a:lstStyle/>
          <a:p>
            <a:pPr algn="ctr" rtl="0"/>
            <a:r>
              <a:rPr lang="en-US" sz="2130" dirty="0">
                <a:solidFill>
                  <a:srgbClr val="4D799D"/>
                </a:solidFill>
                <a:latin typeface="Helvetica Neue Medium" panose="02000503000000020004" pitchFamily="2" charset="0"/>
                <a:ea typeface="Helvetica Neue Medium" panose="02000503000000020004" pitchFamily="2" charset="0"/>
                <a:cs typeface="Helvetica Neue Medium" panose="02000503000000020004" pitchFamily="2" charset="0"/>
              </a:rPr>
              <a:t>3x</a:t>
            </a:r>
            <a:r>
              <a:rPr lang="en-US" sz="2130" dirty="0">
                <a:solidFill>
                  <a:srgbClr val="4D799D"/>
                </a:solidFill>
                <a:latin typeface="Helvetica Neue Thin" panose="020B0403020202020204" pitchFamily="34" charset="0"/>
                <a:ea typeface="Helvetica Neue Thin" panose="020B0403020202020204" pitchFamily="34" charset="0"/>
              </a:rPr>
              <a:t>  Brain</a:t>
            </a:r>
          </a:p>
        </p:txBody>
      </p:sp>
      <p:sp>
        <p:nvSpPr>
          <p:cNvPr id="18" name="Rectangle 15">
            <a:extLst>
              <a:ext uri="{FF2B5EF4-FFF2-40B4-BE49-F238E27FC236}">
                <a16:creationId xmlns:a16="http://schemas.microsoft.com/office/drawing/2014/main" id="{378BB348-F9E0-E7B6-1897-078819DA6EC8}"/>
              </a:ext>
            </a:extLst>
          </p:cNvPr>
          <p:cNvSpPr/>
          <p:nvPr/>
        </p:nvSpPr>
        <p:spPr>
          <a:xfrm>
            <a:off x="267369" y="3744741"/>
            <a:ext cx="1141659" cy="748795"/>
          </a:xfrm>
          <a:prstGeom prst="rect">
            <a:avLst/>
          </a:prstGeom>
        </p:spPr>
        <p:txBody>
          <a:bodyPr wrap="none">
            <a:spAutoFit/>
          </a:bodyPr>
          <a:lstStyle/>
          <a:p>
            <a:pPr algn="ctr" rtl="0"/>
            <a:r>
              <a:rPr lang="en-US" sz="2133" dirty="0">
                <a:solidFill>
                  <a:srgbClr val="4D799D"/>
                </a:solidFill>
                <a:latin typeface="Helvetica Neue Thin" panose="020B0403020202020204" pitchFamily="34" charset="0"/>
                <a:ea typeface="Helvetica Neue Thin" panose="020B0403020202020204" pitchFamily="34" charset="0"/>
              </a:rPr>
              <a:t>Upright </a:t>
            </a:r>
          </a:p>
          <a:p>
            <a:pPr algn="ctr" rtl="0"/>
            <a:r>
              <a:rPr lang="en-US" sz="2133" dirty="0">
                <a:solidFill>
                  <a:srgbClr val="4D799D"/>
                </a:solidFill>
                <a:latin typeface="Helvetica Neue Thin" panose="020B0403020202020204" pitchFamily="34" charset="0"/>
                <a:ea typeface="Helvetica Neue Thin" panose="020B0403020202020204" pitchFamily="34" charset="0"/>
              </a:rPr>
              <a:t>walking</a:t>
            </a:r>
          </a:p>
        </p:txBody>
      </p:sp>
      <p:grpSp>
        <p:nvGrpSpPr>
          <p:cNvPr id="19" name="Group 28">
            <a:extLst>
              <a:ext uri="{FF2B5EF4-FFF2-40B4-BE49-F238E27FC236}">
                <a16:creationId xmlns:a16="http://schemas.microsoft.com/office/drawing/2014/main" id="{8803A503-4A2E-487A-41BC-13DBA2AA96E4}"/>
              </a:ext>
            </a:extLst>
          </p:cNvPr>
          <p:cNvGrpSpPr/>
          <p:nvPr/>
        </p:nvGrpSpPr>
        <p:grpSpPr>
          <a:xfrm>
            <a:off x="-27690" y="5692838"/>
            <a:ext cx="1508746" cy="753420"/>
            <a:chOff x="331755" y="2724841"/>
            <a:chExt cx="1131560" cy="565065"/>
          </a:xfrm>
        </p:grpSpPr>
        <p:sp>
          <p:nvSpPr>
            <p:cNvPr id="20" name="Rectangle 16">
              <a:extLst>
                <a:ext uri="{FF2B5EF4-FFF2-40B4-BE49-F238E27FC236}">
                  <a16:creationId xmlns:a16="http://schemas.microsoft.com/office/drawing/2014/main" id="{39BF4CF7-B725-04BD-7396-D60146DCF9E2}"/>
                </a:ext>
              </a:extLst>
            </p:cNvPr>
            <p:cNvSpPr/>
            <p:nvPr/>
          </p:nvSpPr>
          <p:spPr>
            <a:xfrm>
              <a:off x="331755" y="2724841"/>
              <a:ext cx="1131560" cy="315423"/>
            </a:xfrm>
            <a:prstGeom prst="rect">
              <a:avLst/>
            </a:prstGeom>
          </p:spPr>
          <p:txBody>
            <a:bodyPr wrap="none">
              <a:spAutoFit/>
            </a:bodyPr>
            <a:lstStyle/>
            <a:p>
              <a:pPr algn="ctr" rtl="0"/>
              <a:r>
                <a:rPr lang="en-US" sz="2133" dirty="0">
                  <a:solidFill>
                    <a:srgbClr val="4D799D"/>
                  </a:solidFill>
                  <a:latin typeface="Helvetica Neue Thin" panose="020B0403020202020204" pitchFamily="34" charset="0"/>
                  <a:ea typeface="Helvetica Neue Thin" panose="020B0403020202020204" pitchFamily="34" charset="0"/>
                </a:rPr>
                <a:t>Endurance</a:t>
              </a:r>
            </a:p>
          </p:txBody>
        </p:sp>
        <p:sp>
          <p:nvSpPr>
            <p:cNvPr id="21" name="TextBox 27">
              <a:extLst>
                <a:ext uri="{FF2B5EF4-FFF2-40B4-BE49-F238E27FC236}">
                  <a16:creationId xmlns:a16="http://schemas.microsoft.com/office/drawing/2014/main" id="{CE81BC29-2A24-37AC-A6F5-04E8D22ADCBF}"/>
                </a:ext>
              </a:extLst>
            </p:cNvPr>
            <p:cNvSpPr txBox="1"/>
            <p:nvPr/>
          </p:nvSpPr>
          <p:spPr>
            <a:xfrm>
              <a:off x="460847" y="2974483"/>
              <a:ext cx="873375" cy="315423"/>
            </a:xfrm>
            <a:prstGeom prst="rect">
              <a:avLst/>
            </a:prstGeom>
            <a:noFill/>
          </p:spPr>
          <p:txBody>
            <a:bodyPr wrap="square">
              <a:spAutoFit/>
            </a:bodyPr>
            <a:lstStyle/>
            <a:p>
              <a:pPr algn="ctr"/>
              <a:r>
                <a:rPr lang="en-US" sz="2133" i="1" dirty="0">
                  <a:solidFill>
                    <a:srgbClr val="4D799D"/>
                  </a:solidFill>
                  <a:latin typeface="Helvetica Neue Thin" panose="020B0403020202020204" pitchFamily="34" charset="0"/>
                  <a:ea typeface="Helvetica Neue Thin" panose="020B0403020202020204" pitchFamily="34" charset="0"/>
                </a:rPr>
                <a:t>running</a:t>
              </a:r>
              <a:endParaRPr lang="en-IL" sz="2133" i="1" dirty="0"/>
            </a:p>
          </p:txBody>
        </p:sp>
      </p:grpSp>
      <p:sp>
        <p:nvSpPr>
          <p:cNvPr id="23" name="Rectangle 18">
            <a:extLst>
              <a:ext uri="{FF2B5EF4-FFF2-40B4-BE49-F238E27FC236}">
                <a16:creationId xmlns:a16="http://schemas.microsoft.com/office/drawing/2014/main" id="{9CB6CE95-BCA1-5E02-E5FB-9A8D0ABEB092}"/>
              </a:ext>
            </a:extLst>
          </p:cNvPr>
          <p:cNvSpPr/>
          <p:nvPr/>
        </p:nvSpPr>
        <p:spPr>
          <a:xfrm>
            <a:off x="2828192" y="1858889"/>
            <a:ext cx="2230098" cy="707886"/>
          </a:xfrm>
          <a:prstGeom prst="rect">
            <a:avLst/>
          </a:prstGeom>
        </p:spPr>
        <p:txBody>
          <a:bodyPr wrap="none">
            <a:spAutoFit/>
          </a:bodyPr>
          <a:lstStyle/>
          <a:p>
            <a:pPr algn="ctr" rtl="0"/>
            <a:r>
              <a:rPr lang="en-US" sz="2000" dirty="0">
                <a:solidFill>
                  <a:srgbClr val="B12E31"/>
                </a:solidFill>
                <a:latin typeface="Avenir Next Condensed" panose="020B0506020202020204" pitchFamily="34" charset="0"/>
                <a:ea typeface="Helvetica Neue Medium" panose="02000503000000020004" pitchFamily="2" charset="0"/>
                <a:cs typeface="Helvetica Neue Medium" panose="02000503000000020004" pitchFamily="2" charset="0"/>
              </a:rPr>
              <a:t>Alzheimer's disease</a:t>
            </a:r>
          </a:p>
          <a:p>
            <a:pPr algn="ctr" rtl="0"/>
            <a:r>
              <a:rPr lang="en-US" sz="2000" dirty="0">
                <a:solidFill>
                  <a:srgbClr val="B12E31"/>
                </a:solidFill>
                <a:latin typeface="Avenir Next Condensed" panose="020B0506020202020204" pitchFamily="34" charset="0"/>
                <a:ea typeface="Helvetica Neue Medium" panose="02000503000000020004" pitchFamily="2" charset="0"/>
                <a:cs typeface="Helvetica Neue Medium" panose="02000503000000020004" pitchFamily="2" charset="0"/>
              </a:rPr>
              <a:t>Schizophrenia</a:t>
            </a:r>
          </a:p>
        </p:txBody>
      </p:sp>
      <p:sp>
        <p:nvSpPr>
          <p:cNvPr id="24" name="Rectangle 19">
            <a:extLst>
              <a:ext uri="{FF2B5EF4-FFF2-40B4-BE49-F238E27FC236}">
                <a16:creationId xmlns:a16="http://schemas.microsoft.com/office/drawing/2014/main" id="{551361D0-81EA-439E-B4CC-6A80AA682A59}"/>
              </a:ext>
            </a:extLst>
          </p:cNvPr>
          <p:cNvSpPr/>
          <p:nvPr/>
        </p:nvSpPr>
        <p:spPr>
          <a:xfrm>
            <a:off x="2744935" y="5635008"/>
            <a:ext cx="2401940" cy="400110"/>
          </a:xfrm>
          <a:prstGeom prst="rect">
            <a:avLst/>
          </a:prstGeom>
        </p:spPr>
        <p:txBody>
          <a:bodyPr wrap="none">
            <a:spAutoFit/>
          </a:bodyPr>
          <a:lstStyle/>
          <a:p>
            <a:pPr algn="ctr" rtl="0"/>
            <a:r>
              <a:rPr lang="en-US" sz="2000" dirty="0">
                <a:solidFill>
                  <a:srgbClr val="B12E31"/>
                </a:solidFill>
                <a:latin typeface="Avenir Next Condensed" panose="020B0506020202020204" pitchFamily="34" charset="0"/>
                <a:ea typeface="Helvetica Neue Medium" panose="02000503000000020004" pitchFamily="2" charset="0"/>
                <a:cs typeface="Helvetica Neue Medium" panose="02000503000000020004" pitchFamily="2" charset="0"/>
              </a:rPr>
              <a:t>Myocardial infarction</a:t>
            </a:r>
          </a:p>
        </p:txBody>
      </p:sp>
      <p:sp>
        <p:nvSpPr>
          <p:cNvPr id="25" name="Rectangle 20">
            <a:extLst>
              <a:ext uri="{FF2B5EF4-FFF2-40B4-BE49-F238E27FC236}">
                <a16:creationId xmlns:a16="http://schemas.microsoft.com/office/drawing/2014/main" id="{C41D6282-BA3C-3BF5-60E0-2D14E4E8A494}"/>
              </a:ext>
            </a:extLst>
          </p:cNvPr>
          <p:cNvSpPr/>
          <p:nvPr/>
        </p:nvSpPr>
        <p:spPr>
          <a:xfrm>
            <a:off x="2759788" y="3583340"/>
            <a:ext cx="2331724" cy="707886"/>
          </a:xfrm>
          <a:prstGeom prst="rect">
            <a:avLst/>
          </a:prstGeom>
        </p:spPr>
        <p:txBody>
          <a:bodyPr wrap="square">
            <a:spAutoFit/>
          </a:bodyPr>
          <a:lstStyle/>
          <a:p>
            <a:pPr algn="ctr" rtl="0"/>
            <a:r>
              <a:rPr lang="en-US" sz="2000" dirty="0">
                <a:solidFill>
                  <a:srgbClr val="B12E31"/>
                </a:solidFill>
                <a:latin typeface="Avenir Next Condensed" panose="020B0506020202020204" pitchFamily="34" charset="0"/>
                <a:ea typeface="Helvetica Neue Medium" panose="02000503000000020004" pitchFamily="2" charset="0"/>
                <a:cs typeface="Helvetica Neue Medium" panose="02000503000000020004" pitchFamily="2" charset="0"/>
              </a:rPr>
              <a:t>Chronic back pain</a:t>
            </a:r>
          </a:p>
          <a:p>
            <a:pPr algn="ctr" rtl="0"/>
            <a:r>
              <a:rPr lang="en-US" sz="2000" dirty="0">
                <a:solidFill>
                  <a:srgbClr val="B12E31"/>
                </a:solidFill>
                <a:latin typeface="Avenir Next Condensed" panose="020B0506020202020204" pitchFamily="34" charset="0"/>
                <a:ea typeface="Helvetica Neue Medium" panose="02000503000000020004" pitchFamily="2" charset="0"/>
                <a:cs typeface="Helvetica Neue Medium" panose="02000503000000020004" pitchFamily="2" charset="0"/>
              </a:rPr>
              <a:t>scoliosis</a:t>
            </a:r>
          </a:p>
        </p:txBody>
      </p:sp>
      <p:pic>
        <p:nvPicPr>
          <p:cNvPr id="27" name="תמונה 26">
            <a:extLst>
              <a:ext uri="{FF2B5EF4-FFF2-40B4-BE49-F238E27FC236}">
                <a16:creationId xmlns:a16="http://schemas.microsoft.com/office/drawing/2014/main" id="{72BD2FF3-5CC3-9790-2BE8-80968D8836CF}"/>
              </a:ext>
            </a:extLst>
          </p:cNvPr>
          <p:cNvPicPr>
            <a:picLocks noChangeAspect="1"/>
          </p:cNvPicPr>
          <p:nvPr/>
        </p:nvPicPr>
        <p:blipFill>
          <a:blip r:embed="rId6"/>
          <a:stretch>
            <a:fillRect/>
          </a:stretch>
        </p:blipFill>
        <p:spPr>
          <a:xfrm>
            <a:off x="5887145" y="1690688"/>
            <a:ext cx="5658640" cy="4658375"/>
          </a:xfrm>
          <a:prstGeom prst="rect">
            <a:avLst/>
          </a:prstGeom>
        </p:spPr>
      </p:pic>
      <p:sp>
        <p:nvSpPr>
          <p:cNvPr id="22" name="מציין מיקום תוכן 2">
            <a:extLst>
              <a:ext uri="{FF2B5EF4-FFF2-40B4-BE49-F238E27FC236}">
                <a16:creationId xmlns:a16="http://schemas.microsoft.com/office/drawing/2014/main" id="{AF016F97-61AA-886E-CBC6-E2070AC0D513}"/>
              </a:ext>
            </a:extLst>
          </p:cNvPr>
          <p:cNvSpPr txBox="1">
            <a:spLocks/>
          </p:cNvSpPr>
          <p:nvPr/>
        </p:nvSpPr>
        <p:spPr>
          <a:xfrm>
            <a:off x="0" y="0"/>
            <a:ext cx="12192000" cy="6870056"/>
          </a:xfrm>
          <a:prstGeom prst="rect">
            <a:avLst/>
          </a:prstGeom>
          <a:solidFill>
            <a:srgbClr val="E8E8E8">
              <a:alpha val="50196"/>
            </a:srgbClr>
          </a:solidFill>
        </p:spPr>
        <p:txBody>
          <a:bodyPr vert="horz" lIns="91440" tIns="45720" rIns="91440" bIns="45720" rtlCol="1" anchor="ctr">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4000" b="1" i="1" dirty="0"/>
              <a:t>Did the disease-associated genes undergo rapid regulatory changes in human evolution?</a:t>
            </a:r>
          </a:p>
        </p:txBody>
      </p:sp>
    </p:spTree>
    <p:extLst>
      <p:ext uri="{BB962C8B-B14F-4D97-AF65-F5344CB8AC3E}">
        <p14:creationId xmlns:p14="http://schemas.microsoft.com/office/powerpoint/2010/main" val="3992796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23" grpId="0"/>
      <p:bldP spid="24" grpId="0"/>
      <p:bldP spid="25" grpId="0"/>
      <p:bldP spid="2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0F422-7A25-8760-B7AE-789998A77C36}"/>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48997AA8-45B9-CEF8-371D-CF57477B02DB}"/>
              </a:ext>
            </a:extLst>
          </p:cNvPr>
          <p:cNvSpPr>
            <a:spLocks noGrp="1"/>
          </p:cNvSpPr>
          <p:nvPr>
            <p:ph type="title"/>
          </p:nvPr>
        </p:nvSpPr>
        <p:spPr/>
        <p:txBody>
          <a:bodyPr>
            <a:normAutofit/>
          </a:bodyPr>
          <a:lstStyle/>
          <a:p>
            <a:pPr algn="ctr" rtl="0"/>
            <a:r>
              <a:rPr lang="en-US" dirty="0">
                <a:solidFill>
                  <a:srgbClr val="0070C0"/>
                </a:solidFill>
                <a:latin typeface="Comic Sans MS" panose="030F0702030302020204" pitchFamily="66" charset="0"/>
                <a:ea typeface="+mn-ea"/>
                <a:cs typeface="+mn-cs"/>
              </a:rPr>
              <a:t>Percentage of differentially expressed genes</a:t>
            </a:r>
            <a:endParaRPr lang="he-IL" dirty="0"/>
          </a:p>
        </p:txBody>
      </p:sp>
      <p:pic>
        <p:nvPicPr>
          <p:cNvPr id="5" name="מציין מיקום תוכן 4">
            <a:extLst>
              <a:ext uri="{FF2B5EF4-FFF2-40B4-BE49-F238E27FC236}">
                <a16:creationId xmlns:a16="http://schemas.microsoft.com/office/drawing/2014/main" id="{5C7F1D2F-6A9E-96A5-2F68-0E6372CD98C7}"/>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4843" r="40717"/>
          <a:stretch/>
        </p:blipFill>
        <p:spPr>
          <a:xfrm>
            <a:off x="1239889" y="1817914"/>
            <a:ext cx="9324698" cy="2499366"/>
          </a:xfrm>
        </p:spPr>
      </p:pic>
      <p:pic>
        <p:nvPicPr>
          <p:cNvPr id="8" name="מציין מיקום תוכן 4">
            <a:extLst>
              <a:ext uri="{FF2B5EF4-FFF2-40B4-BE49-F238E27FC236}">
                <a16:creationId xmlns:a16="http://schemas.microsoft.com/office/drawing/2014/main" id="{A47BDE06-AEBA-5C85-4FB3-3120126407A5}"/>
              </a:ext>
            </a:extLst>
          </p:cNvPr>
          <p:cNvPicPr>
            <a:picLocks noChangeAspect="1"/>
          </p:cNvPicPr>
          <p:nvPr/>
        </p:nvPicPr>
        <p:blipFill>
          <a:blip r:embed="rId3">
            <a:extLst>
              <a:ext uri="{28A0092B-C50C-407E-A947-70E740481C1C}">
                <a14:useLocalDpi xmlns:a14="http://schemas.microsoft.com/office/drawing/2010/main" val="0"/>
              </a:ext>
            </a:extLst>
          </a:blip>
          <a:srcRect r="97294"/>
          <a:stretch/>
        </p:blipFill>
        <p:spPr>
          <a:xfrm>
            <a:off x="2654325" y="4231408"/>
            <a:ext cx="425625" cy="2626592"/>
          </a:xfrm>
          <a:prstGeom prst="rect">
            <a:avLst/>
          </a:prstGeom>
        </p:spPr>
      </p:pic>
      <p:pic>
        <p:nvPicPr>
          <p:cNvPr id="7" name="מציין מיקום תוכן 4">
            <a:extLst>
              <a:ext uri="{FF2B5EF4-FFF2-40B4-BE49-F238E27FC236}">
                <a16:creationId xmlns:a16="http://schemas.microsoft.com/office/drawing/2014/main" id="{13D80F3C-C0E2-BCD0-E512-8EFD74E68492}"/>
              </a:ext>
            </a:extLst>
          </p:cNvPr>
          <p:cNvPicPr>
            <a:picLocks noChangeAspect="1"/>
          </p:cNvPicPr>
          <p:nvPr/>
        </p:nvPicPr>
        <p:blipFill>
          <a:blip r:embed="rId3">
            <a:extLst>
              <a:ext uri="{28A0092B-C50C-407E-A947-70E740481C1C}">
                <a14:useLocalDpi xmlns:a14="http://schemas.microsoft.com/office/drawing/2010/main" val="0"/>
              </a:ext>
            </a:extLst>
          </a:blip>
          <a:srcRect l="59823"/>
          <a:stretch/>
        </p:blipFill>
        <p:spPr>
          <a:xfrm>
            <a:off x="3079950" y="4231408"/>
            <a:ext cx="6319488" cy="2626592"/>
          </a:xfrm>
          <a:prstGeom prst="rect">
            <a:avLst/>
          </a:prstGeom>
        </p:spPr>
      </p:pic>
      <p:sp>
        <p:nvSpPr>
          <p:cNvPr id="13" name="תיבת טקסט 12">
            <a:extLst>
              <a:ext uri="{FF2B5EF4-FFF2-40B4-BE49-F238E27FC236}">
                <a16:creationId xmlns:a16="http://schemas.microsoft.com/office/drawing/2014/main" id="{54BE5315-6E73-6C17-E872-8C6CF299DC3C}"/>
              </a:ext>
            </a:extLst>
          </p:cNvPr>
          <p:cNvSpPr txBox="1"/>
          <p:nvPr/>
        </p:nvSpPr>
        <p:spPr>
          <a:xfrm rot="16200000">
            <a:off x="1565795" y="5187882"/>
            <a:ext cx="2018207" cy="276999"/>
          </a:xfrm>
          <a:prstGeom prst="rect">
            <a:avLst/>
          </a:prstGeom>
          <a:solidFill>
            <a:schemeClr val="bg1"/>
          </a:solidFill>
        </p:spPr>
        <p:txBody>
          <a:bodyPr wrap="square" rtlCol="1">
            <a:spAutoFit/>
          </a:bodyPr>
          <a:lstStyle/>
          <a:p>
            <a:pPr algn="ctr"/>
            <a:r>
              <a:rPr lang="en-US" sz="1200" dirty="0"/>
              <a:t>Frequency</a:t>
            </a:r>
            <a:endParaRPr lang="he-IL" sz="1200" dirty="0"/>
          </a:p>
        </p:txBody>
      </p:sp>
      <p:sp>
        <p:nvSpPr>
          <p:cNvPr id="15" name="תיבת טקסט 14">
            <a:extLst>
              <a:ext uri="{FF2B5EF4-FFF2-40B4-BE49-F238E27FC236}">
                <a16:creationId xmlns:a16="http://schemas.microsoft.com/office/drawing/2014/main" id="{A9D984AC-CEAD-4EC8-5218-077F0A2AF4BB}"/>
              </a:ext>
            </a:extLst>
          </p:cNvPr>
          <p:cNvSpPr txBox="1"/>
          <p:nvPr/>
        </p:nvSpPr>
        <p:spPr>
          <a:xfrm rot="16200000">
            <a:off x="150281" y="2724578"/>
            <a:ext cx="2018207" cy="276999"/>
          </a:xfrm>
          <a:prstGeom prst="rect">
            <a:avLst/>
          </a:prstGeom>
          <a:solidFill>
            <a:schemeClr val="bg1"/>
          </a:solidFill>
        </p:spPr>
        <p:txBody>
          <a:bodyPr wrap="square" rtlCol="1">
            <a:spAutoFit/>
          </a:bodyPr>
          <a:lstStyle/>
          <a:p>
            <a:pPr algn="ctr"/>
            <a:r>
              <a:rPr lang="en-US" sz="1200" dirty="0"/>
              <a:t>Frequency</a:t>
            </a:r>
            <a:endParaRPr lang="he-IL" sz="1200" dirty="0"/>
          </a:p>
        </p:txBody>
      </p:sp>
    </p:spTree>
    <p:extLst>
      <p:ext uri="{BB962C8B-B14F-4D97-AF65-F5344CB8AC3E}">
        <p14:creationId xmlns:p14="http://schemas.microsoft.com/office/powerpoint/2010/main" val="1669711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4A770-E34D-C638-6454-970B09A2FEFB}"/>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E0BBFBBC-C1BD-351D-6106-6670334E95E5}"/>
              </a:ext>
            </a:extLst>
          </p:cNvPr>
          <p:cNvSpPr>
            <a:spLocks noGrp="1"/>
          </p:cNvSpPr>
          <p:nvPr>
            <p:ph type="title"/>
          </p:nvPr>
        </p:nvSpPr>
        <p:spPr/>
        <p:txBody>
          <a:bodyPr>
            <a:normAutofit/>
          </a:bodyPr>
          <a:lstStyle/>
          <a:p>
            <a:pPr algn="ctr" rtl="0"/>
            <a:r>
              <a:rPr lang="en-US" dirty="0">
                <a:solidFill>
                  <a:srgbClr val="0070C0"/>
                </a:solidFill>
                <a:latin typeface="Comic Sans MS" panose="030F0702030302020204" pitchFamily="66" charset="0"/>
                <a:ea typeface="+mn-ea"/>
                <a:cs typeface="+mn-cs"/>
              </a:rPr>
              <a:t>Schizophrenia: fewer differentially expressed genes</a:t>
            </a:r>
            <a:endParaRPr lang="he-IL" dirty="0"/>
          </a:p>
        </p:txBody>
      </p:sp>
      <p:pic>
        <p:nvPicPr>
          <p:cNvPr id="5" name="תמונה 4">
            <a:extLst>
              <a:ext uri="{FF2B5EF4-FFF2-40B4-BE49-F238E27FC236}">
                <a16:creationId xmlns:a16="http://schemas.microsoft.com/office/drawing/2014/main" id="{3BEB5E5B-D317-3B6A-EB02-E7A913EEA6E5}"/>
              </a:ext>
            </a:extLst>
          </p:cNvPr>
          <p:cNvPicPr>
            <a:picLocks noChangeAspect="1"/>
          </p:cNvPicPr>
          <p:nvPr/>
        </p:nvPicPr>
        <p:blipFill>
          <a:blip r:embed="rId3">
            <a:extLst>
              <a:ext uri="{28A0092B-C50C-407E-A947-70E740481C1C}">
                <a14:useLocalDpi xmlns:a14="http://schemas.microsoft.com/office/drawing/2010/main" val="0"/>
              </a:ext>
            </a:extLst>
          </a:blip>
          <a:srcRect t="11307"/>
          <a:stretch/>
        </p:blipFill>
        <p:spPr>
          <a:xfrm>
            <a:off x="1020528" y="2313317"/>
            <a:ext cx="5955748" cy="3961753"/>
          </a:xfrm>
          <a:prstGeom prst="rect">
            <a:avLst/>
          </a:prstGeom>
        </p:spPr>
      </p:pic>
      <p:pic>
        <p:nvPicPr>
          <p:cNvPr id="7" name="תמונה 6" descr="תמונה שמכילה טקסט, צילום מסך, תרשים, מספר&#10;&#10;תוכן שנוצר על-ידי בינה מלאכותית עשוי להיות שגוי.">
            <a:extLst>
              <a:ext uri="{FF2B5EF4-FFF2-40B4-BE49-F238E27FC236}">
                <a16:creationId xmlns:a16="http://schemas.microsoft.com/office/drawing/2014/main" id="{004252C9-488B-FE3C-3B2D-F77505C83E81}"/>
              </a:ext>
            </a:extLst>
          </p:cNvPr>
          <p:cNvPicPr>
            <a:picLocks noChangeAspect="1"/>
          </p:cNvPicPr>
          <p:nvPr/>
        </p:nvPicPr>
        <p:blipFill>
          <a:blip r:embed="rId4">
            <a:extLst>
              <a:ext uri="{28A0092B-C50C-407E-A947-70E740481C1C}">
                <a14:useLocalDpi xmlns:a14="http://schemas.microsoft.com/office/drawing/2010/main" val="0"/>
              </a:ext>
            </a:extLst>
          </a:blip>
          <a:srcRect t="11307"/>
          <a:stretch/>
        </p:blipFill>
        <p:spPr>
          <a:xfrm>
            <a:off x="5215724" y="2313316"/>
            <a:ext cx="5955749" cy="3961754"/>
          </a:xfrm>
          <a:prstGeom prst="rect">
            <a:avLst/>
          </a:prstGeom>
        </p:spPr>
      </p:pic>
      <p:sp>
        <p:nvSpPr>
          <p:cNvPr id="11" name="כותרת משנה 2">
            <a:extLst>
              <a:ext uri="{FF2B5EF4-FFF2-40B4-BE49-F238E27FC236}">
                <a16:creationId xmlns:a16="http://schemas.microsoft.com/office/drawing/2014/main" id="{45CE8F93-661A-1508-66D4-1957A984F1E2}"/>
              </a:ext>
            </a:extLst>
          </p:cNvPr>
          <p:cNvSpPr txBox="1">
            <a:spLocks/>
          </p:cNvSpPr>
          <p:nvPr/>
        </p:nvSpPr>
        <p:spPr>
          <a:xfrm>
            <a:off x="1802629" y="1671128"/>
            <a:ext cx="3115915" cy="675526"/>
          </a:xfrm>
          <a:prstGeom prst="rect">
            <a:avLst/>
          </a:prstGeom>
        </p:spPr>
        <p:txBody>
          <a:bodyPr vert="horz" lIns="91440" tIns="45720" rIns="91440" bIns="45720" rtlCol="1">
            <a:normAutofit fontScale="85000" lnSpcReduction="10000"/>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b="1" i="1" dirty="0"/>
              <a:t>Schizophrenia: </a:t>
            </a:r>
          </a:p>
          <a:p>
            <a:pPr marL="0" indent="0" algn="ctr" rtl="0">
              <a:buNone/>
            </a:pPr>
            <a:r>
              <a:rPr lang="en-US" sz="2000" b="1" i="1" dirty="0"/>
              <a:t>Cortical Organoids (day 50)</a:t>
            </a:r>
            <a:endParaRPr lang="he-IL" sz="2000" b="1" i="1" dirty="0"/>
          </a:p>
        </p:txBody>
      </p:sp>
      <p:sp>
        <p:nvSpPr>
          <p:cNvPr id="12" name="כותרת משנה 2">
            <a:extLst>
              <a:ext uri="{FF2B5EF4-FFF2-40B4-BE49-F238E27FC236}">
                <a16:creationId xmlns:a16="http://schemas.microsoft.com/office/drawing/2014/main" id="{27F417EB-C7EF-633E-35A7-27F38DEED0A6}"/>
              </a:ext>
            </a:extLst>
          </p:cNvPr>
          <p:cNvSpPr txBox="1">
            <a:spLocks/>
          </p:cNvSpPr>
          <p:nvPr/>
        </p:nvSpPr>
        <p:spPr>
          <a:xfrm>
            <a:off x="5957959" y="1637790"/>
            <a:ext cx="3115915" cy="675526"/>
          </a:xfrm>
          <a:prstGeom prst="rect">
            <a:avLst/>
          </a:prstGeom>
        </p:spPr>
        <p:txBody>
          <a:bodyPr vert="horz" lIns="91440" tIns="45720" rIns="91440" bIns="45720" rtlCol="1">
            <a:normAutofit fontScale="85000" lnSpcReduction="10000"/>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b="1" i="1" dirty="0"/>
              <a:t>Schizophrenia: </a:t>
            </a:r>
          </a:p>
          <a:p>
            <a:pPr marL="0" indent="0" algn="ctr" rtl="0">
              <a:buNone/>
            </a:pPr>
            <a:r>
              <a:rPr lang="en-US" sz="2000" b="1" i="1" dirty="0"/>
              <a:t>Cortical Organoids (day 100)</a:t>
            </a:r>
            <a:endParaRPr lang="he-IL" sz="2000" b="1" i="1" dirty="0"/>
          </a:p>
        </p:txBody>
      </p:sp>
    </p:spTree>
    <p:extLst>
      <p:ext uri="{BB962C8B-B14F-4D97-AF65-F5344CB8AC3E}">
        <p14:creationId xmlns:p14="http://schemas.microsoft.com/office/powerpoint/2010/main" val="1438804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202B8-0C79-E4A8-14B0-D577B1EFE171}"/>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82E8F72A-F438-179C-D5C9-D844C936730E}"/>
              </a:ext>
            </a:extLst>
          </p:cNvPr>
          <p:cNvSpPr>
            <a:spLocks noGrp="1"/>
          </p:cNvSpPr>
          <p:nvPr>
            <p:ph type="title"/>
          </p:nvPr>
        </p:nvSpPr>
        <p:spPr/>
        <p:txBody>
          <a:bodyPr>
            <a:normAutofit/>
          </a:bodyPr>
          <a:lstStyle/>
          <a:p>
            <a:pPr algn="ctr" rtl="0"/>
            <a:r>
              <a:rPr lang="en-US" dirty="0">
                <a:solidFill>
                  <a:srgbClr val="0070C0"/>
                </a:solidFill>
                <a:latin typeface="Comic Sans MS" panose="030F0702030302020204" pitchFamily="66" charset="0"/>
                <a:ea typeface="+mn-ea"/>
                <a:cs typeface="+mn-cs"/>
              </a:rPr>
              <a:t>Schizophrenia-related genes are depleted of large expression changes</a:t>
            </a:r>
          </a:p>
        </p:txBody>
      </p:sp>
      <p:pic>
        <p:nvPicPr>
          <p:cNvPr id="8" name="תמונה 7">
            <a:extLst>
              <a:ext uri="{FF2B5EF4-FFF2-40B4-BE49-F238E27FC236}">
                <a16:creationId xmlns:a16="http://schemas.microsoft.com/office/drawing/2014/main" id="{EC259289-E440-46B4-AE96-2B43B5311203}"/>
              </a:ext>
            </a:extLst>
          </p:cNvPr>
          <p:cNvPicPr>
            <a:picLocks noChangeAspect="1"/>
          </p:cNvPicPr>
          <p:nvPr/>
        </p:nvPicPr>
        <p:blipFill>
          <a:blip r:embed="rId3">
            <a:extLst>
              <a:ext uri="{28A0092B-C50C-407E-A947-70E740481C1C}">
                <a14:useLocalDpi xmlns:a14="http://schemas.microsoft.com/office/drawing/2010/main" val="0"/>
              </a:ext>
            </a:extLst>
          </a:blip>
          <a:srcRect t="18049"/>
          <a:stretch/>
        </p:blipFill>
        <p:spPr>
          <a:xfrm>
            <a:off x="2168577" y="1623162"/>
            <a:ext cx="7854845" cy="4506027"/>
          </a:xfrm>
          <a:prstGeom prst="rect">
            <a:avLst/>
          </a:prstGeom>
        </p:spPr>
      </p:pic>
    </p:spTree>
    <p:extLst>
      <p:ext uri="{BB962C8B-B14F-4D97-AF65-F5344CB8AC3E}">
        <p14:creationId xmlns:p14="http://schemas.microsoft.com/office/powerpoint/2010/main" val="1123360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7FF46-D2AF-29D9-A613-F00FCE8864A2}"/>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F9717386-446C-FCA1-3D55-AB8AAD20CBB4}"/>
              </a:ext>
            </a:extLst>
          </p:cNvPr>
          <p:cNvSpPr>
            <a:spLocks noGrp="1"/>
          </p:cNvSpPr>
          <p:nvPr>
            <p:ph type="title"/>
          </p:nvPr>
        </p:nvSpPr>
        <p:spPr/>
        <p:txBody>
          <a:bodyPr>
            <a:normAutofit/>
          </a:bodyPr>
          <a:lstStyle/>
          <a:p>
            <a:pPr algn="ctr" rtl="0"/>
            <a:r>
              <a:rPr lang="en-US" dirty="0">
                <a:solidFill>
                  <a:srgbClr val="0070C0"/>
                </a:solidFill>
                <a:latin typeface="Comic Sans MS" panose="030F0702030302020204" pitchFamily="66" charset="0"/>
                <a:ea typeface="+mn-ea"/>
                <a:cs typeface="+mn-cs"/>
              </a:rPr>
              <a:t>Scoliosis: Accelerated evolution?</a:t>
            </a:r>
            <a:endParaRPr lang="he-IL" dirty="0"/>
          </a:p>
        </p:txBody>
      </p:sp>
      <p:pic>
        <p:nvPicPr>
          <p:cNvPr id="11" name="מציין מיקום תוכן 8">
            <a:extLst>
              <a:ext uri="{FF2B5EF4-FFF2-40B4-BE49-F238E27FC236}">
                <a16:creationId xmlns:a16="http://schemas.microsoft.com/office/drawing/2014/main" id="{D264A3DC-43E6-B6CC-778E-98C29C7C559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614828" y="1690688"/>
            <a:ext cx="6681572" cy="5011179"/>
          </a:xfrm>
        </p:spPr>
      </p:pic>
    </p:spTree>
    <p:extLst>
      <p:ext uri="{BB962C8B-B14F-4D97-AF65-F5344CB8AC3E}">
        <p14:creationId xmlns:p14="http://schemas.microsoft.com/office/powerpoint/2010/main" val="2980633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1EF37-7CEB-E59E-7A1C-18986A96F9D9}"/>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6A655CAB-BDE6-9FEA-7505-EA7ADCEF9F88}"/>
              </a:ext>
            </a:extLst>
          </p:cNvPr>
          <p:cNvSpPr>
            <a:spLocks noGrp="1"/>
          </p:cNvSpPr>
          <p:nvPr>
            <p:ph type="title"/>
          </p:nvPr>
        </p:nvSpPr>
        <p:spPr/>
        <p:txBody>
          <a:bodyPr>
            <a:normAutofit/>
          </a:bodyPr>
          <a:lstStyle/>
          <a:p>
            <a:pPr algn="ctr" rtl="0"/>
            <a:r>
              <a:rPr lang="en-US" dirty="0">
                <a:solidFill>
                  <a:srgbClr val="0070C0"/>
                </a:solidFill>
                <a:latin typeface="Comic Sans MS" panose="030F0702030302020204" pitchFamily="66" charset="0"/>
                <a:ea typeface="+mn-ea"/>
                <a:cs typeface="+mn-cs"/>
              </a:rPr>
              <a:t>Is the direction of regulation change important?</a:t>
            </a:r>
            <a:endParaRPr lang="he-IL" dirty="0"/>
          </a:p>
        </p:txBody>
      </p:sp>
      <p:pic>
        <p:nvPicPr>
          <p:cNvPr id="5" name="מציין מיקום תוכן 4" descr="תמונה שמכילה טקסט, צילום מסך, קו, עלילה&#10;&#10;תוכן שנוצר על-ידי בינה מלאכותית עשוי להיות שגוי.">
            <a:extLst>
              <a:ext uri="{FF2B5EF4-FFF2-40B4-BE49-F238E27FC236}">
                <a16:creationId xmlns:a16="http://schemas.microsoft.com/office/drawing/2014/main" id="{0F4CF428-47FA-57FE-C87B-BE5584A194E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049" y="1690688"/>
            <a:ext cx="12176952" cy="4451928"/>
          </a:xfrm>
        </p:spPr>
      </p:pic>
    </p:spTree>
    <p:extLst>
      <p:ext uri="{BB962C8B-B14F-4D97-AF65-F5344CB8AC3E}">
        <p14:creationId xmlns:p14="http://schemas.microsoft.com/office/powerpoint/2010/main" val="1878991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29404-CC3A-C2A0-EFDF-0857846B8B18}"/>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E756E622-2003-6092-A9E7-0344199F0E21}"/>
              </a:ext>
            </a:extLst>
          </p:cNvPr>
          <p:cNvSpPr>
            <a:spLocks noGrp="1"/>
          </p:cNvSpPr>
          <p:nvPr>
            <p:ph type="title"/>
          </p:nvPr>
        </p:nvSpPr>
        <p:spPr/>
        <p:txBody>
          <a:bodyPr>
            <a:normAutofit/>
          </a:bodyPr>
          <a:lstStyle/>
          <a:p>
            <a:pPr algn="ctr" rtl="0"/>
            <a:r>
              <a:rPr lang="en-US" dirty="0">
                <a:solidFill>
                  <a:srgbClr val="0070C0"/>
                </a:solidFill>
                <a:latin typeface="Comic Sans MS" panose="030F0702030302020204" pitchFamily="66" charset="0"/>
                <a:ea typeface="+mn-ea"/>
                <a:cs typeface="+mn-cs"/>
              </a:rPr>
              <a:t>Schizophrenia: positive selection for upregulation of genes</a:t>
            </a:r>
            <a:endParaRPr lang="he-IL" dirty="0"/>
          </a:p>
        </p:txBody>
      </p:sp>
      <p:pic>
        <p:nvPicPr>
          <p:cNvPr id="10" name="מציין מיקום תוכן 9" descr="תמונה שמכילה טקסט, צילום מסך, תרשים, קו&#10;&#10;תוכן שנוצר על-ידי בינה מלאכותית עשוי להיות שגוי.">
            <a:extLst>
              <a:ext uri="{FF2B5EF4-FFF2-40B4-BE49-F238E27FC236}">
                <a16:creationId xmlns:a16="http://schemas.microsoft.com/office/drawing/2014/main" id="{BFE3A806-53EE-2B3D-A176-7E5A8939A51E}"/>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7780"/>
          <a:stretch/>
        </p:blipFill>
        <p:spPr>
          <a:xfrm>
            <a:off x="1" y="2516840"/>
            <a:ext cx="6661610" cy="4300316"/>
          </a:xfrm>
        </p:spPr>
      </p:pic>
      <p:sp>
        <p:nvSpPr>
          <p:cNvPr id="7" name="כותרת משנה 2">
            <a:extLst>
              <a:ext uri="{FF2B5EF4-FFF2-40B4-BE49-F238E27FC236}">
                <a16:creationId xmlns:a16="http://schemas.microsoft.com/office/drawing/2014/main" id="{02A998A9-7860-F5F5-953D-658BCAD6CE49}"/>
              </a:ext>
            </a:extLst>
          </p:cNvPr>
          <p:cNvSpPr txBox="1">
            <a:spLocks/>
          </p:cNvSpPr>
          <p:nvPr/>
        </p:nvSpPr>
        <p:spPr>
          <a:xfrm>
            <a:off x="1214294" y="1697284"/>
            <a:ext cx="3115915" cy="675526"/>
          </a:xfrm>
          <a:prstGeom prst="rect">
            <a:avLst/>
          </a:prstGeom>
        </p:spPr>
        <p:txBody>
          <a:bodyPr vert="horz" lIns="91440" tIns="45720" rIns="91440" bIns="45720" rtlCol="1">
            <a:normAutofit fontScale="85000" lnSpcReduction="10000"/>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b="1" i="1" dirty="0"/>
              <a:t>Schizophrenia: </a:t>
            </a:r>
          </a:p>
          <a:p>
            <a:pPr marL="0" indent="0" algn="ctr" rtl="0">
              <a:buNone/>
            </a:pPr>
            <a:r>
              <a:rPr lang="en-US" sz="2000" b="1" i="1" dirty="0"/>
              <a:t>Cortical Organoids (day 50)</a:t>
            </a:r>
            <a:endParaRPr lang="he-IL" sz="2000" b="1" i="1" dirty="0"/>
          </a:p>
        </p:txBody>
      </p:sp>
      <p:sp>
        <p:nvSpPr>
          <p:cNvPr id="8" name="כותרת משנה 2">
            <a:extLst>
              <a:ext uri="{FF2B5EF4-FFF2-40B4-BE49-F238E27FC236}">
                <a16:creationId xmlns:a16="http://schemas.microsoft.com/office/drawing/2014/main" id="{DC977DCC-457B-BA9F-19AE-4A565F34A2F0}"/>
              </a:ext>
            </a:extLst>
          </p:cNvPr>
          <p:cNvSpPr txBox="1">
            <a:spLocks/>
          </p:cNvSpPr>
          <p:nvPr/>
        </p:nvSpPr>
        <p:spPr>
          <a:xfrm>
            <a:off x="6589331" y="1766001"/>
            <a:ext cx="3115915" cy="675526"/>
          </a:xfrm>
          <a:prstGeom prst="rect">
            <a:avLst/>
          </a:prstGeom>
        </p:spPr>
        <p:txBody>
          <a:bodyPr vert="horz" lIns="91440" tIns="45720" rIns="91440" bIns="45720" rtlCol="1">
            <a:normAutofit fontScale="85000" lnSpcReduction="10000"/>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b="1" i="1" dirty="0"/>
              <a:t>Schizophrenia: </a:t>
            </a:r>
          </a:p>
          <a:p>
            <a:pPr marL="0" indent="0" algn="ctr" rtl="0">
              <a:buNone/>
            </a:pPr>
            <a:r>
              <a:rPr lang="en-US" sz="2000" b="1" i="1" dirty="0"/>
              <a:t>Cortical Organoids (day 100)</a:t>
            </a:r>
            <a:endParaRPr lang="he-IL" sz="2000" b="1" i="1" dirty="0"/>
          </a:p>
        </p:txBody>
      </p:sp>
      <p:pic>
        <p:nvPicPr>
          <p:cNvPr id="12" name="תמונה 11" descr="תמונה שמכילה טקסט, צילום מסך, תרשים, קו&#10;&#10;תוכן שנוצר על-ידי בינה מלאכותית עשוי להיות שגוי.">
            <a:extLst>
              <a:ext uri="{FF2B5EF4-FFF2-40B4-BE49-F238E27FC236}">
                <a16:creationId xmlns:a16="http://schemas.microsoft.com/office/drawing/2014/main" id="{B1BC4439-73F2-BBF8-3B1E-494E9BB4BFF3}"/>
              </a:ext>
            </a:extLst>
          </p:cNvPr>
          <p:cNvPicPr>
            <a:picLocks noChangeAspect="1"/>
          </p:cNvPicPr>
          <p:nvPr/>
        </p:nvPicPr>
        <p:blipFill>
          <a:blip r:embed="rId4">
            <a:extLst>
              <a:ext uri="{28A0092B-C50C-407E-A947-70E740481C1C}">
                <a14:useLocalDpi xmlns:a14="http://schemas.microsoft.com/office/drawing/2010/main" val="0"/>
              </a:ext>
            </a:extLst>
          </a:blip>
          <a:srcRect t="7713"/>
          <a:stretch/>
        </p:blipFill>
        <p:spPr>
          <a:xfrm>
            <a:off x="5358605" y="2516840"/>
            <a:ext cx="6719959" cy="4341159"/>
          </a:xfrm>
          <a:prstGeom prst="rect">
            <a:avLst/>
          </a:prstGeom>
        </p:spPr>
      </p:pic>
      <p:sp>
        <p:nvSpPr>
          <p:cNvPr id="11" name="כותרת משנה 2">
            <a:extLst>
              <a:ext uri="{FF2B5EF4-FFF2-40B4-BE49-F238E27FC236}">
                <a16:creationId xmlns:a16="http://schemas.microsoft.com/office/drawing/2014/main" id="{B865B05A-3116-F8E9-0B61-506DE4A205F5}"/>
              </a:ext>
            </a:extLst>
          </p:cNvPr>
          <p:cNvSpPr txBox="1">
            <a:spLocks/>
          </p:cNvSpPr>
          <p:nvPr/>
        </p:nvSpPr>
        <p:spPr>
          <a:xfrm>
            <a:off x="-5736048" y="1623162"/>
            <a:ext cx="5217035" cy="1017270"/>
          </a:xfrm>
          <a:prstGeom prst="rect">
            <a:avLst/>
          </a:prstGeom>
        </p:spPr>
        <p:txBody>
          <a:bodyPr vert="horz" lIns="91440" tIns="45720" rIns="91440" bIns="45720" rtlCol="1">
            <a:normAutofit/>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b="1" i="1" dirty="0"/>
              <a:t>The chance to be disease-related decrease for more negative changes (cortical organoids day 100)</a:t>
            </a:r>
            <a:endParaRPr lang="he-IL" sz="2000" b="1" i="1" dirty="0"/>
          </a:p>
        </p:txBody>
      </p:sp>
      <p:pic>
        <p:nvPicPr>
          <p:cNvPr id="4" name="תמונה 3">
            <a:extLst>
              <a:ext uri="{FF2B5EF4-FFF2-40B4-BE49-F238E27FC236}">
                <a16:creationId xmlns:a16="http://schemas.microsoft.com/office/drawing/2014/main" id="{661E0150-953D-79D9-AD79-891140B10C6C}"/>
              </a:ext>
            </a:extLst>
          </p:cNvPr>
          <p:cNvPicPr>
            <a:picLocks noChangeAspect="1"/>
          </p:cNvPicPr>
          <p:nvPr/>
        </p:nvPicPr>
        <p:blipFill>
          <a:blip r:embed="rId5">
            <a:extLst>
              <a:ext uri="{28A0092B-C50C-407E-A947-70E740481C1C}">
                <a14:useLocalDpi xmlns:a14="http://schemas.microsoft.com/office/drawing/2010/main" val="0"/>
              </a:ext>
            </a:extLst>
          </a:blip>
          <a:srcRect t="18049"/>
          <a:stretch/>
        </p:blipFill>
        <p:spPr>
          <a:xfrm>
            <a:off x="-4435255" y="2640432"/>
            <a:ext cx="5938644" cy="3406774"/>
          </a:xfrm>
          <a:prstGeom prst="rect">
            <a:avLst/>
          </a:prstGeom>
        </p:spPr>
      </p:pic>
    </p:spTree>
    <p:extLst>
      <p:ext uri="{BB962C8B-B14F-4D97-AF65-F5344CB8AC3E}">
        <p14:creationId xmlns:p14="http://schemas.microsoft.com/office/powerpoint/2010/main" val="1997404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60774-958C-1F4B-316E-65FA188FA7FA}"/>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D27FFC82-E50A-6ECE-894E-D8D547428F6A}"/>
              </a:ext>
            </a:extLst>
          </p:cNvPr>
          <p:cNvSpPr>
            <a:spLocks noGrp="1"/>
          </p:cNvSpPr>
          <p:nvPr>
            <p:ph type="title"/>
          </p:nvPr>
        </p:nvSpPr>
        <p:spPr/>
        <p:txBody>
          <a:bodyPr>
            <a:normAutofit/>
          </a:bodyPr>
          <a:lstStyle/>
          <a:p>
            <a:pPr algn="ctr" rtl="0"/>
            <a:r>
              <a:rPr lang="en-US" dirty="0">
                <a:solidFill>
                  <a:srgbClr val="0070C0"/>
                </a:solidFill>
                <a:latin typeface="Comic Sans MS" panose="030F0702030302020204" pitchFamily="66" charset="0"/>
                <a:ea typeface="+mn-ea"/>
                <a:cs typeface="+mn-cs"/>
              </a:rPr>
              <a:t>Scoliosis: larger changes in downregulated genes</a:t>
            </a:r>
            <a:endParaRPr lang="he-IL" dirty="0"/>
          </a:p>
        </p:txBody>
      </p:sp>
      <p:sp>
        <p:nvSpPr>
          <p:cNvPr id="7" name="כותרת משנה 2">
            <a:extLst>
              <a:ext uri="{FF2B5EF4-FFF2-40B4-BE49-F238E27FC236}">
                <a16:creationId xmlns:a16="http://schemas.microsoft.com/office/drawing/2014/main" id="{C49D33BB-DD25-F2B9-0399-6204262C0290}"/>
              </a:ext>
            </a:extLst>
          </p:cNvPr>
          <p:cNvSpPr txBox="1">
            <a:spLocks/>
          </p:cNvSpPr>
          <p:nvPr/>
        </p:nvSpPr>
        <p:spPr>
          <a:xfrm>
            <a:off x="1614250" y="1766001"/>
            <a:ext cx="3115915" cy="675526"/>
          </a:xfrm>
          <a:prstGeom prst="rect">
            <a:avLst/>
          </a:prstGeom>
        </p:spPr>
        <p:txBody>
          <a:bodyPr vert="horz" lIns="91440" tIns="45720" rIns="91440" bIns="45720" rtlCol="1">
            <a:normAutofit fontScale="92500" lnSpcReduction="20000"/>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b="1" i="1" dirty="0"/>
              <a:t>Scoliosis: </a:t>
            </a:r>
          </a:p>
          <a:p>
            <a:pPr marL="0" indent="0" algn="ctr" rtl="0">
              <a:buNone/>
            </a:pPr>
            <a:r>
              <a:rPr lang="en-US" sz="2000" b="1" i="1" dirty="0"/>
              <a:t>Skeletal myocytes</a:t>
            </a:r>
            <a:endParaRPr lang="he-IL" sz="2000" b="1" i="1" dirty="0"/>
          </a:p>
        </p:txBody>
      </p:sp>
      <p:sp>
        <p:nvSpPr>
          <p:cNvPr id="8" name="כותרת משנה 2">
            <a:extLst>
              <a:ext uri="{FF2B5EF4-FFF2-40B4-BE49-F238E27FC236}">
                <a16:creationId xmlns:a16="http://schemas.microsoft.com/office/drawing/2014/main" id="{79CC4FB9-2B51-D82B-FFE6-14485DD79110}"/>
              </a:ext>
            </a:extLst>
          </p:cNvPr>
          <p:cNvSpPr txBox="1">
            <a:spLocks/>
          </p:cNvSpPr>
          <p:nvPr/>
        </p:nvSpPr>
        <p:spPr>
          <a:xfrm>
            <a:off x="7715472" y="1766001"/>
            <a:ext cx="3115915" cy="675526"/>
          </a:xfrm>
          <a:prstGeom prst="rect">
            <a:avLst/>
          </a:prstGeom>
        </p:spPr>
        <p:txBody>
          <a:bodyPr vert="horz" lIns="91440" tIns="45720" rIns="91440" bIns="45720" rtlCol="1">
            <a:normAutofit fontScale="85000" lnSpcReduction="10000"/>
          </a:bodyPr>
          <a:lstStyle>
            <a:defPPr>
              <a:defRPr lang="he-IL"/>
            </a:defPPr>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0">
              <a:buNone/>
            </a:pPr>
            <a:r>
              <a:rPr lang="en-US" sz="2000" b="1" i="1" dirty="0"/>
              <a:t>Scoliosis: </a:t>
            </a:r>
          </a:p>
          <a:p>
            <a:pPr marL="0" indent="0" algn="ctr" rtl="0">
              <a:buNone/>
            </a:pPr>
            <a:r>
              <a:rPr lang="en-US" sz="2000" b="1" i="1" dirty="0"/>
              <a:t>Perichondral mesenchyme</a:t>
            </a:r>
            <a:endParaRPr lang="he-IL" sz="2000" b="1" i="1" dirty="0"/>
          </a:p>
        </p:txBody>
      </p:sp>
      <p:pic>
        <p:nvPicPr>
          <p:cNvPr id="6" name="מציין מיקום תוכן 5" descr="תמונה שמכילה טקסט, צילום מסך, תרשים, עלילה&#10;&#10;תוכן שנוצר על-ידי בינה מלאכותית עשוי להיות שגוי.">
            <a:extLst>
              <a:ext uri="{FF2B5EF4-FFF2-40B4-BE49-F238E27FC236}">
                <a16:creationId xmlns:a16="http://schemas.microsoft.com/office/drawing/2014/main" id="{3B0B7B1D-0424-F145-78EA-39DAD9804779}"/>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7428" b="6519"/>
          <a:stretch/>
        </p:blipFill>
        <p:spPr>
          <a:xfrm>
            <a:off x="6258495" y="2686050"/>
            <a:ext cx="5933506" cy="3063586"/>
          </a:xfrm>
        </p:spPr>
      </p:pic>
      <p:pic>
        <p:nvPicPr>
          <p:cNvPr id="11" name="תמונה 10" descr="תמונה שמכילה טקסט, צילום מסך, תרשים, עלילה&#10;&#10;תוכן שנוצר על-ידי בינה מלאכותית עשוי להיות שגוי.">
            <a:extLst>
              <a:ext uri="{FF2B5EF4-FFF2-40B4-BE49-F238E27FC236}">
                <a16:creationId xmlns:a16="http://schemas.microsoft.com/office/drawing/2014/main" id="{C0386F8C-7B5F-B306-4BD0-DB28D1321DF4}"/>
              </a:ext>
            </a:extLst>
          </p:cNvPr>
          <p:cNvPicPr>
            <a:picLocks noChangeAspect="1"/>
          </p:cNvPicPr>
          <p:nvPr/>
        </p:nvPicPr>
        <p:blipFill>
          <a:blip r:embed="rId4">
            <a:extLst>
              <a:ext uri="{28A0092B-C50C-407E-A947-70E740481C1C}">
                <a14:useLocalDpi xmlns:a14="http://schemas.microsoft.com/office/drawing/2010/main" val="0"/>
              </a:ext>
            </a:extLst>
          </a:blip>
          <a:srcRect t="7199" b="6969"/>
          <a:stretch/>
        </p:blipFill>
        <p:spPr>
          <a:xfrm>
            <a:off x="342891" y="2686051"/>
            <a:ext cx="5948822" cy="3063586"/>
          </a:xfrm>
          <a:prstGeom prst="rect">
            <a:avLst/>
          </a:prstGeom>
        </p:spPr>
      </p:pic>
      <p:sp>
        <p:nvSpPr>
          <p:cNvPr id="13" name="תיבת טקסט 12">
            <a:extLst>
              <a:ext uri="{FF2B5EF4-FFF2-40B4-BE49-F238E27FC236}">
                <a16:creationId xmlns:a16="http://schemas.microsoft.com/office/drawing/2014/main" id="{BEB96380-8876-FD08-9026-B89324C18158}"/>
              </a:ext>
            </a:extLst>
          </p:cNvPr>
          <p:cNvSpPr txBox="1"/>
          <p:nvPr/>
        </p:nvSpPr>
        <p:spPr>
          <a:xfrm>
            <a:off x="2382981" y="5749636"/>
            <a:ext cx="2653146" cy="276999"/>
          </a:xfrm>
          <a:prstGeom prst="rect">
            <a:avLst/>
          </a:prstGeom>
          <a:noFill/>
        </p:spPr>
        <p:txBody>
          <a:bodyPr wrap="square" rtlCol="1">
            <a:spAutoFit/>
          </a:bodyPr>
          <a:lstStyle/>
          <a:p>
            <a:pPr algn="ctr"/>
            <a:r>
              <a:rPr lang="en-US" sz="1200" dirty="0"/>
              <a:t>Absolute log fold-change</a:t>
            </a:r>
            <a:endParaRPr lang="he-IL" sz="1200" dirty="0"/>
          </a:p>
        </p:txBody>
      </p:sp>
      <p:sp>
        <p:nvSpPr>
          <p:cNvPr id="14" name="תיבת טקסט 13">
            <a:extLst>
              <a:ext uri="{FF2B5EF4-FFF2-40B4-BE49-F238E27FC236}">
                <a16:creationId xmlns:a16="http://schemas.microsoft.com/office/drawing/2014/main" id="{D18E0E9C-149C-6A21-968C-8E62927BB9B1}"/>
              </a:ext>
            </a:extLst>
          </p:cNvPr>
          <p:cNvSpPr txBox="1"/>
          <p:nvPr/>
        </p:nvSpPr>
        <p:spPr>
          <a:xfrm>
            <a:off x="8178241" y="5749635"/>
            <a:ext cx="2653146" cy="276999"/>
          </a:xfrm>
          <a:prstGeom prst="rect">
            <a:avLst/>
          </a:prstGeom>
          <a:noFill/>
        </p:spPr>
        <p:txBody>
          <a:bodyPr wrap="square" rtlCol="1">
            <a:spAutoFit/>
          </a:bodyPr>
          <a:lstStyle/>
          <a:p>
            <a:pPr algn="ctr"/>
            <a:r>
              <a:rPr lang="en-US" sz="1200" dirty="0"/>
              <a:t>Absolute log fold-change</a:t>
            </a:r>
            <a:endParaRPr lang="he-IL" sz="1200" dirty="0"/>
          </a:p>
        </p:txBody>
      </p:sp>
      <p:sp>
        <p:nvSpPr>
          <p:cNvPr id="15" name="תיבת טקסט 14">
            <a:extLst>
              <a:ext uri="{FF2B5EF4-FFF2-40B4-BE49-F238E27FC236}">
                <a16:creationId xmlns:a16="http://schemas.microsoft.com/office/drawing/2014/main" id="{D6987DFF-D395-6B19-C9FA-3C5AD44586C3}"/>
              </a:ext>
            </a:extLst>
          </p:cNvPr>
          <p:cNvSpPr txBox="1"/>
          <p:nvPr/>
        </p:nvSpPr>
        <p:spPr>
          <a:xfrm rot="16200000">
            <a:off x="-899612" y="3973419"/>
            <a:ext cx="2653146" cy="276999"/>
          </a:xfrm>
          <a:prstGeom prst="rect">
            <a:avLst/>
          </a:prstGeom>
          <a:solidFill>
            <a:schemeClr val="bg1"/>
          </a:solidFill>
        </p:spPr>
        <p:txBody>
          <a:bodyPr wrap="square" rtlCol="1">
            <a:spAutoFit/>
          </a:bodyPr>
          <a:lstStyle/>
          <a:p>
            <a:pPr algn="ctr"/>
            <a:r>
              <a:rPr lang="en-US" sz="1200" dirty="0"/>
              <a:t>Density</a:t>
            </a:r>
            <a:endParaRPr lang="he-IL" sz="1200" dirty="0"/>
          </a:p>
        </p:txBody>
      </p:sp>
      <p:sp>
        <p:nvSpPr>
          <p:cNvPr id="16" name="תיבת טקסט 15">
            <a:extLst>
              <a:ext uri="{FF2B5EF4-FFF2-40B4-BE49-F238E27FC236}">
                <a16:creationId xmlns:a16="http://schemas.microsoft.com/office/drawing/2014/main" id="{A87AA886-DFCC-64C8-7D58-6CDAD41F5131}"/>
              </a:ext>
            </a:extLst>
          </p:cNvPr>
          <p:cNvSpPr txBox="1"/>
          <p:nvPr/>
        </p:nvSpPr>
        <p:spPr>
          <a:xfrm rot="16200000">
            <a:off x="5026879" y="3973420"/>
            <a:ext cx="2653146" cy="276999"/>
          </a:xfrm>
          <a:prstGeom prst="rect">
            <a:avLst/>
          </a:prstGeom>
          <a:solidFill>
            <a:schemeClr val="bg1"/>
          </a:solidFill>
        </p:spPr>
        <p:txBody>
          <a:bodyPr wrap="square" rtlCol="1">
            <a:spAutoFit/>
          </a:bodyPr>
          <a:lstStyle/>
          <a:p>
            <a:pPr algn="ctr"/>
            <a:r>
              <a:rPr lang="en-US" sz="1200" dirty="0"/>
              <a:t>Density</a:t>
            </a:r>
            <a:endParaRPr lang="he-IL" sz="1200" dirty="0"/>
          </a:p>
        </p:txBody>
      </p:sp>
    </p:spTree>
    <p:extLst>
      <p:ext uri="{BB962C8B-B14F-4D97-AF65-F5344CB8AC3E}">
        <p14:creationId xmlns:p14="http://schemas.microsoft.com/office/powerpoint/2010/main" val="2312237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30E00-D0CB-3646-D4D1-B04A475B808D}"/>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C3D3F8F5-186A-6761-13BA-335951760D01}"/>
              </a:ext>
            </a:extLst>
          </p:cNvPr>
          <p:cNvSpPr>
            <a:spLocks noGrp="1"/>
          </p:cNvSpPr>
          <p:nvPr>
            <p:ph type="title"/>
          </p:nvPr>
        </p:nvSpPr>
        <p:spPr/>
        <p:txBody>
          <a:bodyPr>
            <a:normAutofit/>
          </a:bodyPr>
          <a:lstStyle/>
          <a:p>
            <a:pPr algn="ctr" rtl="0"/>
            <a:r>
              <a:rPr lang="en-US" dirty="0">
                <a:solidFill>
                  <a:srgbClr val="0070C0"/>
                </a:solidFill>
                <a:latin typeface="Comic Sans MS" panose="030F0702030302020204" pitchFamily="66" charset="0"/>
                <a:ea typeface="+mn-ea"/>
                <a:cs typeface="+mn-cs"/>
              </a:rPr>
              <a:t>Discussion</a:t>
            </a:r>
            <a:endParaRPr lang="he-IL" dirty="0"/>
          </a:p>
        </p:txBody>
      </p:sp>
      <p:sp>
        <p:nvSpPr>
          <p:cNvPr id="3" name="מציין מיקום תוכן 2">
            <a:extLst>
              <a:ext uri="{FF2B5EF4-FFF2-40B4-BE49-F238E27FC236}">
                <a16:creationId xmlns:a16="http://schemas.microsoft.com/office/drawing/2014/main" id="{2D61D755-77FD-0759-367F-85909AF35B28}"/>
              </a:ext>
            </a:extLst>
          </p:cNvPr>
          <p:cNvSpPr>
            <a:spLocks noGrp="1"/>
          </p:cNvSpPr>
          <p:nvPr>
            <p:ph idx="1"/>
          </p:nvPr>
        </p:nvSpPr>
        <p:spPr>
          <a:xfrm>
            <a:off x="630241" y="1720272"/>
            <a:ext cx="5465759" cy="4351338"/>
          </a:xfrm>
        </p:spPr>
        <p:txBody>
          <a:bodyPr>
            <a:normAutofit fontScale="77500" lnSpcReduction="20000"/>
          </a:bodyPr>
          <a:lstStyle/>
          <a:p>
            <a:pPr algn="l" rtl="0"/>
            <a:r>
              <a:rPr lang="en-US" b="1" i="1" dirty="0"/>
              <a:t>Signature of selection against changes in schizophrenia-related genes</a:t>
            </a:r>
          </a:p>
          <a:p>
            <a:pPr algn="l" rtl="0"/>
            <a:endParaRPr lang="en-US" b="1" i="1" dirty="0"/>
          </a:p>
          <a:p>
            <a:pPr algn="l" rtl="0"/>
            <a:r>
              <a:rPr lang="en-US" b="1" i="1" dirty="0"/>
              <a:t>The selection is schizophrenia is possibly stronger against downregulation</a:t>
            </a:r>
          </a:p>
          <a:p>
            <a:pPr algn="l" rtl="0"/>
            <a:endParaRPr lang="en-US" b="1" i="1" dirty="0"/>
          </a:p>
          <a:p>
            <a:pPr algn="l" rtl="0"/>
            <a:r>
              <a:rPr lang="en-US" b="1" i="1" dirty="0"/>
              <a:t>Accelerated evolution in scoliosis, specifically in downregulated genes</a:t>
            </a:r>
          </a:p>
          <a:p>
            <a:pPr algn="l" rtl="0"/>
            <a:endParaRPr lang="en-US" b="1" i="1" dirty="0"/>
          </a:p>
          <a:p>
            <a:pPr algn="l" rtl="0"/>
            <a:r>
              <a:rPr lang="en-US" b="1" i="1" dirty="0"/>
              <a:t>To be continued:</a:t>
            </a:r>
          </a:p>
          <a:p>
            <a:pPr lvl="1" algn="l" rtl="0"/>
            <a:r>
              <a:rPr lang="en-US" b="1" i="1" dirty="0"/>
              <a:t>Test for different developmental stages</a:t>
            </a:r>
          </a:p>
          <a:p>
            <a:pPr lvl="1" algn="l" rtl="0"/>
            <a:r>
              <a:rPr lang="en-US" b="1" i="1" dirty="0"/>
              <a:t>Pathway enrichment analysis</a:t>
            </a:r>
          </a:p>
        </p:txBody>
      </p:sp>
      <p:pic>
        <p:nvPicPr>
          <p:cNvPr id="4" name="תמונה 3">
            <a:extLst>
              <a:ext uri="{FF2B5EF4-FFF2-40B4-BE49-F238E27FC236}">
                <a16:creationId xmlns:a16="http://schemas.microsoft.com/office/drawing/2014/main" id="{1FFD4B25-8701-A89C-9104-2BEB5473F74B}"/>
              </a:ext>
            </a:extLst>
          </p:cNvPr>
          <p:cNvPicPr>
            <a:picLocks noChangeAspect="1"/>
          </p:cNvPicPr>
          <p:nvPr/>
        </p:nvPicPr>
        <p:blipFill>
          <a:blip r:embed="rId3"/>
          <a:stretch>
            <a:fillRect/>
          </a:stretch>
        </p:blipFill>
        <p:spPr>
          <a:xfrm>
            <a:off x="6317451" y="1696827"/>
            <a:ext cx="5658640" cy="4658375"/>
          </a:xfrm>
          <a:prstGeom prst="rect">
            <a:avLst/>
          </a:prstGeom>
        </p:spPr>
      </p:pic>
      <p:pic>
        <p:nvPicPr>
          <p:cNvPr id="1026" name="Picture 2" descr="‪10+ Thousand Chimpanzee Silhouette Royalty-Free Images, Stock Photos &amp;  Pictures | Shutterstock‬‏">
            <a:extLst>
              <a:ext uri="{FF2B5EF4-FFF2-40B4-BE49-F238E27FC236}">
                <a16:creationId xmlns:a16="http://schemas.microsoft.com/office/drawing/2014/main" id="{CFDAB0D0-93A3-A866-6699-F2C39909AF6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9889" b="17402"/>
          <a:stretch/>
        </p:blipFill>
        <p:spPr bwMode="auto">
          <a:xfrm>
            <a:off x="152400" y="1690688"/>
            <a:ext cx="685800" cy="53788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10+ Thousand Chimpanzee Silhouette Royalty-Free Images, Stock Photos &amp;  Pictures | Shutterstock‬‏">
            <a:extLst>
              <a:ext uri="{FF2B5EF4-FFF2-40B4-BE49-F238E27FC236}">
                <a16:creationId xmlns:a16="http://schemas.microsoft.com/office/drawing/2014/main" id="{ACCD0585-9204-6F23-3EDE-141C1DB2A08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9889" b="17402"/>
          <a:stretch/>
        </p:blipFill>
        <p:spPr bwMode="auto">
          <a:xfrm>
            <a:off x="152400" y="2747309"/>
            <a:ext cx="685800" cy="53788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10+ Thousand Chimpanzee Silhouette Royalty-Free Images, Stock Photos &amp;  Pictures | Shutterstock‬‏">
            <a:extLst>
              <a:ext uri="{FF2B5EF4-FFF2-40B4-BE49-F238E27FC236}">
                <a16:creationId xmlns:a16="http://schemas.microsoft.com/office/drawing/2014/main" id="{05E90EE8-C350-B85D-DC1F-393A99ED96C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9889" b="17402"/>
          <a:stretch/>
        </p:blipFill>
        <p:spPr bwMode="auto">
          <a:xfrm>
            <a:off x="152400" y="3895941"/>
            <a:ext cx="685800" cy="53788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10+ Thousand Chimpanzee Silhouette Royalty-Free Images, Stock Photos &amp;  Pictures | Shutterstock‬‏">
            <a:extLst>
              <a:ext uri="{FF2B5EF4-FFF2-40B4-BE49-F238E27FC236}">
                <a16:creationId xmlns:a16="http://schemas.microsoft.com/office/drawing/2014/main" id="{7C161114-7C2D-E497-B4B2-0DC580109A0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9889" b="17402"/>
          <a:stretch/>
        </p:blipFill>
        <p:spPr bwMode="auto">
          <a:xfrm>
            <a:off x="176616" y="4898370"/>
            <a:ext cx="685800" cy="5378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9649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5964CBE2-084A-47DF-A704-CF5F6217B5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מלבן 2">
            <a:extLst>
              <a:ext uri="{FF2B5EF4-FFF2-40B4-BE49-F238E27FC236}">
                <a16:creationId xmlns:a16="http://schemas.microsoft.com/office/drawing/2014/main" id="{54E37224-50DC-881A-EA88-5598FAB839C4}"/>
              </a:ext>
            </a:extLst>
          </p:cNvPr>
          <p:cNvSpPr/>
          <p:nvPr/>
        </p:nvSpPr>
        <p:spPr>
          <a:xfrm>
            <a:off x="838199" y="1174819"/>
            <a:ext cx="4826795" cy="2858363"/>
          </a:xfrm>
          <a:prstGeom prst="rect">
            <a:avLst/>
          </a:prstGeom>
        </p:spPr>
        <p:txBody>
          <a:bodyPr lIns="91440" tIns="45720" rIns="91440" bIns="45720">
            <a:normAutofit/>
          </a:bodyPr>
          <a:lstStyle/>
          <a:p>
            <a:pPr algn="l">
              <a:spcAft>
                <a:spcPts val="600"/>
              </a:spcAft>
            </a:pPr>
            <a:r>
              <a:rPr lang="en-US" sz="7200" b="1" cap="none" spc="50">
                <a:ln w="9525" cmpd="sng">
                  <a:solidFill>
                    <a:schemeClr val="accent1"/>
                  </a:solidFill>
                  <a:prstDash val="solid"/>
                </a:ln>
                <a:solidFill>
                  <a:schemeClr val="bg1"/>
                </a:solidFill>
                <a:effectLst>
                  <a:glow rad="38100">
                    <a:schemeClr val="accent1">
                      <a:alpha val="40000"/>
                    </a:schemeClr>
                  </a:glow>
                </a:effectLst>
              </a:rPr>
              <a:t>Thanks for listening!</a:t>
            </a:r>
            <a:endParaRPr lang="he-IL" sz="7200" b="1" cap="none" spc="50">
              <a:ln w="9525" cmpd="sng">
                <a:solidFill>
                  <a:schemeClr val="accent1"/>
                </a:solidFill>
                <a:prstDash val="solid"/>
              </a:ln>
              <a:solidFill>
                <a:schemeClr val="bg1"/>
              </a:solidFill>
              <a:effectLst>
                <a:glow rad="38100">
                  <a:schemeClr val="accent1">
                    <a:alpha val="40000"/>
                  </a:schemeClr>
                </a:glow>
              </a:effectLst>
            </a:endParaRPr>
          </a:p>
        </p:txBody>
      </p:sp>
      <p:pic>
        <p:nvPicPr>
          <p:cNvPr id="3074" name="Picture 2" descr="‪The chimpanzee who sees sounds | Nature‬‏">
            <a:extLst>
              <a:ext uri="{FF2B5EF4-FFF2-40B4-BE49-F238E27FC236}">
                <a16:creationId xmlns:a16="http://schemas.microsoft.com/office/drawing/2014/main" id="{EDDD4C1D-1687-CB09-3260-61A9674BFE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079" r="10555" b="2"/>
          <a:stretch>
            <a:fillRect/>
          </a:stretch>
        </p:blipFill>
        <p:spPr bwMode="auto">
          <a:xfrm>
            <a:off x="6096000" y="841375"/>
            <a:ext cx="5260975" cy="4707593"/>
          </a:xfrm>
          <a:custGeom>
            <a:avLst/>
            <a:gdLst/>
            <a:ahLst/>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noFill/>
          <a:effectLst>
            <a:outerShdw blurRad="381000" dist="152400" dir="5400000" algn="t" rotWithShape="0">
              <a:prstClr val="black">
                <a:alpha val="10000"/>
              </a:prstClr>
            </a:outerShdw>
          </a:effectLst>
          <a:extLst>
            <a:ext uri="{909E8E84-426E-40DD-AFC4-6F175D3DCCD1}">
              <a14:hiddenFill xmlns:a14="http://schemas.microsoft.com/office/drawing/2010/main">
                <a:solidFill>
                  <a:srgbClr val="FFFFFF"/>
                </a:solidFill>
              </a14:hiddenFill>
            </a:ext>
          </a:extLst>
        </p:spPr>
      </p:pic>
      <p:sp>
        <p:nvSpPr>
          <p:cNvPr id="3081" name="Freeform: Shape 3080">
            <a:extLst>
              <a:ext uri="{FF2B5EF4-FFF2-40B4-BE49-F238E27FC236}">
                <a16:creationId xmlns:a16="http://schemas.microsoft.com/office/drawing/2014/main" id="{686A5CBB-E03B-4019-8BCD-78975D39E4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83" name="Freeform: Shape 3082">
            <a:extLst>
              <a:ext uri="{FF2B5EF4-FFF2-40B4-BE49-F238E27FC236}">
                <a16:creationId xmlns:a16="http://schemas.microsoft.com/office/drawing/2014/main" id="{94993204-9792-4E61-A83C-73D4379E2B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554569302"/>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4876</TotalTime>
  <Words>1179</Words>
  <Application>Microsoft Office PowerPoint</Application>
  <PresentationFormat>מסך רחב</PresentationFormat>
  <Paragraphs>126</Paragraphs>
  <Slides>16</Slides>
  <Notes>15</Notes>
  <HiddenSlides>0</HiddenSlides>
  <MMClips>0</MMClips>
  <ScaleCrop>false</ScaleCrop>
  <HeadingPairs>
    <vt:vector size="6" baseType="variant">
      <vt:variant>
        <vt:lpstr>גופנים בשימוש</vt:lpstr>
      </vt:variant>
      <vt:variant>
        <vt:i4>9</vt:i4>
      </vt:variant>
      <vt:variant>
        <vt:lpstr>ערכת נושא</vt:lpstr>
      </vt:variant>
      <vt:variant>
        <vt:i4>1</vt:i4>
      </vt:variant>
      <vt:variant>
        <vt:lpstr>כותרות שקופיות</vt:lpstr>
      </vt:variant>
      <vt:variant>
        <vt:i4>16</vt:i4>
      </vt:variant>
    </vt:vector>
  </HeadingPairs>
  <TitlesOfParts>
    <vt:vector size="26" baseType="lpstr">
      <vt:lpstr>Aptos</vt:lpstr>
      <vt:lpstr>Aptos Display</vt:lpstr>
      <vt:lpstr>Arial</vt:lpstr>
      <vt:lpstr>Avenir Next Condensed</vt:lpstr>
      <vt:lpstr>Comic Sans MS</vt:lpstr>
      <vt:lpstr>Helvetica Neue</vt:lpstr>
      <vt:lpstr>Helvetica Neue Light</vt:lpstr>
      <vt:lpstr>Helvetica Neue Medium</vt:lpstr>
      <vt:lpstr>Helvetica Neue Thin</vt:lpstr>
      <vt:lpstr>ערכת נושא Office</vt:lpstr>
      <vt:lpstr>The evolution of human-specific diseases</vt:lpstr>
      <vt:lpstr>The origin of human-specific diseases</vt:lpstr>
      <vt:lpstr>Regulatory changes: the immediate suspect</vt:lpstr>
      <vt:lpstr>Which diseases can we study using the hybrid system?</vt:lpstr>
      <vt:lpstr>Identifying disease-associated genes</vt:lpstr>
      <vt:lpstr>Identifying disease-associated genes</vt:lpstr>
      <vt:lpstr>What are we looking for?</vt:lpstr>
      <vt:lpstr>Percentage of differentially expressed genes</vt:lpstr>
      <vt:lpstr>Schizophrenia: fewer differentially expressed genes</vt:lpstr>
      <vt:lpstr>Schizophrenia-related genes are depleted of large expression changes</vt:lpstr>
      <vt:lpstr>Scoliosis: Accelerated evolution?</vt:lpstr>
      <vt:lpstr>Is the direction of regulation change important?</vt:lpstr>
      <vt:lpstr>Schizophrenia: positive selection for upregulation of genes</vt:lpstr>
      <vt:lpstr>Scoliosis: larger changes in downregulated genes</vt:lpstr>
      <vt:lpstr>Discussion</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Sarit Moses</dc:creator>
  <cp:lastModifiedBy>Sarit Moses</cp:lastModifiedBy>
  <cp:revision>25</cp:revision>
  <dcterms:created xsi:type="dcterms:W3CDTF">2025-06-29T11:13:21Z</dcterms:created>
  <dcterms:modified xsi:type="dcterms:W3CDTF">2025-07-10T13:43:36Z</dcterms:modified>
</cp:coreProperties>
</file>