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22"/>
  </p:notesMasterIdLst>
  <p:sldIdLst>
    <p:sldId id="256" r:id="rId2"/>
    <p:sldId id="992" r:id="rId3"/>
    <p:sldId id="993" r:id="rId4"/>
    <p:sldId id="1006" r:id="rId5"/>
    <p:sldId id="994" r:id="rId6"/>
    <p:sldId id="995" r:id="rId7"/>
    <p:sldId id="1003" r:id="rId8"/>
    <p:sldId id="996" r:id="rId9"/>
    <p:sldId id="997" r:id="rId10"/>
    <p:sldId id="1008" r:id="rId11"/>
    <p:sldId id="1000" r:id="rId12"/>
    <p:sldId id="1002" r:id="rId13"/>
    <p:sldId id="1001" r:id="rId14"/>
    <p:sldId id="998" r:id="rId15"/>
    <p:sldId id="1004" r:id="rId16"/>
    <p:sldId id="1009" r:id="rId17"/>
    <p:sldId id="1005" r:id="rId18"/>
    <p:sldId id="999" r:id="rId19"/>
    <p:sldId id="1007" r:id="rId20"/>
    <p:sldId id="267" r:id="rId21"/>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2CFEE"/>
    <a:srgbClr val="25D5D5"/>
    <a:srgbClr val="CCF6EC"/>
    <a:srgbClr val="F8F7CB"/>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52"/>
    <p:restoredTop sz="81085" autoAdjust="0"/>
  </p:normalViewPr>
  <p:slideViewPr>
    <p:cSldViewPr snapToGrid="0">
      <p:cViewPr varScale="1">
        <p:scale>
          <a:sx n="89" d="100"/>
          <a:sy n="89" d="100"/>
        </p:scale>
        <p:origin x="1336" y="168"/>
      </p:cViewPr>
      <p:guideLst/>
    </p:cSldViewPr>
  </p:slideViewPr>
  <p:notesTextViewPr>
    <p:cViewPr>
      <p:scale>
        <a:sx n="110" d="100"/>
        <a:sy n="110" d="100"/>
      </p:scale>
      <p:origin x="0" y="-8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י"ח.תמוז.תשפ"ה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algn="l" rtl="0"/>
            <a:r>
              <a:rPr lang="en" sz="1200" b="0" i="0" u="none" strike="noStrike" kern="1200" dirty="0" err="1">
                <a:solidFill>
                  <a:schemeClr val="tx1"/>
                </a:solidFill>
                <a:effectLst/>
                <a:latin typeface="+mn-lt"/>
                <a:ea typeface="+mn-ea"/>
                <a:cs typeface="+mn-cs"/>
              </a:rPr>
              <a:t>Chimpa</a:t>
            </a:r>
            <a:r>
              <a:rPr lang="en-US" sz="1200" b="0" i="0" u="none" strike="noStrike" kern="1200" dirty="0" err="1">
                <a:solidFill>
                  <a:schemeClr val="tx1"/>
                </a:solidFill>
                <a:effectLst/>
                <a:latin typeface="+mn-lt"/>
                <a:ea typeface="+mn-ea"/>
                <a:cs typeface="+mn-cs"/>
              </a:rPr>
              <a:t>nzees</a:t>
            </a:r>
            <a:r>
              <a:rPr lang="en" sz="1200" b="0" i="0" u="none" strike="noStrike" kern="1200" dirty="0">
                <a:solidFill>
                  <a:schemeClr val="tx1"/>
                </a:solidFill>
                <a:effectLst/>
                <a:latin typeface="+mn-lt"/>
                <a:ea typeface="+mn-ea"/>
                <a:cs typeface="+mn-cs"/>
              </a:rPr>
              <a:t> are one of our closet relatives, as a result we share many traits, yet we also have numerous characteristics unique to our species.</a:t>
            </a:r>
          </a:p>
          <a:p>
            <a:pPr algn="l" rtl="0"/>
            <a:r>
              <a:rPr lang="en" sz="1200" b="0" i="0" u="none" strike="noStrike" kern="1200" dirty="0">
                <a:solidFill>
                  <a:schemeClr val="tx1"/>
                </a:solidFill>
                <a:effectLst/>
                <a:latin typeface="+mn-lt"/>
                <a:ea typeface="+mn-ea"/>
                <a:cs typeface="+mn-cs"/>
              </a:rPr>
              <a:t>Among these unique characteristics are diseases that specifically affect humans.</a:t>
            </a:r>
          </a:p>
          <a:p>
            <a:pPr algn="l" rtl="0"/>
            <a:r>
              <a:rPr lang="en" sz="1200" b="0" i="0" u="none" strike="noStrike" kern="1200" dirty="0">
                <a:solidFill>
                  <a:schemeClr val="tx1"/>
                </a:solidFill>
                <a:effectLst/>
                <a:latin typeface="+mn-lt"/>
                <a:ea typeface="+mn-ea"/>
                <a:cs typeface="+mn-cs"/>
              </a:rPr>
              <a:t>The primary goal of our research is to better understand how evolutionary processes have shaped these human-diseases.</a:t>
            </a:r>
          </a:p>
          <a:p>
            <a:pPr algn="l" rtl="0"/>
            <a:r>
              <a:rPr lang="en" sz="1200" b="0" i="0" u="none" strike="noStrike" kern="1200" dirty="0">
                <a:solidFill>
                  <a:schemeClr val="tx1"/>
                </a:solidFill>
                <a:effectLst/>
                <a:latin typeface="+mn-lt"/>
                <a:ea typeface="+mn-ea"/>
                <a:cs typeface="+mn-cs"/>
              </a:rPr>
              <a:t>Differences between humans and great apes can be attributed to several factors, such as distinct environmental exposures, longer lifespans in humans, and limited available data on diseases in great apes.</a:t>
            </a:r>
          </a:p>
          <a:p>
            <a:pPr algn="l" rtl="0"/>
            <a:r>
              <a:rPr lang="en" sz="1200" b="0" i="0" u="none" strike="noStrike" kern="1200" dirty="0">
                <a:solidFill>
                  <a:schemeClr val="tx1"/>
                </a:solidFill>
                <a:effectLst/>
                <a:latin typeface="+mn-lt"/>
                <a:ea typeface="+mn-ea"/>
                <a:cs typeface="+mn-cs"/>
              </a:rPr>
              <a:t>For example, diabetes is a human unique disease. However, evidence show that apes exposed to human-like diets can develop diabetes.</a:t>
            </a:r>
          </a:p>
          <a:p>
            <a:pPr algn="l" rtl="0"/>
            <a:r>
              <a:rPr lang="en" sz="1200" b="0" i="0" u="none" strike="noStrike" kern="1200" dirty="0">
                <a:solidFill>
                  <a:schemeClr val="tx1"/>
                </a:solidFill>
                <a:effectLst/>
                <a:latin typeface="+mn-lt"/>
                <a:ea typeface="+mn-ea"/>
                <a:cs typeface="+mn-cs"/>
              </a:rPr>
              <a:t>Nevertheless, numerous other diseases remain unexplained by environmental or lifestyle factors alone, indicating that genetic differences play a crucial role in these diseases.</a:t>
            </a:r>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algn="l" rtl="0"/>
            <a:r>
              <a:rPr lang="en" dirty="0"/>
              <a:t>Typically, genetic differences between closely related species, such as humans and chimps, can be attributed to regulatory changes rather than differences in the coding regions.</a:t>
            </a:r>
          </a:p>
          <a:p>
            <a:pPr algn="l" rtl="0"/>
            <a:r>
              <a:rPr lang="en" dirty="0"/>
              <a:t>Regulatory changes are differences in gene expression levels rather than differences in the genes themselves.</a:t>
            </a:r>
          </a:p>
          <a:p>
            <a:pPr algn="l" rtl="0"/>
            <a:r>
              <a:rPr lang="en" dirty="0"/>
              <a:t>But can we study these regulatory differences?</a:t>
            </a:r>
          </a:p>
          <a:p>
            <a:pPr algn="l" rtl="0"/>
            <a:r>
              <a:rPr lang="en" dirty="0"/>
              <a:t>Observed differences in gene expression could also result from confounding factors, such as environmental variation or technical biases in lab conditions.</a:t>
            </a:r>
          </a:p>
          <a:p>
            <a:pPr algn="l" rtl="0"/>
            <a:r>
              <a:rPr lang="en" dirty="0"/>
              <a:t>To control for these confounders, David’s Lab took pluripotent stem cells derived from humans and chimpanzees and fuse them together, creating hybrid cells containing both genomes.</a:t>
            </a:r>
          </a:p>
          <a:p>
            <a:pPr algn="l" rtl="0"/>
            <a:r>
              <a:rPr lang="en" dirty="0"/>
              <a:t>In these hybrid cells, both genomes share an identical cellular environment. Therefore, any observed difference in gene expression must reflect genetic (rather than environmental) differences.</a:t>
            </a:r>
          </a:p>
          <a:p>
            <a:pPr algn="l" rtl="0"/>
            <a:r>
              <a:rPr lang="en" dirty="0"/>
              <a:t>Because these hybrid cells are pluripotent, they can be differentiated into virtually any cell type, enabling us to study and compare regulatory changes across diverse cell types and developmental stages.</a:t>
            </a:r>
          </a:p>
          <a:p>
            <a:pPr marL="0" indent="0" algn="l" rtl="0">
              <a:buNone/>
            </a:pPr>
            <a:endParaRPr lang="he-IL" dirty="0"/>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AE648-ABC1-F4FA-80E1-6F230A2CFAB5}"/>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0D9E0BE-F888-4CFC-6EEC-257BDD5073E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E836E03F-B737-3BA2-F0BE-E92D08DB62A7}"/>
              </a:ext>
            </a:extLst>
          </p:cNvPr>
          <p:cNvSpPr>
            <a:spLocks noGrp="1"/>
          </p:cNvSpPr>
          <p:nvPr>
            <p:ph type="body" idx="1"/>
          </p:nvPr>
        </p:nvSpPr>
        <p:spPr/>
        <p:txBody>
          <a:bodyPr/>
          <a:lstStyle/>
          <a:p>
            <a:pPr algn="l" rtl="0"/>
            <a:r>
              <a:rPr lang="en" dirty="0"/>
              <a:t>Having said that, we can examine the phenotypic component effected by these expression alterations.</a:t>
            </a:r>
          </a:p>
        </p:txBody>
      </p:sp>
      <p:sp>
        <p:nvSpPr>
          <p:cNvPr id="4" name="מציין מיקום של מספר שקופית 3">
            <a:extLst>
              <a:ext uri="{FF2B5EF4-FFF2-40B4-BE49-F238E27FC236}">
                <a16:creationId xmlns:a16="http://schemas.microsoft.com/office/drawing/2014/main" id="{9116230F-3663-7CF2-C7C7-0CCC58BB248F}"/>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27185135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algn="l" rtl="0"/>
            <a:r>
              <a:rPr lang="en" dirty="0"/>
              <a:t>Using our hybrids system, we sought to investigate the genetic basis of human-specific diseases.</a:t>
            </a:r>
          </a:p>
          <a:p>
            <a:pPr algn="l" rtl="0"/>
            <a:r>
              <a:rPr lang="en" dirty="0"/>
              <a:t>To start, we curated a comprehensive list of human-specific diseases, primarily relying on reviews and the existing literature. Initially, we identified </a:t>
            </a:r>
            <a:r>
              <a:rPr lang="en" b="1" dirty="0"/>
              <a:t>56 unique human-specific diseases</a:t>
            </a:r>
            <a:r>
              <a:rPr lang="en" dirty="0"/>
              <a:t>.</a:t>
            </a:r>
          </a:p>
          <a:p>
            <a:pPr algn="l" rtl="0"/>
            <a:r>
              <a:rPr lang="en" dirty="0"/>
              <a:t>In the next step, we reviewed scientific literature to identify the relevant cell types implicated in each disease.</a:t>
            </a:r>
          </a:p>
          <a:p>
            <a:pPr algn="l" rtl="0"/>
            <a:r>
              <a:rPr lang="en" dirty="0"/>
              <a:t>We then compared these identified cell types against the cell types available in our hybrid cell database.</a:t>
            </a:r>
          </a:p>
          <a:p>
            <a:pPr algn="l" rtl="0"/>
            <a:r>
              <a:rPr lang="en" dirty="0"/>
              <a:t>Following this intersection, we narrowed our list down to </a:t>
            </a:r>
            <a:r>
              <a:rPr lang="en" b="1" dirty="0"/>
              <a:t>32 diseases</a:t>
            </a:r>
            <a:r>
              <a:rPr lang="en" dirty="0"/>
              <a:t> with matched hybrid cell types. These diseases became our primary candidates for further analysis.</a:t>
            </a:r>
          </a:p>
          <a:p>
            <a:pPr marL="0" indent="0" algn="l" rtl="0">
              <a:buNone/>
            </a:pPr>
            <a:endParaRPr lang="en-US" dirty="0"/>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algn="l" rtl="0"/>
            <a:r>
              <a:rPr lang="en" dirty="0"/>
              <a:t>After narrowing down our disease list, the next step is identifying the specific genes involved in each disease.</a:t>
            </a:r>
          </a:p>
          <a:p>
            <a:pPr algn="l" rtl="0"/>
            <a:r>
              <a:rPr lang="en" dirty="0"/>
              <a:t>For this task, we utilized the </a:t>
            </a:r>
            <a:r>
              <a:rPr lang="en" b="1" dirty="0"/>
              <a:t>GWAS (Genome-Wide Association Studies) catalog</a:t>
            </a:r>
            <a:r>
              <a:rPr lang="en" dirty="0"/>
              <a:t>, as our largest source </a:t>
            </a:r>
            <a:r>
              <a:rPr lang="en" sz="1200" b="0" i="0" u="none" strike="noStrike" kern="1200" dirty="0">
                <a:solidFill>
                  <a:schemeClr val="tx1"/>
                </a:solidFill>
                <a:effectLst/>
                <a:latin typeface="+mn-lt"/>
                <a:ea typeface="+mn-ea"/>
                <a:cs typeface="+mn-cs"/>
              </a:rPr>
              <a:t>for associating genetic variants with diseases.</a:t>
            </a:r>
            <a:endParaRPr lang="en" dirty="0"/>
          </a:p>
          <a:p>
            <a:pPr algn="l" rtl="0"/>
            <a:r>
              <a:rPr lang="en" dirty="0"/>
              <a:t>GWAS studies identify single nucleotide polymorphisms (SNPs) associated with particular phenotype</a:t>
            </a:r>
            <a:r>
              <a:rPr lang="he-IL" dirty="0" err="1"/>
              <a:t>s</a:t>
            </a:r>
            <a:r>
              <a:rPr lang="he-IL" dirty="0"/>
              <a:t>.</a:t>
            </a:r>
          </a:p>
          <a:p>
            <a:pPr algn="l" rtl="0"/>
            <a:r>
              <a:rPr lang="en" dirty="0"/>
              <a:t>Each SNP identified through GWAS can be linked to nearby genes, providing a direct association between genetic variants and specific genes relevant to the disease.</a:t>
            </a:r>
          </a:p>
          <a:p>
            <a:pPr algn="l" rtl="0"/>
            <a:r>
              <a:rPr lang="en" dirty="0"/>
              <a:t>By leveraging this catalog, we obtained comprehensive gene lists associated with each of our selected diseases, enabling us to further explore their role in human susceptibility.</a:t>
            </a:r>
          </a:p>
          <a:p>
            <a:pPr marL="0" indent="0" algn="l" rtl="0">
              <a:buNone/>
            </a:pPr>
            <a:endParaRPr lang="he-IL" dirty="0"/>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algn="l" rtl="0"/>
            <a:r>
              <a:rPr lang="en" dirty="0"/>
              <a:t>In total, our analysis identified around </a:t>
            </a:r>
            <a:r>
              <a:rPr lang="en" b="1" dirty="0"/>
              <a:t>14,000 unique disease-associated genes</a:t>
            </a:r>
            <a:r>
              <a:rPr lang="en" dirty="0"/>
              <a:t> across all diseases examined.</a:t>
            </a:r>
          </a:p>
          <a:p>
            <a:pPr algn="l" rtl="0"/>
            <a:r>
              <a:rPr lang="en" dirty="0"/>
              <a:t>However, we observed substantial variability in the number of genes associated with each individual disease.</a:t>
            </a:r>
          </a:p>
          <a:p>
            <a:pPr algn="l" rtl="0"/>
            <a:r>
              <a:rPr lang="en" dirty="0"/>
              <a:t>Some diseases have a lot more associated genes, potentially due to their polygenic nature—meaning multiple genes contribute to the disease.</a:t>
            </a:r>
          </a:p>
          <a:p>
            <a:pPr algn="l" rtl="0"/>
            <a:r>
              <a:rPr lang="en" dirty="0"/>
              <a:t>Another important factor influencing gene counts is research bias: certain diseases, particularly well-known or high-profile conditions such as Alzheimer’s disease, attract more research effort and consequently yield a greater number of associated genes.</a:t>
            </a:r>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algn="l" rtl="0"/>
            <a:r>
              <a:rPr lang="en" dirty="0"/>
              <a:t>Evolution has granted humans with beneficial adaptations such as larger brains, upright posture, and enhanced endurance. However, these advantages also came with trade-offs, including vulnerabilities to diseases such as Alzheimer's, scoliosis, and heart attacks.</a:t>
            </a:r>
          </a:p>
          <a:p>
            <a:pPr algn="l" rtl="0"/>
            <a:r>
              <a:rPr lang="en" dirty="0"/>
              <a:t>One theory  proposes that human evolution began from a baseline of gene expression. Over evolutionary time, gene expression shifted in specific directions—potentially moving us closer to a critical point.</a:t>
            </a:r>
          </a:p>
          <a:p>
            <a:pPr algn="l" rtl="0"/>
            <a:r>
              <a:rPr lang="en" dirty="0"/>
              <a:t>Being near these point means even small changes could push us over the edge, making us susceptible to various diseases.</a:t>
            </a:r>
          </a:p>
          <a:p>
            <a:pPr algn="l" rtl="0"/>
            <a:r>
              <a:rPr lang="en" dirty="0"/>
              <a:t>Based on this theory, we would expect 3 possible patterns:</a:t>
            </a:r>
          </a:p>
          <a:p>
            <a:pPr algn="l" rtl="0"/>
            <a:r>
              <a:rPr lang="en" b="1" dirty="0"/>
              <a:t>More expression changes</a:t>
            </a:r>
            <a:r>
              <a:rPr lang="en" dirty="0"/>
              <a:t>: A greater number of genes with altered expression compared to chimpanzees.</a:t>
            </a:r>
          </a:p>
          <a:p>
            <a:pPr algn="l" rtl="0"/>
            <a:r>
              <a:rPr lang="en" b="1" dirty="0"/>
              <a:t>Larger magnitude changes</a:t>
            </a:r>
            <a:r>
              <a:rPr lang="en" dirty="0"/>
              <a:t>: The degree of expression change would be significantly larger in humans relative to our ape relatives.</a:t>
            </a:r>
          </a:p>
          <a:p>
            <a:pPr algn="l" rtl="0"/>
            <a:r>
              <a:rPr lang="en" b="1" dirty="0"/>
              <a:t>Biased changes</a:t>
            </a:r>
            <a:r>
              <a:rPr lang="en" dirty="0"/>
              <a:t>: Expression changes would consistently move in a particular direction rather than randomly fluctuating, indicating an evolutionary bias or selective pressure.</a:t>
            </a:r>
          </a:p>
          <a:p>
            <a:pPr marL="228600" indent="-228600" algn="l" defTabSz="914400" rtl="0" eaLnBrk="1" latinLnBrk="0" hangingPunct="1">
              <a:buAutoNum type="arabicPeriod"/>
            </a:pPr>
            <a:endParaRPr lang="en-US"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4C609-5F35-EFC8-F5DA-43D313A664CF}"/>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57711375-D670-66BA-2B68-D2A364F38D6C}"/>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5AC9255F-12E6-EF4E-4E24-B381532F3358}"/>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354331F0-76D1-F6CD-9BB0-41AEFCC4ED42}"/>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416143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a:p>
            <a:pPr marL="0" indent="0">
              <a:buNone/>
            </a:pPr>
            <a:endParaRPr lang="he-IL" dirty="0"/>
          </a:p>
          <a:p>
            <a:pPr marL="0" indent="0">
              <a:buNone/>
            </a:pPr>
            <a:r>
              <a:rPr lang="he-IL" dirty="0"/>
              <a:t>להוריד כותרות גנים</a:t>
            </a:r>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he-IL" dirty="0"/>
              <a:t>ציר </a:t>
            </a:r>
            <a:r>
              <a:rPr lang="en-US" dirty="0"/>
              <a:t>X</a:t>
            </a:r>
            <a:r>
              <a:rPr lang="he-IL" dirty="0"/>
              <a:t> – </a:t>
            </a:r>
            <a:r>
              <a:rPr lang="en-US" dirty="0"/>
              <a:t>percentile of absolute log </a:t>
            </a:r>
            <a:r>
              <a:rPr lang="en-US" dirty="0" err="1"/>
              <a:t>epresssion</a:t>
            </a:r>
            <a:r>
              <a:rPr lang="en-US" dirty="0"/>
              <a:t> change </a:t>
            </a:r>
          </a:p>
          <a:p>
            <a:pPr marL="0" indent="0">
              <a:buNone/>
            </a:pPr>
            <a:r>
              <a:rPr lang="he-IL" dirty="0"/>
              <a:t>ציר </a:t>
            </a:r>
            <a:r>
              <a:rPr lang="en-US" dirty="0"/>
              <a:t>Y</a:t>
            </a:r>
            <a:r>
              <a:rPr lang="he-IL" dirty="0"/>
              <a:t> – </a:t>
            </a:r>
            <a:r>
              <a:rPr lang="en-US" dirty="0"/>
              <a:t>log odd ratio</a:t>
            </a:r>
            <a:endParaRPr lang="he-IL" dirty="0"/>
          </a:p>
          <a:p>
            <a:pPr marL="0" indent="0">
              <a:buNone/>
            </a:pPr>
            <a:endParaRPr lang="he-IL" dirty="0"/>
          </a:p>
          <a:p>
            <a:pPr marL="0" indent="0">
              <a:buNone/>
            </a:pPr>
            <a:r>
              <a:rPr lang="en-US" dirty="0"/>
              <a:t>Spearman p-value</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7DD1-EF69-EAE6-9D6F-1364E4BDAFF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8DAA1BC-22D7-98A6-2F4F-A0212F2FFD2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25578EE-1B7D-49ED-F4D5-FE330AABBA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D632D3E3-6815-C588-66F3-6CC326624A29}"/>
              </a:ext>
            </a:extLst>
          </p:cNvPr>
          <p:cNvSpPr>
            <a:spLocks noGrp="1"/>
          </p:cNvSpPr>
          <p:nvPr>
            <p:ph type="sldNum" sz="quarter" idx="5"/>
          </p:nvPr>
        </p:nvSpPr>
        <p:spPr/>
        <p:txBody>
          <a:bodyPr/>
          <a:lstStyle/>
          <a:p>
            <a:fld id="{64F50766-83A2-4A8D-A724-80D60639DE7B}" type="slidenum">
              <a:rPr lang="he-IL" smtClean="0"/>
              <a:t>16</a:t>
            </a:fld>
            <a:endParaRPr lang="he-IL"/>
          </a:p>
        </p:txBody>
      </p:sp>
    </p:spTree>
    <p:extLst>
      <p:ext uri="{BB962C8B-B14F-4D97-AF65-F5344CB8AC3E}">
        <p14:creationId xmlns:p14="http://schemas.microsoft.com/office/powerpoint/2010/main" val="37152301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17</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18</a:t>
            </a:fld>
            <a:endParaRPr lang="he-IL"/>
          </a:p>
        </p:txBody>
      </p:sp>
    </p:spTree>
    <p:extLst>
      <p:ext uri="{BB962C8B-B14F-4D97-AF65-F5344CB8AC3E}">
        <p14:creationId xmlns:p14="http://schemas.microsoft.com/office/powerpoint/2010/main" val="264229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2CCEA-4E87-CF49-3D55-C48645EEBD89}"/>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4C8D0-FEF8-2219-6784-F9BB3F2C975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4E5D8BDE-F97F-265D-D3BD-B14736A2AFC3}"/>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5769CCD9-CD86-B381-478D-A8380A5E3D28}"/>
              </a:ext>
            </a:extLst>
          </p:cNvPr>
          <p:cNvSpPr>
            <a:spLocks noGrp="1"/>
          </p:cNvSpPr>
          <p:nvPr>
            <p:ph type="sldNum" sz="quarter" idx="5"/>
          </p:nvPr>
        </p:nvSpPr>
        <p:spPr/>
        <p:txBody>
          <a:bodyPr/>
          <a:lstStyle/>
          <a:p>
            <a:fld id="{64F50766-83A2-4A8D-A724-80D60639DE7B}" type="slidenum">
              <a:rPr lang="he-IL" smtClean="0"/>
              <a:t>19</a:t>
            </a:fld>
            <a:endParaRPr lang="he-IL"/>
          </a:p>
        </p:txBody>
      </p:sp>
    </p:spTree>
    <p:extLst>
      <p:ext uri="{BB962C8B-B14F-4D97-AF65-F5344CB8AC3E}">
        <p14:creationId xmlns:p14="http://schemas.microsoft.com/office/powerpoint/2010/main" val="8943798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י"ח.תמוז.תשפ"ה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י"ח.תמוז.תשפ"ה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26" Type="http://schemas.openxmlformats.org/officeDocument/2006/relationships/image" Target="../media/image18.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eg"/><Relationship Id="rId9" Type="http://schemas.microsoft.com/office/2007/relationships/hdphoto" Target="../media/hdphoto6.wdp"/></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0.jpeg"/><Relationship Id="rId4" Type="http://schemas.openxmlformats.org/officeDocument/2006/relationships/image" Target="../media/image28.jpe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microsoft.com/office/2007/relationships/hdphoto" Target="../media/hdphoto6.wdp"/><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8.png"/><Relationship Id="rId4" Type="http://schemas.openxmlformats.org/officeDocument/2006/relationships/image" Target="../media/image47.emf"/></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latin typeface="Comic Sans MS" panose="030F0702030302020204" pitchFamily="66" charset="0"/>
                <a:ea typeface="+mn-ea"/>
                <a:cs typeface="+mn-cs"/>
              </a:rPr>
              <a:t>The evolution of human-specific diseases</a:t>
            </a:r>
            <a:endParaRPr lang="he-IL" b="1" dirty="0">
              <a:solidFill>
                <a:srgbClr val="0070C0"/>
              </a:solidFill>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19FEEFAC-8404-26C2-FAC1-255421447C8D}"/>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38073D80-D545-981A-7210-F377B3747DFB}"/>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22FA729-D0C8-038E-DE6F-93835A5E68D3}"/>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41842961-FAD6-0D61-B881-0C3E088A750E}"/>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44C932CA-7D70-28B7-2CB7-FA91EE6132E1}"/>
              </a:ext>
            </a:extLst>
          </p:cNvPr>
          <p:cNvSpPr/>
          <p:nvPr/>
        </p:nvSpPr>
        <p:spPr>
          <a:xfrm>
            <a:off x="2859332" y="4731488"/>
            <a:ext cx="31007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fontScale="90000"/>
          </a:bodyPr>
          <a:lstStyle/>
          <a:p>
            <a:pPr algn="ctr" rtl="0"/>
            <a:r>
              <a:rPr lang="en-US" dirty="0">
                <a:solidFill>
                  <a:srgbClr val="0070C0"/>
                </a:solidFill>
                <a:latin typeface="Comic Sans MS" panose="030F0702030302020204" pitchFamily="66" charset="0"/>
                <a:ea typeface="+mn-ea"/>
                <a:cs typeface="+mn-cs"/>
              </a:rPr>
              <a:t>Regulatory changes: the immediate suspect</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2167320" y="3234964"/>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2107249" y="1383378"/>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55363" y="87544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3791656" y="1101615"/>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pic>
        <p:nvPicPr>
          <p:cNvPr id="7" name="תמונה 6">
            <a:extLst>
              <a:ext uri="{FF2B5EF4-FFF2-40B4-BE49-F238E27FC236}">
                <a16:creationId xmlns:a16="http://schemas.microsoft.com/office/drawing/2014/main" id="{CCA08C63-607F-71C1-8821-9E3119AFC871}"/>
              </a:ext>
            </a:extLst>
          </p:cNvPr>
          <p:cNvPicPr>
            <a:picLocks noChangeAspect="1"/>
          </p:cNvPicPr>
          <p:nvPr/>
        </p:nvPicPr>
        <p:blipFill>
          <a:blip r:embed="rId26"/>
          <a:stretch>
            <a:fillRect/>
          </a:stretch>
        </p:blipFill>
        <p:spPr>
          <a:xfrm>
            <a:off x="9776305" y="3001254"/>
            <a:ext cx="2415695" cy="3305688"/>
          </a:xfrm>
          <a:prstGeom prst="rect">
            <a:avLst/>
          </a:prstGeom>
        </p:spPr>
      </p:pic>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185179" y="2747968"/>
            <a:ext cx="3827018" cy="3972478"/>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6721033" y="4567274"/>
            <a:ext cx="571040" cy="543005"/>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8372909" y="4770038"/>
            <a:ext cx="571040" cy="265988"/>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7431258" y="4567274"/>
            <a:ext cx="571040" cy="543005"/>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113634" y="4772125"/>
            <a:ext cx="571040" cy="265988"/>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
        <p:nvSpPr>
          <p:cNvPr id="3" name="מציין מיקום תוכן 2">
            <a:extLst>
              <a:ext uri="{FF2B5EF4-FFF2-40B4-BE49-F238E27FC236}">
                <a16:creationId xmlns:a16="http://schemas.microsoft.com/office/drawing/2014/main" id="{590508E9-B29D-AA19-AEB0-0168E0F27930}"/>
              </a:ext>
            </a:extLst>
          </p:cNvPr>
          <p:cNvSpPr txBox="1">
            <a:spLocks/>
          </p:cNvSpPr>
          <p:nvPr/>
        </p:nvSpPr>
        <p:spPr>
          <a:xfrm>
            <a:off x="5925399" y="707349"/>
            <a:ext cx="1486369" cy="424006"/>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IPSCs</a:t>
            </a:r>
          </a:p>
        </p:txBody>
      </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4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0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2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EF9D6-8CFB-E36C-FDF7-0E60543E302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BD514C5-291A-1E17-5CBB-F2284458939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360BB567-757A-5E10-9567-6115A43F17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063F16D6-2C77-90CA-98CE-3AEBF3E02FEC}"/>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F9C7D1BA-1C53-F3DA-6AE9-937175022076}"/>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15CD799B-E4A3-E306-E431-11512D88AEA4}"/>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B84E2-8A49-258A-1153-3BBFE10755DB}"/>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CEFF0903-003D-A8A3-2526-3D5D979615A6}"/>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A82A526-F6EA-FA5C-F5F8-B8971545EDFC}"/>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C2FEF912-381D-471A-A71C-8875193DEC84}"/>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92DFF049-E1E9-A819-71CA-B1BF23AA20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4FFA8C97-0EE6-68BE-6D14-441E3879548E}"/>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3D177215-E3F3-9653-0765-63F16DE49530}"/>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4D78A536-9428-A591-FB47-3B7842C53BBE}"/>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2C8256DD-09BB-B86C-DAD6-426B74A5121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54AB6815-3B82-CD3E-C22A-0420703C1CA7}"/>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8BDD3DC3-9452-225F-EB2E-F460EA411D39}"/>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02D99711-F2C9-CE02-4837-1085BD7AA9C6}"/>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6DDBD77E-AF16-8993-E6EB-A0EE0341B939}"/>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CA909C89-D87B-3686-A14E-BD5EBA056C4C}"/>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5EA24A98-BE4F-8F6D-60F9-ED2EC651FBA7}"/>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13937FA5-5AE6-B729-5C73-7307E96FCFB8}"/>
              </a:ext>
            </a:extLst>
          </p:cNvPr>
          <p:cNvSpPr/>
          <p:nvPr/>
        </p:nvSpPr>
        <p:spPr>
          <a:xfrm>
            <a:off x="5927783" y="4598996"/>
            <a:ext cx="35712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381561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pic>
        <p:nvPicPr>
          <p:cNvPr id="1028" name="Picture 4" descr="‪Body Outline Images – Browse 577,029 Stock Photos, Vectors, and Video |  Adobe Stock‬‏">
            <a:extLst>
              <a:ext uri="{FF2B5EF4-FFF2-40B4-BE49-F238E27FC236}">
                <a16:creationId xmlns:a16="http://schemas.microsoft.com/office/drawing/2014/main" id="{ED186A50-00ED-1E7C-5E0F-06F26E85356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626" r="28254"/>
          <a:stretch/>
        </p:blipFill>
        <p:spPr bwMode="auto">
          <a:xfrm>
            <a:off x="8397273" y="1329000"/>
            <a:ext cx="2471230" cy="5476972"/>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Which diseases can we study using the hybrid system?</a:t>
            </a:r>
            <a:endParaRPr lang="he-IL" dirty="0"/>
          </a:p>
        </p:txBody>
      </p:sp>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Curate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Intersect with hybrid data</a:t>
            </a:r>
          </a:p>
          <a:p>
            <a:pPr marL="514350" indent="-514350" algn="l" rtl="0">
              <a:buFont typeface="+mj-lt"/>
              <a:buAutoNum type="arabicPeriod"/>
            </a:pPr>
            <a:endParaRPr lang="en-US" b="1" i="1" dirty="0"/>
          </a:p>
        </p:txBody>
      </p:sp>
      <p:cxnSp>
        <p:nvCxnSpPr>
          <p:cNvPr id="6" name="מחבר: מרפקי 5">
            <a:extLst>
              <a:ext uri="{FF2B5EF4-FFF2-40B4-BE49-F238E27FC236}">
                <a16:creationId xmlns:a16="http://schemas.microsoft.com/office/drawing/2014/main" id="{9C1192BC-5E08-C796-ACE6-65D60B89E9C9}"/>
              </a:ext>
            </a:extLst>
          </p:cNvPr>
          <p:cNvCxnSpPr>
            <a:cxnSpLocks/>
          </p:cNvCxnSpPr>
          <p:nvPr/>
        </p:nvCxnSpPr>
        <p:spPr>
          <a:xfrm flipV="1">
            <a:off x="9763432" y="1564875"/>
            <a:ext cx="972301" cy="144316"/>
          </a:xfrm>
          <a:prstGeom prst="bentConnector3">
            <a:avLst/>
          </a:prstGeom>
          <a:ln>
            <a:tailEnd type="triangle"/>
          </a:ln>
        </p:spPr>
        <p:style>
          <a:lnRef idx="2">
            <a:schemeClr val="accent6"/>
          </a:lnRef>
          <a:fillRef idx="0">
            <a:schemeClr val="accent6"/>
          </a:fillRef>
          <a:effectRef idx="1">
            <a:schemeClr val="accent6"/>
          </a:effectRef>
          <a:fontRef idx="minor">
            <a:schemeClr val="tx1"/>
          </a:fontRef>
        </p:style>
      </p:cxnSp>
      <p:sp>
        <p:nvSpPr>
          <p:cNvPr id="9" name="מציין מיקום תוכן 2">
            <a:extLst>
              <a:ext uri="{FF2B5EF4-FFF2-40B4-BE49-F238E27FC236}">
                <a16:creationId xmlns:a16="http://schemas.microsoft.com/office/drawing/2014/main" id="{633C4CC4-C266-699F-D3B4-5353A179D560}"/>
              </a:ext>
            </a:extLst>
          </p:cNvPr>
          <p:cNvSpPr txBox="1">
            <a:spLocks/>
          </p:cNvSpPr>
          <p:nvPr/>
        </p:nvSpPr>
        <p:spPr>
          <a:xfrm>
            <a:off x="2922555" y="2682904"/>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rgbClr val="FF0000"/>
                </a:solidFill>
              </a:rPr>
              <a:t>56 diseases</a:t>
            </a:r>
          </a:p>
        </p:txBody>
      </p:sp>
      <p:sp>
        <p:nvSpPr>
          <p:cNvPr id="10" name="מציין מיקום תוכן 2">
            <a:extLst>
              <a:ext uri="{FF2B5EF4-FFF2-40B4-BE49-F238E27FC236}">
                <a16:creationId xmlns:a16="http://schemas.microsoft.com/office/drawing/2014/main" id="{46F6210D-132A-68FD-13E4-1A474D1589CC}"/>
              </a:ext>
            </a:extLst>
          </p:cNvPr>
          <p:cNvSpPr txBox="1">
            <a:spLocks/>
          </p:cNvSpPr>
          <p:nvPr/>
        </p:nvSpPr>
        <p:spPr>
          <a:xfrm>
            <a:off x="2922555" y="5735299"/>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rgbClr val="FF0000"/>
                </a:solidFill>
              </a:rPr>
              <a:t>32 diseases</a:t>
            </a:r>
          </a:p>
        </p:txBody>
      </p:sp>
      <p:sp>
        <p:nvSpPr>
          <p:cNvPr id="11" name="מציין מיקום תוכן 2">
            <a:extLst>
              <a:ext uri="{FF2B5EF4-FFF2-40B4-BE49-F238E27FC236}">
                <a16:creationId xmlns:a16="http://schemas.microsoft.com/office/drawing/2014/main" id="{3EBCB13D-56E3-6AEA-A94B-127CE71AE5C0}"/>
              </a:ext>
            </a:extLst>
          </p:cNvPr>
          <p:cNvSpPr txBox="1">
            <a:spLocks/>
          </p:cNvSpPr>
          <p:nvPr/>
        </p:nvSpPr>
        <p:spPr>
          <a:xfrm>
            <a:off x="10566977" y="1363773"/>
            <a:ext cx="1399897"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6">
                    <a:lumMod val="60000"/>
                    <a:lumOff val="40000"/>
                  </a:schemeClr>
                </a:solidFill>
              </a:rPr>
              <a:t>Alzheimer’s </a:t>
            </a:r>
          </a:p>
          <a:p>
            <a:pPr marL="0" indent="0" algn="ctr" rtl="0">
              <a:buNone/>
            </a:pPr>
            <a:r>
              <a:rPr lang="en-US" sz="1200" b="1" i="1" dirty="0">
                <a:solidFill>
                  <a:schemeClr val="accent6">
                    <a:lumMod val="60000"/>
                    <a:lumOff val="40000"/>
                  </a:schemeClr>
                </a:solidFill>
              </a:rPr>
              <a:t>Schizophrenia</a:t>
            </a:r>
          </a:p>
        </p:txBody>
      </p:sp>
      <p:cxnSp>
        <p:nvCxnSpPr>
          <p:cNvPr id="12" name="מחבר: מרפקי 11">
            <a:extLst>
              <a:ext uri="{FF2B5EF4-FFF2-40B4-BE49-F238E27FC236}">
                <a16:creationId xmlns:a16="http://schemas.microsoft.com/office/drawing/2014/main" id="{84C8ACC4-856E-3BA9-07EF-01310E2334FC}"/>
              </a:ext>
            </a:extLst>
          </p:cNvPr>
          <p:cNvCxnSpPr>
            <a:cxnSpLocks/>
          </p:cNvCxnSpPr>
          <p:nvPr/>
        </p:nvCxnSpPr>
        <p:spPr>
          <a:xfrm flipV="1">
            <a:off x="10520969" y="3273778"/>
            <a:ext cx="474133" cy="1996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מציין מיקום תוכן 2">
            <a:extLst>
              <a:ext uri="{FF2B5EF4-FFF2-40B4-BE49-F238E27FC236}">
                <a16:creationId xmlns:a16="http://schemas.microsoft.com/office/drawing/2014/main" id="{E4408A42-27B4-D603-CC7E-E6CF6352D9B4}"/>
              </a:ext>
            </a:extLst>
          </p:cNvPr>
          <p:cNvSpPr txBox="1">
            <a:spLocks/>
          </p:cNvSpPr>
          <p:nvPr/>
        </p:nvSpPr>
        <p:spPr>
          <a:xfrm>
            <a:off x="10607239" y="3085631"/>
            <a:ext cx="15847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1"/>
                </a:solidFill>
              </a:rPr>
              <a:t>Psoriasis</a:t>
            </a:r>
          </a:p>
          <a:p>
            <a:pPr marL="0" indent="0" algn="ctr" rtl="0">
              <a:buNone/>
            </a:pPr>
            <a:r>
              <a:rPr lang="en-US" sz="1200" b="1" i="1" dirty="0">
                <a:solidFill>
                  <a:schemeClr val="accent1"/>
                </a:solidFill>
              </a:rPr>
              <a:t>Carcinoma</a:t>
            </a:r>
          </a:p>
        </p:txBody>
      </p:sp>
      <p:grpSp>
        <p:nvGrpSpPr>
          <p:cNvPr id="22" name="Group 62">
            <a:extLst>
              <a:ext uri="{FF2B5EF4-FFF2-40B4-BE49-F238E27FC236}">
                <a16:creationId xmlns:a16="http://schemas.microsoft.com/office/drawing/2014/main" id="{71E8386D-EE39-A34D-7DB0-88553FC9E222}"/>
              </a:ext>
            </a:extLst>
          </p:cNvPr>
          <p:cNvGrpSpPr/>
          <p:nvPr/>
        </p:nvGrpSpPr>
        <p:grpSpPr>
          <a:xfrm>
            <a:off x="9335541" y="2142880"/>
            <a:ext cx="671285" cy="1858414"/>
            <a:chOff x="4369354" y="616282"/>
            <a:chExt cx="615419" cy="1824782"/>
          </a:xfrm>
        </p:grpSpPr>
        <p:sp>
          <p:nvSpPr>
            <p:cNvPr id="23" name="Rectangle 60">
              <a:extLst>
                <a:ext uri="{FF2B5EF4-FFF2-40B4-BE49-F238E27FC236}">
                  <a16:creationId xmlns:a16="http://schemas.microsoft.com/office/drawing/2014/main" id="{0E34D9CF-5BFD-F0E9-B463-04386E12DE23}"/>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24" name="Group 50">
              <a:extLst>
                <a:ext uri="{FF2B5EF4-FFF2-40B4-BE49-F238E27FC236}">
                  <a16:creationId xmlns:a16="http://schemas.microsoft.com/office/drawing/2014/main" id="{0AF2448B-8CAB-2036-8D49-6E4397462F37}"/>
                </a:ext>
              </a:extLst>
            </p:cNvPr>
            <p:cNvGrpSpPr/>
            <p:nvPr/>
          </p:nvGrpSpPr>
          <p:grpSpPr>
            <a:xfrm>
              <a:off x="4482472" y="622186"/>
              <a:ext cx="373391" cy="1818878"/>
              <a:chOff x="7430624" y="36225"/>
              <a:chExt cx="1013108" cy="4935102"/>
            </a:xfrm>
          </p:grpSpPr>
          <p:pic>
            <p:nvPicPr>
              <p:cNvPr id="25" name="Picture 2" descr="Anterior and Posterior Views of Spine">
                <a:extLst>
                  <a:ext uri="{FF2B5EF4-FFF2-40B4-BE49-F238E27FC236}">
                    <a16:creationId xmlns:a16="http://schemas.microsoft.com/office/drawing/2014/main" id="{8B2D0861-26F4-F04D-FB43-6D399E56171B}"/>
                  </a:ext>
                </a:extLst>
              </p:cNvPr>
              <p:cNvPicPr>
                <a:picLocks noChangeAspect="1" noChangeArrowheads="1"/>
              </p:cNvPicPr>
              <p:nvPr/>
            </p:nvPicPr>
            <p:blipFill rotWithShape="1">
              <a:blip r:embed="rId4">
                <a:duotone>
                  <a:schemeClr val="accent2">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26" name="Rectangle 49">
                <a:extLst>
                  <a:ext uri="{FF2B5EF4-FFF2-40B4-BE49-F238E27FC236}">
                    <a16:creationId xmlns:a16="http://schemas.microsoft.com/office/drawing/2014/main" id="{16A4A05E-412B-1A6A-9A16-70654ED5EC07}"/>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7" name="Rectangle 52">
                <a:extLst>
                  <a:ext uri="{FF2B5EF4-FFF2-40B4-BE49-F238E27FC236}">
                    <a16:creationId xmlns:a16="http://schemas.microsoft.com/office/drawing/2014/main" id="{8DC2A778-39E3-08F5-174A-18934C41260A}"/>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8" name="Rectangle 53">
                <a:extLst>
                  <a:ext uri="{FF2B5EF4-FFF2-40B4-BE49-F238E27FC236}">
                    <a16:creationId xmlns:a16="http://schemas.microsoft.com/office/drawing/2014/main" id="{C17E119D-A97F-2103-A39D-4831C1911195}"/>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29" name="Rectangle 54">
                <a:extLst>
                  <a:ext uri="{FF2B5EF4-FFF2-40B4-BE49-F238E27FC236}">
                    <a16:creationId xmlns:a16="http://schemas.microsoft.com/office/drawing/2014/main" id="{C1BB79D5-2C0B-8ACF-EAA9-4FEB5DCEEB5C}"/>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30" name="Rectangle 55">
                <a:extLst>
                  <a:ext uri="{FF2B5EF4-FFF2-40B4-BE49-F238E27FC236}">
                    <a16:creationId xmlns:a16="http://schemas.microsoft.com/office/drawing/2014/main" id="{A9047645-1E74-A2D2-2149-A138EB865AFE}"/>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31" name="Rectangle 56">
                <a:extLst>
                  <a:ext uri="{FF2B5EF4-FFF2-40B4-BE49-F238E27FC236}">
                    <a16:creationId xmlns:a16="http://schemas.microsoft.com/office/drawing/2014/main" id="{02C1425F-AC58-7280-F131-6EE11DF0A7FC}"/>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024" name="Rectangle 57">
                <a:extLst>
                  <a:ext uri="{FF2B5EF4-FFF2-40B4-BE49-F238E27FC236}">
                    <a16:creationId xmlns:a16="http://schemas.microsoft.com/office/drawing/2014/main" id="{A29CE5F4-AEED-A4B3-C4B7-81C85C8053E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pic>
        <p:nvPicPr>
          <p:cNvPr id="16" name="תמונה 15">
            <a:extLst>
              <a:ext uri="{FF2B5EF4-FFF2-40B4-BE49-F238E27FC236}">
                <a16:creationId xmlns:a16="http://schemas.microsoft.com/office/drawing/2014/main" id="{C12C4B6A-C455-4926-5573-90FCA85D3E29}"/>
              </a:ext>
            </a:extLst>
          </p:cNvPr>
          <p:cNvPicPr>
            <a:picLocks noChangeAspect="1"/>
          </p:cNvPicPr>
          <p:nvPr/>
        </p:nvPicPr>
        <p:blipFill>
          <a:blip r:embed="rId5"/>
          <a:srcRect l="19050" t="6673" r="5577"/>
          <a:stretch/>
        </p:blipFill>
        <p:spPr>
          <a:xfrm>
            <a:off x="9453342" y="2223777"/>
            <a:ext cx="442738" cy="583229"/>
          </a:xfrm>
          <a:prstGeom prst="rect">
            <a:avLst/>
          </a:prstGeom>
        </p:spPr>
      </p:pic>
      <p:pic>
        <p:nvPicPr>
          <p:cNvPr id="20" name="תמונה 19">
            <a:extLst>
              <a:ext uri="{FF2B5EF4-FFF2-40B4-BE49-F238E27FC236}">
                <a16:creationId xmlns:a16="http://schemas.microsoft.com/office/drawing/2014/main" id="{092776A3-063C-AF99-9187-76FCCC1AD3D0}"/>
              </a:ext>
            </a:extLst>
          </p:cNvPr>
          <p:cNvPicPr>
            <a:picLocks noChangeAspect="1"/>
          </p:cNvPicPr>
          <p:nvPr/>
        </p:nvPicPr>
        <p:blipFill>
          <a:blip r:embed="rId6"/>
          <a:stretch>
            <a:fillRect/>
          </a:stretch>
        </p:blipFill>
        <p:spPr>
          <a:xfrm>
            <a:off x="9636414" y="2764474"/>
            <a:ext cx="337154" cy="427733"/>
          </a:xfrm>
          <a:prstGeom prst="rect">
            <a:avLst/>
          </a:prstGeom>
        </p:spPr>
      </p:pic>
      <p:pic>
        <p:nvPicPr>
          <p:cNvPr id="21" name="Picture 44" descr="brain_sketch_by_pcek-d53270v.png">
            <a:extLst>
              <a:ext uri="{FF2B5EF4-FFF2-40B4-BE49-F238E27FC236}">
                <a16:creationId xmlns:a16="http://schemas.microsoft.com/office/drawing/2014/main" id="{C1D75B37-63F0-C3BA-4F1F-B8D80397AF9A}"/>
              </a:ext>
            </a:extLst>
          </p:cNvPr>
          <p:cNvPicPr>
            <a:picLocks noChangeAspect="1"/>
          </p:cNvPicPr>
          <p:nvPr/>
        </p:nvPicPr>
        <p:blipFill>
          <a:blip r:embed="rId7" cstate="print">
            <a:duotone>
              <a:schemeClr val="accent6">
                <a:shade val="45000"/>
                <a:satMod val="135000"/>
              </a:schemeClr>
              <a:prstClr val="white"/>
            </a:duotone>
          </a:blip>
          <a:stretch>
            <a:fillRect/>
          </a:stretch>
        </p:blipFill>
        <p:spPr>
          <a:xfrm>
            <a:off x="9495644" y="1605565"/>
            <a:ext cx="358133" cy="260750"/>
          </a:xfrm>
          <a:prstGeom prst="rect">
            <a:avLst/>
          </a:prstGeom>
        </p:spPr>
      </p:pic>
      <p:sp>
        <p:nvSpPr>
          <p:cNvPr id="1025" name="אליפסה 1024">
            <a:extLst>
              <a:ext uri="{FF2B5EF4-FFF2-40B4-BE49-F238E27FC236}">
                <a16:creationId xmlns:a16="http://schemas.microsoft.com/office/drawing/2014/main" id="{0ADE4D73-FDA2-C5D7-92A0-975B7B7F6FFA}"/>
              </a:ext>
            </a:extLst>
          </p:cNvPr>
          <p:cNvSpPr/>
          <p:nvPr/>
        </p:nvSpPr>
        <p:spPr>
          <a:xfrm>
            <a:off x="9555064" y="3918935"/>
            <a:ext cx="214564" cy="201849"/>
          </a:xfrm>
          <a:prstGeom prst="ellipse">
            <a:avLst/>
          </a:prstGeom>
          <a:solidFill>
            <a:srgbClr val="F2CFE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27" name="אליפסה 1026">
            <a:extLst>
              <a:ext uri="{FF2B5EF4-FFF2-40B4-BE49-F238E27FC236}">
                <a16:creationId xmlns:a16="http://schemas.microsoft.com/office/drawing/2014/main" id="{FFA91C1B-1800-CA4A-8D5C-90F2580D61C4}"/>
              </a:ext>
            </a:extLst>
          </p:cNvPr>
          <p:cNvSpPr/>
          <p:nvPr/>
        </p:nvSpPr>
        <p:spPr>
          <a:xfrm>
            <a:off x="9437238" y="3342811"/>
            <a:ext cx="572519" cy="483582"/>
          </a:xfrm>
          <a:prstGeom prst="ellipse">
            <a:avLst/>
          </a:prstGeom>
          <a:solidFill>
            <a:srgbClr val="CCF6EC">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1029" name="מחבר: מרפקי 1028">
            <a:extLst>
              <a:ext uri="{FF2B5EF4-FFF2-40B4-BE49-F238E27FC236}">
                <a16:creationId xmlns:a16="http://schemas.microsoft.com/office/drawing/2014/main" id="{8F6D8950-A8A6-25AF-1E07-B2533A1F0C4F}"/>
              </a:ext>
            </a:extLst>
          </p:cNvPr>
          <p:cNvCxnSpPr>
            <a:cxnSpLocks/>
            <a:stCxn id="20" idx="3"/>
          </p:cNvCxnSpPr>
          <p:nvPr/>
        </p:nvCxnSpPr>
        <p:spPr>
          <a:xfrm flipV="1">
            <a:off x="9973568" y="2413570"/>
            <a:ext cx="593409" cy="564771"/>
          </a:xfrm>
          <a:prstGeom prst="bentConnector3">
            <a:avLst/>
          </a:prstGeom>
          <a:ln>
            <a:solidFill>
              <a:schemeClr val="bg2">
                <a:lumMod val="75000"/>
              </a:schemeClr>
            </a:solidFill>
            <a:tailEnd type="triangle"/>
          </a:ln>
        </p:spPr>
        <p:style>
          <a:lnRef idx="2">
            <a:schemeClr val="accent3"/>
          </a:lnRef>
          <a:fillRef idx="0">
            <a:schemeClr val="accent3"/>
          </a:fillRef>
          <a:effectRef idx="1">
            <a:schemeClr val="accent3"/>
          </a:effectRef>
          <a:fontRef idx="minor">
            <a:schemeClr val="tx1"/>
          </a:fontRef>
        </p:style>
      </p:cxnSp>
      <p:sp>
        <p:nvSpPr>
          <p:cNvPr id="1031" name="מציין מיקום תוכן 2">
            <a:extLst>
              <a:ext uri="{FF2B5EF4-FFF2-40B4-BE49-F238E27FC236}">
                <a16:creationId xmlns:a16="http://schemas.microsoft.com/office/drawing/2014/main" id="{CF09DD9A-EDFF-3A25-C02E-C71033BA8414}"/>
              </a:ext>
            </a:extLst>
          </p:cNvPr>
          <p:cNvSpPr txBox="1">
            <a:spLocks/>
          </p:cNvSpPr>
          <p:nvPr/>
        </p:nvSpPr>
        <p:spPr>
          <a:xfrm>
            <a:off x="10520969" y="2196686"/>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bg2">
                    <a:lumMod val="75000"/>
                  </a:schemeClr>
                </a:solidFill>
              </a:rPr>
              <a:t>Myocardial infractions</a:t>
            </a:r>
          </a:p>
          <a:p>
            <a:pPr marL="0" indent="0" algn="ctr" rtl="0">
              <a:buNone/>
            </a:pPr>
            <a:r>
              <a:rPr lang="en-US" sz="1200" b="1" i="1" dirty="0">
                <a:solidFill>
                  <a:schemeClr val="bg2">
                    <a:lumMod val="75000"/>
                  </a:schemeClr>
                </a:solidFill>
              </a:rPr>
              <a:t>Varicose veins</a:t>
            </a:r>
          </a:p>
        </p:txBody>
      </p:sp>
      <p:cxnSp>
        <p:nvCxnSpPr>
          <p:cNvPr id="1034" name="מחבר: מרפקי 1033">
            <a:extLst>
              <a:ext uri="{FF2B5EF4-FFF2-40B4-BE49-F238E27FC236}">
                <a16:creationId xmlns:a16="http://schemas.microsoft.com/office/drawing/2014/main" id="{AC8D7AB4-D866-9E23-C2C8-BDFA5AD92A1E}"/>
              </a:ext>
            </a:extLst>
          </p:cNvPr>
          <p:cNvCxnSpPr>
            <a:cxnSpLocks/>
          </p:cNvCxnSpPr>
          <p:nvPr/>
        </p:nvCxnSpPr>
        <p:spPr>
          <a:xfrm rot="10800000">
            <a:off x="8899566" y="2028742"/>
            <a:ext cx="608720" cy="572151"/>
          </a:xfrm>
          <a:prstGeom prst="bentConnector3">
            <a:avLst/>
          </a:prstGeom>
          <a:ln>
            <a:solidFill>
              <a:schemeClr val="accent5">
                <a:lumMod val="60000"/>
                <a:lumOff val="40000"/>
              </a:schemeClr>
            </a:solidFill>
            <a:tailEnd type="triangle"/>
          </a:ln>
        </p:spPr>
        <p:style>
          <a:lnRef idx="2">
            <a:schemeClr val="accent3"/>
          </a:lnRef>
          <a:fillRef idx="0">
            <a:schemeClr val="accent3"/>
          </a:fillRef>
          <a:effectRef idx="1">
            <a:schemeClr val="accent3"/>
          </a:effectRef>
          <a:fontRef idx="minor">
            <a:schemeClr val="tx1"/>
          </a:fontRef>
        </p:style>
      </p:cxnSp>
      <p:sp>
        <p:nvSpPr>
          <p:cNvPr id="1036" name="מציין מיקום תוכן 2">
            <a:extLst>
              <a:ext uri="{FF2B5EF4-FFF2-40B4-BE49-F238E27FC236}">
                <a16:creationId xmlns:a16="http://schemas.microsoft.com/office/drawing/2014/main" id="{45B4BA20-39CC-C7B1-0B6E-CA1766EA814B}"/>
              </a:ext>
            </a:extLst>
          </p:cNvPr>
          <p:cNvSpPr txBox="1">
            <a:spLocks/>
          </p:cNvSpPr>
          <p:nvPr/>
        </p:nvSpPr>
        <p:spPr>
          <a:xfrm>
            <a:off x="7297108" y="1752191"/>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5">
                    <a:lumMod val="60000"/>
                    <a:lumOff val="40000"/>
                  </a:schemeClr>
                </a:solidFill>
              </a:rPr>
              <a:t>Bronchial asthma</a:t>
            </a:r>
          </a:p>
          <a:p>
            <a:pPr marL="0" indent="0" algn="ctr" rtl="0">
              <a:buNone/>
            </a:pPr>
            <a:r>
              <a:rPr lang="en-US" sz="1200" b="1" i="1" dirty="0">
                <a:solidFill>
                  <a:schemeClr val="accent5">
                    <a:lumMod val="60000"/>
                    <a:lumOff val="40000"/>
                  </a:schemeClr>
                </a:solidFill>
              </a:rPr>
              <a:t>Sleep apnea</a:t>
            </a:r>
          </a:p>
        </p:txBody>
      </p:sp>
      <p:cxnSp>
        <p:nvCxnSpPr>
          <p:cNvPr id="1037" name="מחבר: מרפקי 1036">
            <a:extLst>
              <a:ext uri="{FF2B5EF4-FFF2-40B4-BE49-F238E27FC236}">
                <a16:creationId xmlns:a16="http://schemas.microsoft.com/office/drawing/2014/main" id="{C6BDC006-0C7C-3B95-44D4-3A744D281194}"/>
              </a:ext>
            </a:extLst>
          </p:cNvPr>
          <p:cNvCxnSpPr>
            <a:cxnSpLocks/>
          </p:cNvCxnSpPr>
          <p:nvPr/>
        </p:nvCxnSpPr>
        <p:spPr>
          <a:xfrm rot="10800000">
            <a:off x="8646291" y="2899548"/>
            <a:ext cx="984813" cy="310058"/>
          </a:xfrm>
          <a:prstGeom prst="bentConnector3">
            <a:avLst/>
          </a:prstGeom>
          <a:ln>
            <a:tailEnd type="triangle"/>
          </a:ln>
        </p:spPr>
        <p:style>
          <a:lnRef idx="2">
            <a:schemeClr val="accent2"/>
          </a:lnRef>
          <a:fillRef idx="0">
            <a:schemeClr val="accent2"/>
          </a:fillRef>
          <a:effectRef idx="1">
            <a:schemeClr val="accent2"/>
          </a:effectRef>
          <a:fontRef idx="minor">
            <a:schemeClr val="tx1"/>
          </a:fontRef>
        </p:style>
      </p:cxnSp>
      <p:sp>
        <p:nvSpPr>
          <p:cNvPr id="1039" name="מציין מיקום תוכן 2">
            <a:extLst>
              <a:ext uri="{FF2B5EF4-FFF2-40B4-BE49-F238E27FC236}">
                <a16:creationId xmlns:a16="http://schemas.microsoft.com/office/drawing/2014/main" id="{293B47E7-EF24-5C06-3CE0-5E2A57A1AB0F}"/>
              </a:ext>
            </a:extLst>
          </p:cNvPr>
          <p:cNvSpPr txBox="1">
            <a:spLocks/>
          </p:cNvSpPr>
          <p:nvPr/>
        </p:nvSpPr>
        <p:spPr>
          <a:xfrm>
            <a:off x="7241608" y="2637378"/>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2">
                    <a:lumMod val="60000"/>
                    <a:lumOff val="40000"/>
                  </a:schemeClr>
                </a:solidFill>
              </a:rPr>
              <a:t>Scoliosis</a:t>
            </a:r>
          </a:p>
          <a:p>
            <a:pPr marL="0" indent="0" algn="ctr" rtl="0">
              <a:buNone/>
            </a:pPr>
            <a:r>
              <a:rPr lang="en-US" sz="1200" b="1" i="1" dirty="0">
                <a:solidFill>
                  <a:schemeClr val="accent2">
                    <a:lumMod val="60000"/>
                    <a:lumOff val="40000"/>
                  </a:schemeClr>
                </a:solidFill>
              </a:rPr>
              <a:t>Osteoporosis</a:t>
            </a:r>
          </a:p>
        </p:txBody>
      </p:sp>
      <p:cxnSp>
        <p:nvCxnSpPr>
          <p:cNvPr id="1040" name="מחבר: מרפקי 1039">
            <a:extLst>
              <a:ext uri="{FF2B5EF4-FFF2-40B4-BE49-F238E27FC236}">
                <a16:creationId xmlns:a16="http://schemas.microsoft.com/office/drawing/2014/main" id="{4147897E-A680-4C08-EAEB-30BCEE105299}"/>
              </a:ext>
            </a:extLst>
          </p:cNvPr>
          <p:cNvCxnSpPr>
            <a:cxnSpLocks/>
          </p:cNvCxnSpPr>
          <p:nvPr/>
        </p:nvCxnSpPr>
        <p:spPr>
          <a:xfrm rot="10800000" flipV="1">
            <a:off x="8387190" y="3587971"/>
            <a:ext cx="1081796" cy="263238"/>
          </a:xfrm>
          <a:prstGeom prst="bentConnector3">
            <a:avLst/>
          </a:prstGeom>
          <a:ln>
            <a:solidFill>
              <a:srgbClr val="25D5D5"/>
            </a:solidFill>
            <a:tailEnd type="triangle"/>
          </a:ln>
        </p:spPr>
        <p:style>
          <a:lnRef idx="2">
            <a:schemeClr val="accent2"/>
          </a:lnRef>
          <a:fillRef idx="0">
            <a:schemeClr val="accent2"/>
          </a:fillRef>
          <a:effectRef idx="1">
            <a:schemeClr val="accent2"/>
          </a:effectRef>
          <a:fontRef idx="minor">
            <a:schemeClr val="tx1"/>
          </a:fontRef>
        </p:style>
      </p:cxnSp>
      <p:sp>
        <p:nvSpPr>
          <p:cNvPr id="1042" name="מציין מיקום תוכן 2">
            <a:extLst>
              <a:ext uri="{FF2B5EF4-FFF2-40B4-BE49-F238E27FC236}">
                <a16:creationId xmlns:a16="http://schemas.microsoft.com/office/drawing/2014/main" id="{05E5C228-0CBF-1241-D6BA-3EE28FA1078D}"/>
              </a:ext>
            </a:extLst>
          </p:cNvPr>
          <p:cNvSpPr txBox="1">
            <a:spLocks/>
          </p:cNvSpPr>
          <p:nvPr/>
        </p:nvSpPr>
        <p:spPr>
          <a:xfrm>
            <a:off x="6979452" y="3569214"/>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rgbClr val="25D5D5"/>
                </a:solidFill>
              </a:rPr>
              <a:t>Colon diverticulosis</a:t>
            </a:r>
          </a:p>
          <a:p>
            <a:pPr marL="0" indent="0" algn="ctr" rtl="0">
              <a:buNone/>
            </a:pPr>
            <a:r>
              <a:rPr lang="en-US" sz="1200" b="1" i="1" dirty="0">
                <a:solidFill>
                  <a:srgbClr val="25D5D5"/>
                </a:solidFill>
              </a:rPr>
              <a:t>Hemorrhoids</a:t>
            </a:r>
          </a:p>
        </p:txBody>
      </p:sp>
      <p:cxnSp>
        <p:nvCxnSpPr>
          <p:cNvPr id="1043" name="מחבר: מרפקי 1042">
            <a:extLst>
              <a:ext uri="{FF2B5EF4-FFF2-40B4-BE49-F238E27FC236}">
                <a16:creationId xmlns:a16="http://schemas.microsoft.com/office/drawing/2014/main" id="{24708754-64F8-79D7-3768-43B91985AE94}"/>
              </a:ext>
            </a:extLst>
          </p:cNvPr>
          <p:cNvCxnSpPr>
            <a:cxnSpLocks/>
          </p:cNvCxnSpPr>
          <p:nvPr/>
        </p:nvCxnSpPr>
        <p:spPr>
          <a:xfrm rot="10800000" flipV="1">
            <a:off x="8617041" y="4041863"/>
            <a:ext cx="967510" cy="424860"/>
          </a:xfrm>
          <a:prstGeom prst="bentConnector3">
            <a:avLst/>
          </a:prstGeom>
          <a:ln>
            <a:solidFill>
              <a:srgbClr val="F2CFEE"/>
            </a:solidFill>
            <a:tailEnd type="triangle"/>
          </a:ln>
        </p:spPr>
        <p:style>
          <a:lnRef idx="2">
            <a:schemeClr val="accent2"/>
          </a:lnRef>
          <a:fillRef idx="0">
            <a:schemeClr val="accent2"/>
          </a:fillRef>
          <a:effectRef idx="1">
            <a:schemeClr val="accent2"/>
          </a:effectRef>
          <a:fontRef idx="minor">
            <a:schemeClr val="tx1"/>
          </a:fontRef>
        </p:style>
      </p:cxnSp>
      <p:sp>
        <p:nvSpPr>
          <p:cNvPr id="1045" name="מציין מיקום תוכן 2">
            <a:extLst>
              <a:ext uri="{FF2B5EF4-FFF2-40B4-BE49-F238E27FC236}">
                <a16:creationId xmlns:a16="http://schemas.microsoft.com/office/drawing/2014/main" id="{D99EBB30-1AF2-5781-0E5B-4409F00B275D}"/>
              </a:ext>
            </a:extLst>
          </p:cNvPr>
          <p:cNvSpPr txBox="1">
            <a:spLocks/>
          </p:cNvSpPr>
          <p:nvPr/>
        </p:nvSpPr>
        <p:spPr>
          <a:xfrm>
            <a:off x="7118205" y="4254293"/>
            <a:ext cx="1781361" cy="483583"/>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200" b="1" i="1" dirty="0">
                <a:solidFill>
                  <a:schemeClr val="accent5">
                    <a:lumMod val="40000"/>
                    <a:lumOff val="60000"/>
                  </a:schemeClr>
                </a:solidFill>
              </a:rPr>
              <a:t>Morning sickness</a:t>
            </a:r>
          </a:p>
          <a:p>
            <a:pPr marL="0" indent="0" algn="ctr" rtl="0">
              <a:buNone/>
            </a:pPr>
            <a:r>
              <a:rPr lang="en-US" sz="1200" b="1" i="1" dirty="0">
                <a:solidFill>
                  <a:schemeClr val="accent5">
                    <a:lumMod val="40000"/>
                    <a:lumOff val="60000"/>
                  </a:schemeClr>
                </a:solidFill>
              </a:rPr>
              <a:t>Premature labor</a:t>
            </a:r>
          </a:p>
        </p:txBody>
      </p:sp>
      <p:pic>
        <p:nvPicPr>
          <p:cNvPr id="1046" name="תמונה 1045">
            <a:extLst>
              <a:ext uri="{FF2B5EF4-FFF2-40B4-BE49-F238E27FC236}">
                <a16:creationId xmlns:a16="http://schemas.microsoft.com/office/drawing/2014/main" id="{1EB2893F-A235-DEDC-C333-5787F6CA7025}"/>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l="18515" t="8391" r="18441" b="63264"/>
          <a:stretch/>
        </p:blipFill>
        <p:spPr>
          <a:xfrm>
            <a:off x="646446" y="4120784"/>
            <a:ext cx="1522972" cy="936995"/>
          </a:xfrm>
          <a:prstGeom prst="rect">
            <a:avLst/>
          </a:prstGeom>
        </p:spPr>
      </p:pic>
      <p:pic>
        <p:nvPicPr>
          <p:cNvPr id="1047" name="תמונה 1046">
            <a:extLst>
              <a:ext uri="{FF2B5EF4-FFF2-40B4-BE49-F238E27FC236}">
                <a16:creationId xmlns:a16="http://schemas.microsoft.com/office/drawing/2014/main" id="{E34A6DC0-B734-F526-AB62-21FA6D5A9714}"/>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t="69331"/>
          <a:stretch/>
        </p:blipFill>
        <p:spPr>
          <a:xfrm>
            <a:off x="3197703" y="4163072"/>
            <a:ext cx="2415695" cy="1013817"/>
          </a:xfrm>
          <a:prstGeom prst="rect">
            <a:avLst/>
          </a:prstGeom>
        </p:spPr>
      </p:pic>
      <p:pic>
        <p:nvPicPr>
          <p:cNvPr id="1048" name="תמונה 1047">
            <a:extLst>
              <a:ext uri="{FF2B5EF4-FFF2-40B4-BE49-F238E27FC236}">
                <a16:creationId xmlns:a16="http://schemas.microsoft.com/office/drawing/2014/main" id="{8F9EA96B-C281-E173-5096-80F84EE321C5}"/>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rcRect l="28374" t="34465" r="27899" b="30784"/>
          <a:stretch/>
        </p:blipFill>
        <p:spPr>
          <a:xfrm>
            <a:off x="2150370" y="4041863"/>
            <a:ext cx="1056299" cy="1148768"/>
          </a:xfrm>
          <a:prstGeom prst="rect">
            <a:avLst/>
          </a:prstGeom>
        </p:spPr>
      </p:pic>
      <p:sp>
        <p:nvSpPr>
          <p:cNvPr id="1049" name="תיבת טקסט 1048">
            <a:extLst>
              <a:ext uri="{FF2B5EF4-FFF2-40B4-BE49-F238E27FC236}">
                <a16:creationId xmlns:a16="http://schemas.microsoft.com/office/drawing/2014/main" id="{68FDC755-B8F6-A8F2-868C-45551960AA73}"/>
              </a:ext>
            </a:extLst>
          </p:cNvPr>
          <p:cNvSpPr txBox="1"/>
          <p:nvPr/>
        </p:nvSpPr>
        <p:spPr>
          <a:xfrm>
            <a:off x="7392136" y="2850724"/>
            <a:ext cx="1230460" cy="369332"/>
          </a:xfrm>
          <a:prstGeom prst="rect">
            <a:avLst/>
          </a:prstGeom>
          <a:solidFill>
            <a:srgbClr val="FFFFFF">
              <a:alpha val="50196"/>
            </a:srgbClr>
          </a:solidFill>
        </p:spPr>
        <p:txBody>
          <a:bodyPr wrap="square" rtlCol="1">
            <a:spAutoFit/>
          </a:bodyPr>
          <a:lstStyle/>
          <a:p>
            <a:endParaRPr lang="he-IL" dirty="0"/>
          </a:p>
        </p:txBody>
      </p:sp>
      <p:sp>
        <p:nvSpPr>
          <p:cNvPr id="1050" name="תיבת טקסט 1049">
            <a:extLst>
              <a:ext uri="{FF2B5EF4-FFF2-40B4-BE49-F238E27FC236}">
                <a16:creationId xmlns:a16="http://schemas.microsoft.com/office/drawing/2014/main" id="{1339F5C1-0AE7-1E27-EB3C-470D44C2F6C7}"/>
              </a:ext>
            </a:extLst>
          </p:cNvPr>
          <p:cNvSpPr txBox="1"/>
          <p:nvPr/>
        </p:nvSpPr>
        <p:spPr>
          <a:xfrm>
            <a:off x="7368988" y="4515925"/>
            <a:ext cx="1230460" cy="369332"/>
          </a:xfrm>
          <a:prstGeom prst="rect">
            <a:avLst/>
          </a:prstGeom>
          <a:solidFill>
            <a:srgbClr val="FFFFFF">
              <a:alpha val="50196"/>
            </a:srgbClr>
          </a:solidFill>
        </p:spPr>
        <p:txBody>
          <a:bodyPr wrap="square" rtlCol="1">
            <a:spAutoFit/>
          </a:bodyPr>
          <a:lstStyle/>
          <a:p>
            <a:endParaRPr lang="he-IL" dirty="0"/>
          </a:p>
        </p:txBody>
      </p:sp>
      <p:sp>
        <p:nvSpPr>
          <p:cNvPr id="1051" name="תיבת טקסט 1050">
            <a:extLst>
              <a:ext uri="{FF2B5EF4-FFF2-40B4-BE49-F238E27FC236}">
                <a16:creationId xmlns:a16="http://schemas.microsoft.com/office/drawing/2014/main" id="{BFA2B0E3-0C3D-7D8D-18C7-C6DE8613A469}"/>
              </a:ext>
            </a:extLst>
          </p:cNvPr>
          <p:cNvSpPr txBox="1"/>
          <p:nvPr/>
        </p:nvSpPr>
        <p:spPr>
          <a:xfrm>
            <a:off x="10802459" y="2436770"/>
            <a:ext cx="1230460" cy="369332"/>
          </a:xfrm>
          <a:prstGeom prst="rect">
            <a:avLst/>
          </a:prstGeom>
          <a:solidFill>
            <a:srgbClr val="FFFFFF">
              <a:alpha val="50196"/>
            </a:srgbClr>
          </a:solidFill>
        </p:spPr>
        <p:txBody>
          <a:bodyPr wrap="square" rtlCol="1">
            <a:spAutoFit/>
          </a:bodyPr>
          <a:lstStyle/>
          <a:p>
            <a:endParaRPr lang="he-IL"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4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4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4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5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0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5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9" grpId="0"/>
      <p:bldP spid="10" grpId="0"/>
      <p:bldP spid="11" grpId="0"/>
      <p:bldP spid="14" grpId="0"/>
      <p:bldP spid="1031" grpId="0"/>
      <p:bldP spid="1036" grpId="0"/>
      <p:bldP spid="1039" grpId="0"/>
      <p:bldP spid="1042" grpId="0"/>
      <p:bldP spid="1045" grpId="0"/>
      <p:bldP spid="1049" grpId="0" animBg="1"/>
      <p:bldP spid="1050" grpId="0" animBg="1"/>
      <p:bldP spid="105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025949" y="2680352"/>
            <a:ext cx="6140103" cy="3692750"/>
          </a:xfrm>
          <a:prstGeom prst="rect">
            <a:avLst/>
          </a:prstGeom>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4"/>
          <a:stretch>
            <a:fillRect/>
          </a:stretch>
        </p:blipFill>
        <p:spPr>
          <a:xfrm>
            <a:off x="2881871" y="1509713"/>
            <a:ext cx="6428258" cy="1035702"/>
          </a:xfrm>
          <a:prstGeom prst="rect">
            <a:avLst/>
          </a:prstGeom>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7" name="מציין מיקום תוכן 6" descr="תמונה שמכילה טקסט, צילום מסך, עלילה, תרשים&#10;&#10;תוכן שנוצר על-ידי בינה מלאכותית עשוי להיות שגוי.">
            <a:extLst>
              <a:ext uri="{FF2B5EF4-FFF2-40B4-BE49-F238E27FC236}">
                <a16:creationId xmlns:a16="http://schemas.microsoft.com/office/drawing/2014/main" id="{E1036967-F43A-2288-7E4F-800F469F6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090920" y="1690688"/>
            <a:ext cx="6010160" cy="4861673"/>
          </a:xfrm>
        </p:spPr>
      </p:pic>
      <p:sp>
        <p:nvSpPr>
          <p:cNvPr id="8" name="כותרת משנה 2">
            <a:extLst>
              <a:ext uri="{FF2B5EF4-FFF2-40B4-BE49-F238E27FC236}">
                <a16:creationId xmlns:a16="http://schemas.microsoft.com/office/drawing/2014/main" id="{590EB39A-A8C7-5D36-4E98-37FD12A74CA5}"/>
              </a:ext>
            </a:extLst>
          </p:cNvPr>
          <p:cNvSpPr txBox="1">
            <a:spLocks/>
          </p:cNvSpPr>
          <p:nvPr/>
        </p:nvSpPr>
        <p:spPr>
          <a:xfrm>
            <a:off x="3415865" y="1352925"/>
            <a:ext cx="568521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Total number of genes per disease</a:t>
            </a:r>
            <a:endParaRPr lang="he-IL" sz="2000" b="1" i="1" dirty="0"/>
          </a:p>
        </p:txBody>
      </p:sp>
      <p:sp>
        <p:nvSpPr>
          <p:cNvPr id="9" name="תיבת טקסט 8">
            <a:extLst>
              <a:ext uri="{FF2B5EF4-FFF2-40B4-BE49-F238E27FC236}">
                <a16:creationId xmlns:a16="http://schemas.microsoft.com/office/drawing/2014/main" id="{3C8DD660-2C8E-211E-B5C5-C665A775C7BD}"/>
              </a:ext>
            </a:extLst>
          </p:cNvPr>
          <p:cNvSpPr txBox="1"/>
          <p:nvPr/>
        </p:nvSpPr>
        <p:spPr>
          <a:xfrm rot="16200000">
            <a:off x="2220316" y="3477613"/>
            <a:ext cx="2018207" cy="276999"/>
          </a:xfrm>
          <a:prstGeom prst="rect">
            <a:avLst/>
          </a:prstGeom>
          <a:solidFill>
            <a:schemeClr val="bg1"/>
          </a:solidFill>
        </p:spPr>
        <p:txBody>
          <a:bodyPr wrap="square" rtlCol="1">
            <a:spAutoFit/>
          </a:bodyPr>
          <a:lstStyle/>
          <a:p>
            <a:pPr algn="ctr"/>
            <a:endParaRPr lang="he-IL" sz="1200" dirty="0"/>
          </a:p>
        </p:txBody>
      </p:sp>
    </p:spTree>
    <p:extLst>
      <p:ext uri="{BB962C8B-B14F-4D97-AF65-F5344CB8AC3E}">
        <p14:creationId xmlns:p14="http://schemas.microsoft.com/office/powerpoint/2010/main" val="232043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4857187"/>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475759"/>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338338"/>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286435"/>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228605"/>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176937"/>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6440301" y="1662794"/>
            <a:ext cx="4584830" cy="3774380"/>
          </a:xfrm>
          <a:prstGeom prst="rect">
            <a:avLst/>
          </a:prstGeom>
        </p:spPr>
      </p:pic>
      <p:sp>
        <p:nvSpPr>
          <p:cNvPr id="3" name="מציין מיקום תוכן 2">
            <a:extLst>
              <a:ext uri="{FF2B5EF4-FFF2-40B4-BE49-F238E27FC236}">
                <a16:creationId xmlns:a16="http://schemas.microsoft.com/office/drawing/2014/main" id="{23F41A33-5C9B-C733-02E0-C4F60EBBC84B}"/>
              </a:ext>
            </a:extLst>
          </p:cNvPr>
          <p:cNvSpPr txBox="1">
            <a:spLocks/>
          </p:cNvSpPr>
          <p:nvPr/>
        </p:nvSpPr>
        <p:spPr>
          <a:xfrm>
            <a:off x="2421619"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More changes</a:t>
            </a:r>
          </a:p>
        </p:txBody>
      </p:sp>
      <p:sp>
        <p:nvSpPr>
          <p:cNvPr id="26" name="מציין מיקום תוכן 2">
            <a:extLst>
              <a:ext uri="{FF2B5EF4-FFF2-40B4-BE49-F238E27FC236}">
                <a16:creationId xmlns:a16="http://schemas.microsoft.com/office/drawing/2014/main" id="{1430F621-531F-E566-1E65-2F6E555319CE}"/>
              </a:ext>
            </a:extLst>
          </p:cNvPr>
          <p:cNvSpPr txBox="1">
            <a:spLocks/>
          </p:cNvSpPr>
          <p:nvPr/>
        </p:nvSpPr>
        <p:spPr>
          <a:xfrm>
            <a:off x="5296227"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Larger changes</a:t>
            </a:r>
          </a:p>
        </p:txBody>
      </p:sp>
      <p:sp>
        <p:nvSpPr>
          <p:cNvPr id="28" name="מציין מיקום תוכן 2">
            <a:extLst>
              <a:ext uri="{FF2B5EF4-FFF2-40B4-BE49-F238E27FC236}">
                <a16:creationId xmlns:a16="http://schemas.microsoft.com/office/drawing/2014/main" id="{8A58ADEF-501D-AF9C-DB58-AAF64AF5190E}"/>
              </a:ext>
            </a:extLst>
          </p:cNvPr>
          <p:cNvSpPr txBox="1">
            <a:spLocks/>
          </p:cNvSpPr>
          <p:nvPr/>
        </p:nvSpPr>
        <p:spPr>
          <a:xfrm>
            <a:off x="8170835"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Biased changes</a:t>
            </a:r>
          </a:p>
        </p:txBody>
      </p:sp>
      <p:sp>
        <p:nvSpPr>
          <p:cNvPr id="44" name="מציין מיקום תוכן 2">
            <a:extLst>
              <a:ext uri="{FF2B5EF4-FFF2-40B4-BE49-F238E27FC236}">
                <a16:creationId xmlns:a16="http://schemas.microsoft.com/office/drawing/2014/main" id="{2E2B1BD3-36CF-2B62-8392-1BB67B270550}"/>
              </a:ext>
            </a:extLst>
          </p:cNvPr>
          <p:cNvSpPr txBox="1">
            <a:spLocks/>
          </p:cNvSpPr>
          <p:nvPr/>
        </p:nvSpPr>
        <p:spPr>
          <a:xfrm>
            <a:off x="424673" y="1335890"/>
            <a:ext cx="2403519" cy="538750"/>
          </a:xfrm>
          <a:prstGeom prst="rect">
            <a:avLst/>
          </a:prstGeom>
        </p:spPr>
        <p:txBody>
          <a:bodyPr vert="horz" lIns="91440" tIns="45720" rIns="91440" bIns="45720" rtlCol="1">
            <a:normAutofit fontScale="925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Adaptive change</a:t>
            </a:r>
          </a:p>
        </p:txBody>
      </p:sp>
      <p:sp>
        <p:nvSpPr>
          <p:cNvPr id="45" name="מציין מיקום תוכן 2">
            <a:extLst>
              <a:ext uri="{FF2B5EF4-FFF2-40B4-BE49-F238E27FC236}">
                <a16:creationId xmlns:a16="http://schemas.microsoft.com/office/drawing/2014/main" id="{1FF381BE-995B-9857-46D4-307185EAFFE6}"/>
              </a:ext>
            </a:extLst>
          </p:cNvPr>
          <p:cNvSpPr txBox="1">
            <a:spLocks/>
          </p:cNvSpPr>
          <p:nvPr/>
        </p:nvSpPr>
        <p:spPr>
          <a:xfrm>
            <a:off x="2889919" y="1335262"/>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Tradeoff</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3" grpId="0"/>
      <p:bldP spid="26" grpId="0"/>
      <p:bldP spid="28" grpId="0"/>
      <p:bldP spid="44" grpId="0"/>
      <p:bldP spid="4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4" name="תמונה 3"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D0A283C7-5467-B6B3-378C-03960BDB7D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7" y="1681352"/>
            <a:ext cx="6886579" cy="5164935"/>
          </a:xfrm>
          <a:prstGeom prst="rect">
            <a:avLst/>
          </a:prstGeom>
        </p:spPr>
      </p:pic>
      <p:pic>
        <p:nvPicPr>
          <p:cNvPr id="6" name="תמונה 5"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966AA430-3394-9997-8B4D-BBFEF01DB8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10479" y="1753495"/>
            <a:ext cx="3403004" cy="2552253"/>
          </a:xfrm>
          <a:prstGeom prst="rect">
            <a:avLst/>
          </a:prstGeom>
        </p:spPr>
      </p:pic>
      <p:pic>
        <p:nvPicPr>
          <p:cNvPr id="8" name="תמונה 7"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9446D094-1DAA-4B6B-DFB7-0CC6BF2E2B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12097" y="4305748"/>
            <a:ext cx="3403003" cy="2552252"/>
          </a:xfrm>
          <a:prstGeom prst="rect">
            <a:avLst/>
          </a:prstGeom>
        </p:spPr>
      </p:pic>
      <p:pic>
        <p:nvPicPr>
          <p:cNvPr id="10" name="תמונה 9"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676BBA8F-9B94-9D2B-CA00-51562D173E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788997" y="4305748"/>
            <a:ext cx="3403003" cy="2552252"/>
          </a:xfrm>
          <a:prstGeom prst="rect">
            <a:avLst/>
          </a:prstGeom>
        </p:spPr>
      </p:pic>
    </p:spTree>
    <p:extLst>
      <p:ext uri="{BB962C8B-B14F-4D97-AF65-F5344CB8AC3E}">
        <p14:creationId xmlns:p14="http://schemas.microsoft.com/office/powerpoint/2010/main" val="1669711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25CBC-AB41-AA22-45FB-70D0578B8C3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598277B-7EF4-65D2-3304-F130105308F6}"/>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9" name="תמונה 8" descr="תמונה שמכילה טקסט, צילום מסך, קו, מקביל&#10;&#10;תוכן שנוצר על-ידי בינה מלאכותית עשוי להיות שגוי.">
            <a:extLst>
              <a:ext uri="{FF2B5EF4-FFF2-40B4-BE49-F238E27FC236}">
                <a16:creationId xmlns:a16="http://schemas.microsoft.com/office/drawing/2014/main" id="{E940B430-AC92-F1EB-AF15-B67263602AF5}"/>
              </a:ext>
            </a:extLst>
          </p:cNvPr>
          <p:cNvPicPr>
            <a:picLocks noChangeAspect="1"/>
          </p:cNvPicPr>
          <p:nvPr/>
        </p:nvPicPr>
        <p:blipFill>
          <a:blip r:embed="rId3">
            <a:extLst>
              <a:ext uri="{28A0092B-C50C-407E-A947-70E740481C1C}">
                <a14:useLocalDpi xmlns:a14="http://schemas.microsoft.com/office/drawing/2010/main" val="0"/>
              </a:ext>
            </a:extLst>
          </a:blip>
          <a:srcRect r="2235"/>
          <a:stretch/>
        </p:blipFill>
        <p:spPr>
          <a:xfrm>
            <a:off x="0" y="484138"/>
            <a:ext cx="12192000" cy="6373862"/>
          </a:xfrm>
          <a:prstGeom prst="rect">
            <a:avLst/>
          </a:prstGeom>
        </p:spPr>
      </p:pic>
      <p:pic>
        <p:nvPicPr>
          <p:cNvPr id="10" name="Picture 44" descr="brain_sketch_by_pcek-d53270v.png">
            <a:extLst>
              <a:ext uri="{FF2B5EF4-FFF2-40B4-BE49-F238E27FC236}">
                <a16:creationId xmlns:a16="http://schemas.microsoft.com/office/drawing/2014/main" id="{4EFCC613-622C-4C91-EE45-646F2420A538}"/>
              </a:ext>
            </a:extLst>
          </p:cNvPr>
          <p:cNvPicPr>
            <a:picLocks noChangeAspect="1"/>
          </p:cNvPicPr>
          <p:nvPr/>
        </p:nvPicPr>
        <p:blipFill>
          <a:blip r:embed="rId4" cstate="print"/>
          <a:stretch>
            <a:fillRect/>
          </a:stretch>
        </p:blipFill>
        <p:spPr>
          <a:xfrm>
            <a:off x="2765735" y="5860211"/>
            <a:ext cx="193118" cy="140606"/>
          </a:xfrm>
          <a:prstGeom prst="rect">
            <a:avLst/>
          </a:prstGeom>
        </p:spPr>
      </p:pic>
      <p:pic>
        <p:nvPicPr>
          <p:cNvPr id="11" name="Picture 44" descr="brain_sketch_by_pcek-d53270v.png">
            <a:extLst>
              <a:ext uri="{FF2B5EF4-FFF2-40B4-BE49-F238E27FC236}">
                <a16:creationId xmlns:a16="http://schemas.microsoft.com/office/drawing/2014/main" id="{C353A401-307A-C4BF-31B2-4CBD70E64D59}"/>
              </a:ext>
            </a:extLst>
          </p:cNvPr>
          <p:cNvPicPr>
            <a:picLocks noChangeAspect="1"/>
          </p:cNvPicPr>
          <p:nvPr/>
        </p:nvPicPr>
        <p:blipFill>
          <a:blip r:embed="rId4" cstate="print"/>
          <a:stretch>
            <a:fillRect/>
          </a:stretch>
        </p:blipFill>
        <p:spPr>
          <a:xfrm>
            <a:off x="2942800" y="5987731"/>
            <a:ext cx="193118" cy="140606"/>
          </a:xfrm>
          <a:prstGeom prst="rect">
            <a:avLst/>
          </a:prstGeom>
        </p:spPr>
      </p:pic>
      <p:pic>
        <p:nvPicPr>
          <p:cNvPr id="12" name="Picture 44" descr="brain_sketch_by_pcek-d53270v.png">
            <a:extLst>
              <a:ext uri="{FF2B5EF4-FFF2-40B4-BE49-F238E27FC236}">
                <a16:creationId xmlns:a16="http://schemas.microsoft.com/office/drawing/2014/main" id="{BF9D4873-900A-01BE-1A3D-0D972F11E58C}"/>
              </a:ext>
            </a:extLst>
          </p:cNvPr>
          <p:cNvPicPr>
            <a:picLocks noChangeAspect="1"/>
          </p:cNvPicPr>
          <p:nvPr/>
        </p:nvPicPr>
        <p:blipFill>
          <a:blip r:embed="rId4" cstate="print"/>
          <a:stretch>
            <a:fillRect/>
          </a:stretch>
        </p:blipFill>
        <p:spPr>
          <a:xfrm>
            <a:off x="3060686" y="5860211"/>
            <a:ext cx="193118" cy="140606"/>
          </a:xfrm>
          <a:prstGeom prst="rect">
            <a:avLst/>
          </a:prstGeom>
        </p:spPr>
      </p:pic>
      <p:pic>
        <p:nvPicPr>
          <p:cNvPr id="14" name="Picture 44" descr="brain_sketch_by_pcek-d53270v.png">
            <a:extLst>
              <a:ext uri="{FF2B5EF4-FFF2-40B4-BE49-F238E27FC236}">
                <a16:creationId xmlns:a16="http://schemas.microsoft.com/office/drawing/2014/main" id="{6A218869-E353-F617-0FDF-053B7006F284}"/>
              </a:ext>
            </a:extLst>
          </p:cNvPr>
          <p:cNvPicPr>
            <a:picLocks noChangeAspect="1"/>
          </p:cNvPicPr>
          <p:nvPr/>
        </p:nvPicPr>
        <p:blipFill>
          <a:blip r:embed="rId4" cstate="print"/>
          <a:stretch>
            <a:fillRect/>
          </a:stretch>
        </p:blipFill>
        <p:spPr>
          <a:xfrm>
            <a:off x="7414150" y="5860211"/>
            <a:ext cx="193118" cy="140606"/>
          </a:xfrm>
          <a:prstGeom prst="rect">
            <a:avLst/>
          </a:prstGeom>
        </p:spPr>
      </p:pic>
      <p:pic>
        <p:nvPicPr>
          <p:cNvPr id="16" name="Picture 44" descr="brain_sketch_by_pcek-d53270v.png">
            <a:extLst>
              <a:ext uri="{FF2B5EF4-FFF2-40B4-BE49-F238E27FC236}">
                <a16:creationId xmlns:a16="http://schemas.microsoft.com/office/drawing/2014/main" id="{54DB45F7-BA02-4F0C-F83C-D814614238D8}"/>
              </a:ext>
            </a:extLst>
          </p:cNvPr>
          <p:cNvPicPr>
            <a:picLocks noChangeAspect="1"/>
          </p:cNvPicPr>
          <p:nvPr/>
        </p:nvPicPr>
        <p:blipFill>
          <a:blip r:embed="rId4" cstate="print"/>
          <a:stretch>
            <a:fillRect/>
          </a:stretch>
        </p:blipFill>
        <p:spPr>
          <a:xfrm>
            <a:off x="7591215" y="5987731"/>
            <a:ext cx="193118" cy="140606"/>
          </a:xfrm>
          <a:prstGeom prst="rect">
            <a:avLst/>
          </a:prstGeom>
        </p:spPr>
      </p:pic>
      <p:pic>
        <p:nvPicPr>
          <p:cNvPr id="17" name="Picture 44" descr="brain_sketch_by_pcek-d53270v.png">
            <a:extLst>
              <a:ext uri="{FF2B5EF4-FFF2-40B4-BE49-F238E27FC236}">
                <a16:creationId xmlns:a16="http://schemas.microsoft.com/office/drawing/2014/main" id="{F9E2D704-9492-258E-61B5-900DDEC111C2}"/>
              </a:ext>
            </a:extLst>
          </p:cNvPr>
          <p:cNvPicPr>
            <a:picLocks noChangeAspect="1"/>
          </p:cNvPicPr>
          <p:nvPr/>
        </p:nvPicPr>
        <p:blipFill>
          <a:blip r:embed="rId4" cstate="print"/>
          <a:stretch>
            <a:fillRect/>
          </a:stretch>
        </p:blipFill>
        <p:spPr>
          <a:xfrm>
            <a:off x="7709101" y="5860211"/>
            <a:ext cx="193118" cy="140606"/>
          </a:xfrm>
          <a:prstGeom prst="rect">
            <a:avLst/>
          </a:prstGeom>
        </p:spPr>
      </p:pic>
      <p:pic>
        <p:nvPicPr>
          <p:cNvPr id="18" name="Picture 44" descr="brain_sketch_by_pcek-d53270v.png">
            <a:extLst>
              <a:ext uri="{FF2B5EF4-FFF2-40B4-BE49-F238E27FC236}">
                <a16:creationId xmlns:a16="http://schemas.microsoft.com/office/drawing/2014/main" id="{6C4C1F02-DD56-D5D5-17C2-630E2588585B}"/>
              </a:ext>
            </a:extLst>
          </p:cNvPr>
          <p:cNvPicPr>
            <a:picLocks noChangeAspect="1"/>
          </p:cNvPicPr>
          <p:nvPr/>
        </p:nvPicPr>
        <p:blipFill>
          <a:blip r:embed="rId4" cstate="print"/>
          <a:stretch>
            <a:fillRect/>
          </a:stretch>
        </p:blipFill>
        <p:spPr>
          <a:xfrm>
            <a:off x="8197501" y="5873297"/>
            <a:ext cx="193118" cy="140606"/>
          </a:xfrm>
          <a:prstGeom prst="rect">
            <a:avLst/>
          </a:prstGeom>
        </p:spPr>
      </p:pic>
      <p:pic>
        <p:nvPicPr>
          <p:cNvPr id="19" name="Picture 44" descr="brain_sketch_by_pcek-d53270v.png">
            <a:extLst>
              <a:ext uri="{FF2B5EF4-FFF2-40B4-BE49-F238E27FC236}">
                <a16:creationId xmlns:a16="http://schemas.microsoft.com/office/drawing/2014/main" id="{9BAE1A06-1544-0074-6552-3515291071E9}"/>
              </a:ext>
            </a:extLst>
          </p:cNvPr>
          <p:cNvPicPr>
            <a:picLocks noChangeAspect="1"/>
          </p:cNvPicPr>
          <p:nvPr/>
        </p:nvPicPr>
        <p:blipFill>
          <a:blip r:embed="rId4" cstate="print"/>
          <a:stretch>
            <a:fillRect/>
          </a:stretch>
        </p:blipFill>
        <p:spPr>
          <a:xfrm>
            <a:off x="8374566" y="6000817"/>
            <a:ext cx="193118" cy="140606"/>
          </a:xfrm>
          <a:prstGeom prst="rect">
            <a:avLst/>
          </a:prstGeom>
        </p:spPr>
      </p:pic>
      <p:pic>
        <p:nvPicPr>
          <p:cNvPr id="20" name="Picture 44" descr="brain_sketch_by_pcek-d53270v.png">
            <a:extLst>
              <a:ext uri="{FF2B5EF4-FFF2-40B4-BE49-F238E27FC236}">
                <a16:creationId xmlns:a16="http://schemas.microsoft.com/office/drawing/2014/main" id="{200EA944-B795-E438-2637-39B0CA53F9B9}"/>
              </a:ext>
            </a:extLst>
          </p:cNvPr>
          <p:cNvPicPr>
            <a:picLocks noChangeAspect="1"/>
          </p:cNvPicPr>
          <p:nvPr/>
        </p:nvPicPr>
        <p:blipFill>
          <a:blip r:embed="rId4" cstate="print"/>
          <a:stretch>
            <a:fillRect/>
          </a:stretch>
        </p:blipFill>
        <p:spPr>
          <a:xfrm>
            <a:off x="8492452" y="5873297"/>
            <a:ext cx="193118" cy="140606"/>
          </a:xfrm>
          <a:prstGeom prst="rect">
            <a:avLst/>
          </a:prstGeom>
        </p:spPr>
      </p:pic>
      <p:pic>
        <p:nvPicPr>
          <p:cNvPr id="21" name="Picture 44" descr="brain_sketch_by_pcek-d53270v.png">
            <a:extLst>
              <a:ext uri="{FF2B5EF4-FFF2-40B4-BE49-F238E27FC236}">
                <a16:creationId xmlns:a16="http://schemas.microsoft.com/office/drawing/2014/main" id="{14330EC3-1A39-21E7-BA11-A1699CA8F731}"/>
              </a:ext>
            </a:extLst>
          </p:cNvPr>
          <p:cNvPicPr>
            <a:picLocks noChangeAspect="1"/>
          </p:cNvPicPr>
          <p:nvPr/>
        </p:nvPicPr>
        <p:blipFill>
          <a:blip r:embed="rId4" cstate="print"/>
          <a:stretch>
            <a:fillRect/>
          </a:stretch>
        </p:blipFill>
        <p:spPr>
          <a:xfrm>
            <a:off x="8901767" y="5860211"/>
            <a:ext cx="193118" cy="140606"/>
          </a:xfrm>
          <a:prstGeom prst="rect">
            <a:avLst/>
          </a:prstGeom>
        </p:spPr>
      </p:pic>
      <p:pic>
        <p:nvPicPr>
          <p:cNvPr id="22" name="Picture 44" descr="brain_sketch_by_pcek-d53270v.png">
            <a:extLst>
              <a:ext uri="{FF2B5EF4-FFF2-40B4-BE49-F238E27FC236}">
                <a16:creationId xmlns:a16="http://schemas.microsoft.com/office/drawing/2014/main" id="{BDC3F522-150A-7C4C-6A94-F284815AA99F}"/>
              </a:ext>
            </a:extLst>
          </p:cNvPr>
          <p:cNvPicPr>
            <a:picLocks noChangeAspect="1"/>
          </p:cNvPicPr>
          <p:nvPr/>
        </p:nvPicPr>
        <p:blipFill>
          <a:blip r:embed="rId4" cstate="print"/>
          <a:stretch>
            <a:fillRect/>
          </a:stretch>
        </p:blipFill>
        <p:spPr>
          <a:xfrm>
            <a:off x="9078832" y="5987731"/>
            <a:ext cx="193118" cy="140606"/>
          </a:xfrm>
          <a:prstGeom prst="rect">
            <a:avLst/>
          </a:prstGeom>
        </p:spPr>
      </p:pic>
      <p:pic>
        <p:nvPicPr>
          <p:cNvPr id="23" name="Picture 44" descr="brain_sketch_by_pcek-d53270v.png">
            <a:extLst>
              <a:ext uri="{FF2B5EF4-FFF2-40B4-BE49-F238E27FC236}">
                <a16:creationId xmlns:a16="http://schemas.microsoft.com/office/drawing/2014/main" id="{DF77FA3B-D413-BE6E-4888-38F76FDF1709}"/>
              </a:ext>
            </a:extLst>
          </p:cNvPr>
          <p:cNvPicPr>
            <a:picLocks noChangeAspect="1"/>
          </p:cNvPicPr>
          <p:nvPr/>
        </p:nvPicPr>
        <p:blipFill>
          <a:blip r:embed="rId4" cstate="print"/>
          <a:stretch>
            <a:fillRect/>
          </a:stretch>
        </p:blipFill>
        <p:spPr>
          <a:xfrm>
            <a:off x="9196718" y="5860211"/>
            <a:ext cx="193118" cy="140606"/>
          </a:xfrm>
          <a:prstGeom prst="rect">
            <a:avLst/>
          </a:prstGeom>
        </p:spPr>
      </p:pic>
      <p:pic>
        <p:nvPicPr>
          <p:cNvPr id="24" name="Picture 44" descr="brain_sketch_by_pcek-d53270v.png">
            <a:extLst>
              <a:ext uri="{FF2B5EF4-FFF2-40B4-BE49-F238E27FC236}">
                <a16:creationId xmlns:a16="http://schemas.microsoft.com/office/drawing/2014/main" id="{414BC2A2-0332-AA02-D082-25049E4DB117}"/>
              </a:ext>
            </a:extLst>
          </p:cNvPr>
          <p:cNvPicPr>
            <a:picLocks noChangeAspect="1"/>
          </p:cNvPicPr>
          <p:nvPr/>
        </p:nvPicPr>
        <p:blipFill>
          <a:blip r:embed="rId4" cstate="print"/>
          <a:stretch>
            <a:fillRect/>
          </a:stretch>
        </p:blipFill>
        <p:spPr>
          <a:xfrm>
            <a:off x="10767948" y="5860211"/>
            <a:ext cx="193118" cy="140606"/>
          </a:xfrm>
          <a:prstGeom prst="rect">
            <a:avLst/>
          </a:prstGeom>
        </p:spPr>
      </p:pic>
      <p:pic>
        <p:nvPicPr>
          <p:cNvPr id="25" name="Picture 44" descr="brain_sketch_by_pcek-d53270v.png">
            <a:extLst>
              <a:ext uri="{FF2B5EF4-FFF2-40B4-BE49-F238E27FC236}">
                <a16:creationId xmlns:a16="http://schemas.microsoft.com/office/drawing/2014/main" id="{3F9D31EC-87F0-5BED-C653-C4E88BA13223}"/>
              </a:ext>
            </a:extLst>
          </p:cNvPr>
          <p:cNvPicPr>
            <a:picLocks noChangeAspect="1"/>
          </p:cNvPicPr>
          <p:nvPr/>
        </p:nvPicPr>
        <p:blipFill>
          <a:blip r:embed="rId4" cstate="print"/>
          <a:stretch>
            <a:fillRect/>
          </a:stretch>
        </p:blipFill>
        <p:spPr>
          <a:xfrm>
            <a:off x="10945013" y="5987731"/>
            <a:ext cx="193118" cy="140606"/>
          </a:xfrm>
          <a:prstGeom prst="rect">
            <a:avLst/>
          </a:prstGeom>
        </p:spPr>
      </p:pic>
      <p:pic>
        <p:nvPicPr>
          <p:cNvPr id="26" name="Picture 44" descr="brain_sketch_by_pcek-d53270v.png">
            <a:extLst>
              <a:ext uri="{FF2B5EF4-FFF2-40B4-BE49-F238E27FC236}">
                <a16:creationId xmlns:a16="http://schemas.microsoft.com/office/drawing/2014/main" id="{A9A4517B-800C-5B93-382D-7E56E507424F}"/>
              </a:ext>
            </a:extLst>
          </p:cNvPr>
          <p:cNvPicPr>
            <a:picLocks noChangeAspect="1"/>
          </p:cNvPicPr>
          <p:nvPr/>
        </p:nvPicPr>
        <p:blipFill>
          <a:blip r:embed="rId4" cstate="print"/>
          <a:stretch>
            <a:fillRect/>
          </a:stretch>
        </p:blipFill>
        <p:spPr>
          <a:xfrm>
            <a:off x="11062899" y="5860211"/>
            <a:ext cx="193118" cy="140606"/>
          </a:xfrm>
          <a:prstGeom prst="rect">
            <a:avLst/>
          </a:prstGeom>
        </p:spPr>
      </p:pic>
      <p:pic>
        <p:nvPicPr>
          <p:cNvPr id="28" name="תמונה 27">
            <a:extLst>
              <a:ext uri="{FF2B5EF4-FFF2-40B4-BE49-F238E27FC236}">
                <a16:creationId xmlns:a16="http://schemas.microsoft.com/office/drawing/2014/main" id="{26FD4692-F4B4-9A57-E2A3-75038FC144FF}"/>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3764952" y="5874296"/>
            <a:ext cx="142817" cy="186559"/>
          </a:xfrm>
          <a:prstGeom prst="rect">
            <a:avLst/>
          </a:prstGeom>
        </p:spPr>
      </p:pic>
      <p:pic>
        <p:nvPicPr>
          <p:cNvPr id="29" name="תמונה 28">
            <a:extLst>
              <a:ext uri="{FF2B5EF4-FFF2-40B4-BE49-F238E27FC236}">
                <a16:creationId xmlns:a16="http://schemas.microsoft.com/office/drawing/2014/main" id="{A93C3AB0-44AC-34F7-1A2D-96D8E4398378}"/>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1940353" y="5871475"/>
            <a:ext cx="142817" cy="186559"/>
          </a:xfrm>
          <a:prstGeom prst="rect">
            <a:avLst/>
          </a:prstGeom>
        </p:spPr>
      </p:pic>
      <p:pic>
        <p:nvPicPr>
          <p:cNvPr id="30" name="תמונה 29">
            <a:extLst>
              <a:ext uri="{FF2B5EF4-FFF2-40B4-BE49-F238E27FC236}">
                <a16:creationId xmlns:a16="http://schemas.microsoft.com/office/drawing/2014/main" id="{1AD9FD38-5BB7-50EE-948F-5E18E41B3A3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9760556" y="5860211"/>
            <a:ext cx="142817" cy="186559"/>
          </a:xfrm>
          <a:prstGeom prst="rect">
            <a:avLst/>
          </a:prstGeom>
        </p:spPr>
      </p:pic>
      <p:pic>
        <p:nvPicPr>
          <p:cNvPr id="31" name="תמונה 30">
            <a:extLst>
              <a:ext uri="{FF2B5EF4-FFF2-40B4-BE49-F238E27FC236}">
                <a16:creationId xmlns:a16="http://schemas.microsoft.com/office/drawing/2014/main" id="{16595D88-A859-91D7-4D3E-067378E61CE3}"/>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rcRect l="33155" t="37628" r="35658" b="32601"/>
          <a:stretch/>
        </p:blipFill>
        <p:spPr>
          <a:xfrm>
            <a:off x="10360067" y="5860210"/>
            <a:ext cx="142817" cy="186559"/>
          </a:xfrm>
          <a:prstGeom prst="rect">
            <a:avLst/>
          </a:prstGeom>
        </p:spPr>
      </p:pic>
      <p:pic>
        <p:nvPicPr>
          <p:cNvPr id="33" name="תמונה 32">
            <a:extLst>
              <a:ext uri="{FF2B5EF4-FFF2-40B4-BE49-F238E27FC236}">
                <a16:creationId xmlns:a16="http://schemas.microsoft.com/office/drawing/2014/main" id="{3FC8192C-D258-6F0C-D44B-CD385294FA42}"/>
              </a:ext>
            </a:extLst>
          </p:cNvPr>
          <p:cNvPicPr>
            <a:picLocks noChangeAspect="1"/>
          </p:cNvPicPr>
          <p:nvPr/>
        </p:nvPicPr>
        <p:blipFill>
          <a:blip r:embed="rId7"/>
          <a:stretch>
            <a:fillRect/>
          </a:stretch>
        </p:blipFill>
        <p:spPr>
          <a:xfrm>
            <a:off x="2267475" y="5860210"/>
            <a:ext cx="242155" cy="140606"/>
          </a:xfrm>
          <a:prstGeom prst="rect">
            <a:avLst/>
          </a:prstGeom>
        </p:spPr>
      </p:pic>
      <p:pic>
        <p:nvPicPr>
          <p:cNvPr id="34" name="תמונה 33">
            <a:extLst>
              <a:ext uri="{FF2B5EF4-FFF2-40B4-BE49-F238E27FC236}">
                <a16:creationId xmlns:a16="http://schemas.microsoft.com/office/drawing/2014/main" id="{41DDEB39-0174-6D2F-F803-EF76E50543C8}"/>
              </a:ext>
            </a:extLst>
          </p:cNvPr>
          <p:cNvPicPr>
            <a:picLocks noChangeAspect="1"/>
          </p:cNvPicPr>
          <p:nvPr/>
        </p:nvPicPr>
        <p:blipFill>
          <a:blip r:embed="rId7"/>
          <a:stretch>
            <a:fillRect/>
          </a:stretch>
        </p:blipFill>
        <p:spPr>
          <a:xfrm>
            <a:off x="648920" y="5856987"/>
            <a:ext cx="242155" cy="140606"/>
          </a:xfrm>
          <a:prstGeom prst="rect">
            <a:avLst/>
          </a:prstGeom>
        </p:spPr>
      </p:pic>
      <p:pic>
        <p:nvPicPr>
          <p:cNvPr id="35" name="תמונה 34">
            <a:extLst>
              <a:ext uri="{FF2B5EF4-FFF2-40B4-BE49-F238E27FC236}">
                <a16:creationId xmlns:a16="http://schemas.microsoft.com/office/drawing/2014/main" id="{FA51470E-F5C7-7C1B-EE4F-20D537E5C4A8}"/>
              </a:ext>
            </a:extLst>
          </p:cNvPr>
          <p:cNvPicPr>
            <a:picLocks noChangeAspect="1"/>
          </p:cNvPicPr>
          <p:nvPr/>
        </p:nvPicPr>
        <p:blipFill>
          <a:blip r:embed="rId7"/>
          <a:stretch>
            <a:fillRect/>
          </a:stretch>
        </p:blipFill>
        <p:spPr>
          <a:xfrm>
            <a:off x="983680" y="5856987"/>
            <a:ext cx="242155" cy="140606"/>
          </a:xfrm>
          <a:prstGeom prst="rect">
            <a:avLst/>
          </a:prstGeom>
        </p:spPr>
      </p:pic>
      <p:pic>
        <p:nvPicPr>
          <p:cNvPr id="36" name="תמונה 35">
            <a:extLst>
              <a:ext uri="{FF2B5EF4-FFF2-40B4-BE49-F238E27FC236}">
                <a16:creationId xmlns:a16="http://schemas.microsoft.com/office/drawing/2014/main" id="{4EE6F096-B0DC-7398-B15D-D99A6213E0B8}"/>
              </a:ext>
            </a:extLst>
          </p:cNvPr>
          <p:cNvPicPr>
            <a:picLocks noChangeAspect="1"/>
          </p:cNvPicPr>
          <p:nvPr/>
        </p:nvPicPr>
        <p:blipFill>
          <a:blip r:embed="rId7"/>
          <a:stretch>
            <a:fillRect/>
          </a:stretch>
        </p:blipFill>
        <p:spPr>
          <a:xfrm>
            <a:off x="1586382" y="5855111"/>
            <a:ext cx="242155" cy="140606"/>
          </a:xfrm>
          <a:prstGeom prst="rect">
            <a:avLst/>
          </a:prstGeom>
        </p:spPr>
      </p:pic>
    </p:spTree>
    <p:extLst>
      <p:ext uri="{BB962C8B-B14F-4D97-AF65-F5344CB8AC3E}">
        <p14:creationId xmlns:p14="http://schemas.microsoft.com/office/powerpoint/2010/main" val="669330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fewer differentially expressed genes</a:t>
            </a:r>
            <a:endParaRPr lang="he-IL" dirty="0"/>
          </a:p>
        </p:txBody>
      </p:sp>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4" name="תמונה 3"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5F762A72-A710-A977-F734-AF635834FC52}"/>
              </a:ext>
            </a:extLst>
          </p:cNvPr>
          <p:cNvPicPr>
            <a:picLocks noChangeAspect="1"/>
          </p:cNvPicPr>
          <p:nvPr/>
        </p:nvPicPr>
        <p:blipFill>
          <a:blip r:embed="rId3">
            <a:extLst>
              <a:ext uri="{28A0092B-C50C-407E-A947-70E740481C1C}">
                <a14:useLocalDpi xmlns:a14="http://schemas.microsoft.com/office/drawing/2010/main" val="0"/>
              </a:ext>
            </a:extLst>
          </a:blip>
          <a:srcRect t="9419" b="5219"/>
          <a:stretch/>
        </p:blipFill>
        <p:spPr>
          <a:xfrm>
            <a:off x="302860" y="2438400"/>
            <a:ext cx="6497904" cy="4160108"/>
          </a:xfrm>
          <a:prstGeom prst="rect">
            <a:avLst/>
          </a:prstGeom>
        </p:spPr>
      </p:pic>
      <p:pic>
        <p:nvPicPr>
          <p:cNvPr id="8" name="תמונה 7"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27965A7C-7943-3FEA-40BE-DF8F935E52E5}"/>
              </a:ext>
            </a:extLst>
          </p:cNvPr>
          <p:cNvPicPr>
            <a:picLocks noChangeAspect="1"/>
          </p:cNvPicPr>
          <p:nvPr/>
        </p:nvPicPr>
        <p:blipFill>
          <a:blip r:embed="rId4">
            <a:extLst>
              <a:ext uri="{28A0092B-C50C-407E-A947-70E740481C1C}">
                <a14:useLocalDpi xmlns:a14="http://schemas.microsoft.com/office/drawing/2010/main" val="0"/>
              </a:ext>
            </a:extLst>
          </a:blip>
          <a:srcRect t="9418" b="5139"/>
          <a:stretch/>
        </p:blipFill>
        <p:spPr>
          <a:xfrm>
            <a:off x="5391236" y="2434543"/>
            <a:ext cx="6497904" cy="4163965"/>
          </a:xfrm>
          <a:prstGeom prst="rect">
            <a:avLst/>
          </a:prstGeom>
        </p:spPr>
      </p:pic>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Schizophrenia-related genes are depleted of large expression changes</a:t>
            </a:r>
          </a:p>
        </p:txBody>
      </p:sp>
      <p:pic>
        <p:nvPicPr>
          <p:cNvPr id="4" name="תמונה 3" descr="תמונה שמכילה טקסט, תרשים, קו, מספר&#10;&#10;תוכן שנוצר על-ידי בינה מלאכותית עשוי להיות שגוי.">
            <a:extLst>
              <a:ext uri="{FF2B5EF4-FFF2-40B4-BE49-F238E27FC236}">
                <a16:creationId xmlns:a16="http://schemas.microsoft.com/office/drawing/2014/main" id="{6A6D8173-A990-1973-0A54-A31DFAA14F5F}"/>
              </a:ext>
            </a:extLst>
          </p:cNvPr>
          <p:cNvPicPr>
            <a:picLocks noChangeAspect="1"/>
          </p:cNvPicPr>
          <p:nvPr/>
        </p:nvPicPr>
        <p:blipFill>
          <a:blip r:embed="rId3">
            <a:extLst>
              <a:ext uri="{28A0092B-C50C-407E-A947-70E740481C1C}">
                <a14:useLocalDpi xmlns:a14="http://schemas.microsoft.com/office/drawing/2010/main" val="0"/>
              </a:ext>
            </a:extLst>
          </a:blip>
          <a:srcRect t="17857"/>
          <a:stretch/>
        </p:blipFill>
        <p:spPr>
          <a:xfrm>
            <a:off x="2012791" y="1690688"/>
            <a:ext cx="8166419" cy="4695687"/>
          </a:xfrm>
          <a:prstGeom prst="rect">
            <a:avLst/>
          </a:prstGeom>
        </p:spPr>
      </p:pic>
      <p:sp>
        <p:nvSpPr>
          <p:cNvPr id="5" name="כותרת משנה 2">
            <a:extLst>
              <a:ext uri="{FF2B5EF4-FFF2-40B4-BE49-F238E27FC236}">
                <a16:creationId xmlns:a16="http://schemas.microsoft.com/office/drawing/2014/main" id="{9024B717-0F94-52FB-A8DD-F4CBF620FEA6}"/>
              </a:ext>
            </a:extLst>
          </p:cNvPr>
          <p:cNvSpPr txBox="1">
            <a:spLocks/>
          </p:cNvSpPr>
          <p:nvPr/>
        </p:nvSpPr>
        <p:spPr>
          <a:xfrm>
            <a:off x="3700128" y="6242842"/>
            <a:ext cx="4791743"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800" b="1" i="1" dirty="0"/>
              <a:t>Cortical Organoids (day 150)</a:t>
            </a:r>
            <a:endParaRPr lang="he-IL" sz="1800" b="1" i="1" dirty="0"/>
          </a:p>
        </p:txBody>
      </p:sp>
    </p:spTree>
    <p:extLst>
      <p:ext uri="{BB962C8B-B14F-4D97-AF65-F5344CB8AC3E}">
        <p14:creationId xmlns:p14="http://schemas.microsoft.com/office/powerpoint/2010/main" val="112336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more differentially expressed genes</a:t>
            </a:r>
            <a:endParaRPr lang="he-IL" dirty="0"/>
          </a:p>
        </p:txBody>
      </p:sp>
      <p:pic>
        <p:nvPicPr>
          <p:cNvPr id="2050" name="Picture 2" descr="‪Scoliosis - Wikipedia‬‏">
            <a:extLst>
              <a:ext uri="{FF2B5EF4-FFF2-40B4-BE49-F238E27FC236}">
                <a16:creationId xmlns:a16="http://schemas.microsoft.com/office/drawing/2014/main" id="{75C72701-98FB-1A5A-17EA-188F754C9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2940" y="1690688"/>
            <a:ext cx="2089327" cy="4178654"/>
          </a:xfrm>
          <a:prstGeom prst="rect">
            <a:avLst/>
          </a:prstGeom>
          <a:noFill/>
          <a:extLst>
            <a:ext uri="{909E8E84-426E-40DD-AFC4-6F175D3DCCD1}">
              <a14:hiddenFill xmlns:a14="http://schemas.microsoft.com/office/drawing/2010/main">
                <a:solidFill>
                  <a:srgbClr val="FFFFFF"/>
                </a:solidFill>
              </a14:hiddenFill>
            </a:ext>
          </a:extLst>
        </p:spPr>
      </p:pic>
      <p:sp>
        <p:nvSpPr>
          <p:cNvPr id="3" name="כותרת משנה 2">
            <a:extLst>
              <a:ext uri="{FF2B5EF4-FFF2-40B4-BE49-F238E27FC236}">
                <a16:creationId xmlns:a16="http://schemas.microsoft.com/office/drawing/2014/main" id="{4F090D66-24B5-A921-E9B6-B9725B99D7F2}"/>
              </a:ext>
            </a:extLst>
          </p:cNvPr>
          <p:cNvSpPr txBox="1">
            <a:spLocks/>
          </p:cNvSpPr>
          <p:nvPr/>
        </p:nvSpPr>
        <p:spPr>
          <a:xfrm>
            <a:off x="3903978" y="190261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CNCCs</a:t>
            </a:r>
            <a:endParaRPr lang="he-IL" sz="2000" b="1" i="1" dirty="0"/>
          </a:p>
        </p:txBody>
      </p:sp>
      <p:pic>
        <p:nvPicPr>
          <p:cNvPr id="8" name="מציין מיקום תוכן 7"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3F20FC3F-DFD5-8AC9-DF18-399086BCB245}"/>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9056" b="5263"/>
          <a:stretch/>
        </p:blipFill>
        <p:spPr>
          <a:xfrm>
            <a:off x="3031823" y="2535583"/>
            <a:ext cx="5801784" cy="3728278"/>
          </a:xfrm>
        </p:spPr>
      </p:pic>
      <p:sp>
        <p:nvSpPr>
          <p:cNvPr id="6" name="כותרת משנה 2">
            <a:extLst>
              <a:ext uri="{FF2B5EF4-FFF2-40B4-BE49-F238E27FC236}">
                <a16:creationId xmlns:a16="http://schemas.microsoft.com/office/drawing/2014/main" id="{4B453BFF-B716-56DA-8531-B3F7D2A723AA}"/>
              </a:ext>
            </a:extLst>
          </p:cNvPr>
          <p:cNvSpPr txBox="1">
            <a:spLocks/>
          </p:cNvSpPr>
          <p:nvPr/>
        </p:nvSpPr>
        <p:spPr>
          <a:xfrm>
            <a:off x="7946206" y="3985410"/>
            <a:ext cx="3115915" cy="2197675"/>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Option 1: accelerated evolution</a:t>
            </a:r>
          </a:p>
          <a:p>
            <a:pPr marL="0" indent="0" algn="ctr" rtl="0">
              <a:buNone/>
            </a:pPr>
            <a:endParaRPr lang="en-US" sz="2000" b="1" i="1" dirty="0"/>
          </a:p>
          <a:p>
            <a:pPr marL="0" indent="0" algn="ctr" rtl="0">
              <a:buNone/>
            </a:pPr>
            <a:r>
              <a:rPr lang="en-US" sz="2000" b="1" i="1" dirty="0"/>
              <a:t>Option 2: relaxation of negative selection</a:t>
            </a:r>
            <a:endParaRPr lang="he-IL" sz="2000" b="1" i="1" dirty="0"/>
          </a:p>
        </p:txBody>
      </p:sp>
    </p:spTree>
    <p:extLst>
      <p:ext uri="{BB962C8B-B14F-4D97-AF65-F5344CB8AC3E}">
        <p14:creationId xmlns:p14="http://schemas.microsoft.com/office/powerpoint/2010/main" val="2980633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Is the direction of regulation change important?</a:t>
            </a:r>
            <a:endParaRPr lang="he-IL" dirty="0"/>
          </a:p>
        </p:txBody>
      </p:sp>
      <p:pic>
        <p:nvPicPr>
          <p:cNvPr id="5" name="מציין מיקום תוכן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0F4CF428-47FA-57FE-C87B-BE5584A194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49" y="1690688"/>
            <a:ext cx="12176952" cy="4451928"/>
          </a:xfrm>
        </p:spPr>
      </p:pic>
    </p:spTree>
    <p:extLst>
      <p:ext uri="{BB962C8B-B14F-4D97-AF65-F5344CB8AC3E}">
        <p14:creationId xmlns:p14="http://schemas.microsoft.com/office/powerpoint/2010/main" val="1878991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positive selection for upregulation of genes</a:t>
            </a:r>
            <a:endParaRPr lang="he-IL"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754455" y="179403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4" name="תמונה 13"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7212DFB9-EEF9-10A2-2ACF-7F6C1CD16CF6}"/>
              </a:ext>
            </a:extLst>
          </p:cNvPr>
          <p:cNvPicPr>
            <a:picLocks noChangeAspect="1"/>
          </p:cNvPicPr>
          <p:nvPr/>
        </p:nvPicPr>
        <p:blipFill>
          <a:blip r:embed="rId3">
            <a:extLst>
              <a:ext uri="{28A0092B-C50C-407E-A947-70E740481C1C}">
                <a14:useLocalDpi xmlns:a14="http://schemas.microsoft.com/office/drawing/2010/main" val="0"/>
              </a:ext>
            </a:extLst>
          </a:blip>
          <a:srcRect t="7885" b="4919"/>
          <a:stretch/>
        </p:blipFill>
        <p:spPr>
          <a:xfrm>
            <a:off x="1069788" y="2572906"/>
            <a:ext cx="5862471" cy="3578313"/>
          </a:xfrm>
          <a:prstGeom prst="rect">
            <a:avLst/>
          </a:prstGeom>
        </p:spPr>
      </p:pic>
      <p:sp>
        <p:nvSpPr>
          <p:cNvPr id="15" name="כותרת משנה 2">
            <a:extLst>
              <a:ext uri="{FF2B5EF4-FFF2-40B4-BE49-F238E27FC236}">
                <a16:creationId xmlns:a16="http://schemas.microsoft.com/office/drawing/2014/main" id="{D2CD4532-FD0D-7F2E-3A90-AAEC333023D5}"/>
              </a:ext>
            </a:extLst>
          </p:cNvPr>
          <p:cNvSpPr txBox="1">
            <a:spLocks/>
          </p:cNvSpPr>
          <p:nvPr/>
        </p:nvSpPr>
        <p:spPr>
          <a:xfrm>
            <a:off x="1797827" y="179403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pic>
        <p:nvPicPr>
          <p:cNvPr id="19" name="מציין מיקום תוכן 18" descr="תמונה שמכילה טקסט, צילום מסך, תרשים, מלבן&#10;&#10;תוכן שנוצר על-ידי בינה מלאכותית עשוי להיות שגוי.">
            <a:extLst>
              <a:ext uri="{FF2B5EF4-FFF2-40B4-BE49-F238E27FC236}">
                <a16:creationId xmlns:a16="http://schemas.microsoft.com/office/drawing/2014/main" id="{30D5D67E-B3A9-0922-3FF7-70AAAAF580DF}"/>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t="7975" b="5067"/>
          <a:stretch/>
        </p:blipFill>
        <p:spPr>
          <a:xfrm>
            <a:off x="5766960" y="2572905"/>
            <a:ext cx="5878551" cy="3578313"/>
          </a:xfr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5E87-9062-B969-69F5-21429AB3F5E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C8E7A2E-A310-103E-338E-AD08DA69FF8C}"/>
              </a:ext>
            </a:extLst>
          </p:cNvPr>
          <p:cNvSpPr>
            <a:spLocks noGrp="1"/>
          </p:cNvSpPr>
          <p:nvPr>
            <p:ph type="title"/>
          </p:nvPr>
        </p:nvSpPr>
        <p:spPr/>
        <p:txBody>
          <a:bodyPr>
            <a:normAutofit fontScale="90000"/>
          </a:bodyPr>
          <a:lstStyle/>
          <a:p>
            <a:pPr algn="ctr" rtl="0"/>
            <a:r>
              <a:rPr lang="en-US" dirty="0">
                <a:solidFill>
                  <a:srgbClr val="0070C0"/>
                </a:solidFill>
                <a:latin typeface="Comic Sans MS" panose="030F0702030302020204" pitchFamily="66" charset="0"/>
                <a:ea typeface="+mn-ea"/>
                <a:cs typeface="+mn-cs"/>
              </a:rPr>
              <a:t>Schizophrenia-related genes are depleted of large negative expression changes</a:t>
            </a:r>
            <a:endParaRPr lang="he-IL" dirty="0"/>
          </a:p>
        </p:txBody>
      </p:sp>
      <p:sp>
        <p:nvSpPr>
          <p:cNvPr id="7" name="כותרת משנה 2">
            <a:extLst>
              <a:ext uri="{FF2B5EF4-FFF2-40B4-BE49-F238E27FC236}">
                <a16:creationId xmlns:a16="http://schemas.microsoft.com/office/drawing/2014/main" id="{09C103D6-B92D-524D-2C16-A9D003011AB2}"/>
              </a:ext>
            </a:extLst>
          </p:cNvPr>
          <p:cNvSpPr txBox="1">
            <a:spLocks/>
          </p:cNvSpPr>
          <p:nvPr/>
        </p:nvSpPr>
        <p:spPr>
          <a:xfrm>
            <a:off x="3700128" y="6242842"/>
            <a:ext cx="4791743"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800" b="1" i="1" dirty="0"/>
              <a:t>Cortical Organoids (day 100)</a:t>
            </a:r>
            <a:endParaRPr lang="he-IL" sz="1800" b="1" i="1" dirty="0"/>
          </a:p>
        </p:txBody>
      </p:sp>
      <p:pic>
        <p:nvPicPr>
          <p:cNvPr id="13" name="מציין מיקום תוכן 12" descr="תמונה שמכילה טקסט, תרשים, קו, עלילה&#10;&#10;תוכן שנוצר על-ידי בינה מלאכותית עשוי להיות שגוי.">
            <a:extLst>
              <a:ext uri="{FF2B5EF4-FFF2-40B4-BE49-F238E27FC236}">
                <a16:creationId xmlns:a16="http://schemas.microsoft.com/office/drawing/2014/main" id="{5B3E5D5F-A438-C4AA-837C-0A78B8E58BE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19444"/>
          <a:stretch/>
        </p:blipFill>
        <p:spPr>
          <a:xfrm>
            <a:off x="2118040" y="1690689"/>
            <a:ext cx="7955920" cy="4486274"/>
          </a:xfrm>
        </p:spPr>
      </p:pic>
    </p:spTree>
    <p:extLst>
      <p:ext uri="{BB962C8B-B14F-4D97-AF65-F5344CB8AC3E}">
        <p14:creationId xmlns:p14="http://schemas.microsoft.com/office/powerpoint/2010/main" val="3740476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larger changes in downregulated genes</a:t>
            </a:r>
            <a:endParaRPr lang="he-IL" dirty="0"/>
          </a:p>
        </p:txBody>
      </p:sp>
      <p:pic>
        <p:nvPicPr>
          <p:cNvPr id="4" name="תמונה 3" descr="תמונה שמכילה טקסט, עלילה, תרשים, צילום מסך&#10;&#10;תוכן שנוצר על-ידי בינה מלאכותית עשוי להיות שגוי.">
            <a:extLst>
              <a:ext uri="{FF2B5EF4-FFF2-40B4-BE49-F238E27FC236}">
                <a16:creationId xmlns:a16="http://schemas.microsoft.com/office/drawing/2014/main" id="{2D0E4D38-FFD5-042B-4E63-8C9707CCADAE}"/>
              </a:ext>
            </a:extLst>
          </p:cNvPr>
          <p:cNvPicPr>
            <a:picLocks noChangeAspect="1"/>
          </p:cNvPicPr>
          <p:nvPr/>
        </p:nvPicPr>
        <p:blipFill>
          <a:blip r:embed="rId3">
            <a:extLst>
              <a:ext uri="{28A0092B-C50C-407E-A947-70E740481C1C}">
                <a14:useLocalDpi xmlns:a14="http://schemas.microsoft.com/office/drawing/2010/main" val="0"/>
              </a:ext>
            </a:extLst>
          </a:blip>
          <a:srcRect t="7573" b="7317"/>
          <a:stretch/>
        </p:blipFill>
        <p:spPr>
          <a:xfrm>
            <a:off x="6155852" y="2755540"/>
            <a:ext cx="5990090" cy="3058868"/>
          </a:xfrm>
          <a:prstGeom prst="rect">
            <a:avLst/>
          </a:prstGeom>
        </p:spPr>
      </p:pic>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pic>
        <p:nvPicPr>
          <p:cNvPr id="9" name="תמונה 8" descr="תמונה שמכילה טקסט, תרשים, עלילה, צילום מסך&#10;&#10;תוכן שנוצר על-ידי בינה מלאכותית עשוי להיות שגוי.">
            <a:extLst>
              <a:ext uri="{FF2B5EF4-FFF2-40B4-BE49-F238E27FC236}">
                <a16:creationId xmlns:a16="http://schemas.microsoft.com/office/drawing/2014/main" id="{1D00F8A0-30DD-4031-F0AE-E649C61CC6F3}"/>
              </a:ext>
            </a:extLst>
          </p:cNvPr>
          <p:cNvPicPr>
            <a:picLocks noChangeAspect="1"/>
          </p:cNvPicPr>
          <p:nvPr/>
        </p:nvPicPr>
        <p:blipFill>
          <a:blip r:embed="rId4">
            <a:extLst>
              <a:ext uri="{28A0092B-C50C-407E-A947-70E740481C1C}">
                <a14:useLocalDpi xmlns:a14="http://schemas.microsoft.com/office/drawing/2010/main" val="0"/>
              </a:ext>
            </a:extLst>
          </a:blip>
          <a:srcRect t="7573" b="7317"/>
          <a:stretch/>
        </p:blipFill>
        <p:spPr>
          <a:xfrm>
            <a:off x="333812" y="2772728"/>
            <a:ext cx="5990090" cy="3058868"/>
          </a:xfrm>
          <a:prstGeom prst="rect">
            <a:avLst/>
          </a:prstGeom>
        </p:spPr>
      </p:pic>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mesenchyme</a:t>
            </a:r>
            <a:endParaRPr lang="he-IL" sz="2000" b="1" i="1" dirty="0"/>
          </a:p>
        </p:txBody>
      </p:sp>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3" grpId="0"/>
      <p:bldP spid="14" grpId="0"/>
      <p:bldP spid="15"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Discussion</a:t>
            </a:r>
            <a:endParaRPr lang="he-IL" dirty="0"/>
          </a:p>
        </p:txBody>
      </p:sp>
      <p:grpSp>
        <p:nvGrpSpPr>
          <p:cNvPr id="1037" name="קבוצה 1036">
            <a:extLst>
              <a:ext uri="{FF2B5EF4-FFF2-40B4-BE49-F238E27FC236}">
                <a16:creationId xmlns:a16="http://schemas.microsoft.com/office/drawing/2014/main" id="{42A45C1B-ABA9-132C-09CC-A9641A7BD801}"/>
              </a:ext>
            </a:extLst>
          </p:cNvPr>
          <p:cNvGrpSpPr/>
          <p:nvPr/>
        </p:nvGrpSpPr>
        <p:grpSpPr>
          <a:xfrm>
            <a:off x="631441" y="2355925"/>
            <a:ext cx="4951777" cy="3853015"/>
            <a:chOff x="695988" y="2492958"/>
            <a:chExt cx="3932240" cy="3227940"/>
          </a:xfrm>
        </p:grpSpPr>
        <p:sp>
          <p:nvSpPr>
            <p:cNvPr id="8" name="Freeform 9">
              <a:extLst>
                <a:ext uri="{FF2B5EF4-FFF2-40B4-BE49-F238E27FC236}">
                  <a16:creationId xmlns:a16="http://schemas.microsoft.com/office/drawing/2014/main" id="{027F4B13-D51B-544C-9AF0-421E9C65295B}"/>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9" name="Oval 10">
              <a:extLst>
                <a:ext uri="{FF2B5EF4-FFF2-40B4-BE49-F238E27FC236}">
                  <a16:creationId xmlns:a16="http://schemas.microsoft.com/office/drawing/2014/main" id="{AE8B7834-7E07-80A7-C130-3004CB8C4CB5}"/>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 name="Oval 11">
              <a:extLst>
                <a:ext uri="{FF2B5EF4-FFF2-40B4-BE49-F238E27FC236}">
                  <a16:creationId xmlns:a16="http://schemas.microsoft.com/office/drawing/2014/main" id="{407F7F3C-E992-7185-C89F-BE2514BA8742}"/>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1" name="Oval 12">
              <a:extLst>
                <a:ext uri="{FF2B5EF4-FFF2-40B4-BE49-F238E27FC236}">
                  <a16:creationId xmlns:a16="http://schemas.microsoft.com/office/drawing/2014/main" id="{D43EBC20-C036-2F0C-2AD1-50CA24DEDCB7}"/>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2" name="Picture 13">
              <a:extLst>
                <a:ext uri="{FF2B5EF4-FFF2-40B4-BE49-F238E27FC236}">
                  <a16:creationId xmlns:a16="http://schemas.microsoft.com/office/drawing/2014/main" id="{B51DC060-CEFF-4C0D-6AA7-D6772ACFEB7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3" name="Picture 14">
              <a:extLst>
                <a:ext uri="{FF2B5EF4-FFF2-40B4-BE49-F238E27FC236}">
                  <a16:creationId xmlns:a16="http://schemas.microsoft.com/office/drawing/2014/main" id="{735BF2FC-4A01-39EE-2732-B22F6AE59E16}"/>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4" name="Picture 15">
              <a:extLst>
                <a:ext uri="{FF2B5EF4-FFF2-40B4-BE49-F238E27FC236}">
                  <a16:creationId xmlns:a16="http://schemas.microsoft.com/office/drawing/2014/main" id="{2F52F414-A43C-1458-F3F2-E2FE45C1FCC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5" name="Rectangle 19">
              <a:extLst>
                <a:ext uri="{FF2B5EF4-FFF2-40B4-BE49-F238E27FC236}">
                  <a16:creationId xmlns:a16="http://schemas.microsoft.com/office/drawing/2014/main" id="{38549BE4-B8BF-265C-5792-182D7034792F}"/>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6" name="Group 21">
              <a:extLst>
                <a:ext uri="{FF2B5EF4-FFF2-40B4-BE49-F238E27FC236}">
                  <a16:creationId xmlns:a16="http://schemas.microsoft.com/office/drawing/2014/main" id="{3487D7B8-5EC3-55F9-874E-C995A4C7618B}"/>
                </a:ext>
              </a:extLst>
            </p:cNvPr>
            <p:cNvGrpSpPr/>
            <p:nvPr/>
          </p:nvGrpSpPr>
          <p:grpSpPr>
            <a:xfrm>
              <a:off x="1846164" y="3044787"/>
              <a:ext cx="1124072" cy="410927"/>
              <a:chOff x="1905441" y="3332926"/>
              <a:chExt cx="1124072" cy="410927"/>
            </a:xfrm>
          </p:grpSpPr>
          <p:cxnSp>
            <p:nvCxnSpPr>
              <p:cNvPr id="1034" name="Straight Arrow Connector 17">
                <a:extLst>
                  <a:ext uri="{FF2B5EF4-FFF2-40B4-BE49-F238E27FC236}">
                    <a16:creationId xmlns:a16="http://schemas.microsoft.com/office/drawing/2014/main" id="{E9E7634C-36BB-D4DA-DBE2-DB8CB9E504F5}"/>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35" name="Rectangle 20">
                <a:extLst>
                  <a:ext uri="{FF2B5EF4-FFF2-40B4-BE49-F238E27FC236}">
                    <a16:creationId xmlns:a16="http://schemas.microsoft.com/office/drawing/2014/main" id="{78EFAA55-8E5C-74C6-FAAF-587BFA3E3FB8}"/>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7" name="Straight Arrow Connector 23">
              <a:extLst>
                <a:ext uri="{FF2B5EF4-FFF2-40B4-BE49-F238E27FC236}">
                  <a16:creationId xmlns:a16="http://schemas.microsoft.com/office/drawing/2014/main" id="{0E2E8932-340B-F21B-80B9-4061B2DAF085}"/>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8" name="Group 3">
              <a:extLst>
                <a:ext uri="{FF2B5EF4-FFF2-40B4-BE49-F238E27FC236}">
                  <a16:creationId xmlns:a16="http://schemas.microsoft.com/office/drawing/2014/main" id="{D106FB1C-014A-4BED-34B3-E55CD13E8ED2}"/>
                </a:ext>
              </a:extLst>
            </p:cNvPr>
            <p:cNvGrpSpPr/>
            <p:nvPr/>
          </p:nvGrpSpPr>
          <p:grpSpPr>
            <a:xfrm>
              <a:off x="1510486" y="4984342"/>
              <a:ext cx="335693" cy="153583"/>
              <a:chOff x="964222" y="2625872"/>
              <a:chExt cx="2041451" cy="684035"/>
            </a:xfrm>
          </p:grpSpPr>
          <p:sp>
            <p:nvSpPr>
              <p:cNvPr id="1032" name="Freeform 4">
                <a:extLst>
                  <a:ext uri="{FF2B5EF4-FFF2-40B4-BE49-F238E27FC236}">
                    <a16:creationId xmlns:a16="http://schemas.microsoft.com/office/drawing/2014/main" id="{CB96149F-E865-9015-DBD5-B40FD39DAE43}"/>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3" name="Freeform 5">
                <a:extLst>
                  <a:ext uri="{FF2B5EF4-FFF2-40B4-BE49-F238E27FC236}">
                    <a16:creationId xmlns:a16="http://schemas.microsoft.com/office/drawing/2014/main" id="{25A5CD62-8B08-B16D-B293-045D356EDD2A}"/>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9" name="Straight Arrow Connector 7">
              <a:extLst>
                <a:ext uri="{FF2B5EF4-FFF2-40B4-BE49-F238E27FC236}">
                  <a16:creationId xmlns:a16="http://schemas.microsoft.com/office/drawing/2014/main" id="{DAEC7C7A-ABE6-529A-559A-4E92340296A2}"/>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27">
              <a:extLst>
                <a:ext uri="{FF2B5EF4-FFF2-40B4-BE49-F238E27FC236}">
                  <a16:creationId xmlns:a16="http://schemas.microsoft.com/office/drawing/2014/main" id="{AA5750AA-F319-9F9C-77AA-D21E19C3CF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1" name="Group 44">
              <a:extLst>
                <a:ext uri="{FF2B5EF4-FFF2-40B4-BE49-F238E27FC236}">
                  <a16:creationId xmlns:a16="http://schemas.microsoft.com/office/drawing/2014/main" id="{99BD29F9-A471-E244-E49B-B24DE21FC913}"/>
                </a:ext>
              </a:extLst>
            </p:cNvPr>
            <p:cNvGrpSpPr/>
            <p:nvPr/>
          </p:nvGrpSpPr>
          <p:grpSpPr>
            <a:xfrm>
              <a:off x="2920508" y="4981767"/>
              <a:ext cx="340108" cy="263510"/>
              <a:chOff x="3037536" y="4442132"/>
              <a:chExt cx="340108" cy="263510"/>
            </a:xfrm>
          </p:grpSpPr>
          <p:grpSp>
            <p:nvGrpSpPr>
              <p:cNvPr id="1025" name="Group 29">
                <a:extLst>
                  <a:ext uri="{FF2B5EF4-FFF2-40B4-BE49-F238E27FC236}">
                    <a16:creationId xmlns:a16="http://schemas.microsoft.com/office/drawing/2014/main" id="{E79D78EF-EDDE-9015-702D-B212F850D4DC}"/>
                  </a:ext>
                </a:extLst>
              </p:cNvPr>
              <p:cNvGrpSpPr/>
              <p:nvPr/>
            </p:nvGrpSpPr>
            <p:grpSpPr>
              <a:xfrm>
                <a:off x="3037536" y="4442132"/>
                <a:ext cx="335693" cy="153583"/>
                <a:chOff x="964222" y="2625878"/>
                <a:chExt cx="2041451" cy="684033"/>
              </a:xfrm>
            </p:grpSpPr>
            <p:sp>
              <p:nvSpPr>
                <p:cNvPr id="1030" name="Freeform 30">
                  <a:extLst>
                    <a:ext uri="{FF2B5EF4-FFF2-40B4-BE49-F238E27FC236}">
                      <a16:creationId xmlns:a16="http://schemas.microsoft.com/office/drawing/2014/main" id="{0549B43F-6874-5595-AB25-CBCE9261275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1" name="Freeform 31">
                  <a:extLst>
                    <a:ext uri="{FF2B5EF4-FFF2-40B4-BE49-F238E27FC236}">
                      <a16:creationId xmlns:a16="http://schemas.microsoft.com/office/drawing/2014/main" id="{78FFD6E5-5D5C-2F6C-B6F8-BA18FFC7EC32}"/>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27" name="Group 32">
                <a:extLst>
                  <a:ext uri="{FF2B5EF4-FFF2-40B4-BE49-F238E27FC236}">
                    <a16:creationId xmlns:a16="http://schemas.microsoft.com/office/drawing/2014/main" id="{2896B75C-BE36-050B-E1A4-31099079736D}"/>
                  </a:ext>
                </a:extLst>
              </p:cNvPr>
              <p:cNvGrpSpPr/>
              <p:nvPr/>
            </p:nvGrpSpPr>
            <p:grpSpPr>
              <a:xfrm>
                <a:off x="3041951" y="4552059"/>
                <a:ext cx="335693" cy="153583"/>
                <a:chOff x="964222" y="2625878"/>
                <a:chExt cx="2041451" cy="684033"/>
              </a:xfrm>
            </p:grpSpPr>
            <p:sp>
              <p:nvSpPr>
                <p:cNvPr id="1028" name="Freeform 33">
                  <a:extLst>
                    <a:ext uri="{FF2B5EF4-FFF2-40B4-BE49-F238E27FC236}">
                      <a16:creationId xmlns:a16="http://schemas.microsoft.com/office/drawing/2014/main" id="{B7E79E32-3227-4D0B-952C-9B384709EEF4}"/>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9" name="Freeform 34">
                  <a:extLst>
                    <a:ext uri="{FF2B5EF4-FFF2-40B4-BE49-F238E27FC236}">
                      <a16:creationId xmlns:a16="http://schemas.microsoft.com/office/drawing/2014/main" id="{0C1D762F-7E06-75B1-E864-B1D5F4255563}"/>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22" name="Group 45">
              <a:extLst>
                <a:ext uri="{FF2B5EF4-FFF2-40B4-BE49-F238E27FC236}">
                  <a16:creationId xmlns:a16="http://schemas.microsoft.com/office/drawing/2014/main" id="{1CF0DCB2-3341-FE49-4553-270A4526D62C}"/>
                </a:ext>
              </a:extLst>
            </p:cNvPr>
            <p:cNvGrpSpPr/>
            <p:nvPr/>
          </p:nvGrpSpPr>
          <p:grpSpPr>
            <a:xfrm>
              <a:off x="1511096" y="4941025"/>
              <a:ext cx="2931160" cy="448413"/>
              <a:chOff x="1368243" y="4401390"/>
              <a:chExt cx="2931160" cy="448413"/>
            </a:xfrm>
          </p:grpSpPr>
          <p:grpSp>
            <p:nvGrpSpPr>
              <p:cNvPr id="24" name="Group 35">
                <a:extLst>
                  <a:ext uri="{FF2B5EF4-FFF2-40B4-BE49-F238E27FC236}">
                    <a16:creationId xmlns:a16="http://schemas.microsoft.com/office/drawing/2014/main" id="{BCE04FD5-6FD1-B01E-D73E-D6677AA10251}"/>
                  </a:ext>
                </a:extLst>
              </p:cNvPr>
              <p:cNvGrpSpPr/>
              <p:nvPr/>
            </p:nvGrpSpPr>
            <p:grpSpPr>
              <a:xfrm>
                <a:off x="3963710" y="4401390"/>
                <a:ext cx="335693" cy="153583"/>
                <a:chOff x="964222" y="2625878"/>
                <a:chExt cx="2041451" cy="684033"/>
              </a:xfrm>
            </p:grpSpPr>
            <p:sp>
              <p:nvSpPr>
                <p:cNvPr id="31" name="Freeform 36">
                  <a:extLst>
                    <a:ext uri="{FF2B5EF4-FFF2-40B4-BE49-F238E27FC236}">
                      <a16:creationId xmlns:a16="http://schemas.microsoft.com/office/drawing/2014/main" id="{1B277BD6-D433-827F-0385-DA75E956CBDF}"/>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4" name="Freeform 37">
                  <a:extLst>
                    <a:ext uri="{FF2B5EF4-FFF2-40B4-BE49-F238E27FC236}">
                      <a16:creationId xmlns:a16="http://schemas.microsoft.com/office/drawing/2014/main" id="{A704C8E0-22FC-87F3-B4FD-DDF51DD6C3C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5" name="Group 38">
                <a:extLst>
                  <a:ext uri="{FF2B5EF4-FFF2-40B4-BE49-F238E27FC236}">
                    <a16:creationId xmlns:a16="http://schemas.microsoft.com/office/drawing/2014/main" id="{ECD8CA22-B651-0850-9026-0479F68C72B1}"/>
                  </a:ext>
                </a:extLst>
              </p:cNvPr>
              <p:cNvGrpSpPr/>
              <p:nvPr/>
            </p:nvGrpSpPr>
            <p:grpSpPr>
              <a:xfrm>
                <a:off x="1371437" y="4570670"/>
                <a:ext cx="335695" cy="153582"/>
                <a:chOff x="-14859213" y="2876247"/>
                <a:chExt cx="2041463" cy="684029"/>
              </a:xfrm>
            </p:grpSpPr>
            <p:sp>
              <p:nvSpPr>
                <p:cNvPr id="29" name="Freeform 39">
                  <a:extLst>
                    <a:ext uri="{FF2B5EF4-FFF2-40B4-BE49-F238E27FC236}">
                      <a16:creationId xmlns:a16="http://schemas.microsoft.com/office/drawing/2014/main" id="{CA802ACF-E8E8-A538-E0BF-D17A0224E67F}"/>
                    </a:ext>
                  </a:extLst>
                </p:cNvPr>
                <p:cNvSpPr/>
                <p:nvPr/>
              </p:nvSpPr>
              <p:spPr>
                <a:xfrm>
                  <a:off x="-14859199"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30" name="Freeform 40">
                  <a:extLst>
                    <a:ext uri="{FF2B5EF4-FFF2-40B4-BE49-F238E27FC236}">
                      <a16:creationId xmlns:a16="http://schemas.microsoft.com/office/drawing/2014/main" id="{53A5743D-CA61-E2E7-6DEC-80E7FB67BB47}"/>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6" name="Group 41">
                <a:extLst>
                  <a:ext uri="{FF2B5EF4-FFF2-40B4-BE49-F238E27FC236}">
                    <a16:creationId xmlns:a16="http://schemas.microsoft.com/office/drawing/2014/main" id="{BA545031-BB6A-FC0A-3084-1DF0D83A5EED}"/>
                  </a:ext>
                </a:extLst>
              </p:cNvPr>
              <p:cNvGrpSpPr/>
              <p:nvPr/>
            </p:nvGrpSpPr>
            <p:grpSpPr>
              <a:xfrm>
                <a:off x="1368243" y="4696221"/>
                <a:ext cx="335694" cy="153582"/>
                <a:chOff x="-14859213" y="2876247"/>
                <a:chExt cx="2041459" cy="684029"/>
              </a:xfrm>
            </p:grpSpPr>
            <p:sp>
              <p:nvSpPr>
                <p:cNvPr id="27" name="Freeform 42">
                  <a:extLst>
                    <a:ext uri="{FF2B5EF4-FFF2-40B4-BE49-F238E27FC236}">
                      <a16:creationId xmlns:a16="http://schemas.microsoft.com/office/drawing/2014/main" id="{8BE7811B-1FB3-9DD6-2514-77B29B4CCBE2}"/>
                    </a:ext>
                  </a:extLst>
                </p:cNvPr>
                <p:cNvSpPr/>
                <p:nvPr/>
              </p:nvSpPr>
              <p:spPr>
                <a:xfrm>
                  <a:off x="-14859203"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28" name="Freeform 43">
                  <a:extLst>
                    <a:ext uri="{FF2B5EF4-FFF2-40B4-BE49-F238E27FC236}">
                      <a16:creationId xmlns:a16="http://schemas.microsoft.com/office/drawing/2014/main" id="{31287F21-E80A-6EBF-B8F0-20B4D90A6014}"/>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23" name="TextBox 46">
              <a:extLst>
                <a:ext uri="{FF2B5EF4-FFF2-40B4-BE49-F238E27FC236}">
                  <a16:creationId xmlns:a16="http://schemas.microsoft.com/office/drawing/2014/main" id="{C6D2840A-2E2B-F9F8-56B6-C5D6CAB35CA0}"/>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36" name="TextBox 28">
              <a:extLst>
                <a:ext uri="{FF2B5EF4-FFF2-40B4-BE49-F238E27FC236}">
                  <a16:creationId xmlns:a16="http://schemas.microsoft.com/office/drawing/2014/main" id="{029E95AC-ADE3-F28E-4539-FDABFA0F67DF}"/>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39" name="כותרת משנה 2">
            <a:extLst>
              <a:ext uri="{FF2B5EF4-FFF2-40B4-BE49-F238E27FC236}">
                <a16:creationId xmlns:a16="http://schemas.microsoft.com/office/drawing/2014/main" id="{8DE84968-E6BA-FAC6-C470-4E4C4A5FAED1}"/>
              </a:ext>
            </a:extLst>
          </p:cNvPr>
          <p:cNvSpPr txBox="1">
            <a:spLocks/>
          </p:cNvSpPr>
          <p:nvPr/>
        </p:nvSpPr>
        <p:spPr>
          <a:xfrm>
            <a:off x="911172" y="1359744"/>
            <a:ext cx="383892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scoliosis</a:t>
            </a:r>
            <a:endParaRPr lang="he-IL" sz="2000" b="1" i="1" dirty="0"/>
          </a:p>
        </p:txBody>
      </p:sp>
      <p:grpSp>
        <p:nvGrpSpPr>
          <p:cNvPr id="1040" name="קבוצה 1039">
            <a:extLst>
              <a:ext uri="{FF2B5EF4-FFF2-40B4-BE49-F238E27FC236}">
                <a16:creationId xmlns:a16="http://schemas.microsoft.com/office/drawing/2014/main" id="{2F003D73-098E-94CF-EB98-6E3322DB12B6}"/>
              </a:ext>
            </a:extLst>
          </p:cNvPr>
          <p:cNvGrpSpPr/>
          <p:nvPr/>
        </p:nvGrpSpPr>
        <p:grpSpPr>
          <a:xfrm>
            <a:off x="6402023" y="2456451"/>
            <a:ext cx="4951777" cy="3853015"/>
            <a:chOff x="695988" y="2492958"/>
            <a:chExt cx="3932240" cy="3227940"/>
          </a:xfrm>
        </p:grpSpPr>
        <p:sp>
          <p:nvSpPr>
            <p:cNvPr id="1041" name="Freeform 9">
              <a:extLst>
                <a:ext uri="{FF2B5EF4-FFF2-40B4-BE49-F238E27FC236}">
                  <a16:creationId xmlns:a16="http://schemas.microsoft.com/office/drawing/2014/main" id="{D62199CA-D53E-BFC9-ADE0-D7E41EBDB135}"/>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2" name="Oval 10">
              <a:extLst>
                <a:ext uri="{FF2B5EF4-FFF2-40B4-BE49-F238E27FC236}">
                  <a16:creationId xmlns:a16="http://schemas.microsoft.com/office/drawing/2014/main" id="{F1089D31-0466-E191-7D76-C05C9FD9BC1A}"/>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3" name="Oval 11">
              <a:extLst>
                <a:ext uri="{FF2B5EF4-FFF2-40B4-BE49-F238E27FC236}">
                  <a16:creationId xmlns:a16="http://schemas.microsoft.com/office/drawing/2014/main" id="{5D973F34-F0C3-BFAA-7561-927D9A0C4E8A}"/>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4" name="Oval 12">
              <a:extLst>
                <a:ext uri="{FF2B5EF4-FFF2-40B4-BE49-F238E27FC236}">
                  <a16:creationId xmlns:a16="http://schemas.microsoft.com/office/drawing/2014/main" id="{92C26F5F-275C-1B5F-C921-F4568A155D5C}"/>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045" name="Picture 13">
              <a:extLst>
                <a:ext uri="{FF2B5EF4-FFF2-40B4-BE49-F238E27FC236}">
                  <a16:creationId xmlns:a16="http://schemas.microsoft.com/office/drawing/2014/main" id="{A774386B-195D-BDDF-1289-7F76E7716C8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046" name="Picture 14">
              <a:extLst>
                <a:ext uri="{FF2B5EF4-FFF2-40B4-BE49-F238E27FC236}">
                  <a16:creationId xmlns:a16="http://schemas.microsoft.com/office/drawing/2014/main" id="{45FA2A80-28B6-4EAB-DB19-B00042DB8A24}"/>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047" name="Picture 15">
              <a:extLst>
                <a:ext uri="{FF2B5EF4-FFF2-40B4-BE49-F238E27FC236}">
                  <a16:creationId xmlns:a16="http://schemas.microsoft.com/office/drawing/2014/main" id="{B01F9BDE-947E-114D-B9E0-8027048D457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048" name="Rectangle 19">
              <a:extLst>
                <a:ext uri="{FF2B5EF4-FFF2-40B4-BE49-F238E27FC236}">
                  <a16:creationId xmlns:a16="http://schemas.microsoft.com/office/drawing/2014/main" id="{C8E66F24-B213-9C41-0944-F3D17FB6D98B}"/>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049" name="Group 21">
              <a:extLst>
                <a:ext uri="{FF2B5EF4-FFF2-40B4-BE49-F238E27FC236}">
                  <a16:creationId xmlns:a16="http://schemas.microsoft.com/office/drawing/2014/main" id="{0EB748E7-76E9-E325-C664-D2E79CFF8BB5}"/>
                </a:ext>
              </a:extLst>
            </p:cNvPr>
            <p:cNvGrpSpPr/>
            <p:nvPr/>
          </p:nvGrpSpPr>
          <p:grpSpPr>
            <a:xfrm>
              <a:off x="1846164" y="3044787"/>
              <a:ext cx="1124072" cy="410927"/>
              <a:chOff x="1905441" y="3332926"/>
              <a:chExt cx="1124072" cy="410927"/>
            </a:xfrm>
          </p:grpSpPr>
          <p:cxnSp>
            <p:nvCxnSpPr>
              <p:cNvPr id="1075" name="Straight Arrow Connector 17">
                <a:extLst>
                  <a:ext uri="{FF2B5EF4-FFF2-40B4-BE49-F238E27FC236}">
                    <a16:creationId xmlns:a16="http://schemas.microsoft.com/office/drawing/2014/main" id="{36852886-12FF-FA72-20F1-34C09DCA66E7}"/>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76" name="Rectangle 20">
                <a:extLst>
                  <a:ext uri="{FF2B5EF4-FFF2-40B4-BE49-F238E27FC236}">
                    <a16:creationId xmlns:a16="http://schemas.microsoft.com/office/drawing/2014/main" id="{A634F267-C82D-EEC1-030B-F609F477CCD2}"/>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050" name="Straight Arrow Connector 23">
              <a:extLst>
                <a:ext uri="{FF2B5EF4-FFF2-40B4-BE49-F238E27FC236}">
                  <a16:creationId xmlns:a16="http://schemas.microsoft.com/office/drawing/2014/main" id="{2AAA6BB1-E541-C217-5A7B-104C9693FECE}"/>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051" name="Group 3">
              <a:extLst>
                <a:ext uri="{FF2B5EF4-FFF2-40B4-BE49-F238E27FC236}">
                  <a16:creationId xmlns:a16="http://schemas.microsoft.com/office/drawing/2014/main" id="{05F23C1F-D159-5FD2-4815-34B0569357C4}"/>
                </a:ext>
              </a:extLst>
            </p:cNvPr>
            <p:cNvGrpSpPr/>
            <p:nvPr/>
          </p:nvGrpSpPr>
          <p:grpSpPr>
            <a:xfrm>
              <a:off x="1510486" y="4984342"/>
              <a:ext cx="335693" cy="153583"/>
              <a:chOff x="964222" y="2625872"/>
              <a:chExt cx="2041451" cy="684035"/>
            </a:xfrm>
          </p:grpSpPr>
          <p:sp>
            <p:nvSpPr>
              <p:cNvPr id="1073" name="Freeform 4">
                <a:extLst>
                  <a:ext uri="{FF2B5EF4-FFF2-40B4-BE49-F238E27FC236}">
                    <a16:creationId xmlns:a16="http://schemas.microsoft.com/office/drawing/2014/main" id="{DF246660-051F-2C9F-7AC3-F7AF64F96B30}"/>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4" name="Freeform 5">
                <a:extLst>
                  <a:ext uri="{FF2B5EF4-FFF2-40B4-BE49-F238E27FC236}">
                    <a16:creationId xmlns:a16="http://schemas.microsoft.com/office/drawing/2014/main" id="{F36661C6-7B66-6386-DE95-314B09116E71}"/>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052" name="Straight Arrow Connector 7">
              <a:extLst>
                <a:ext uri="{FF2B5EF4-FFF2-40B4-BE49-F238E27FC236}">
                  <a16:creationId xmlns:a16="http://schemas.microsoft.com/office/drawing/2014/main" id="{3901D441-E342-3B4A-EE0F-9C8D9FFE5379}"/>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3" name="Straight Arrow Connector 27">
              <a:extLst>
                <a:ext uri="{FF2B5EF4-FFF2-40B4-BE49-F238E27FC236}">
                  <a16:creationId xmlns:a16="http://schemas.microsoft.com/office/drawing/2014/main" id="{5E659E7C-E622-EE5F-821F-F475A35F8C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54" name="Group 44">
              <a:extLst>
                <a:ext uri="{FF2B5EF4-FFF2-40B4-BE49-F238E27FC236}">
                  <a16:creationId xmlns:a16="http://schemas.microsoft.com/office/drawing/2014/main" id="{936112DE-0543-2508-B0C1-41C4243D877A}"/>
                </a:ext>
              </a:extLst>
            </p:cNvPr>
            <p:cNvGrpSpPr/>
            <p:nvPr/>
          </p:nvGrpSpPr>
          <p:grpSpPr>
            <a:xfrm>
              <a:off x="2920508" y="4981767"/>
              <a:ext cx="340108" cy="263510"/>
              <a:chOff x="3037536" y="4442132"/>
              <a:chExt cx="340108" cy="263510"/>
            </a:xfrm>
          </p:grpSpPr>
          <p:grpSp>
            <p:nvGrpSpPr>
              <p:cNvPr id="1067" name="Group 29">
                <a:extLst>
                  <a:ext uri="{FF2B5EF4-FFF2-40B4-BE49-F238E27FC236}">
                    <a16:creationId xmlns:a16="http://schemas.microsoft.com/office/drawing/2014/main" id="{87A5C9BF-92E7-8380-CCF5-97A4FBC7C25F}"/>
                  </a:ext>
                </a:extLst>
              </p:cNvPr>
              <p:cNvGrpSpPr/>
              <p:nvPr/>
            </p:nvGrpSpPr>
            <p:grpSpPr>
              <a:xfrm>
                <a:off x="3037536" y="4442132"/>
                <a:ext cx="335693" cy="153583"/>
                <a:chOff x="964222" y="2625878"/>
                <a:chExt cx="2041451" cy="684033"/>
              </a:xfrm>
            </p:grpSpPr>
            <p:sp>
              <p:nvSpPr>
                <p:cNvPr id="1071" name="Freeform 30">
                  <a:extLst>
                    <a:ext uri="{FF2B5EF4-FFF2-40B4-BE49-F238E27FC236}">
                      <a16:creationId xmlns:a16="http://schemas.microsoft.com/office/drawing/2014/main" id="{0B2DE4CE-3531-9171-BBAA-CA18FAB9EE01}"/>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2" name="Freeform 31">
                  <a:extLst>
                    <a:ext uri="{FF2B5EF4-FFF2-40B4-BE49-F238E27FC236}">
                      <a16:creationId xmlns:a16="http://schemas.microsoft.com/office/drawing/2014/main" id="{EDCB4D4D-55CC-E05A-98BE-1BA5721CC634}"/>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8" name="Group 32">
                <a:extLst>
                  <a:ext uri="{FF2B5EF4-FFF2-40B4-BE49-F238E27FC236}">
                    <a16:creationId xmlns:a16="http://schemas.microsoft.com/office/drawing/2014/main" id="{ADFE499B-AD5E-23E9-5759-E981505B563B}"/>
                  </a:ext>
                </a:extLst>
              </p:cNvPr>
              <p:cNvGrpSpPr/>
              <p:nvPr/>
            </p:nvGrpSpPr>
            <p:grpSpPr>
              <a:xfrm>
                <a:off x="3041951" y="4552059"/>
                <a:ext cx="335693" cy="153583"/>
                <a:chOff x="964222" y="2625878"/>
                <a:chExt cx="2041451" cy="684033"/>
              </a:xfrm>
            </p:grpSpPr>
            <p:sp>
              <p:nvSpPr>
                <p:cNvPr id="1069" name="Freeform 33">
                  <a:extLst>
                    <a:ext uri="{FF2B5EF4-FFF2-40B4-BE49-F238E27FC236}">
                      <a16:creationId xmlns:a16="http://schemas.microsoft.com/office/drawing/2014/main" id="{4316D3C7-FDE2-602F-0CE8-2FB86E0E337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0" name="Freeform 34">
                  <a:extLst>
                    <a:ext uri="{FF2B5EF4-FFF2-40B4-BE49-F238E27FC236}">
                      <a16:creationId xmlns:a16="http://schemas.microsoft.com/office/drawing/2014/main" id="{E29323FD-DF26-5EC8-8393-4A157DB783D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1055" name="Group 45">
              <a:extLst>
                <a:ext uri="{FF2B5EF4-FFF2-40B4-BE49-F238E27FC236}">
                  <a16:creationId xmlns:a16="http://schemas.microsoft.com/office/drawing/2014/main" id="{27D0D9C1-EFFC-74C3-FC22-F0725BC8A180}"/>
                </a:ext>
              </a:extLst>
            </p:cNvPr>
            <p:cNvGrpSpPr/>
            <p:nvPr/>
          </p:nvGrpSpPr>
          <p:grpSpPr>
            <a:xfrm>
              <a:off x="4103365" y="4941025"/>
              <a:ext cx="338891" cy="396065"/>
              <a:chOff x="3960512" y="4401390"/>
              <a:chExt cx="338891" cy="396065"/>
            </a:xfrm>
          </p:grpSpPr>
          <p:grpSp>
            <p:nvGrpSpPr>
              <p:cNvPr id="1058" name="Group 35">
                <a:extLst>
                  <a:ext uri="{FF2B5EF4-FFF2-40B4-BE49-F238E27FC236}">
                    <a16:creationId xmlns:a16="http://schemas.microsoft.com/office/drawing/2014/main" id="{BCFCB6BA-7011-A296-822B-543A70DCA004}"/>
                  </a:ext>
                </a:extLst>
              </p:cNvPr>
              <p:cNvGrpSpPr/>
              <p:nvPr/>
            </p:nvGrpSpPr>
            <p:grpSpPr>
              <a:xfrm>
                <a:off x="3963710" y="4401390"/>
                <a:ext cx="335693" cy="153583"/>
                <a:chOff x="964222" y="2625878"/>
                <a:chExt cx="2041451" cy="684033"/>
              </a:xfrm>
            </p:grpSpPr>
            <p:sp>
              <p:nvSpPr>
                <p:cNvPr id="1065" name="Freeform 36">
                  <a:extLst>
                    <a:ext uri="{FF2B5EF4-FFF2-40B4-BE49-F238E27FC236}">
                      <a16:creationId xmlns:a16="http://schemas.microsoft.com/office/drawing/2014/main" id="{11FD63E8-3303-73F5-C01F-B80F264CE2C3}"/>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6" name="Freeform 37">
                  <a:extLst>
                    <a:ext uri="{FF2B5EF4-FFF2-40B4-BE49-F238E27FC236}">
                      <a16:creationId xmlns:a16="http://schemas.microsoft.com/office/drawing/2014/main" id="{3AEF6993-B677-5E5B-6AEF-5D2496D996A9}"/>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59" name="Group 38">
                <a:extLst>
                  <a:ext uri="{FF2B5EF4-FFF2-40B4-BE49-F238E27FC236}">
                    <a16:creationId xmlns:a16="http://schemas.microsoft.com/office/drawing/2014/main" id="{46E8F2C5-5F31-698B-E8BA-B4E8467C6AF2}"/>
                  </a:ext>
                </a:extLst>
              </p:cNvPr>
              <p:cNvGrpSpPr/>
              <p:nvPr/>
            </p:nvGrpSpPr>
            <p:grpSpPr>
              <a:xfrm>
                <a:off x="3963707" y="4518322"/>
                <a:ext cx="335696" cy="153581"/>
                <a:chOff x="905166" y="2643086"/>
                <a:chExt cx="2041467" cy="684022"/>
              </a:xfrm>
            </p:grpSpPr>
            <p:sp>
              <p:nvSpPr>
                <p:cNvPr id="1063" name="Freeform 39">
                  <a:extLst>
                    <a:ext uri="{FF2B5EF4-FFF2-40B4-BE49-F238E27FC236}">
                      <a16:creationId xmlns:a16="http://schemas.microsoft.com/office/drawing/2014/main" id="{4E17FBCF-CC21-134C-D2F4-8F3E89EC3869}"/>
                    </a:ext>
                  </a:extLst>
                </p:cNvPr>
                <p:cNvSpPr/>
                <p:nvPr/>
              </p:nvSpPr>
              <p:spPr>
                <a:xfrm>
                  <a:off x="905184" y="2880541"/>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4" name="Freeform 40">
                  <a:extLst>
                    <a:ext uri="{FF2B5EF4-FFF2-40B4-BE49-F238E27FC236}">
                      <a16:creationId xmlns:a16="http://schemas.microsoft.com/office/drawing/2014/main" id="{4070FAF9-B644-15A5-D852-3F1128D7AFD6}"/>
                    </a:ext>
                  </a:extLst>
                </p:cNvPr>
                <p:cNvSpPr/>
                <p:nvPr/>
              </p:nvSpPr>
              <p:spPr>
                <a:xfrm>
                  <a:off x="905166" y="2643086"/>
                  <a:ext cx="2041453"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0" name="Group 41">
                <a:extLst>
                  <a:ext uri="{FF2B5EF4-FFF2-40B4-BE49-F238E27FC236}">
                    <a16:creationId xmlns:a16="http://schemas.microsoft.com/office/drawing/2014/main" id="{48539139-25C1-8ED4-456D-5BDB0084FFCA}"/>
                  </a:ext>
                </a:extLst>
              </p:cNvPr>
              <p:cNvGrpSpPr/>
              <p:nvPr/>
            </p:nvGrpSpPr>
            <p:grpSpPr>
              <a:xfrm>
                <a:off x="3960512" y="4643873"/>
                <a:ext cx="335696" cy="153582"/>
                <a:chOff x="905172" y="2643086"/>
                <a:chExt cx="2041469" cy="684026"/>
              </a:xfrm>
            </p:grpSpPr>
            <p:sp>
              <p:nvSpPr>
                <p:cNvPr id="1061" name="Freeform 42">
                  <a:extLst>
                    <a:ext uri="{FF2B5EF4-FFF2-40B4-BE49-F238E27FC236}">
                      <a16:creationId xmlns:a16="http://schemas.microsoft.com/office/drawing/2014/main" id="{AE2C8C16-A481-5015-2D10-7C87A1003540}"/>
                    </a:ext>
                  </a:extLst>
                </p:cNvPr>
                <p:cNvSpPr/>
                <p:nvPr/>
              </p:nvSpPr>
              <p:spPr>
                <a:xfrm>
                  <a:off x="905194" y="2880545"/>
                  <a:ext cx="2041447"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2" name="Freeform 43">
                  <a:extLst>
                    <a:ext uri="{FF2B5EF4-FFF2-40B4-BE49-F238E27FC236}">
                      <a16:creationId xmlns:a16="http://schemas.microsoft.com/office/drawing/2014/main" id="{3872D219-2CE1-1106-7ED7-05D9E3CD9720}"/>
                    </a:ext>
                  </a:extLst>
                </p:cNvPr>
                <p:cNvSpPr/>
                <p:nvPr/>
              </p:nvSpPr>
              <p:spPr>
                <a:xfrm>
                  <a:off x="905172" y="2643086"/>
                  <a:ext cx="2041449"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1056" name="TextBox 46">
              <a:extLst>
                <a:ext uri="{FF2B5EF4-FFF2-40B4-BE49-F238E27FC236}">
                  <a16:creationId xmlns:a16="http://schemas.microsoft.com/office/drawing/2014/main" id="{C7C9D5D6-3455-B71A-26DC-222900E56862}"/>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57" name="TextBox 28">
              <a:extLst>
                <a:ext uri="{FF2B5EF4-FFF2-40B4-BE49-F238E27FC236}">
                  <a16:creationId xmlns:a16="http://schemas.microsoft.com/office/drawing/2014/main" id="{EBF96B84-503C-8129-ED9C-EA87BA8DE3FE}"/>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78" name="כותרת משנה 2">
            <a:extLst>
              <a:ext uri="{FF2B5EF4-FFF2-40B4-BE49-F238E27FC236}">
                <a16:creationId xmlns:a16="http://schemas.microsoft.com/office/drawing/2014/main" id="{0FAF7BC5-B8F2-18FE-8F80-7CFBE5031805}"/>
              </a:ext>
            </a:extLst>
          </p:cNvPr>
          <p:cNvSpPr txBox="1">
            <a:spLocks/>
          </p:cNvSpPr>
          <p:nvPr/>
        </p:nvSpPr>
        <p:spPr>
          <a:xfrm>
            <a:off x="6681754" y="1460270"/>
            <a:ext cx="4515554"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schizophrenia</a:t>
            </a:r>
            <a:endParaRPr lang="he-IL" sz="2000" b="1" i="1" dirty="0"/>
          </a:p>
        </p:txBody>
      </p:sp>
      <p:pic>
        <p:nvPicPr>
          <p:cNvPr id="3" name="מציין מיקום תוכן 5" descr="תמונה שמכילה טקסט, תרשים, קו, עלילה&#10;&#10;תוכן שנוצר על-ידי בינה מלאכותית עשוי להיות שגוי.">
            <a:extLst>
              <a:ext uri="{FF2B5EF4-FFF2-40B4-BE49-F238E27FC236}">
                <a16:creationId xmlns:a16="http://schemas.microsoft.com/office/drawing/2014/main" id="{9C65C91F-0579-36C3-C305-8961FE348510}"/>
              </a:ext>
            </a:extLst>
          </p:cNvPr>
          <p:cNvPicPr>
            <a:picLocks noChangeAspect="1"/>
          </p:cNvPicPr>
          <p:nvPr/>
        </p:nvPicPr>
        <p:blipFill>
          <a:blip r:embed="rId5">
            <a:extLst>
              <a:ext uri="{28A0092B-C50C-407E-A947-70E740481C1C}">
                <a14:useLocalDpi xmlns:a14="http://schemas.microsoft.com/office/drawing/2010/main" val="0"/>
              </a:ext>
            </a:extLst>
          </a:blip>
          <a:srcRect t="19926"/>
          <a:stretch/>
        </p:blipFill>
        <p:spPr>
          <a:xfrm>
            <a:off x="7853817" y="1932977"/>
            <a:ext cx="1462005" cy="819478"/>
          </a:xfrm>
          <a:prstGeom prst="rect">
            <a:avLst/>
          </a:prstGeom>
        </p:spPr>
      </p:pic>
      <p:pic>
        <p:nvPicPr>
          <p:cNvPr id="6" name="תמונה 5" descr="תמונה שמכילה טקסט, עלילה, תרשים, צילום מסך&#10;&#10;תוכן שנוצר על-ידי בינה מלאכותית עשוי להיות שגוי.">
            <a:extLst>
              <a:ext uri="{FF2B5EF4-FFF2-40B4-BE49-F238E27FC236}">
                <a16:creationId xmlns:a16="http://schemas.microsoft.com/office/drawing/2014/main" id="{5F5B9DD3-9F01-21ED-CE4F-75699AE77881}"/>
              </a:ext>
            </a:extLst>
          </p:cNvPr>
          <p:cNvPicPr>
            <a:picLocks noChangeAspect="1"/>
          </p:cNvPicPr>
          <p:nvPr/>
        </p:nvPicPr>
        <p:blipFill>
          <a:blip r:embed="rId6">
            <a:extLst>
              <a:ext uri="{28A0092B-C50C-407E-A947-70E740481C1C}">
                <a14:useLocalDpi xmlns:a14="http://schemas.microsoft.com/office/drawing/2010/main" val="0"/>
              </a:ext>
            </a:extLst>
          </a:blip>
          <a:srcRect t="7573" b="7317"/>
          <a:stretch/>
        </p:blipFill>
        <p:spPr>
          <a:xfrm>
            <a:off x="1785600" y="1846663"/>
            <a:ext cx="1647127" cy="841113"/>
          </a:xfrm>
          <a:prstGeom prst="rect">
            <a:avLst/>
          </a:prstGeom>
        </p:spPr>
      </p:pic>
    </p:spTree>
    <p:extLst>
      <p:ext uri="{BB962C8B-B14F-4D97-AF65-F5344CB8AC3E}">
        <p14:creationId xmlns:p14="http://schemas.microsoft.com/office/powerpoint/2010/main" val="16896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7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9" grpId="0"/>
      <p:bldP spid="107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5978A-BD54-489B-8D07-AB54F92CBFF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C842496-9895-827A-A6AC-B388E0EF828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To be continued: future directions</a:t>
            </a:r>
            <a:endParaRPr lang="he-IL" dirty="0"/>
          </a:p>
        </p:txBody>
      </p:sp>
      <p:sp>
        <p:nvSpPr>
          <p:cNvPr id="3" name="מציין מיקום תוכן 2">
            <a:extLst>
              <a:ext uri="{FF2B5EF4-FFF2-40B4-BE49-F238E27FC236}">
                <a16:creationId xmlns:a16="http://schemas.microsoft.com/office/drawing/2014/main" id="{11B82077-B3E9-D58F-FB9E-6FE7FB0196A5}"/>
              </a:ext>
            </a:extLst>
          </p:cNvPr>
          <p:cNvSpPr>
            <a:spLocks noGrp="1"/>
          </p:cNvSpPr>
          <p:nvPr>
            <p:ph idx="1"/>
          </p:nvPr>
        </p:nvSpPr>
        <p:spPr>
          <a:xfrm>
            <a:off x="1094698" y="1720272"/>
            <a:ext cx="9965188" cy="4351338"/>
          </a:xfrm>
        </p:spPr>
        <p:txBody>
          <a:bodyPr>
            <a:normAutofit/>
          </a:bodyPr>
          <a:lstStyle/>
          <a:p>
            <a:pPr algn="l" rtl="0"/>
            <a:r>
              <a:rPr lang="en-US" b="1" i="1" dirty="0"/>
              <a:t>Understand disease mechanisms: look into the function of differentially expressed disease-related genes</a:t>
            </a:r>
          </a:p>
          <a:p>
            <a:pPr algn="l" rtl="0"/>
            <a:endParaRPr lang="en-US" b="1" i="1" dirty="0"/>
          </a:p>
          <a:p>
            <a:pPr algn="l" rtl="0"/>
            <a:r>
              <a:rPr lang="en-US" b="1" i="1" dirty="0"/>
              <a:t>Are these evolutionary patterns conserved? Look for similar patterns in other organisms</a:t>
            </a:r>
          </a:p>
          <a:p>
            <a:pPr algn="l" rtl="0"/>
            <a:endParaRPr lang="en-US" b="1" i="1" dirty="0"/>
          </a:p>
          <a:p>
            <a:pPr algn="l" rtl="0"/>
            <a:r>
              <a:rPr lang="en-US" b="1" i="1" dirty="0"/>
              <a:t>Look for the tradeoff: what was the adaptive change?</a:t>
            </a:r>
          </a:p>
        </p:txBody>
      </p:sp>
      <p:pic>
        <p:nvPicPr>
          <p:cNvPr id="3074"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EA08C125-4B75-929A-BFB6-77E94B6935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4457" y="1690688"/>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7989B5DA-6C6C-1BCC-9ECE-8B3089735A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9" y="3016251"/>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4EB7492B-6193-8A88-C005-557B9923D1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8" y="4273879"/>
            <a:ext cx="893433" cy="893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216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7476</TotalTime>
  <Words>1924</Words>
  <Application>Microsoft Macintosh PowerPoint</Application>
  <PresentationFormat>מסך רחב</PresentationFormat>
  <Paragraphs>210</Paragraphs>
  <Slides>20</Slides>
  <Notes>19</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20</vt:i4>
      </vt:variant>
    </vt:vector>
  </HeadingPairs>
  <TitlesOfParts>
    <vt:vector size="30"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diseases</vt:lpstr>
      <vt:lpstr>The origin of human-specific diseases</vt:lpstr>
      <vt:lpstr>Regulatory changes: the immediate suspect</vt:lpstr>
      <vt:lpstr>The origin of human-specific diseases</vt:lpstr>
      <vt:lpstr>Which diseases can we study using the hybrid system?</vt:lpstr>
      <vt:lpstr>Identifying disease-associated genes</vt:lpstr>
      <vt:lpstr>Identifying disease-associated genes</vt:lpstr>
      <vt:lpstr>What are we looking for?</vt:lpstr>
      <vt:lpstr>Percentage of differentially expressed genes</vt:lpstr>
      <vt:lpstr>Percentage of differentially expressed genes</vt:lpstr>
      <vt:lpstr>Schizophrenia: fewer differentially expressed genes</vt:lpstr>
      <vt:lpstr>Schizophrenia-related genes are depleted of large expression changes</vt:lpstr>
      <vt:lpstr>Scoliosis: more differentially expressed genes</vt:lpstr>
      <vt:lpstr>Is the direction of regulation change important?</vt:lpstr>
      <vt:lpstr>Schizophrenia: positive selection for upregulation of genes</vt:lpstr>
      <vt:lpstr>Schizophrenia-related genes are depleted of large negative expression changes</vt:lpstr>
      <vt:lpstr>Scoliosis: larger changes in downregulated genes</vt:lpstr>
      <vt:lpstr>Discussion</vt:lpstr>
      <vt:lpstr>To be continued: future directions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Gil Sasson</cp:lastModifiedBy>
  <cp:revision>33</cp:revision>
  <dcterms:created xsi:type="dcterms:W3CDTF">2025-06-29T11:13:21Z</dcterms:created>
  <dcterms:modified xsi:type="dcterms:W3CDTF">2025-07-15T07:22:07Z</dcterms:modified>
</cp:coreProperties>
</file>