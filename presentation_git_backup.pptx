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2"/>
  </p:notesMasterIdLst>
  <p:sldIdLst>
    <p:sldId id="256" r:id="rId2"/>
    <p:sldId id="992" r:id="rId3"/>
    <p:sldId id="993" r:id="rId4"/>
    <p:sldId id="1006" r:id="rId5"/>
    <p:sldId id="994" r:id="rId6"/>
    <p:sldId id="995" r:id="rId7"/>
    <p:sldId id="1003" r:id="rId8"/>
    <p:sldId id="996" r:id="rId9"/>
    <p:sldId id="997" r:id="rId10"/>
    <p:sldId id="1008" r:id="rId11"/>
    <p:sldId id="1000" r:id="rId12"/>
    <p:sldId id="1002" r:id="rId13"/>
    <p:sldId id="1001" r:id="rId14"/>
    <p:sldId id="998" r:id="rId15"/>
    <p:sldId id="1004" r:id="rId16"/>
    <p:sldId id="1009" r:id="rId17"/>
    <p:sldId id="1005" r:id="rId18"/>
    <p:sldId id="999" r:id="rId19"/>
    <p:sldId id="1007" r:id="rId20"/>
    <p:sldId id="267" r:id="rId2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CFEE"/>
    <a:srgbClr val="25D5D5"/>
    <a:srgbClr val="CCF6EC"/>
    <a:srgbClr val="F8F7CB"/>
    <a:srgbClr val="CAEEFB"/>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86928" autoAdjust="0"/>
  </p:normalViewPr>
  <p:slideViewPr>
    <p:cSldViewPr snapToGrid="0">
      <p:cViewPr>
        <p:scale>
          <a:sx n="54" d="100"/>
          <a:sy n="54" d="100"/>
        </p:scale>
        <p:origin x="1781" y="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E00752A-24CB-480C-96D7-C9C8B079CBDF}" type="datetimeFigureOut">
              <a:rPr lang="he-IL" smtClean="0"/>
              <a:t>י"ז/תמוז/תשפ"ה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4F50766-83A2-4A8D-A724-80D60639DE7B}" type="slidenum">
              <a:rPr lang="he-IL" smtClean="0"/>
              <a:t>‹#›</a:t>
            </a:fld>
            <a:endParaRPr lang="he-IL"/>
          </a:p>
        </p:txBody>
      </p:sp>
    </p:spTree>
    <p:extLst>
      <p:ext uri="{BB962C8B-B14F-4D97-AF65-F5344CB8AC3E}">
        <p14:creationId xmlns:p14="http://schemas.microsoft.com/office/powerpoint/2010/main" val="34102999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buAutoNum type="arabicPeriod"/>
            </a:pPr>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1</a:t>
            </a:fld>
            <a:endParaRPr lang="he-IL"/>
          </a:p>
        </p:txBody>
      </p:sp>
    </p:spTree>
    <p:extLst>
      <p:ext uri="{BB962C8B-B14F-4D97-AF65-F5344CB8AC3E}">
        <p14:creationId xmlns:p14="http://schemas.microsoft.com/office/powerpoint/2010/main" val="30772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יום אחד מופיע אינדיבידואל שהוא רגיש למחלה ועדיין מתפשט באוכלוסייה – למה זה הגיוני אבולוציונית? כמה אופציות: סביבה, תוחלת חיים... אבל יש קבוצת מחלות שאי אפשר להסביר ככה, ולכן יש כאן הבדלים גנטיים בינינו לבין שימפנזה.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Humans and great apes are very close (evolutionary). We have many things in common, but there is a group of diseases that is specific to humans. This difference between humans and monkeys can be explained by factors like environment, better lifespan of humans, or lack of data on apes – for example diabetes can be explained by environmental factors, and monkeys that each as much ice cream as we do would eventually become diabetic. But there are diseases that cannot be explained by any of these factors, and therefore we conclude that they are the result of the genetic changes between us and apes.</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2</a:t>
            </a:fld>
            <a:endParaRPr lang="he-IL"/>
          </a:p>
        </p:txBody>
      </p:sp>
    </p:spTree>
    <p:extLst>
      <p:ext uri="{BB962C8B-B14F-4D97-AF65-F5344CB8AC3E}">
        <p14:creationId xmlns:p14="http://schemas.microsoft.com/office/powerpoint/2010/main" val="27417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F08DC-1294-CCC9-866C-45177556EB6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57E18FD-4F65-1D1D-F6BD-1F8C0D10726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2B6F243-6A15-3D33-0C4E-03DE3C19E4EA}"/>
              </a:ext>
            </a:extLst>
          </p:cNvPr>
          <p:cNvSpPr>
            <a:spLocks noGrp="1"/>
          </p:cNvSpPr>
          <p:nvPr>
            <p:ph type="body" idx="1"/>
          </p:nvPr>
        </p:nvSpPr>
        <p:spPr/>
        <p:txBody>
          <a:bodyPr/>
          <a:lstStyle/>
          <a:p>
            <a:pPr marL="0" indent="0">
              <a:buNone/>
            </a:pPr>
            <a:r>
              <a:rPr lang="he-IL" dirty="0"/>
              <a:t>שקופית 2 מתחילים משינויי רגולציה כי היום ידוע שרוב ההבדלים </a:t>
            </a:r>
            <a:r>
              <a:rPr lang="he-IL" dirty="0" err="1"/>
              <a:t>הפנוטיפיים</a:t>
            </a:r>
            <a:r>
              <a:rPr lang="he-IL" dirty="0"/>
              <a:t> בין מינים קרובים הם תוצאה של שינויי </a:t>
            </a:r>
            <a:r>
              <a:rPr lang="en-US" dirty="0"/>
              <a:t>expression</a:t>
            </a:r>
            <a:r>
              <a:rPr lang="he-IL" dirty="0"/>
              <a:t>. להסביר איך </a:t>
            </a:r>
            <a:r>
              <a:rPr lang="he-IL" dirty="0" err="1"/>
              <a:t>בודקיםש</a:t>
            </a:r>
            <a:r>
              <a:rPr lang="he-IL" dirty="0"/>
              <a:t> </a:t>
            </a:r>
            <a:r>
              <a:rPr lang="he-IL" dirty="0" err="1"/>
              <a:t>ינויי</a:t>
            </a:r>
            <a:r>
              <a:rPr lang="he-IL" dirty="0"/>
              <a:t> רגולציה – להציג את הדאטה של </a:t>
            </a:r>
            <a:r>
              <a:rPr lang="he-IL" dirty="0" err="1"/>
              <a:t>ההיברידיפ</a:t>
            </a:r>
            <a:r>
              <a:rPr lang="he-IL" dirty="0"/>
              <a:t>. למה ששינויי רגולציה יהיו הסיבה? מהיר מדי / </a:t>
            </a:r>
            <a:r>
              <a:rPr lang="en-US" dirty="0"/>
              <a:t>tradeoff</a:t>
            </a:r>
            <a:r>
              <a:rPr lang="he-IL" dirty="0"/>
              <a:t> / הצטברות של המון דברים שהם כמעט-</a:t>
            </a:r>
            <a:r>
              <a:rPr lang="he-IL" dirty="0" err="1"/>
              <a:t>ניטרלים</a:t>
            </a:r>
            <a:r>
              <a:rPr lang="he-IL" dirty="0"/>
              <a:t>. במה זה מתבטא? מחלות אולי יהיו עם יותר שינויים לעומת שאר הגנום, או שינויים קיצוניים יותר ולכן קשה לתקן (להוסיף קונטרול – כמה </a:t>
            </a:r>
            <a:r>
              <a:rPr lang="en-US" dirty="0"/>
              <a:t>ASE </a:t>
            </a:r>
            <a:r>
              <a:rPr lang="he-IL" dirty="0"/>
              <a:t>לעומת כל הגנים שקשורים לסוכרת? = כדי להבדיל בין הבדלים שקשורים למחלה סתם לבין דברים שקשורים דווקא </a:t>
            </a:r>
            <a:r>
              <a:rPr lang="he-IL" dirty="0" err="1"/>
              <a:t>להיומן</a:t>
            </a:r>
            <a:r>
              <a:rPr lang="he-IL" dirty="0"/>
              <a:t> </a:t>
            </a:r>
            <a:r>
              <a:rPr lang="he-IL" dirty="0" err="1"/>
              <a:t>ספסיפיק</a:t>
            </a:r>
            <a:r>
              <a:rPr lang="he-IL" dirty="0"/>
              <a:t>) </a:t>
            </a:r>
          </a:p>
        </p:txBody>
      </p:sp>
      <p:sp>
        <p:nvSpPr>
          <p:cNvPr id="4" name="מציין מיקום של מספר שקופית 3">
            <a:extLst>
              <a:ext uri="{FF2B5EF4-FFF2-40B4-BE49-F238E27FC236}">
                <a16:creationId xmlns:a16="http://schemas.microsoft.com/office/drawing/2014/main" id="{7690E324-8C62-A196-6BF5-76CC49915D35}"/>
              </a:ext>
            </a:extLst>
          </p:cNvPr>
          <p:cNvSpPr>
            <a:spLocks noGrp="1"/>
          </p:cNvSpPr>
          <p:nvPr>
            <p:ph type="sldNum" sz="quarter" idx="5"/>
          </p:nvPr>
        </p:nvSpPr>
        <p:spPr/>
        <p:txBody>
          <a:bodyPr/>
          <a:lstStyle/>
          <a:p>
            <a:fld id="{64F50766-83A2-4A8D-A724-80D60639DE7B}" type="slidenum">
              <a:rPr lang="he-IL" smtClean="0"/>
              <a:t>3</a:t>
            </a:fld>
            <a:endParaRPr lang="he-IL"/>
          </a:p>
        </p:txBody>
      </p:sp>
    </p:spTree>
    <p:extLst>
      <p:ext uri="{BB962C8B-B14F-4D97-AF65-F5344CB8AC3E}">
        <p14:creationId xmlns:p14="http://schemas.microsoft.com/office/powerpoint/2010/main" val="664541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E648-ABC1-F4FA-80E1-6F230A2CFA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0D9E0BE-F888-4CFC-6EEC-257BDD5073E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836E03F-B737-3BA2-F0BE-E92D08DB62A7}"/>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יום אחד מופיע אינדיבידואל שהוא רגיש למחלה ועדיין מתפשט באוכלוסייה – למה זה הגיוני אבולוציונית? כמה אופציות: סביבה, תוחלת חיים... אבל יש קבוצת מחלות שאי אפשר להסביר ככה, ולכן יש כאן הבדלים גנטיים בינינו לבין שימפנזה.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Humans and great apes are very close (evolutionary). We have many things in common, but there is a group of diseases that is specific to humans. This difference between humans and monkeys can be explained by factors like environment, better lifespan of humans, or lack of data on apes – for example diabetes can be explained by environmental factors, and monkeys that each as much ice cream as we do would eventually become diabetic. But there are diseases that cannot be explained by any of these factors, and therefore we conclude that they are the result of the genetic changes between us and apes.</a:t>
            </a:r>
            <a:endParaRPr lang="he-IL" dirty="0"/>
          </a:p>
          <a:p>
            <a:endParaRPr lang="he-IL" dirty="0"/>
          </a:p>
        </p:txBody>
      </p:sp>
      <p:sp>
        <p:nvSpPr>
          <p:cNvPr id="4" name="מציין מיקום של מספר שקופית 3">
            <a:extLst>
              <a:ext uri="{FF2B5EF4-FFF2-40B4-BE49-F238E27FC236}">
                <a16:creationId xmlns:a16="http://schemas.microsoft.com/office/drawing/2014/main" id="{9116230F-3663-7CF2-C7C7-0CCC58BB248F}"/>
              </a:ext>
            </a:extLst>
          </p:cNvPr>
          <p:cNvSpPr>
            <a:spLocks noGrp="1"/>
          </p:cNvSpPr>
          <p:nvPr>
            <p:ph type="sldNum" sz="quarter" idx="5"/>
          </p:nvPr>
        </p:nvSpPr>
        <p:spPr/>
        <p:txBody>
          <a:bodyPr/>
          <a:lstStyle/>
          <a:p>
            <a:fld id="{64F50766-83A2-4A8D-A724-80D60639DE7B}" type="slidenum">
              <a:rPr lang="he-IL" smtClean="0"/>
              <a:t>4</a:t>
            </a:fld>
            <a:endParaRPr lang="he-IL"/>
          </a:p>
        </p:txBody>
      </p:sp>
    </p:spTree>
    <p:extLst>
      <p:ext uri="{BB962C8B-B14F-4D97-AF65-F5344CB8AC3E}">
        <p14:creationId xmlns:p14="http://schemas.microsoft.com/office/powerpoint/2010/main" val="2718513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62AD-F519-5B92-7793-2921EDC16A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CD773-7F43-EC4A-0A1B-06D84D9D0D6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EB6192-7BE6-C2D4-CF4D-970EC21A8B18}"/>
              </a:ext>
            </a:extLst>
          </p:cNvPr>
          <p:cNvSpPr>
            <a:spLocks noGrp="1"/>
          </p:cNvSpPr>
          <p:nvPr>
            <p:ph type="body" idx="1"/>
          </p:nvPr>
        </p:nvSpPr>
        <p:spPr/>
        <p:txBody>
          <a:bodyPr/>
          <a:lstStyle/>
          <a:p>
            <a:pPr marL="0" indent="0">
              <a:buNone/>
            </a:pPr>
            <a:r>
              <a:rPr lang="he-IL" dirty="0"/>
              <a:t>הסתכלנו על כל המחלות, מצאנו מה </a:t>
            </a:r>
            <a:r>
              <a:rPr lang="en-US" dirty="0" err="1"/>
              <a:t>celltype</a:t>
            </a:r>
            <a:r>
              <a:rPr lang="he-IL" dirty="0"/>
              <a:t> רלוונטי, המשכנו רק עם אלה שיש דאטה של היברידים מתאים.</a:t>
            </a:r>
          </a:p>
          <a:p>
            <a:pPr marL="0" indent="0">
              <a:buNone/>
            </a:pPr>
            <a:r>
              <a:rPr lang="he-IL" dirty="0"/>
              <a:t>זו שקופית קצרה – לקח הרבה זמן אבל לא מאוד מעניין מבחינת הקורס אז אין שום סיבה להתעכב על זה יותר מדי. </a:t>
            </a:r>
          </a:p>
        </p:txBody>
      </p:sp>
      <p:sp>
        <p:nvSpPr>
          <p:cNvPr id="4" name="מציין מיקום של מספר שקופית 3">
            <a:extLst>
              <a:ext uri="{FF2B5EF4-FFF2-40B4-BE49-F238E27FC236}">
                <a16:creationId xmlns:a16="http://schemas.microsoft.com/office/drawing/2014/main" id="{4CDAEDA8-FEA9-9093-459E-06512690C80A}"/>
              </a:ext>
            </a:extLst>
          </p:cNvPr>
          <p:cNvSpPr>
            <a:spLocks noGrp="1"/>
          </p:cNvSpPr>
          <p:nvPr>
            <p:ph type="sldNum" sz="quarter" idx="5"/>
          </p:nvPr>
        </p:nvSpPr>
        <p:spPr/>
        <p:txBody>
          <a:bodyPr/>
          <a:lstStyle/>
          <a:p>
            <a:fld id="{64F50766-83A2-4A8D-A724-80D60639DE7B}" type="slidenum">
              <a:rPr lang="he-IL" smtClean="0"/>
              <a:t>5</a:t>
            </a:fld>
            <a:endParaRPr lang="he-IL"/>
          </a:p>
        </p:txBody>
      </p:sp>
    </p:spTree>
    <p:extLst>
      <p:ext uri="{BB962C8B-B14F-4D97-AF65-F5344CB8AC3E}">
        <p14:creationId xmlns:p14="http://schemas.microsoft.com/office/powerpoint/2010/main" val="84854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3559-4227-19AC-5F63-E91FC8B40B2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6D79D57-74DA-7BC7-BB7E-2F9088D697A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E6C3545-C6D3-DA72-25DD-A943BF473B4D}"/>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p>
        </p:txBody>
      </p:sp>
      <p:sp>
        <p:nvSpPr>
          <p:cNvPr id="4" name="מציין מיקום של מספר שקופית 3">
            <a:extLst>
              <a:ext uri="{FF2B5EF4-FFF2-40B4-BE49-F238E27FC236}">
                <a16:creationId xmlns:a16="http://schemas.microsoft.com/office/drawing/2014/main" id="{612300FC-5122-2455-0B3F-C63E70B109AF}"/>
              </a:ext>
            </a:extLst>
          </p:cNvPr>
          <p:cNvSpPr>
            <a:spLocks noGrp="1"/>
          </p:cNvSpPr>
          <p:nvPr>
            <p:ph type="sldNum" sz="quarter" idx="5"/>
          </p:nvPr>
        </p:nvSpPr>
        <p:spPr/>
        <p:txBody>
          <a:bodyPr/>
          <a:lstStyle/>
          <a:p>
            <a:fld id="{64F50766-83A2-4A8D-A724-80D60639DE7B}" type="slidenum">
              <a:rPr lang="he-IL" smtClean="0"/>
              <a:t>6</a:t>
            </a:fld>
            <a:endParaRPr lang="he-IL"/>
          </a:p>
        </p:txBody>
      </p:sp>
    </p:spTree>
    <p:extLst>
      <p:ext uri="{BB962C8B-B14F-4D97-AF65-F5344CB8AC3E}">
        <p14:creationId xmlns:p14="http://schemas.microsoft.com/office/powerpoint/2010/main" val="1145725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C99A-0968-7FAB-77AF-3D3EA94B784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4B627FE-A9EF-A12F-5C00-0ACD8EDC6A2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AB6D590-0C8B-9576-090E-6ED2622AD027}"/>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p>
        </p:txBody>
      </p:sp>
      <p:sp>
        <p:nvSpPr>
          <p:cNvPr id="4" name="מציין מיקום של מספר שקופית 3">
            <a:extLst>
              <a:ext uri="{FF2B5EF4-FFF2-40B4-BE49-F238E27FC236}">
                <a16:creationId xmlns:a16="http://schemas.microsoft.com/office/drawing/2014/main" id="{C20CE61A-119A-4E88-E85D-4007D9866387}"/>
              </a:ext>
            </a:extLst>
          </p:cNvPr>
          <p:cNvSpPr>
            <a:spLocks noGrp="1"/>
          </p:cNvSpPr>
          <p:nvPr>
            <p:ph type="sldNum" sz="quarter" idx="5"/>
          </p:nvPr>
        </p:nvSpPr>
        <p:spPr/>
        <p:txBody>
          <a:bodyPr/>
          <a:lstStyle/>
          <a:p>
            <a:fld id="{64F50766-83A2-4A8D-A724-80D60639DE7B}" type="slidenum">
              <a:rPr lang="he-IL" smtClean="0"/>
              <a:t>7</a:t>
            </a:fld>
            <a:endParaRPr lang="he-IL"/>
          </a:p>
        </p:txBody>
      </p:sp>
    </p:spTree>
    <p:extLst>
      <p:ext uri="{BB962C8B-B14F-4D97-AF65-F5344CB8AC3E}">
        <p14:creationId xmlns:p14="http://schemas.microsoft.com/office/powerpoint/2010/main" val="54985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350E-EF91-DC03-8DF3-1EAE520B307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D72069A-979E-B42B-F595-AF84FC837A4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AE350A4-B2BA-B158-D6EF-9FEEE16566DC}"/>
              </a:ext>
            </a:extLst>
          </p:cNvPr>
          <p:cNvSpPr>
            <a:spLocks noGrp="1"/>
          </p:cNvSpPr>
          <p:nvPr>
            <p:ph type="body" idx="1"/>
          </p:nvPr>
        </p:nvSpPr>
        <p:spPr/>
        <p:txBody>
          <a:bodyPr/>
          <a:lstStyle/>
          <a:p>
            <a:pPr marL="0" indent="0">
              <a:buNone/>
            </a:pPr>
            <a:r>
              <a:rPr lang="he-IL" dirty="0"/>
              <a:t>מה מחפשים? שינויי ביטוי שהם שונים מהטרנד הכללי של כל הדאטה  = מחפשים סיגנלים של עודף שינויים (יותר </a:t>
            </a:r>
            <a:r>
              <a:rPr lang="en-US" dirty="0"/>
              <a:t>ASE</a:t>
            </a:r>
            <a:r>
              <a:rPr lang="he-IL" dirty="0"/>
              <a:t>). יכול להיות </a:t>
            </a:r>
            <a:r>
              <a:rPr lang="he-IL" dirty="0" err="1"/>
              <a:t>שישארלו</a:t>
            </a:r>
            <a:r>
              <a:rPr lang="he-IL" dirty="0"/>
              <a:t> למה מה שגורם את המחלה זה לא הסניפים – להסביר שאנחנו מנסים להבין מה גורם לנו להיות רגישים לשינויים שב</a:t>
            </a:r>
            <a:r>
              <a:rPr lang="en-US" dirty="0"/>
              <a:t>GWAS</a:t>
            </a:r>
            <a:r>
              <a:rPr lang="he-IL" dirty="0"/>
              <a:t>. להשתמש </a:t>
            </a:r>
            <a:r>
              <a:rPr lang="he-IL" dirty="0" err="1"/>
              <a:t>באינפוגרפיקה</a:t>
            </a:r>
            <a:r>
              <a:rPr lang="he-IL" dirty="0"/>
              <a:t> של </a:t>
            </a:r>
            <a:r>
              <a:rPr lang="en-US" dirty="0" err="1"/>
              <a:t>cliffegde</a:t>
            </a:r>
            <a:r>
              <a:rPr lang="he-IL" dirty="0"/>
              <a:t> ובהסבר של </a:t>
            </a:r>
            <a:r>
              <a:rPr lang="en-US" dirty="0"/>
              <a:t>BRCA1</a:t>
            </a:r>
            <a:endParaRPr lang="he-IL" dirty="0"/>
          </a:p>
          <a:p>
            <a:pPr marL="0" indent="0">
              <a:buNone/>
            </a:pPr>
            <a:endParaRPr lang="he-IL" dirty="0"/>
          </a:p>
          <a:p>
            <a:pPr marL="0" indent="0">
              <a:buNone/>
            </a:pPr>
            <a:endParaRPr lang="he-IL" dirty="0"/>
          </a:p>
          <a:p>
            <a:pPr marL="0" indent="0">
              <a:buNone/>
            </a:pPr>
            <a:r>
              <a:rPr lang="en-US" dirty="0"/>
              <a:t>What do we </a:t>
            </a:r>
            <a:r>
              <a:rPr lang="en-US" dirty="0" err="1"/>
              <a:t>exect</a:t>
            </a:r>
            <a:r>
              <a:rPr lang="en-US" dirty="0"/>
              <a:t>?</a:t>
            </a:r>
          </a:p>
          <a:p>
            <a:pPr marL="228600" indent="-228600">
              <a:buAutoNum type="arabicPeriod"/>
            </a:pPr>
            <a:r>
              <a:rPr lang="en-US" dirty="0"/>
              <a:t>More changes in the disease than </a:t>
            </a:r>
            <a:r>
              <a:rPr lang="en-US" dirty="0" err="1"/>
              <a:t>whan</a:t>
            </a:r>
            <a:r>
              <a:rPr lang="en-US" dirty="0"/>
              <a:t> we expect by chance</a:t>
            </a:r>
          </a:p>
          <a:p>
            <a:pPr marL="228600" indent="-228600">
              <a:buAutoNum type="arabicPeriod"/>
            </a:pPr>
            <a:r>
              <a:rPr lang="en-US" dirty="0"/>
              <a:t>Larger differences in expression then we expect by chance</a:t>
            </a:r>
          </a:p>
          <a:p>
            <a:pPr marL="228600" indent="-228600">
              <a:buAutoNum type="arabicPeriod"/>
            </a:pPr>
            <a:r>
              <a:rPr lang="en-US" dirty="0"/>
              <a:t>Bias towards changes in a specific direction (up/down regulation)</a:t>
            </a:r>
          </a:p>
          <a:p>
            <a:pPr marL="228600" indent="-228600">
              <a:buAutoNum type="arabicPeriod"/>
            </a:pPr>
            <a:endParaRPr lang="en-US" dirty="0"/>
          </a:p>
          <a:p>
            <a:pPr marL="0" indent="0">
              <a:buNone/>
            </a:pPr>
            <a:r>
              <a:rPr lang="en-US" dirty="0"/>
              <a:t>Many changes, large changes or biased changes.</a:t>
            </a:r>
            <a:endParaRPr lang="he-IL" dirty="0"/>
          </a:p>
        </p:txBody>
      </p:sp>
      <p:sp>
        <p:nvSpPr>
          <p:cNvPr id="4" name="מציין מיקום של מספר שקופית 3">
            <a:extLst>
              <a:ext uri="{FF2B5EF4-FFF2-40B4-BE49-F238E27FC236}">
                <a16:creationId xmlns:a16="http://schemas.microsoft.com/office/drawing/2014/main" id="{3C4809C4-AD29-B70F-8301-8B463E486C98}"/>
              </a:ext>
            </a:extLst>
          </p:cNvPr>
          <p:cNvSpPr>
            <a:spLocks noGrp="1"/>
          </p:cNvSpPr>
          <p:nvPr>
            <p:ph type="sldNum" sz="quarter" idx="5"/>
          </p:nvPr>
        </p:nvSpPr>
        <p:spPr/>
        <p:txBody>
          <a:bodyPr/>
          <a:lstStyle/>
          <a:p>
            <a:fld id="{64F50766-83A2-4A8D-A724-80D60639DE7B}" type="slidenum">
              <a:rPr lang="he-IL" smtClean="0"/>
              <a:t>8</a:t>
            </a:fld>
            <a:endParaRPr lang="he-IL"/>
          </a:p>
        </p:txBody>
      </p:sp>
    </p:spTree>
    <p:extLst>
      <p:ext uri="{BB962C8B-B14F-4D97-AF65-F5344CB8AC3E}">
        <p14:creationId xmlns:p14="http://schemas.microsoft.com/office/powerpoint/2010/main" val="3949710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1305-8C8C-DEC0-C100-69C12468E4D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77A6EC-A7D0-FE69-1258-265DDC435ED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B7FAE27-3668-21D0-122A-52754CF7C2F7}"/>
              </a:ext>
            </a:extLst>
          </p:cNvPr>
          <p:cNvSpPr>
            <a:spLocks noGrp="1"/>
          </p:cNvSpPr>
          <p:nvPr>
            <p:ph type="body" idx="1"/>
          </p:nvPr>
        </p:nvSpPr>
        <p:spPr/>
        <p:txBody>
          <a:bodyPr/>
          <a:lstStyle/>
          <a:p>
            <a:pPr marL="0" indent="0">
              <a:buNone/>
            </a:pPr>
            <a:r>
              <a:rPr lang="en-US" dirty="0"/>
              <a:t>So the first thing we want to do is see if disease-associated genes have more changes. Changed genes (differentially expressed genes) are colored in blue, and in this example of ovarian polycystic syndrome we can see a lower fraction of DE genes in the disease-related group. </a:t>
            </a:r>
          </a:p>
          <a:p>
            <a:pPr marL="0" indent="0">
              <a:buNone/>
            </a:pPr>
            <a:r>
              <a:rPr lang="en-US" dirty="0"/>
              <a:t>We can do the same comparison for all </a:t>
            </a:r>
            <a:r>
              <a:rPr lang="en-US" dirty="0" err="1"/>
              <a:t>celltypes</a:t>
            </a:r>
            <a:r>
              <a:rPr lang="en-US" dirty="0"/>
              <a:t> in the same disease, and also for all diseases that we  have. </a:t>
            </a:r>
            <a:endParaRPr lang="he-IL" dirty="0"/>
          </a:p>
        </p:txBody>
      </p:sp>
      <p:sp>
        <p:nvSpPr>
          <p:cNvPr id="4" name="מציין מיקום של מספר שקופית 3">
            <a:extLst>
              <a:ext uri="{FF2B5EF4-FFF2-40B4-BE49-F238E27FC236}">
                <a16:creationId xmlns:a16="http://schemas.microsoft.com/office/drawing/2014/main" id="{E20D9097-5EF1-AB8B-9282-A80D4260D4FB}"/>
              </a:ext>
            </a:extLst>
          </p:cNvPr>
          <p:cNvSpPr>
            <a:spLocks noGrp="1"/>
          </p:cNvSpPr>
          <p:nvPr>
            <p:ph type="sldNum" sz="quarter" idx="5"/>
          </p:nvPr>
        </p:nvSpPr>
        <p:spPr/>
        <p:txBody>
          <a:bodyPr/>
          <a:lstStyle/>
          <a:p>
            <a:fld id="{64F50766-83A2-4A8D-A724-80D60639DE7B}" type="slidenum">
              <a:rPr lang="he-IL" smtClean="0"/>
              <a:t>9</a:t>
            </a:fld>
            <a:endParaRPr lang="he-IL"/>
          </a:p>
        </p:txBody>
      </p:sp>
    </p:spTree>
    <p:extLst>
      <p:ext uri="{BB962C8B-B14F-4D97-AF65-F5344CB8AC3E}">
        <p14:creationId xmlns:p14="http://schemas.microsoft.com/office/powerpoint/2010/main" val="190819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C609-5F35-EFC8-F5DA-43D313A664C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7711375-D670-66BA-2B68-D2A364F38D6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5AC9255F-12E6-EF4E-4E24-B381532F3358}"/>
              </a:ext>
            </a:extLst>
          </p:cNvPr>
          <p:cNvSpPr>
            <a:spLocks noGrp="1"/>
          </p:cNvSpPr>
          <p:nvPr>
            <p:ph type="body" idx="1"/>
          </p:nvPr>
        </p:nvSpPr>
        <p:spPr/>
        <p:txBody>
          <a:bodyPr/>
          <a:lstStyle/>
          <a:p>
            <a:pPr marL="0" indent="0">
              <a:buNone/>
            </a:pPr>
            <a:r>
              <a:rPr lang="en-US" dirty="0"/>
              <a:t>We can see here all the different comparisons we conducted for all different disease-</a:t>
            </a:r>
            <a:r>
              <a:rPr lang="en-US" dirty="0" err="1"/>
              <a:t>celltype</a:t>
            </a:r>
            <a:r>
              <a:rPr lang="en-US" dirty="0"/>
              <a:t> combinations. (no need to look into the details here) </a:t>
            </a:r>
          </a:p>
          <a:p>
            <a:pPr marL="0" indent="0">
              <a:buNone/>
            </a:pPr>
            <a:r>
              <a:rPr lang="en-US" dirty="0"/>
              <a:t>Every comparison was done against all genes that are not related to that specific disease. </a:t>
            </a:r>
          </a:p>
          <a:p>
            <a:pPr marL="0" indent="0">
              <a:buNone/>
            </a:pPr>
            <a:r>
              <a:rPr lang="en-US" dirty="0"/>
              <a:t> We used fisher exact test to see if the fractions of the DE genes are significantly different (obviously also FDR) and I want to show you here some of the significant results we got. </a:t>
            </a:r>
            <a:br>
              <a:rPr lang="en-US" dirty="0"/>
            </a:br>
            <a:endParaRPr lang="he-IL" dirty="0"/>
          </a:p>
        </p:txBody>
      </p:sp>
      <p:sp>
        <p:nvSpPr>
          <p:cNvPr id="4" name="מציין מיקום של מספר שקופית 3">
            <a:extLst>
              <a:ext uri="{FF2B5EF4-FFF2-40B4-BE49-F238E27FC236}">
                <a16:creationId xmlns:a16="http://schemas.microsoft.com/office/drawing/2014/main" id="{354331F0-76D1-F6CD-9BB0-41AEFCC4ED42}"/>
              </a:ext>
            </a:extLst>
          </p:cNvPr>
          <p:cNvSpPr>
            <a:spLocks noGrp="1"/>
          </p:cNvSpPr>
          <p:nvPr>
            <p:ph type="sldNum" sz="quarter" idx="5"/>
          </p:nvPr>
        </p:nvSpPr>
        <p:spPr/>
        <p:txBody>
          <a:bodyPr/>
          <a:lstStyle/>
          <a:p>
            <a:fld id="{64F50766-83A2-4A8D-A724-80D60639DE7B}" type="slidenum">
              <a:rPr lang="he-IL" smtClean="0"/>
              <a:t>10</a:t>
            </a:fld>
            <a:endParaRPr lang="he-IL"/>
          </a:p>
        </p:txBody>
      </p:sp>
    </p:spTree>
    <p:extLst>
      <p:ext uri="{BB962C8B-B14F-4D97-AF65-F5344CB8AC3E}">
        <p14:creationId xmlns:p14="http://schemas.microsoft.com/office/powerpoint/2010/main" val="4161430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F0D2-B844-10D9-FE82-D64EBD735AF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F452C1A-0ABD-C9BD-AC84-CA1C12D3FE7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F605128-38F4-A284-587E-81AC4BF19895}"/>
              </a:ext>
            </a:extLst>
          </p:cNvPr>
          <p:cNvSpPr>
            <a:spLocks noGrp="1"/>
          </p:cNvSpPr>
          <p:nvPr>
            <p:ph type="body" idx="1"/>
          </p:nvPr>
        </p:nvSpPr>
        <p:spPr/>
        <p:txBody>
          <a:bodyPr/>
          <a:lstStyle/>
          <a:p>
            <a:pPr marL="0" indent="0">
              <a:buNone/>
            </a:pPr>
            <a:r>
              <a:rPr lang="en-US" dirty="0"/>
              <a:t>Schizophrenia is a mental disease with changes in brain function.</a:t>
            </a:r>
          </a:p>
          <a:p>
            <a:pPr marL="0" indent="0">
              <a:buNone/>
            </a:pPr>
            <a:r>
              <a:rPr lang="en-US" dirty="0"/>
              <a:t>When looking at brain organoids, we see significantly less changes in schizophrenia related genes which means there is selection against changes in these genes. We see that also later in the development of the same brain organoids. This makes sense since schizophrenia has a very high effect on fitness.</a:t>
            </a:r>
            <a:endParaRPr lang="he-IL" dirty="0"/>
          </a:p>
        </p:txBody>
      </p:sp>
      <p:sp>
        <p:nvSpPr>
          <p:cNvPr id="4" name="מציין מיקום של מספר שקופית 3">
            <a:extLst>
              <a:ext uri="{FF2B5EF4-FFF2-40B4-BE49-F238E27FC236}">
                <a16:creationId xmlns:a16="http://schemas.microsoft.com/office/drawing/2014/main" id="{7E8B691E-326C-FF50-5C96-EE87C965F6E6}"/>
              </a:ext>
            </a:extLst>
          </p:cNvPr>
          <p:cNvSpPr>
            <a:spLocks noGrp="1"/>
          </p:cNvSpPr>
          <p:nvPr>
            <p:ph type="sldNum" sz="quarter" idx="5"/>
          </p:nvPr>
        </p:nvSpPr>
        <p:spPr/>
        <p:txBody>
          <a:bodyPr/>
          <a:lstStyle/>
          <a:p>
            <a:fld id="{64F50766-83A2-4A8D-A724-80D60639DE7B}" type="slidenum">
              <a:rPr lang="he-IL" smtClean="0"/>
              <a:t>11</a:t>
            </a:fld>
            <a:endParaRPr lang="he-IL"/>
          </a:p>
        </p:txBody>
      </p:sp>
    </p:spTree>
    <p:extLst>
      <p:ext uri="{BB962C8B-B14F-4D97-AF65-F5344CB8AC3E}">
        <p14:creationId xmlns:p14="http://schemas.microsoft.com/office/powerpoint/2010/main" val="2209548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6212-70A9-A733-1A69-5F7D7816326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059067F-8F15-4E8E-30D6-8A623DF353B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A0F8C39-4129-2451-DFF5-E8C262C380E6}"/>
              </a:ext>
            </a:extLst>
          </p:cNvPr>
          <p:cNvSpPr>
            <a:spLocks noGrp="1"/>
          </p:cNvSpPr>
          <p:nvPr>
            <p:ph type="body" idx="1"/>
          </p:nvPr>
        </p:nvSpPr>
        <p:spPr/>
        <p:txBody>
          <a:bodyPr/>
          <a:lstStyle/>
          <a:p>
            <a:pPr marL="0" indent="0">
              <a:buNone/>
            </a:pPr>
            <a:r>
              <a:rPr lang="en-US" dirty="0"/>
              <a:t>Wo don’t only see less changes in schizophrenia, but the size of the changes is smaller. On the x axis here we have percentiles of absolute size of expression </a:t>
            </a:r>
            <a:r>
              <a:rPr lang="en-US" dirty="0" err="1"/>
              <a:t>chage</a:t>
            </a:r>
            <a:r>
              <a:rPr lang="en-US" dirty="0"/>
              <a:t>, and each point is a comparison of the fraction of disease genes between DE genes in this size of expression change and the background which is all non-changed genes. In each point we measure the OR which is the chance to get this size of expression change in disease-related genes: OR above 0 means higher chance to get this DE genes in comparison to no change, and OR below 0 means lower chance to get it in comparison to non-changed genes. </a:t>
            </a:r>
          </a:p>
          <a:p>
            <a:pPr marL="0" indent="0">
              <a:buNone/>
            </a:pPr>
            <a:r>
              <a:rPr lang="en-US" dirty="0"/>
              <a:t>We can see lower OR when the size of change is higher, which means schizophrenia is depleted from large expression changes. </a:t>
            </a:r>
            <a:endParaRPr lang="he-IL" dirty="0"/>
          </a:p>
        </p:txBody>
      </p:sp>
      <p:sp>
        <p:nvSpPr>
          <p:cNvPr id="4" name="מציין מיקום של מספר שקופית 3">
            <a:extLst>
              <a:ext uri="{FF2B5EF4-FFF2-40B4-BE49-F238E27FC236}">
                <a16:creationId xmlns:a16="http://schemas.microsoft.com/office/drawing/2014/main" id="{8A8294CE-0703-035A-BC9C-B5917B284001}"/>
              </a:ext>
            </a:extLst>
          </p:cNvPr>
          <p:cNvSpPr>
            <a:spLocks noGrp="1"/>
          </p:cNvSpPr>
          <p:nvPr>
            <p:ph type="sldNum" sz="quarter" idx="5"/>
          </p:nvPr>
        </p:nvSpPr>
        <p:spPr/>
        <p:txBody>
          <a:bodyPr/>
          <a:lstStyle/>
          <a:p>
            <a:fld id="{64F50766-83A2-4A8D-A724-80D60639DE7B}" type="slidenum">
              <a:rPr lang="he-IL" smtClean="0"/>
              <a:t>12</a:t>
            </a:fld>
            <a:endParaRPr lang="he-IL"/>
          </a:p>
        </p:txBody>
      </p:sp>
    </p:spTree>
    <p:extLst>
      <p:ext uri="{BB962C8B-B14F-4D97-AF65-F5344CB8AC3E}">
        <p14:creationId xmlns:p14="http://schemas.microsoft.com/office/powerpoint/2010/main" val="820952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F39F-7E41-564C-4410-882D6CD27BC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079FB1-DB18-FE37-EBCE-7C3E504DF1E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3387F61-0967-9EEF-BED0-2AF5A618B4D8}"/>
              </a:ext>
            </a:extLst>
          </p:cNvPr>
          <p:cNvSpPr>
            <a:spLocks noGrp="1"/>
          </p:cNvSpPr>
          <p:nvPr>
            <p:ph type="body" idx="1"/>
          </p:nvPr>
        </p:nvSpPr>
        <p:spPr/>
        <p:txBody>
          <a:bodyPr/>
          <a:lstStyle/>
          <a:p>
            <a:pPr marL="0" indent="0">
              <a:buNone/>
            </a:pPr>
            <a:r>
              <a:rPr lang="en-US" dirty="0"/>
              <a:t>Another interesting disease was scoliosis. We see significantly more changes in scoliosis-related genes, which can come from two explanations:</a:t>
            </a:r>
          </a:p>
          <a:p>
            <a:pPr marL="228600" indent="-228600">
              <a:buAutoNum type="arabicPeriod"/>
            </a:pPr>
            <a:r>
              <a:rPr lang="en-US" dirty="0"/>
              <a:t>We have accelerated intentional changes in these genes because there is some adaptive change that these changes promote, and this aligns with our hypothesis</a:t>
            </a:r>
          </a:p>
          <a:p>
            <a:pPr marL="228600" indent="-228600">
              <a:buAutoNum type="arabicPeriod"/>
            </a:pPr>
            <a:r>
              <a:rPr lang="en-US" dirty="0"/>
              <a:t>These changes have a low fitness cost so we see a relaxation of the negative selection against changes in disease-related genes.</a:t>
            </a:r>
            <a:endParaRPr lang="he-IL" dirty="0"/>
          </a:p>
        </p:txBody>
      </p:sp>
      <p:sp>
        <p:nvSpPr>
          <p:cNvPr id="4" name="מציין מיקום של מספר שקופית 3">
            <a:extLst>
              <a:ext uri="{FF2B5EF4-FFF2-40B4-BE49-F238E27FC236}">
                <a16:creationId xmlns:a16="http://schemas.microsoft.com/office/drawing/2014/main" id="{93C2699E-308A-8001-004F-97A0650B89F8}"/>
              </a:ext>
            </a:extLst>
          </p:cNvPr>
          <p:cNvSpPr>
            <a:spLocks noGrp="1"/>
          </p:cNvSpPr>
          <p:nvPr>
            <p:ph type="sldNum" sz="quarter" idx="5"/>
          </p:nvPr>
        </p:nvSpPr>
        <p:spPr/>
        <p:txBody>
          <a:bodyPr/>
          <a:lstStyle/>
          <a:p>
            <a:fld id="{64F50766-83A2-4A8D-A724-80D60639DE7B}" type="slidenum">
              <a:rPr lang="he-IL" smtClean="0"/>
              <a:t>13</a:t>
            </a:fld>
            <a:endParaRPr lang="he-IL"/>
          </a:p>
        </p:txBody>
      </p:sp>
    </p:spTree>
    <p:extLst>
      <p:ext uri="{BB962C8B-B14F-4D97-AF65-F5344CB8AC3E}">
        <p14:creationId xmlns:p14="http://schemas.microsoft.com/office/powerpoint/2010/main" val="1269063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E47F-EFAD-EEBC-E1C5-FB0638A4C56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D6AD4D-CFCA-9376-A1D2-606A651DA24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B508839-3212-2942-9ADE-D27C15AE7ECC}"/>
              </a:ext>
            </a:extLst>
          </p:cNvPr>
          <p:cNvSpPr>
            <a:spLocks noGrp="1"/>
          </p:cNvSpPr>
          <p:nvPr>
            <p:ph type="body" idx="1"/>
          </p:nvPr>
        </p:nvSpPr>
        <p:spPr/>
        <p:txBody>
          <a:bodyPr/>
          <a:lstStyle/>
          <a:p>
            <a:pPr marL="0" indent="0">
              <a:buNone/>
            </a:pPr>
            <a:r>
              <a:rPr lang="en-US" dirty="0"/>
              <a:t>Now we want to check the directionality of changes. We checked the fraction of up and down regulated genes out of the total number of DE genes, in each of the </a:t>
            </a:r>
            <a:r>
              <a:rPr lang="en-US" dirty="0" err="1"/>
              <a:t>celltypes</a:t>
            </a:r>
            <a:r>
              <a:rPr lang="en-US" dirty="0"/>
              <a:t> of each of the diseases, and compared them to the fractions of up/down regulated genes in the DE genes that are not related to that disease. Also here we did fisher exact test and FDR, we had some significant results before FDR but nothing significant after FDR.</a:t>
            </a:r>
            <a:endParaRPr lang="he-IL" dirty="0"/>
          </a:p>
        </p:txBody>
      </p:sp>
      <p:sp>
        <p:nvSpPr>
          <p:cNvPr id="4" name="מציין מיקום של מספר שקופית 3">
            <a:extLst>
              <a:ext uri="{FF2B5EF4-FFF2-40B4-BE49-F238E27FC236}">
                <a16:creationId xmlns:a16="http://schemas.microsoft.com/office/drawing/2014/main" id="{1F28BC86-ECD4-5785-8BDC-8756CC2344C3}"/>
              </a:ext>
            </a:extLst>
          </p:cNvPr>
          <p:cNvSpPr>
            <a:spLocks noGrp="1"/>
          </p:cNvSpPr>
          <p:nvPr>
            <p:ph type="sldNum" sz="quarter" idx="5"/>
          </p:nvPr>
        </p:nvSpPr>
        <p:spPr/>
        <p:txBody>
          <a:bodyPr/>
          <a:lstStyle/>
          <a:p>
            <a:fld id="{64F50766-83A2-4A8D-A724-80D60639DE7B}" type="slidenum">
              <a:rPr lang="he-IL" smtClean="0"/>
              <a:t>14</a:t>
            </a:fld>
            <a:endParaRPr lang="he-IL"/>
          </a:p>
        </p:txBody>
      </p:sp>
    </p:spTree>
    <p:extLst>
      <p:ext uri="{BB962C8B-B14F-4D97-AF65-F5344CB8AC3E}">
        <p14:creationId xmlns:p14="http://schemas.microsoft.com/office/powerpoint/2010/main" val="3020455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CE6E-40E9-64A3-3959-45DFBF6F940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226E3EC-E8C5-9567-8EB2-497A907735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08FBAE3-90D9-9DE3-4496-72A150060896}"/>
              </a:ext>
            </a:extLst>
          </p:cNvPr>
          <p:cNvSpPr>
            <a:spLocks noGrp="1"/>
          </p:cNvSpPr>
          <p:nvPr>
            <p:ph type="body" idx="1"/>
          </p:nvPr>
        </p:nvSpPr>
        <p:spPr/>
        <p:txBody>
          <a:bodyPr/>
          <a:lstStyle/>
          <a:p>
            <a:pPr marL="0" indent="0">
              <a:buNone/>
            </a:pPr>
            <a:r>
              <a:rPr lang="en-US" dirty="0"/>
              <a:t>Although nothing was significant after FDR, we do see some of the more extreme changes in schizophrenia again. We see that schizophrenia-associated genes are more upregulated which may hint towards positive selection for upregulation of genes. </a:t>
            </a:r>
            <a:endParaRPr lang="he-IL" dirty="0"/>
          </a:p>
        </p:txBody>
      </p:sp>
      <p:sp>
        <p:nvSpPr>
          <p:cNvPr id="4" name="מציין מיקום של מספר שקופית 3">
            <a:extLst>
              <a:ext uri="{FF2B5EF4-FFF2-40B4-BE49-F238E27FC236}">
                <a16:creationId xmlns:a16="http://schemas.microsoft.com/office/drawing/2014/main" id="{B5455A0D-80BE-8186-5900-A61BBA5CAC3B}"/>
              </a:ext>
            </a:extLst>
          </p:cNvPr>
          <p:cNvSpPr>
            <a:spLocks noGrp="1"/>
          </p:cNvSpPr>
          <p:nvPr>
            <p:ph type="sldNum" sz="quarter" idx="5"/>
          </p:nvPr>
        </p:nvSpPr>
        <p:spPr/>
        <p:txBody>
          <a:bodyPr/>
          <a:lstStyle/>
          <a:p>
            <a:fld id="{64F50766-83A2-4A8D-A724-80D60639DE7B}" type="slidenum">
              <a:rPr lang="he-IL" smtClean="0"/>
              <a:t>15</a:t>
            </a:fld>
            <a:endParaRPr lang="he-IL"/>
          </a:p>
        </p:txBody>
      </p:sp>
    </p:spTree>
    <p:extLst>
      <p:ext uri="{BB962C8B-B14F-4D97-AF65-F5344CB8AC3E}">
        <p14:creationId xmlns:p14="http://schemas.microsoft.com/office/powerpoint/2010/main" val="59787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67DD1-EF69-EAE6-9D6F-1364E4BDAFF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8DAA1BC-22D7-98A6-2F4F-A0212F2FFD2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25578EE-1B7D-49ED-F4D5-FE330AABBACC}"/>
              </a:ext>
            </a:extLst>
          </p:cNvPr>
          <p:cNvSpPr>
            <a:spLocks noGrp="1"/>
          </p:cNvSpPr>
          <p:nvPr>
            <p:ph type="body" idx="1"/>
          </p:nvPr>
        </p:nvSpPr>
        <p:spPr/>
        <p:txBody>
          <a:bodyPr/>
          <a:lstStyle/>
          <a:p>
            <a:pPr marL="0" indent="0">
              <a:buNone/>
            </a:pPr>
            <a:r>
              <a:rPr lang="en-US" dirty="0"/>
              <a:t>When looking at the same percentile plot we saw earlier but this time with non-absolute size of expression change, we can see that the depletion of large regulatory changes is stronger at the negative expression changes, so there is less selection against extreme upregulation of genes.</a:t>
            </a:r>
          </a:p>
          <a:p>
            <a:pPr marL="0" indent="0">
              <a:buNone/>
            </a:pPr>
            <a:r>
              <a:rPr lang="en-US" dirty="0"/>
              <a:t>these two results together suggest that there is positive selection towards upregulation of schizophrenia-related genes. </a:t>
            </a:r>
            <a:endParaRPr lang="he-IL" dirty="0"/>
          </a:p>
        </p:txBody>
      </p:sp>
      <p:sp>
        <p:nvSpPr>
          <p:cNvPr id="4" name="מציין מיקום של מספר שקופית 3">
            <a:extLst>
              <a:ext uri="{FF2B5EF4-FFF2-40B4-BE49-F238E27FC236}">
                <a16:creationId xmlns:a16="http://schemas.microsoft.com/office/drawing/2014/main" id="{D632D3E3-6815-C588-66F3-6CC326624A29}"/>
              </a:ext>
            </a:extLst>
          </p:cNvPr>
          <p:cNvSpPr>
            <a:spLocks noGrp="1"/>
          </p:cNvSpPr>
          <p:nvPr>
            <p:ph type="sldNum" sz="quarter" idx="5"/>
          </p:nvPr>
        </p:nvSpPr>
        <p:spPr/>
        <p:txBody>
          <a:bodyPr/>
          <a:lstStyle/>
          <a:p>
            <a:fld id="{64F50766-83A2-4A8D-A724-80D60639DE7B}" type="slidenum">
              <a:rPr lang="he-IL" smtClean="0"/>
              <a:t>16</a:t>
            </a:fld>
            <a:endParaRPr lang="he-IL"/>
          </a:p>
        </p:txBody>
      </p:sp>
    </p:spTree>
    <p:extLst>
      <p:ext uri="{BB962C8B-B14F-4D97-AF65-F5344CB8AC3E}">
        <p14:creationId xmlns:p14="http://schemas.microsoft.com/office/powerpoint/2010/main" val="3715230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9728-450A-36BC-31B5-6C23E9D523D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3EDB38C-F0EF-B15E-B2CC-79785C0943B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C3E10AA-E26B-BD0E-A11F-980EFF6D4105}"/>
              </a:ext>
            </a:extLst>
          </p:cNvPr>
          <p:cNvSpPr>
            <a:spLocks noGrp="1"/>
          </p:cNvSpPr>
          <p:nvPr>
            <p:ph type="body" idx="1"/>
          </p:nvPr>
        </p:nvSpPr>
        <p:spPr/>
        <p:txBody>
          <a:bodyPr/>
          <a:lstStyle/>
          <a:p>
            <a:pPr marL="0" indent="0">
              <a:buNone/>
            </a:pPr>
            <a:r>
              <a:rPr lang="en-US" dirty="0"/>
              <a:t>In scoliosis we do not see a significant difference in the frequencies of up and down regulated genes, but we do see a difference in the size of changes in each of these. In this plot we see the density histogram of absolute expression changes of up and down regulated genes, and we can see that although the number of genes in each group is roughly the same, the size of change is downregulated genes is much larger. </a:t>
            </a:r>
            <a:endParaRPr lang="he-IL" dirty="0"/>
          </a:p>
        </p:txBody>
      </p:sp>
      <p:sp>
        <p:nvSpPr>
          <p:cNvPr id="4" name="מציין מיקום של מספר שקופית 3">
            <a:extLst>
              <a:ext uri="{FF2B5EF4-FFF2-40B4-BE49-F238E27FC236}">
                <a16:creationId xmlns:a16="http://schemas.microsoft.com/office/drawing/2014/main" id="{B1C3CB56-48BD-2925-614A-3F53F9A05B28}"/>
              </a:ext>
            </a:extLst>
          </p:cNvPr>
          <p:cNvSpPr>
            <a:spLocks noGrp="1"/>
          </p:cNvSpPr>
          <p:nvPr>
            <p:ph type="sldNum" sz="quarter" idx="5"/>
          </p:nvPr>
        </p:nvSpPr>
        <p:spPr/>
        <p:txBody>
          <a:bodyPr/>
          <a:lstStyle/>
          <a:p>
            <a:fld id="{64F50766-83A2-4A8D-A724-80D60639DE7B}" type="slidenum">
              <a:rPr lang="he-IL" smtClean="0"/>
              <a:t>17</a:t>
            </a:fld>
            <a:endParaRPr lang="he-IL"/>
          </a:p>
        </p:txBody>
      </p:sp>
    </p:spTree>
    <p:extLst>
      <p:ext uri="{BB962C8B-B14F-4D97-AF65-F5344CB8AC3E}">
        <p14:creationId xmlns:p14="http://schemas.microsoft.com/office/powerpoint/2010/main" val="3506097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5781-3F90-157D-C897-2881FC453A4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16FC19-9BAF-FEBC-E0B6-8600A987013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7838D89-60F4-8484-2D3E-5DC7D8A304AC}"/>
              </a:ext>
            </a:extLst>
          </p:cNvPr>
          <p:cNvSpPr>
            <a:spLocks noGrp="1"/>
          </p:cNvSpPr>
          <p:nvPr>
            <p:ph type="body" idx="1"/>
          </p:nvPr>
        </p:nvSpPr>
        <p:spPr/>
        <p:txBody>
          <a:bodyPr/>
          <a:lstStyle/>
          <a:p>
            <a:pPr marL="0" indent="0">
              <a:buNone/>
            </a:pPr>
            <a:r>
              <a:rPr lang="en-US" dirty="0"/>
              <a:t>So what can we interpret from our analysis?</a:t>
            </a:r>
          </a:p>
          <a:p>
            <a:pPr marL="0" indent="0">
              <a:buNone/>
            </a:pPr>
            <a:r>
              <a:rPr lang="en-US" dirty="0"/>
              <a:t>When looking at scoliosis, the “cliff” part of this plot would be downregulation of genes (compared to the human </a:t>
            </a:r>
            <a:r>
              <a:rPr lang="en-US" dirty="0" err="1"/>
              <a:t>baseling</a:t>
            </a:r>
            <a:r>
              <a:rPr lang="en-US" dirty="0"/>
              <a:t>). We can see that our evolution shows many changes that are larger in downregulation of scoliosis-related genes, suggesting that our evolutionary course shows downregulation of these genes to acquire some adaptive trait, which then results in us being closer the </a:t>
            </a:r>
            <a:r>
              <a:rPr lang="en-US" dirty="0" err="1"/>
              <a:t>the</a:t>
            </a:r>
            <a:r>
              <a:rPr lang="en-US" dirty="0"/>
              <a:t> cliff. </a:t>
            </a:r>
          </a:p>
          <a:p>
            <a:pPr marL="0" indent="0">
              <a:buNone/>
            </a:pPr>
            <a:r>
              <a:rPr lang="en-US" dirty="0"/>
              <a:t>In schizophrenia the story is different but shows the same trend – schizophrenia is characterized by upregulation of genes in comparison to the human baseline, which may explain why we see hints to selection towards upregulation of schizophrenia genes in humans in comparison to chimps.</a:t>
            </a:r>
            <a:endParaRPr lang="he-IL" dirty="0"/>
          </a:p>
        </p:txBody>
      </p:sp>
      <p:sp>
        <p:nvSpPr>
          <p:cNvPr id="4" name="מציין מיקום של מספר שקופית 3">
            <a:extLst>
              <a:ext uri="{FF2B5EF4-FFF2-40B4-BE49-F238E27FC236}">
                <a16:creationId xmlns:a16="http://schemas.microsoft.com/office/drawing/2014/main" id="{3A6415D3-4080-29C4-58C0-BDBA108B0739}"/>
              </a:ext>
            </a:extLst>
          </p:cNvPr>
          <p:cNvSpPr>
            <a:spLocks noGrp="1"/>
          </p:cNvSpPr>
          <p:nvPr>
            <p:ph type="sldNum" sz="quarter" idx="5"/>
          </p:nvPr>
        </p:nvSpPr>
        <p:spPr/>
        <p:txBody>
          <a:bodyPr/>
          <a:lstStyle/>
          <a:p>
            <a:fld id="{64F50766-83A2-4A8D-A724-80D60639DE7B}" type="slidenum">
              <a:rPr lang="he-IL" smtClean="0"/>
              <a:t>18</a:t>
            </a:fld>
            <a:endParaRPr lang="he-IL"/>
          </a:p>
        </p:txBody>
      </p:sp>
    </p:spTree>
    <p:extLst>
      <p:ext uri="{BB962C8B-B14F-4D97-AF65-F5344CB8AC3E}">
        <p14:creationId xmlns:p14="http://schemas.microsoft.com/office/powerpoint/2010/main" val="264229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2CCEA-4E87-CF49-3D55-C48645EEBD8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4C8D0-FEF8-2219-6784-F9BB3F2C975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E5D8BDE-F97F-265D-D3BD-B14736A2AFC3}"/>
              </a:ext>
            </a:extLst>
          </p:cNvPr>
          <p:cNvSpPr>
            <a:spLocks noGrp="1"/>
          </p:cNvSpPr>
          <p:nvPr>
            <p:ph type="body" idx="1"/>
          </p:nvPr>
        </p:nvSpPr>
        <p:spPr/>
        <p:txBody>
          <a:bodyPr/>
          <a:lstStyle/>
          <a:p>
            <a:pPr marL="0" indent="0">
              <a:buNone/>
            </a:pPr>
            <a:r>
              <a:rPr lang="en-US" dirty="0"/>
              <a:t>This project can lead to 3 future directions:</a:t>
            </a:r>
          </a:p>
          <a:p>
            <a:pPr marL="228600" indent="-228600">
              <a:buAutoNum type="arabicPeriod"/>
            </a:pPr>
            <a:r>
              <a:rPr lang="en-US" dirty="0"/>
              <a:t>We have now a list of all disease-related genes that have changed in evolution. This allows us to look into their function and try to understand the mechanisms of disease, </a:t>
            </a:r>
          </a:p>
          <a:p>
            <a:pPr marL="228600" indent="-228600">
              <a:buAutoNum type="arabicPeriod"/>
            </a:pPr>
            <a:r>
              <a:rPr lang="en-US" dirty="0"/>
              <a:t>But also allows us to try and look for the adaptive trait that caused their appearance – find the tradeoff. </a:t>
            </a:r>
          </a:p>
          <a:p>
            <a:pPr marL="228600" indent="-228600">
              <a:buAutoNum type="arabicPeriod"/>
            </a:pPr>
            <a:r>
              <a:rPr lang="en-US" dirty="0"/>
              <a:t>Another approach is to try and see if this </a:t>
            </a:r>
            <a:r>
              <a:rPr lang="en-US" dirty="0" err="1"/>
              <a:t>ecolutionary</a:t>
            </a:r>
            <a:r>
              <a:rPr lang="en-US" dirty="0"/>
              <a:t> trend is conserved, by looking into the same kind of comparisons in other species, for example look into mouse-specific disease and so on. </a:t>
            </a:r>
            <a:endParaRPr lang="he-IL" dirty="0"/>
          </a:p>
        </p:txBody>
      </p:sp>
      <p:sp>
        <p:nvSpPr>
          <p:cNvPr id="4" name="מציין מיקום של מספר שקופית 3">
            <a:extLst>
              <a:ext uri="{FF2B5EF4-FFF2-40B4-BE49-F238E27FC236}">
                <a16:creationId xmlns:a16="http://schemas.microsoft.com/office/drawing/2014/main" id="{5769CCD9-CD86-B381-478D-A8380A5E3D28}"/>
              </a:ext>
            </a:extLst>
          </p:cNvPr>
          <p:cNvSpPr>
            <a:spLocks noGrp="1"/>
          </p:cNvSpPr>
          <p:nvPr>
            <p:ph type="sldNum" sz="quarter" idx="5"/>
          </p:nvPr>
        </p:nvSpPr>
        <p:spPr/>
        <p:txBody>
          <a:bodyPr/>
          <a:lstStyle/>
          <a:p>
            <a:fld id="{64F50766-83A2-4A8D-A724-80D60639DE7B}" type="slidenum">
              <a:rPr lang="he-IL" smtClean="0"/>
              <a:t>19</a:t>
            </a:fld>
            <a:endParaRPr lang="he-IL"/>
          </a:p>
        </p:txBody>
      </p:sp>
    </p:spTree>
    <p:extLst>
      <p:ext uri="{BB962C8B-B14F-4D97-AF65-F5344CB8AC3E}">
        <p14:creationId xmlns:p14="http://schemas.microsoft.com/office/powerpoint/2010/main" val="894379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51DB04-3D8C-AEF5-6506-2DED8C7DAC8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CB169B8-304F-A100-92EF-C74FD28A4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8EE4784-A498-4E04-0CED-17266D15E93F}"/>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1A7168D7-178F-CA7D-C494-3F5576980C0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80F866-0628-F184-2FB8-F59315A3611F}"/>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135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AA6AD4-184C-BCF7-AF7C-5060ECC2C3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6B6651-F1B4-DD50-16C2-D19C02F8064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DBFF1AB-2DED-DE4F-7F2B-A07A949044BE}"/>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E2EFEB77-065B-8032-2FC4-E1357C759A1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86E4222-DF67-6F55-8031-9FA8467CD869}"/>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8128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3C1236-869A-6220-C69F-97F1AC63B69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C085C67-4387-23AC-5B77-E51A007827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CE75541-259A-2B25-9257-3F9B227586FB}"/>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756731F9-BDCE-09B6-EA85-8F26448EF4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C95EB39-6079-9D56-C39D-26B9017929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4653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BC4AB2-697E-9548-E2FD-D9E597F3ADA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7355AA3-5AF9-D774-A30E-CB86F3ADCB9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EF799D9-DD49-BD94-E206-E02B38DEA1C0}"/>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9F70553-6CE9-496F-CF6F-E4EC2F8B2D15}"/>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6" name="מציין מיקום של כותרת תחתונה 5">
            <a:extLst>
              <a:ext uri="{FF2B5EF4-FFF2-40B4-BE49-F238E27FC236}">
                <a16:creationId xmlns:a16="http://schemas.microsoft.com/office/drawing/2014/main" id="{10251B85-008F-9246-E0A6-D44306EE64C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3821373-146F-3CBD-BBC1-659C98717FE1}"/>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7624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BF52F-EFD2-ECD6-6CA3-86DF97ED2FB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BA7F05-20E2-AEA6-E6CF-5A24B1876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53B7E6A-8520-D25A-33AF-6C0BC6E7AE0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C6FDC96-5FC2-E61A-A945-EC5615950D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758174EB-39D9-D2DA-9677-9EB3762C2C75}"/>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045699C-3E63-7FD7-C1F3-1E7497288A45}"/>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8" name="מציין מיקום של כותרת תחתונה 7">
            <a:extLst>
              <a:ext uri="{FF2B5EF4-FFF2-40B4-BE49-F238E27FC236}">
                <a16:creationId xmlns:a16="http://schemas.microsoft.com/office/drawing/2014/main" id="{5BAC47FF-8AAA-40A1-4EFE-2FC353F9FE8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270406A7-E97E-EEBA-040A-9FC31234C03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60995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A86492-0542-A6B8-0410-F1C751499B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711C620-6586-75DC-8BA0-B36C141729A1}"/>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4" name="מציין מיקום של כותרת תחתונה 3">
            <a:extLst>
              <a:ext uri="{FF2B5EF4-FFF2-40B4-BE49-F238E27FC236}">
                <a16:creationId xmlns:a16="http://schemas.microsoft.com/office/drawing/2014/main" id="{83ED5236-5D43-4C88-99B9-FB3BFA1518A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FFB032E-C763-5193-2952-36FB16C27E67}"/>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3199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5447864-07B9-E599-2EAC-FB2ABEE5923C}"/>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3" name="מציין מיקום של כותרת תחתונה 2">
            <a:extLst>
              <a:ext uri="{FF2B5EF4-FFF2-40B4-BE49-F238E27FC236}">
                <a16:creationId xmlns:a16="http://schemas.microsoft.com/office/drawing/2014/main" id="{35DC4AE1-0EE6-9AA2-315A-304095A4350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FD4E024-A722-4112-9748-5B02773AD31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6297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5EFADD-78FE-7CC0-A374-CD0567C014D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CAECB93-48EC-D0E8-51BF-077A511E7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258BB89-1D12-9686-6564-1334F9FA1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88E65D8-48D2-B397-EBD3-E7793F34D307}"/>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6" name="מציין מיקום של כותרת תחתונה 5">
            <a:extLst>
              <a:ext uri="{FF2B5EF4-FFF2-40B4-BE49-F238E27FC236}">
                <a16:creationId xmlns:a16="http://schemas.microsoft.com/office/drawing/2014/main" id="{DB5DD021-4281-E5CA-49E6-3577F017405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98F8BE1-5B49-CE4B-11C5-A4A449C644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118898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884B11-B311-564C-DBC1-F9FD9BE0FD7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28D561BD-E667-6B5A-994F-CE5A4A78E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DD05131-990D-1D79-54DD-9BA92664B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D6CCBB5-4FA4-8112-064A-66A13B6D30B6}"/>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6" name="מציין מיקום של כותרת תחתונה 5">
            <a:extLst>
              <a:ext uri="{FF2B5EF4-FFF2-40B4-BE49-F238E27FC236}">
                <a16:creationId xmlns:a16="http://schemas.microsoft.com/office/drawing/2014/main" id="{2A154919-9D99-9619-23A4-941F60FBF64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ECCC28A-15B4-F06F-6EE8-7C90A4332192}"/>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597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7B4721-45A3-8759-6F61-1B6BF1B4EBE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9AEA923-A52A-67C4-5B82-4F6B6EEB054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81F216B-4FBD-31B4-5A50-A706F1478EC2}"/>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FD3836EF-7213-40AE-F3FB-B601F32AF3B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12C3E8-3E2F-2BFC-E576-6957AC2F219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41781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51FC54E-DB5A-DAD1-2434-07B5E27D3CA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68F72F8-9E37-EAAC-D900-530639C66B9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E4EC31-A497-84C6-2667-8555A11CCACD}"/>
              </a:ext>
            </a:extLst>
          </p:cNvPr>
          <p:cNvSpPr>
            <a:spLocks noGrp="1"/>
          </p:cNvSpPr>
          <p:nvPr>
            <p:ph type="dt" sz="half" idx="10"/>
          </p:nvPr>
        </p:nvSpPr>
        <p:spPr/>
        <p:txBody>
          <a:body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F1669A26-57BC-A406-EECE-DF05A15F15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5918E1A-00FE-B950-E1B7-999B61204CA6}"/>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32450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471C646-C5F3-9F1F-0977-22CFFF277D34}"/>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F9031AE-1217-D6AD-0028-CDB31A3BE57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4CFE58-9B1E-ECC6-25BF-E5741DFF452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DE0D5A3-2E05-4112-9EB1-5EAD16F63788}" type="datetimeFigureOut">
              <a:rPr lang="he-IL" smtClean="0"/>
              <a:t>י"ז/תמוז/תשפ"ה</a:t>
            </a:fld>
            <a:endParaRPr lang="he-IL"/>
          </a:p>
        </p:txBody>
      </p:sp>
      <p:sp>
        <p:nvSpPr>
          <p:cNvPr id="5" name="מציין מיקום של כותרת תחתונה 4">
            <a:extLst>
              <a:ext uri="{FF2B5EF4-FFF2-40B4-BE49-F238E27FC236}">
                <a16:creationId xmlns:a16="http://schemas.microsoft.com/office/drawing/2014/main" id="{1BB82D60-7E70-C07F-A095-45FA469B0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C6D2401-1DEC-7695-647B-DAF05A2E4608}"/>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97ACF353-F54E-4338-80C2-CC503C46D57B}" type="slidenum">
              <a:rPr lang="he-IL" smtClean="0"/>
              <a:t>‹#›</a:t>
            </a:fld>
            <a:endParaRPr lang="he-IL"/>
          </a:p>
        </p:txBody>
      </p:sp>
    </p:spTree>
    <p:extLst>
      <p:ext uri="{BB962C8B-B14F-4D97-AF65-F5344CB8AC3E}">
        <p14:creationId xmlns:p14="http://schemas.microsoft.com/office/powerpoint/2010/main" val="2904355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hyperlink" Target="http://www.pngall.com/germs-png/download/38224" TargetMode="External"/><Relationship Id="rId13" Type="http://schemas.microsoft.com/office/2007/relationships/hdphoto" Target="../media/hdphoto3.wdp"/><Relationship Id="rId18" Type="http://schemas.openxmlformats.org/officeDocument/2006/relationships/image" Target="../media/image12.png"/><Relationship Id="rId26" Type="http://schemas.openxmlformats.org/officeDocument/2006/relationships/image" Target="../media/image18.png"/><Relationship Id="rId3" Type="http://schemas.openxmlformats.org/officeDocument/2006/relationships/image" Target="../media/image6.png"/><Relationship Id="rId21" Type="http://schemas.openxmlformats.org/officeDocument/2006/relationships/image" Target="../media/image14.png"/><Relationship Id="rId7" Type="http://schemas.openxmlformats.org/officeDocument/2006/relationships/image" Target="../media/image8.png"/><Relationship Id="rId12" Type="http://schemas.openxmlformats.org/officeDocument/2006/relationships/image" Target="../media/image10.png"/><Relationship Id="rId17" Type="http://schemas.openxmlformats.org/officeDocument/2006/relationships/hyperlink" Target="https://pixabay.com/en/chemical-science-science-icon-1293762/" TargetMode="External"/><Relationship Id="rId25" Type="http://schemas.openxmlformats.org/officeDocument/2006/relationships/image" Target="../media/image17.tiff"/><Relationship Id="rId2" Type="http://schemas.openxmlformats.org/officeDocument/2006/relationships/notesSlide" Target="../notesSlides/notesSlide3.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hyperlink" Target="https://commons.wikimedia.org/wiki/File:Weather_Icons_-_skc.svg" TargetMode="External"/><Relationship Id="rId11" Type="http://schemas.openxmlformats.org/officeDocument/2006/relationships/hyperlink" Target="https://pxhere.com/en/photo/1453897" TargetMode="External"/><Relationship Id="rId24" Type="http://schemas.microsoft.com/office/2007/relationships/hdphoto" Target="../media/hdphoto5.wdp"/><Relationship Id="rId5" Type="http://schemas.openxmlformats.org/officeDocument/2006/relationships/image" Target="../media/image7.png"/><Relationship Id="rId15" Type="http://schemas.microsoft.com/office/2007/relationships/hdphoto" Target="../media/hdphoto4.wdp"/><Relationship Id="rId23" Type="http://schemas.openxmlformats.org/officeDocument/2006/relationships/image" Target="../media/image16.png"/><Relationship Id="rId10" Type="http://schemas.microsoft.com/office/2007/relationships/hdphoto" Target="../media/hdphoto2.wdp"/><Relationship Id="rId19" Type="http://schemas.openxmlformats.org/officeDocument/2006/relationships/hyperlink" Target="https://freesvg.org/petri-dish-vector-illustration" TargetMode="External"/><Relationship Id="rId4" Type="http://schemas.openxmlformats.org/officeDocument/2006/relationships/hyperlink" Target="https://pixabay.com/en/banana-black-banana-banana-vector-2737145/" TargetMode="External"/><Relationship Id="rId9" Type="http://schemas.openxmlformats.org/officeDocument/2006/relationships/image" Target="../media/image9.png"/><Relationship Id="rId14" Type="http://schemas.openxmlformats.org/officeDocument/2006/relationships/hyperlink" Target="https://www.publicdomainpictures.net/es/view-image.php?image=272450&amp;picture=silueta-de-la-celula-nerviosa" TargetMode="External"/><Relationship Id="rId22"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 Id="rId9" Type="http://schemas.microsoft.com/office/2007/relationships/hdphoto" Target="../media/hdphoto6.wdp"/></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0.jpe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7.png"/><Relationship Id="rId4" Type="http://schemas.openxmlformats.org/officeDocument/2006/relationships/image" Target="../media/image46.emf"/></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ick Cartoon Images – Browse 133,296 Stock Photos, Vectors, and Video |  Adobe Stock‬‏">
            <a:extLst>
              <a:ext uri="{FF2B5EF4-FFF2-40B4-BE49-F238E27FC236}">
                <a16:creationId xmlns:a16="http://schemas.microsoft.com/office/drawing/2014/main" id="{4BA98EBC-0BFA-B2C3-F708-B57FC4080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155" y="3602038"/>
            <a:ext cx="4380429" cy="314068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ssil find complicates theory of human evolution | Baptist Press‬‏">
            <a:extLst>
              <a:ext uri="{FF2B5EF4-FFF2-40B4-BE49-F238E27FC236}">
                <a16:creationId xmlns:a16="http://schemas.microsoft.com/office/drawing/2014/main" id="{C2427A92-2FF6-AB60-5BF3-4B25638DD01B}"/>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0" y="0"/>
            <a:ext cx="7717155" cy="5344844"/>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784ADA7F-0491-9A37-E1E5-1723398F7329}"/>
              </a:ext>
            </a:extLst>
          </p:cNvPr>
          <p:cNvSpPr>
            <a:spLocks noGrp="1"/>
          </p:cNvSpPr>
          <p:nvPr>
            <p:ph type="ctrTitle"/>
          </p:nvPr>
        </p:nvSpPr>
        <p:spPr/>
        <p:txBody>
          <a:bodyPr>
            <a:normAutofit/>
          </a:bodyPr>
          <a:lstStyle/>
          <a:p>
            <a:r>
              <a:rPr lang="en-US" b="1" dirty="0">
                <a:solidFill>
                  <a:srgbClr val="0070C0"/>
                </a:solidFill>
                <a:latin typeface="Comic Sans MS" panose="030F0702030302020204" pitchFamily="66" charset="0"/>
                <a:ea typeface="+mn-ea"/>
                <a:cs typeface="+mn-cs"/>
              </a:rPr>
              <a:t>The evolution of human-specific diseases</a:t>
            </a:r>
            <a:endParaRPr lang="he-IL" b="1" dirty="0">
              <a:solidFill>
                <a:srgbClr val="0070C0"/>
              </a:solidFill>
              <a:latin typeface="Comic Sans MS" panose="030F0702030302020204" pitchFamily="66" charset="0"/>
              <a:ea typeface="+mn-ea"/>
              <a:cs typeface="+mn-cs"/>
            </a:endParaRPr>
          </a:p>
        </p:txBody>
      </p:sp>
      <p:sp>
        <p:nvSpPr>
          <p:cNvPr id="3" name="כותרת משנה 2">
            <a:extLst>
              <a:ext uri="{FF2B5EF4-FFF2-40B4-BE49-F238E27FC236}">
                <a16:creationId xmlns:a16="http://schemas.microsoft.com/office/drawing/2014/main" id="{E9401324-7122-D426-4C57-3078A00115D6}"/>
              </a:ext>
            </a:extLst>
          </p:cNvPr>
          <p:cNvSpPr>
            <a:spLocks noGrp="1"/>
          </p:cNvSpPr>
          <p:nvPr>
            <p:ph type="subTitle" idx="1"/>
          </p:nvPr>
        </p:nvSpPr>
        <p:spPr/>
        <p:txBody>
          <a:bodyPr/>
          <a:lstStyle/>
          <a:p>
            <a:r>
              <a:rPr lang="en-US" sz="2800" b="1" i="1" dirty="0"/>
              <a:t>Sarit Moses &amp; Gil Sasson</a:t>
            </a:r>
          </a:p>
          <a:p>
            <a:r>
              <a:rPr lang="en-US" sz="2800" b="1" i="1" dirty="0"/>
              <a:t>Supervised by Dr. David Gokhman</a:t>
            </a:r>
          </a:p>
          <a:p>
            <a:r>
              <a:rPr lang="en-US" sz="2800" b="1" i="1" dirty="0"/>
              <a:t>T.A.: Nachshon </a:t>
            </a:r>
            <a:r>
              <a:rPr lang="en-US" sz="2800" b="1" i="1" dirty="0" err="1"/>
              <a:t>Egyes</a:t>
            </a:r>
            <a:endParaRPr lang="he-IL" sz="2800" b="1" i="1" dirty="0"/>
          </a:p>
        </p:txBody>
      </p:sp>
    </p:spTree>
    <p:extLst>
      <p:ext uri="{BB962C8B-B14F-4D97-AF65-F5344CB8AC3E}">
        <p14:creationId xmlns:p14="http://schemas.microsoft.com/office/powerpoint/2010/main" val="331738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E207B4-A1CE-A891-6B59-82E619E51BED}"/>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The origin of human-specific diseases</a:t>
            </a:r>
            <a:endParaRPr lang="he-IL" dirty="0"/>
          </a:p>
        </p:txBody>
      </p:sp>
      <p:pic>
        <p:nvPicPr>
          <p:cNvPr id="1026" name="Picture 2" descr="‪Chimpanzee 2d cartoon vector illustration on white backgro | Premium  AI-generated image‬‏">
            <a:extLst>
              <a:ext uri="{FF2B5EF4-FFF2-40B4-BE49-F238E27FC236}">
                <a16:creationId xmlns:a16="http://schemas.microsoft.com/office/drawing/2014/main" id="{1BAF5CB9-8E65-02D0-DC68-8518B984B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קבוצה 17">
            <a:extLst>
              <a:ext uri="{FF2B5EF4-FFF2-40B4-BE49-F238E27FC236}">
                <a16:creationId xmlns:a16="http://schemas.microsoft.com/office/drawing/2014/main" id="{19FEEFAC-8404-26C2-FAC1-255421447C8D}"/>
              </a:ext>
            </a:extLst>
          </p:cNvPr>
          <p:cNvGrpSpPr/>
          <p:nvPr/>
        </p:nvGrpSpPr>
        <p:grpSpPr>
          <a:xfrm>
            <a:off x="2859332" y="1378566"/>
            <a:ext cx="6502382" cy="4044875"/>
            <a:chOff x="2859332" y="1378566"/>
            <a:chExt cx="6502382" cy="4044875"/>
          </a:xfrm>
        </p:grpSpPr>
        <p:grpSp>
          <p:nvGrpSpPr>
            <p:cNvPr id="9" name="קבוצה 8">
              <a:extLst>
                <a:ext uri="{FF2B5EF4-FFF2-40B4-BE49-F238E27FC236}">
                  <a16:creationId xmlns:a16="http://schemas.microsoft.com/office/drawing/2014/main" id="{A23C6293-19F8-0425-5FB8-7A38EC5BCA40}"/>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37AC6E33-2853-CAD2-B09D-66B72DA7523E}"/>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a:extLst>
                  <a:ext uri="{FF2B5EF4-FFF2-40B4-BE49-F238E27FC236}">
                    <a16:creationId xmlns:a16="http://schemas.microsoft.com/office/drawing/2014/main" id="{A71C46E7-B79E-AD33-2055-FE58E4BFF842}"/>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3" name="מציין מיקום תוכן 2">
              <a:extLst>
                <a:ext uri="{FF2B5EF4-FFF2-40B4-BE49-F238E27FC236}">
                  <a16:creationId xmlns:a16="http://schemas.microsoft.com/office/drawing/2014/main" id="{38073D80-D545-981A-7210-F377B3747DFB}"/>
                </a:ext>
              </a:extLst>
            </p:cNvPr>
            <p:cNvSpPr txBox="1">
              <a:spLocks/>
            </p:cNvSpPr>
            <p:nvPr/>
          </p:nvSpPr>
          <p:spPr>
            <a:xfrm>
              <a:off x="4894239" y="2688137"/>
              <a:ext cx="2403519" cy="1129443"/>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Shared </a:t>
              </a:r>
            </a:p>
            <a:p>
              <a:pPr marL="0" indent="0" algn="ctr" rtl="0">
                <a:buNone/>
              </a:pPr>
              <a:r>
                <a:rPr lang="en-US" sz="2400" b="1" i="1" dirty="0"/>
                <a:t>traits</a:t>
              </a:r>
            </a:p>
          </p:txBody>
        </p:sp>
        <p:sp>
          <p:nvSpPr>
            <p:cNvPr id="10" name="מציין מיקום תוכן 2">
              <a:extLst>
                <a:ext uri="{FF2B5EF4-FFF2-40B4-BE49-F238E27FC236}">
                  <a16:creationId xmlns:a16="http://schemas.microsoft.com/office/drawing/2014/main" id="{A22FA729-D0C8-038E-DE6F-93835A5E68D3}"/>
                </a:ext>
              </a:extLst>
            </p:cNvPr>
            <p:cNvSpPr txBox="1">
              <a:spLocks/>
            </p:cNvSpPr>
            <p:nvPr/>
          </p:nvSpPr>
          <p:spPr>
            <a:xfrm>
              <a:off x="2859332"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Chimp-</a:t>
              </a:r>
            </a:p>
            <a:p>
              <a:pPr marL="0" indent="0" algn="ctr" rtl="0">
                <a:buNone/>
              </a:pPr>
              <a:r>
                <a:rPr lang="en-US" sz="2400" b="1" i="1" dirty="0"/>
                <a:t>specific </a:t>
              </a:r>
            </a:p>
            <a:p>
              <a:pPr marL="0" indent="0" algn="ctr" rtl="0">
                <a:buNone/>
              </a:pPr>
              <a:r>
                <a:rPr lang="en-US" sz="2400" b="1" i="1" dirty="0"/>
                <a:t>traits</a:t>
              </a:r>
            </a:p>
          </p:txBody>
        </p:sp>
        <p:sp>
          <p:nvSpPr>
            <p:cNvPr id="11" name="מציין מיקום תוכן 2">
              <a:extLst>
                <a:ext uri="{FF2B5EF4-FFF2-40B4-BE49-F238E27FC236}">
                  <a16:creationId xmlns:a16="http://schemas.microsoft.com/office/drawing/2014/main" id="{41842961-FAD6-0D61-B881-0C3E088A750E}"/>
                </a:ext>
              </a:extLst>
            </p:cNvPr>
            <p:cNvSpPr txBox="1">
              <a:spLocks/>
            </p:cNvSpPr>
            <p:nvPr/>
          </p:nvSpPr>
          <p:spPr>
            <a:xfrm>
              <a:off x="6958195"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Human-</a:t>
              </a:r>
            </a:p>
            <a:p>
              <a:pPr marL="0" indent="0" algn="ctr" rtl="0">
                <a:buNone/>
              </a:pPr>
              <a:r>
                <a:rPr lang="en-US" sz="2400" b="1" i="1" dirty="0"/>
                <a:t>specific </a:t>
              </a:r>
            </a:p>
            <a:p>
              <a:pPr marL="0" indent="0" algn="ctr" rtl="0">
                <a:buNone/>
              </a:pPr>
              <a:r>
                <a:rPr lang="en-US" sz="2400" b="1" i="1" dirty="0"/>
                <a:t>traits</a:t>
              </a:r>
            </a:p>
          </p:txBody>
        </p:sp>
      </p:grpSp>
      <p:pic>
        <p:nvPicPr>
          <p:cNvPr id="1028" name="Picture 4" descr="‪Funny Cute Couple Ancient Human Cartoon. Royalty Free SVG, Cliparts,  Vectors, and Stock Illustration. Image 74301183.‬‏">
            <a:extLst>
              <a:ext uri="{FF2B5EF4-FFF2-40B4-BE49-F238E27FC236}">
                <a16:creationId xmlns:a16="http://schemas.microsoft.com/office/drawing/2014/main" id="{620013B0-8287-E7C4-0281-96C8ABDED2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8EE0F434-47C8-22A8-C56C-5F54229FC649}"/>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Environment</a:t>
            </a:r>
          </a:p>
        </p:txBody>
      </p:sp>
      <p:sp>
        <p:nvSpPr>
          <p:cNvPr id="5" name="מציין מיקום תוכן 2">
            <a:extLst>
              <a:ext uri="{FF2B5EF4-FFF2-40B4-BE49-F238E27FC236}">
                <a16:creationId xmlns:a16="http://schemas.microsoft.com/office/drawing/2014/main" id="{A16C35B3-EB26-6624-9C1E-4A0988750379}"/>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Life span</a:t>
            </a:r>
          </a:p>
        </p:txBody>
      </p:sp>
      <p:sp>
        <p:nvSpPr>
          <p:cNvPr id="6" name="מציין מיקום תוכן 2">
            <a:extLst>
              <a:ext uri="{FF2B5EF4-FFF2-40B4-BE49-F238E27FC236}">
                <a16:creationId xmlns:a16="http://schemas.microsoft.com/office/drawing/2014/main" id="{B8357051-BCEA-DFF1-A77C-3A3D6C752AC7}"/>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Lack of data</a:t>
            </a:r>
          </a:p>
        </p:txBody>
      </p:sp>
      <p:pic>
        <p:nvPicPr>
          <p:cNvPr id="1032" name="Picture 8" descr="‪Mascot Thermometer Fever - Stock Illustration [27457006] - PIXTA‬‏">
            <a:extLst>
              <a:ext uri="{FF2B5EF4-FFF2-40B4-BE49-F238E27FC236}">
                <a16:creationId xmlns:a16="http://schemas.microsoft.com/office/drawing/2014/main" id="{869F5A23-5F5F-3245-13FB-35B760F7208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151722" y="1378566"/>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DD042946-67E6-4B22-66D1-E9DCD1E9817F}"/>
              </a:ext>
            </a:extLst>
          </p:cNvPr>
          <p:cNvSpPr txBox="1"/>
          <p:nvPr/>
        </p:nvSpPr>
        <p:spPr>
          <a:xfrm>
            <a:off x="9332668"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3" name="TextBox 13">
            <a:extLst>
              <a:ext uri="{FF2B5EF4-FFF2-40B4-BE49-F238E27FC236}">
                <a16:creationId xmlns:a16="http://schemas.microsoft.com/office/drawing/2014/main" id="{6AE1B2C1-D239-82B5-C18C-F1C517264ABA}"/>
              </a:ext>
            </a:extLst>
          </p:cNvPr>
          <p:cNvSpPr txBox="1"/>
          <p:nvPr/>
        </p:nvSpPr>
        <p:spPr>
          <a:xfrm>
            <a:off x="5691400"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4" name="TextBox 13">
            <a:extLst>
              <a:ext uri="{FF2B5EF4-FFF2-40B4-BE49-F238E27FC236}">
                <a16:creationId xmlns:a16="http://schemas.microsoft.com/office/drawing/2014/main" id="{E37BFAB0-E12F-7939-8671-AB52A9E1C18E}"/>
              </a:ext>
            </a:extLst>
          </p:cNvPr>
          <p:cNvSpPr txBox="1"/>
          <p:nvPr/>
        </p:nvSpPr>
        <p:spPr>
          <a:xfrm>
            <a:off x="2050133" y="5582754"/>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grpSp>
        <p:nvGrpSpPr>
          <p:cNvPr id="15" name="Group 6">
            <a:extLst>
              <a:ext uri="{FF2B5EF4-FFF2-40B4-BE49-F238E27FC236}">
                <a16:creationId xmlns:a16="http://schemas.microsoft.com/office/drawing/2014/main" id="{9752B736-4687-F1C4-8960-30B64F349F71}"/>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66AA5399-CE6E-711F-5C2E-BB43BCBB001F}"/>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p>
          </p:txBody>
        </p:sp>
        <p:sp>
          <p:nvSpPr>
            <p:cNvPr id="17" name="TextBox 21">
              <a:extLst>
                <a:ext uri="{FF2B5EF4-FFF2-40B4-BE49-F238E27FC236}">
                  <a16:creationId xmlns:a16="http://schemas.microsoft.com/office/drawing/2014/main" id="{917511B6-8AB2-D732-A847-C5D4390C6FE8}"/>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Genetic changes </a:t>
              </a: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 human susceptibility</a:t>
              </a:r>
              <a:endParaRPr lang="en-IL"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19" name="אליפסה 18">
            <a:extLst>
              <a:ext uri="{FF2B5EF4-FFF2-40B4-BE49-F238E27FC236}">
                <a16:creationId xmlns:a16="http://schemas.microsoft.com/office/drawing/2014/main" id="{44C932CA-7D70-28B7-2CB7-FA91EE6132E1}"/>
              </a:ext>
            </a:extLst>
          </p:cNvPr>
          <p:cNvSpPr/>
          <p:nvPr/>
        </p:nvSpPr>
        <p:spPr>
          <a:xfrm>
            <a:off x="2859332" y="4731488"/>
            <a:ext cx="3100719" cy="11086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27652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2" grpId="0"/>
      <p:bldP spid="13" grpId="0"/>
      <p:bldP spid="14" grpId="0"/>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E5450-700D-57C7-95BE-11BF1839648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28F147E-E97D-CFF9-27C6-4D0F229C80FA}"/>
              </a:ext>
            </a:extLst>
          </p:cNvPr>
          <p:cNvSpPr>
            <a:spLocks noGrp="1"/>
          </p:cNvSpPr>
          <p:nvPr>
            <p:ph type="title"/>
          </p:nvPr>
        </p:nvSpPr>
        <p:spPr>
          <a:xfrm>
            <a:off x="838200" y="63910"/>
            <a:ext cx="10515600" cy="850299"/>
          </a:xfrm>
        </p:spPr>
        <p:txBody>
          <a:bodyPr>
            <a:normAutofit fontScale="90000"/>
          </a:bodyPr>
          <a:lstStyle/>
          <a:p>
            <a:pPr algn="ctr" rtl="0"/>
            <a:r>
              <a:rPr lang="en-US" dirty="0">
                <a:solidFill>
                  <a:srgbClr val="0070C0"/>
                </a:solidFill>
                <a:latin typeface="Comic Sans MS" panose="030F0702030302020204" pitchFamily="66" charset="0"/>
                <a:ea typeface="+mn-ea"/>
                <a:cs typeface="+mn-cs"/>
              </a:rPr>
              <a:t>Regulatory changes: the immediate suspect</a:t>
            </a:r>
            <a:endParaRPr lang="he-IL" dirty="0"/>
          </a:p>
        </p:txBody>
      </p:sp>
      <p:grpSp>
        <p:nvGrpSpPr>
          <p:cNvPr id="1080" name="Group 6">
            <a:extLst>
              <a:ext uri="{FF2B5EF4-FFF2-40B4-BE49-F238E27FC236}">
                <a16:creationId xmlns:a16="http://schemas.microsoft.com/office/drawing/2014/main" id="{560064DA-7FED-41EC-1C79-912989C0A3C6}"/>
              </a:ext>
            </a:extLst>
          </p:cNvPr>
          <p:cNvGrpSpPr/>
          <p:nvPr/>
        </p:nvGrpSpPr>
        <p:grpSpPr>
          <a:xfrm>
            <a:off x="2167320" y="3234964"/>
            <a:ext cx="1808925" cy="2962231"/>
            <a:chOff x="3852076" y="2264025"/>
            <a:chExt cx="1719461" cy="2634363"/>
          </a:xfrm>
        </p:grpSpPr>
        <p:sp>
          <p:nvSpPr>
            <p:cNvPr id="1081" name="Rectangle 2">
              <a:extLst>
                <a:ext uri="{FF2B5EF4-FFF2-40B4-BE49-F238E27FC236}">
                  <a16:creationId xmlns:a16="http://schemas.microsoft.com/office/drawing/2014/main" id="{358A258A-553D-AF86-1F3B-55D23F294CD2}"/>
                </a:ext>
              </a:extLst>
            </p:cNvPr>
            <p:cNvSpPr/>
            <p:nvPr/>
          </p:nvSpPr>
          <p:spPr>
            <a:xfrm>
              <a:off x="3933652" y="2264025"/>
              <a:ext cx="1468960" cy="377075"/>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Confounders</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nvGrpSpPr>
            <p:cNvPr id="1082" name="Group 326">
              <a:extLst>
                <a:ext uri="{FF2B5EF4-FFF2-40B4-BE49-F238E27FC236}">
                  <a16:creationId xmlns:a16="http://schemas.microsoft.com/office/drawing/2014/main" id="{87690A9D-0A79-F6EA-F081-EA19EC65D7A3}"/>
                </a:ext>
              </a:extLst>
            </p:cNvPr>
            <p:cNvGrpSpPr/>
            <p:nvPr/>
          </p:nvGrpSpPr>
          <p:grpSpPr>
            <a:xfrm>
              <a:off x="3992114" y="2556112"/>
              <a:ext cx="1356694" cy="828572"/>
              <a:chOff x="4049504" y="734179"/>
              <a:chExt cx="1356694" cy="828572"/>
            </a:xfrm>
          </p:grpSpPr>
          <p:sp>
            <p:nvSpPr>
              <p:cNvPr id="1101" name="Left-Right Arrow 327">
                <a:extLst>
                  <a:ext uri="{FF2B5EF4-FFF2-40B4-BE49-F238E27FC236}">
                    <a16:creationId xmlns:a16="http://schemas.microsoft.com/office/drawing/2014/main" id="{C76CB8E7-8040-74DA-8002-0B2F05CE322A}"/>
                  </a:ext>
                </a:extLst>
              </p:cNvPr>
              <p:cNvSpPr/>
              <p:nvPr/>
            </p:nvSpPr>
            <p:spPr>
              <a:xfrm>
                <a:off x="4049504" y="979495"/>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102" name="Group 328">
                <a:extLst>
                  <a:ext uri="{FF2B5EF4-FFF2-40B4-BE49-F238E27FC236}">
                    <a16:creationId xmlns:a16="http://schemas.microsoft.com/office/drawing/2014/main" id="{8BAE4E49-22A0-0D34-A9F3-8F1146BAEDD2}"/>
                  </a:ext>
                </a:extLst>
              </p:cNvPr>
              <p:cNvGrpSpPr/>
              <p:nvPr/>
            </p:nvGrpSpPr>
            <p:grpSpPr>
              <a:xfrm>
                <a:off x="4229981" y="734179"/>
                <a:ext cx="1001717" cy="793113"/>
                <a:chOff x="4101675" y="1023754"/>
                <a:chExt cx="1329583" cy="1052702"/>
              </a:xfrm>
            </p:grpSpPr>
            <p:grpSp>
              <p:nvGrpSpPr>
                <p:cNvPr id="1103" name="Group 329">
                  <a:extLst>
                    <a:ext uri="{FF2B5EF4-FFF2-40B4-BE49-F238E27FC236}">
                      <a16:creationId xmlns:a16="http://schemas.microsoft.com/office/drawing/2014/main" id="{FE202F6D-899A-A770-0BFD-E1000A67775B}"/>
                    </a:ext>
                  </a:extLst>
                </p:cNvPr>
                <p:cNvGrpSpPr/>
                <p:nvPr/>
              </p:nvGrpSpPr>
              <p:grpSpPr>
                <a:xfrm>
                  <a:off x="4396683" y="1330046"/>
                  <a:ext cx="723841" cy="746410"/>
                  <a:chOff x="4525701" y="844082"/>
                  <a:chExt cx="723841" cy="746410"/>
                </a:xfrm>
              </p:grpSpPr>
              <p:pic>
                <p:nvPicPr>
                  <p:cNvPr id="1105" name="Picture 331">
                    <a:extLst>
                      <a:ext uri="{FF2B5EF4-FFF2-40B4-BE49-F238E27FC236}">
                        <a16:creationId xmlns:a16="http://schemas.microsoft.com/office/drawing/2014/main" id="{550A3B14-53D2-EC2D-1643-321573C8A6B4}"/>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25701" y="915663"/>
                    <a:ext cx="397378" cy="552874"/>
                  </a:xfrm>
                  <a:prstGeom prst="rect">
                    <a:avLst/>
                  </a:prstGeom>
                </p:spPr>
              </p:pic>
              <p:pic>
                <p:nvPicPr>
                  <p:cNvPr id="1106" name="Picture 332">
                    <a:extLst>
                      <a:ext uri="{FF2B5EF4-FFF2-40B4-BE49-F238E27FC236}">
                        <a16:creationId xmlns:a16="http://schemas.microsoft.com/office/drawing/2014/main" id="{9AFFA61A-6610-696C-5A94-F13FA740D375}"/>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52164" y="844082"/>
                    <a:ext cx="397378" cy="397378"/>
                  </a:xfrm>
                  <a:prstGeom prst="rect">
                    <a:avLst/>
                  </a:prstGeom>
                </p:spPr>
              </p:pic>
              <p:pic>
                <p:nvPicPr>
                  <p:cNvPr id="1107" name="Picture 333" descr="Shape&#10;&#10;Description automatically generated">
                    <a:extLst>
                      <a:ext uri="{FF2B5EF4-FFF2-40B4-BE49-F238E27FC236}">
                        <a16:creationId xmlns:a16="http://schemas.microsoft.com/office/drawing/2014/main" id="{28769B9F-A904-44D3-DD80-F14FBAD91559}"/>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950175" y="1274987"/>
                    <a:ext cx="263350" cy="315505"/>
                  </a:xfrm>
                  <a:prstGeom prst="rect">
                    <a:avLst/>
                  </a:prstGeom>
                </p:spPr>
              </p:pic>
            </p:grpSp>
            <p:sp>
              <p:nvSpPr>
                <p:cNvPr id="1104" name="Rectangle 330">
                  <a:extLst>
                    <a:ext uri="{FF2B5EF4-FFF2-40B4-BE49-F238E27FC236}">
                      <a16:creationId xmlns:a16="http://schemas.microsoft.com/office/drawing/2014/main" id="{D9B666DF-DE74-2BC2-F76B-5009A72053DA}"/>
                    </a:ext>
                  </a:extLst>
                </p:cNvPr>
                <p:cNvSpPr/>
                <p:nvPr/>
              </p:nvSpPr>
              <p:spPr>
                <a:xfrm>
                  <a:off x="4101675" y="1023754"/>
                  <a:ext cx="1329583"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Environment</a:t>
                  </a:r>
                  <a:endParaRPr lang="en-US" sz="1600" dirty="0">
                    <a:solidFill>
                      <a:schemeClr val="bg2">
                        <a:lumMod val="25000"/>
                      </a:schemeClr>
                    </a:solidFill>
                  </a:endParaRPr>
                </a:p>
              </p:txBody>
            </p:sp>
          </p:grpSp>
        </p:grpSp>
        <p:grpSp>
          <p:nvGrpSpPr>
            <p:cNvPr id="1083" name="Group 334">
              <a:extLst>
                <a:ext uri="{FF2B5EF4-FFF2-40B4-BE49-F238E27FC236}">
                  <a16:creationId xmlns:a16="http://schemas.microsoft.com/office/drawing/2014/main" id="{2F27D600-282A-6AF2-3628-2E08C3F92A76}"/>
                </a:ext>
              </a:extLst>
            </p:cNvPr>
            <p:cNvGrpSpPr/>
            <p:nvPr/>
          </p:nvGrpSpPr>
          <p:grpSpPr>
            <a:xfrm>
              <a:off x="3852076" y="3344366"/>
              <a:ext cx="1719461" cy="842079"/>
              <a:chOff x="3909466" y="1487369"/>
              <a:chExt cx="1719461" cy="842079"/>
            </a:xfrm>
          </p:grpSpPr>
          <p:sp>
            <p:nvSpPr>
              <p:cNvPr id="1091" name="Left-Right Arrow 335">
                <a:extLst>
                  <a:ext uri="{FF2B5EF4-FFF2-40B4-BE49-F238E27FC236}">
                    <a16:creationId xmlns:a16="http://schemas.microsoft.com/office/drawing/2014/main" id="{3E74BA57-0C11-0109-7697-222BDC8A72C7}"/>
                  </a:ext>
                </a:extLst>
              </p:cNvPr>
              <p:cNvSpPr/>
              <p:nvPr/>
            </p:nvSpPr>
            <p:spPr>
              <a:xfrm>
                <a:off x="4059093" y="1746192"/>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92" name="Group 336">
                <a:extLst>
                  <a:ext uri="{FF2B5EF4-FFF2-40B4-BE49-F238E27FC236}">
                    <a16:creationId xmlns:a16="http://schemas.microsoft.com/office/drawing/2014/main" id="{09B48FA0-86EC-44E4-EABD-56548D502B3B}"/>
                  </a:ext>
                </a:extLst>
              </p:cNvPr>
              <p:cNvGrpSpPr/>
              <p:nvPr/>
            </p:nvGrpSpPr>
            <p:grpSpPr>
              <a:xfrm>
                <a:off x="3909466" y="1487369"/>
                <a:ext cx="1719461" cy="826890"/>
                <a:chOff x="3667513" y="1943110"/>
                <a:chExt cx="2282251" cy="1097532"/>
              </a:xfrm>
            </p:grpSpPr>
            <p:pic>
              <p:nvPicPr>
                <p:cNvPr id="1093" name="Picture 337">
                  <a:extLst>
                    <a:ext uri="{FF2B5EF4-FFF2-40B4-BE49-F238E27FC236}">
                      <a16:creationId xmlns:a16="http://schemas.microsoft.com/office/drawing/2014/main" id="{7D458AB7-9E1A-9BC0-8DC1-E35FE8D99705}"/>
                    </a:ext>
                  </a:extLst>
                </p:cNvPr>
                <p:cNvPicPr>
                  <a:picLocks noChangeAspect="1"/>
                </p:cNvPicPr>
                <p:nvPr/>
              </p:nvPicPr>
              <p:blipFill>
                <a:blip r:embed="rId9">
                  <a:duotone>
                    <a:schemeClr val="accent3">
                      <a:shade val="45000"/>
                      <a:satMod val="135000"/>
                    </a:schemeClr>
                    <a:prstClr val="white"/>
                  </a:duotone>
                  <a:extLst>
                    <a:ext uri="{BEBA8EAE-BF5A-486C-A8C5-ECC9F3942E4B}">
                      <a14:imgProps xmlns:a14="http://schemas.microsoft.com/office/drawing/2010/main">
                        <a14:imgLayer r:embed="rId10">
                          <a14:imgEffect>
                            <a14:backgroundRemoval t="10000" b="90000" l="10000" r="90000">
                              <a14:foregroundMark x1="51583" y1="33197" x2="51583" y2="33197"/>
                              <a14:foregroundMark x1="53250" y1="33197" x2="53250" y2="3319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4497028" y="2210027"/>
                  <a:ext cx="510625" cy="830615"/>
                </a:xfrm>
                <a:prstGeom prst="rect">
                  <a:avLst/>
                </a:prstGeom>
              </p:spPr>
            </p:pic>
            <p:sp>
              <p:nvSpPr>
                <p:cNvPr id="1094" name="Rectangle 338">
                  <a:extLst>
                    <a:ext uri="{FF2B5EF4-FFF2-40B4-BE49-F238E27FC236}">
                      <a16:creationId xmlns:a16="http://schemas.microsoft.com/office/drawing/2014/main" id="{1853D990-1FC5-8CBF-CD1F-397C236A7DA1}"/>
                    </a:ext>
                  </a:extLst>
                </p:cNvPr>
                <p:cNvSpPr/>
                <p:nvPr/>
              </p:nvSpPr>
              <p:spPr>
                <a:xfrm>
                  <a:off x="3667513" y="1943110"/>
                  <a:ext cx="2282251" cy="337022"/>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Cell-type heterogeneity</a:t>
                  </a:r>
                  <a:endParaRPr lang="en-US" sz="1600" dirty="0">
                    <a:solidFill>
                      <a:schemeClr val="bg2">
                        <a:lumMod val="25000"/>
                      </a:schemeClr>
                    </a:solidFill>
                  </a:endParaRPr>
                </a:p>
              </p:txBody>
            </p:sp>
            <p:grpSp>
              <p:nvGrpSpPr>
                <p:cNvPr id="1095" name="Group 339">
                  <a:extLst>
                    <a:ext uri="{FF2B5EF4-FFF2-40B4-BE49-F238E27FC236}">
                      <a16:creationId xmlns:a16="http://schemas.microsoft.com/office/drawing/2014/main" id="{0CFAAFA6-87CD-F83D-9A6F-B29E76151DBB}"/>
                    </a:ext>
                  </a:extLst>
                </p:cNvPr>
                <p:cNvGrpSpPr/>
                <p:nvPr/>
              </p:nvGrpSpPr>
              <p:grpSpPr>
                <a:xfrm rot="2700000">
                  <a:off x="4461921" y="2592425"/>
                  <a:ext cx="328183" cy="331792"/>
                  <a:chOff x="3551743" y="3048534"/>
                  <a:chExt cx="1434724" cy="1450512"/>
                </a:xfrm>
              </p:grpSpPr>
              <p:pic>
                <p:nvPicPr>
                  <p:cNvPr id="1099" name="Picture 343" descr="A picture containing plant&#10;&#10;Description automatically generated">
                    <a:extLst>
                      <a:ext uri="{FF2B5EF4-FFF2-40B4-BE49-F238E27FC236}">
                        <a16:creationId xmlns:a16="http://schemas.microsoft.com/office/drawing/2014/main" id="{9355FE0A-4BE1-453A-BD92-5F76F3E2B32D}"/>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3">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34223" r="13573" b="42349"/>
                  <a:stretch/>
                </p:blipFill>
                <p:spPr>
                  <a:xfrm>
                    <a:off x="3551743" y="3048534"/>
                    <a:ext cx="1434724" cy="1425984"/>
                  </a:xfrm>
                  <a:prstGeom prst="rect">
                    <a:avLst/>
                  </a:prstGeom>
                </p:spPr>
              </p:pic>
              <p:sp>
                <p:nvSpPr>
                  <p:cNvPr id="1100" name="Rectangle 344">
                    <a:extLst>
                      <a:ext uri="{FF2B5EF4-FFF2-40B4-BE49-F238E27FC236}">
                        <a16:creationId xmlns:a16="http://schemas.microsoft.com/office/drawing/2014/main" id="{F740DFF2-C883-CB7C-FD8D-1C1A50BC9837}"/>
                      </a:ext>
                    </a:extLst>
                  </p:cNvPr>
                  <p:cNvSpPr/>
                  <p:nvPr/>
                </p:nvSpPr>
                <p:spPr>
                  <a:xfrm>
                    <a:off x="3577518" y="4220315"/>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nvGrpSpPr>
                <p:cNvPr id="1096" name="Group 340">
                  <a:extLst>
                    <a:ext uri="{FF2B5EF4-FFF2-40B4-BE49-F238E27FC236}">
                      <a16:creationId xmlns:a16="http://schemas.microsoft.com/office/drawing/2014/main" id="{2DF6C313-3042-3720-6543-C9BB25A3B535}"/>
                    </a:ext>
                  </a:extLst>
                </p:cNvPr>
                <p:cNvGrpSpPr/>
                <p:nvPr/>
              </p:nvGrpSpPr>
              <p:grpSpPr>
                <a:xfrm>
                  <a:off x="4871610" y="2541954"/>
                  <a:ext cx="338009" cy="333801"/>
                  <a:chOff x="4941287" y="3751975"/>
                  <a:chExt cx="1314129" cy="1297773"/>
                </a:xfrm>
              </p:grpSpPr>
              <p:pic>
                <p:nvPicPr>
                  <p:cNvPr id="1097" name="Picture 341" descr="A picture containing plant&#10;&#10;Description automatically generated">
                    <a:extLst>
                      <a:ext uri="{FF2B5EF4-FFF2-40B4-BE49-F238E27FC236}">
                        <a16:creationId xmlns:a16="http://schemas.microsoft.com/office/drawing/2014/main" id="{179470FA-34E5-F8DE-837A-5E20C25EABA1}"/>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5">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7644" t="42408" r="44899" b="3047"/>
                  <a:stretch/>
                </p:blipFill>
                <p:spPr>
                  <a:xfrm>
                    <a:off x="4941287" y="3751975"/>
                    <a:ext cx="1254593" cy="1297773"/>
                  </a:xfrm>
                  <a:prstGeom prst="rect">
                    <a:avLst/>
                  </a:prstGeom>
                </p:spPr>
              </p:pic>
              <p:sp>
                <p:nvSpPr>
                  <p:cNvPr id="1098" name="Rectangle 342">
                    <a:extLst>
                      <a:ext uri="{FF2B5EF4-FFF2-40B4-BE49-F238E27FC236}">
                        <a16:creationId xmlns:a16="http://schemas.microsoft.com/office/drawing/2014/main" id="{D211D33C-0406-C339-EE8D-5A2D3EB27A82}"/>
                      </a:ext>
                    </a:extLst>
                  </p:cNvPr>
                  <p:cNvSpPr/>
                  <p:nvPr/>
                </p:nvSpPr>
                <p:spPr>
                  <a:xfrm rot="2700000">
                    <a:off x="6011254" y="3736000"/>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grpSp>
        <p:grpSp>
          <p:nvGrpSpPr>
            <p:cNvPr id="1084" name="Group 345">
              <a:extLst>
                <a:ext uri="{FF2B5EF4-FFF2-40B4-BE49-F238E27FC236}">
                  <a16:creationId xmlns:a16="http://schemas.microsoft.com/office/drawing/2014/main" id="{237520A4-EE8C-8A0C-9810-1614708E50DB}"/>
                </a:ext>
              </a:extLst>
            </p:cNvPr>
            <p:cNvGrpSpPr/>
            <p:nvPr/>
          </p:nvGrpSpPr>
          <p:grpSpPr>
            <a:xfrm>
              <a:off x="3992114" y="4074563"/>
              <a:ext cx="1356694" cy="823825"/>
              <a:chOff x="4049504" y="2232901"/>
              <a:chExt cx="1356694" cy="823825"/>
            </a:xfrm>
          </p:grpSpPr>
          <p:sp>
            <p:nvSpPr>
              <p:cNvPr id="1085" name="Left-Right Arrow 346">
                <a:extLst>
                  <a:ext uri="{FF2B5EF4-FFF2-40B4-BE49-F238E27FC236}">
                    <a16:creationId xmlns:a16="http://schemas.microsoft.com/office/drawing/2014/main" id="{1324091F-8C17-9D35-6ED2-0A0A4CDE4101}"/>
                  </a:ext>
                </a:extLst>
              </p:cNvPr>
              <p:cNvSpPr/>
              <p:nvPr/>
            </p:nvSpPr>
            <p:spPr>
              <a:xfrm>
                <a:off x="4049504" y="2473470"/>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86" name="Group 347">
                <a:extLst>
                  <a:ext uri="{FF2B5EF4-FFF2-40B4-BE49-F238E27FC236}">
                    <a16:creationId xmlns:a16="http://schemas.microsoft.com/office/drawing/2014/main" id="{21C535A2-CAEB-E765-8384-DD79189FFF46}"/>
                  </a:ext>
                </a:extLst>
              </p:cNvPr>
              <p:cNvGrpSpPr/>
              <p:nvPr/>
            </p:nvGrpSpPr>
            <p:grpSpPr>
              <a:xfrm>
                <a:off x="4454018" y="2232901"/>
                <a:ext cx="542699" cy="789975"/>
                <a:chOff x="4459613" y="3109973"/>
                <a:chExt cx="720328" cy="1048538"/>
              </a:xfrm>
            </p:grpSpPr>
            <p:grpSp>
              <p:nvGrpSpPr>
                <p:cNvPr id="1087" name="Group 348">
                  <a:extLst>
                    <a:ext uri="{FF2B5EF4-FFF2-40B4-BE49-F238E27FC236}">
                      <a16:creationId xmlns:a16="http://schemas.microsoft.com/office/drawing/2014/main" id="{DCEA9B84-1566-B420-75A2-9AB0BB5F0960}"/>
                    </a:ext>
                  </a:extLst>
                </p:cNvPr>
                <p:cNvGrpSpPr/>
                <p:nvPr/>
              </p:nvGrpSpPr>
              <p:grpSpPr>
                <a:xfrm>
                  <a:off x="4459613" y="3463413"/>
                  <a:ext cx="717978" cy="695098"/>
                  <a:chOff x="4459613" y="3463413"/>
                  <a:chExt cx="717978" cy="695098"/>
                </a:xfrm>
              </p:grpSpPr>
              <p:pic>
                <p:nvPicPr>
                  <p:cNvPr id="1089" name="Picture 350" descr="Icon&#10;&#10;Description automatically generated">
                    <a:extLst>
                      <a:ext uri="{FF2B5EF4-FFF2-40B4-BE49-F238E27FC236}">
                        <a16:creationId xmlns:a16="http://schemas.microsoft.com/office/drawing/2014/main" id="{85760BBC-72F2-30F9-C20E-1D3DF26004BB}"/>
                      </a:ext>
                    </a:extLst>
                  </p:cNvPr>
                  <p:cNvPicPr>
                    <a:picLocks noChangeAspect="1"/>
                  </p:cNvPicPr>
                  <p:nvPr/>
                </p:nvPicPr>
                <p:blipFill>
                  <a:blip r:embed="rId16">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459613" y="3463413"/>
                    <a:ext cx="411997" cy="504486"/>
                  </a:xfrm>
                  <a:prstGeom prst="rect">
                    <a:avLst/>
                  </a:prstGeom>
                </p:spPr>
              </p:pic>
              <p:pic>
                <p:nvPicPr>
                  <p:cNvPr id="1090" name="Picture 351" descr="A picture containing tableware, dishware, bowl&#10;&#10;Description automatically generated">
                    <a:extLst>
                      <a:ext uri="{FF2B5EF4-FFF2-40B4-BE49-F238E27FC236}">
                        <a16:creationId xmlns:a16="http://schemas.microsoft.com/office/drawing/2014/main" id="{51B76B53-50BA-7AA5-9F13-28A24B9F1CD2}"/>
                      </a:ext>
                    </a:extLst>
                  </p:cNvPr>
                  <p:cNvPicPr>
                    <a:picLocks noChangeAspect="1"/>
                  </p:cNvPicPr>
                  <p:nvPr/>
                </p:nvPicPr>
                <p:blipFill>
                  <a:blip r:embed="rId18">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4693562" y="3674482"/>
                    <a:ext cx="484029" cy="484029"/>
                  </a:xfrm>
                  <a:prstGeom prst="rect">
                    <a:avLst/>
                  </a:prstGeom>
                </p:spPr>
              </p:pic>
            </p:grpSp>
            <p:sp>
              <p:nvSpPr>
                <p:cNvPr id="1088" name="Rectangle 349">
                  <a:extLst>
                    <a:ext uri="{FF2B5EF4-FFF2-40B4-BE49-F238E27FC236}">
                      <a16:creationId xmlns:a16="http://schemas.microsoft.com/office/drawing/2014/main" id="{5EC12882-FB9A-F44A-C6F1-4CB2D395B2BF}"/>
                    </a:ext>
                  </a:extLst>
                </p:cNvPr>
                <p:cNvSpPr/>
                <p:nvPr/>
              </p:nvSpPr>
              <p:spPr>
                <a:xfrm>
                  <a:off x="4474297" y="3109973"/>
                  <a:ext cx="705644"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Batch</a:t>
                  </a:r>
                  <a:endParaRPr lang="en-US" sz="1600" dirty="0">
                    <a:solidFill>
                      <a:schemeClr val="bg2">
                        <a:lumMod val="25000"/>
                      </a:schemeClr>
                    </a:solidFill>
                  </a:endParaRPr>
                </a:p>
              </p:txBody>
            </p:sp>
          </p:grpSp>
        </p:grpSp>
      </p:grpSp>
      <p:grpSp>
        <p:nvGrpSpPr>
          <p:cNvPr id="1108" name="Group 5">
            <a:extLst>
              <a:ext uri="{FF2B5EF4-FFF2-40B4-BE49-F238E27FC236}">
                <a16:creationId xmlns:a16="http://schemas.microsoft.com/office/drawing/2014/main" id="{5C7053C7-7E0E-6FC9-1DD4-F49A696BA9B8}"/>
              </a:ext>
            </a:extLst>
          </p:cNvPr>
          <p:cNvGrpSpPr/>
          <p:nvPr/>
        </p:nvGrpSpPr>
        <p:grpSpPr>
          <a:xfrm>
            <a:off x="2107249" y="1383378"/>
            <a:ext cx="1808925" cy="1413155"/>
            <a:chOff x="3962465" y="703975"/>
            <a:chExt cx="1356694" cy="1059866"/>
          </a:xfrm>
        </p:grpSpPr>
        <p:grpSp>
          <p:nvGrpSpPr>
            <p:cNvPr id="1109" name="Group 295">
              <a:extLst>
                <a:ext uri="{FF2B5EF4-FFF2-40B4-BE49-F238E27FC236}">
                  <a16:creationId xmlns:a16="http://schemas.microsoft.com/office/drawing/2014/main" id="{CB849881-E99B-2623-74EC-44182F7D8C24}"/>
                </a:ext>
              </a:extLst>
            </p:cNvPr>
            <p:cNvGrpSpPr/>
            <p:nvPr/>
          </p:nvGrpSpPr>
          <p:grpSpPr>
            <a:xfrm>
              <a:off x="3962465" y="1180585"/>
              <a:ext cx="1356694" cy="583256"/>
              <a:chOff x="3962465" y="1291899"/>
              <a:chExt cx="1356694" cy="583256"/>
            </a:xfrm>
          </p:grpSpPr>
          <p:sp>
            <p:nvSpPr>
              <p:cNvPr id="1111" name="Left-Right Arrow 296">
                <a:extLst>
                  <a:ext uri="{FF2B5EF4-FFF2-40B4-BE49-F238E27FC236}">
                    <a16:creationId xmlns:a16="http://schemas.microsoft.com/office/drawing/2014/main" id="{02B88A17-A216-E358-7FEA-2A2699637320}"/>
                  </a:ext>
                </a:extLst>
              </p:cNvPr>
              <p:cNvSpPr/>
              <p:nvPr/>
            </p:nvSpPr>
            <p:spPr>
              <a:xfrm>
                <a:off x="3962465" y="1291899"/>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pic>
            <p:nvPicPr>
              <p:cNvPr id="1112" name="Picture 4" descr="Silhouette Dna Biology - Free vector graphic on Pixabay">
                <a:extLst>
                  <a:ext uri="{FF2B5EF4-FFF2-40B4-BE49-F238E27FC236}">
                    <a16:creationId xmlns:a16="http://schemas.microsoft.com/office/drawing/2014/main" id="{3C95BE66-FD5C-6205-F492-8A3FBC6195F0}"/>
                  </a:ext>
                </a:extLst>
              </p:cNvPr>
              <p:cNvPicPr>
                <a:picLocks noChangeAspect="1" noChangeArrowheads="1"/>
              </p:cNvPicPr>
              <p:nvPr/>
            </p:nvPicPr>
            <p:blipFill>
              <a:blip r:embed="rId2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4377620">
                <a:off x="4439253" y="1151677"/>
                <a:ext cx="403117" cy="806233"/>
              </a:xfrm>
              <a:prstGeom prst="rect">
                <a:avLst/>
              </a:prstGeom>
              <a:noFill/>
              <a:extLst>
                <a:ext uri="{909E8E84-426E-40DD-AFC4-6F175D3DCCD1}">
                  <a14:hiddenFill xmlns:a14="http://schemas.microsoft.com/office/drawing/2010/main">
                    <a:solidFill>
                      <a:srgbClr val="FFFFFF"/>
                    </a:solidFill>
                  </a14:hiddenFill>
                </a:ext>
              </a:extLst>
            </p:spPr>
          </p:pic>
        </p:grpSp>
        <p:sp>
          <p:nvSpPr>
            <p:cNvPr id="1110" name="Rectangle 1">
              <a:extLst>
                <a:ext uri="{FF2B5EF4-FFF2-40B4-BE49-F238E27FC236}">
                  <a16:creationId xmlns:a16="http://schemas.microsoft.com/office/drawing/2014/main" id="{71715262-D012-E6BF-1DFC-C736581B5B3D}"/>
                </a:ext>
              </a:extLst>
            </p:cNvPr>
            <p:cNvSpPr/>
            <p:nvPr/>
          </p:nvSpPr>
          <p:spPr>
            <a:xfrm>
              <a:off x="4081867" y="703975"/>
              <a:ext cx="1114777" cy="377074"/>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Evolution</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pic>
        <p:nvPicPr>
          <p:cNvPr id="1158" name="תמונה 1157">
            <a:extLst>
              <a:ext uri="{FF2B5EF4-FFF2-40B4-BE49-F238E27FC236}">
                <a16:creationId xmlns:a16="http://schemas.microsoft.com/office/drawing/2014/main" id="{DB9A9E6E-CAED-698E-C5C4-03BB4CA5ACB2}"/>
              </a:ext>
            </a:extLst>
          </p:cNvPr>
          <p:cNvPicPr>
            <a:picLocks noChangeAspect="1"/>
          </p:cNvPicPr>
          <p:nvPr/>
        </p:nvPicPr>
        <p:blipFill>
          <a:blip r:embed="rId21"/>
          <a:stretch>
            <a:fillRect/>
          </a:stretch>
        </p:blipFill>
        <p:spPr>
          <a:xfrm>
            <a:off x="55363" y="875447"/>
            <a:ext cx="2304487" cy="2487383"/>
          </a:xfrm>
          <a:prstGeom prst="rect">
            <a:avLst/>
          </a:prstGeom>
        </p:spPr>
      </p:pic>
      <p:pic>
        <p:nvPicPr>
          <p:cNvPr id="1199" name="תמונה 1198">
            <a:extLst>
              <a:ext uri="{FF2B5EF4-FFF2-40B4-BE49-F238E27FC236}">
                <a16:creationId xmlns:a16="http://schemas.microsoft.com/office/drawing/2014/main" id="{F4951991-A36E-CD7B-726E-36ABB4422509}"/>
              </a:ext>
            </a:extLst>
          </p:cNvPr>
          <p:cNvPicPr>
            <a:picLocks noChangeAspect="1"/>
          </p:cNvPicPr>
          <p:nvPr/>
        </p:nvPicPr>
        <p:blipFill>
          <a:blip r:embed="rId22"/>
          <a:stretch>
            <a:fillRect/>
          </a:stretch>
        </p:blipFill>
        <p:spPr>
          <a:xfrm>
            <a:off x="3791656" y="1101615"/>
            <a:ext cx="2152626" cy="2261215"/>
          </a:xfrm>
          <a:prstGeom prst="rect">
            <a:avLst/>
          </a:prstGeom>
        </p:spPr>
      </p:pic>
      <p:grpSp>
        <p:nvGrpSpPr>
          <p:cNvPr id="1202" name="Group 174">
            <a:extLst>
              <a:ext uri="{FF2B5EF4-FFF2-40B4-BE49-F238E27FC236}">
                <a16:creationId xmlns:a16="http://schemas.microsoft.com/office/drawing/2014/main" id="{38EEC96A-AFFE-CEF6-B7D5-8EB76AC52C20}"/>
              </a:ext>
            </a:extLst>
          </p:cNvPr>
          <p:cNvGrpSpPr/>
          <p:nvPr/>
        </p:nvGrpSpPr>
        <p:grpSpPr>
          <a:xfrm>
            <a:off x="9596483" y="1066344"/>
            <a:ext cx="2152626" cy="1303844"/>
            <a:chOff x="3821596" y="1127900"/>
            <a:chExt cx="2256342" cy="1495867"/>
          </a:xfrm>
        </p:grpSpPr>
        <p:sp>
          <p:nvSpPr>
            <p:cNvPr id="1203" name="Oval 130">
              <a:extLst>
                <a:ext uri="{FF2B5EF4-FFF2-40B4-BE49-F238E27FC236}">
                  <a16:creationId xmlns:a16="http://schemas.microsoft.com/office/drawing/2014/main" id="{5A719AD9-3E74-1786-357A-1F89DF76DBD4}"/>
                </a:ext>
              </a:extLst>
            </p:cNvPr>
            <p:cNvSpPr/>
            <p:nvPr/>
          </p:nvSpPr>
          <p:spPr>
            <a:xfrm rot="5400000">
              <a:off x="3821595" y="1398377"/>
              <a:ext cx="1225391" cy="1225389"/>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04" name="Oval 122">
              <a:extLst>
                <a:ext uri="{FF2B5EF4-FFF2-40B4-BE49-F238E27FC236}">
                  <a16:creationId xmlns:a16="http://schemas.microsoft.com/office/drawing/2014/main" id="{71997877-9BCA-2046-97D9-FDCD356DD5A5}"/>
                </a:ext>
              </a:extLst>
            </p:cNvPr>
            <p:cNvSpPr/>
            <p:nvPr/>
          </p:nvSpPr>
          <p:spPr>
            <a:xfrm rot="5400000">
              <a:off x="4852548" y="1393496"/>
              <a:ext cx="1225391" cy="1225389"/>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grpSp>
          <p:nvGrpSpPr>
            <p:cNvPr id="1205" name="Group 154">
              <a:extLst>
                <a:ext uri="{FF2B5EF4-FFF2-40B4-BE49-F238E27FC236}">
                  <a16:creationId xmlns:a16="http://schemas.microsoft.com/office/drawing/2014/main" id="{0948DA1F-4BC5-623D-0487-F5B4F03F664F}"/>
                </a:ext>
              </a:extLst>
            </p:cNvPr>
            <p:cNvGrpSpPr/>
            <p:nvPr/>
          </p:nvGrpSpPr>
          <p:grpSpPr>
            <a:xfrm rot="5400000">
              <a:off x="4591835" y="1861922"/>
              <a:ext cx="682763" cy="292065"/>
              <a:chOff x="4762197" y="3211507"/>
              <a:chExt cx="764733" cy="327129"/>
            </a:xfrm>
          </p:grpSpPr>
          <p:sp>
            <p:nvSpPr>
              <p:cNvPr id="1270" name="Freeform 142">
                <a:extLst>
                  <a:ext uri="{FF2B5EF4-FFF2-40B4-BE49-F238E27FC236}">
                    <a16:creationId xmlns:a16="http://schemas.microsoft.com/office/drawing/2014/main" id="{D27C61A3-6CFC-4FFB-22A9-2E2179C15DAC}"/>
                  </a:ext>
                </a:extLst>
              </p:cNvPr>
              <p:cNvSpPr/>
              <p:nvPr/>
            </p:nvSpPr>
            <p:spPr>
              <a:xfrm>
                <a:off x="4764930" y="3211507"/>
                <a:ext cx="762000" cy="187811"/>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D5C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1" name="Freeform 144">
                <a:extLst>
                  <a:ext uri="{FF2B5EF4-FFF2-40B4-BE49-F238E27FC236}">
                    <a16:creationId xmlns:a16="http://schemas.microsoft.com/office/drawing/2014/main" id="{EF0EC376-D8E1-02D8-C0D4-C6FE616A35E2}"/>
                  </a:ext>
                </a:extLst>
              </p:cNvPr>
              <p:cNvSpPr/>
              <p:nvPr/>
            </p:nvSpPr>
            <p:spPr>
              <a:xfrm>
                <a:off x="4765814" y="3324381"/>
                <a:ext cx="752833" cy="214255"/>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68C1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2" name="Freeform 143">
                <a:extLst>
                  <a:ext uri="{FF2B5EF4-FFF2-40B4-BE49-F238E27FC236}">
                    <a16:creationId xmlns:a16="http://schemas.microsoft.com/office/drawing/2014/main" id="{745F6BE3-CFB2-9635-9E2A-12A182440565}"/>
                  </a:ext>
                </a:extLst>
              </p:cNvPr>
              <p:cNvSpPr/>
              <p:nvPr/>
            </p:nvSpPr>
            <p:spPr>
              <a:xfrm>
                <a:off x="4768189" y="3324381"/>
                <a:ext cx="752833" cy="129423"/>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5AA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grpSp>
            <p:nvGrpSpPr>
              <p:cNvPr id="1273" name="Group 153">
                <a:extLst>
                  <a:ext uri="{FF2B5EF4-FFF2-40B4-BE49-F238E27FC236}">
                    <a16:creationId xmlns:a16="http://schemas.microsoft.com/office/drawing/2014/main" id="{57DA9767-8D19-4908-C3BC-EDD20291D9B4}"/>
                  </a:ext>
                </a:extLst>
              </p:cNvPr>
              <p:cNvGrpSpPr/>
              <p:nvPr/>
            </p:nvGrpSpPr>
            <p:grpSpPr>
              <a:xfrm>
                <a:off x="4762197" y="3275494"/>
                <a:ext cx="762000" cy="104775"/>
                <a:chOff x="4762197" y="3275494"/>
                <a:chExt cx="762000" cy="104775"/>
              </a:xfrm>
            </p:grpSpPr>
            <p:sp>
              <p:nvSpPr>
                <p:cNvPr id="1275" name="Freeform 141">
                  <a:extLst>
                    <a:ext uri="{FF2B5EF4-FFF2-40B4-BE49-F238E27FC236}">
                      <a16:creationId xmlns:a16="http://schemas.microsoft.com/office/drawing/2014/main" id="{CE84B2FF-95F9-95C6-CC8E-58FEC8E1AD6F}"/>
                    </a:ext>
                  </a:extLst>
                </p:cNvPr>
                <p:cNvSpPr/>
                <p:nvPr/>
              </p:nvSpPr>
              <p:spPr>
                <a:xfrm>
                  <a:off x="4762197" y="3275494"/>
                  <a:ext cx="762000" cy="104775"/>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sp>
              <p:nvSpPr>
                <p:cNvPr id="1276" name="Freeform 152">
                  <a:extLst>
                    <a:ext uri="{FF2B5EF4-FFF2-40B4-BE49-F238E27FC236}">
                      <a16:creationId xmlns:a16="http://schemas.microsoft.com/office/drawing/2014/main" id="{00DE9452-1986-71D6-A8E7-73BAD68536B1}"/>
                    </a:ext>
                  </a:extLst>
                </p:cNvPr>
                <p:cNvSpPr/>
                <p:nvPr/>
              </p:nvSpPr>
              <p:spPr>
                <a:xfrm>
                  <a:off x="4768546" y="3305175"/>
                  <a:ext cx="162229" cy="63500"/>
                </a:xfrm>
                <a:custGeom>
                  <a:avLst/>
                  <a:gdLst>
                    <a:gd name="connsiteX0" fmla="*/ 117779 w 162229"/>
                    <a:gd name="connsiteY0" fmla="*/ 12700 h 63500"/>
                    <a:gd name="connsiteX1" fmla="*/ 117779 w 162229"/>
                    <a:gd name="connsiteY1" fmla="*/ 12700 h 63500"/>
                    <a:gd name="connsiteX2" fmla="*/ 79679 w 162229"/>
                    <a:gd name="connsiteY2" fmla="*/ 12700 h 63500"/>
                    <a:gd name="connsiteX3" fmla="*/ 54279 w 162229"/>
                    <a:gd name="connsiteY3" fmla="*/ 19050 h 63500"/>
                    <a:gd name="connsiteX4" fmla="*/ 35229 w 162229"/>
                    <a:gd name="connsiteY4" fmla="*/ 31750 h 63500"/>
                    <a:gd name="connsiteX5" fmla="*/ 25704 w 162229"/>
                    <a:gd name="connsiteY5" fmla="*/ 38100 h 63500"/>
                    <a:gd name="connsiteX6" fmla="*/ 6654 w 162229"/>
                    <a:gd name="connsiteY6" fmla="*/ 44450 h 63500"/>
                    <a:gd name="connsiteX7" fmla="*/ 304 w 162229"/>
                    <a:gd name="connsiteY7" fmla="*/ 53975 h 63500"/>
                    <a:gd name="connsiteX8" fmla="*/ 13004 w 162229"/>
                    <a:gd name="connsiteY8" fmla="*/ 57150 h 63500"/>
                    <a:gd name="connsiteX9" fmla="*/ 41579 w 162229"/>
                    <a:gd name="connsiteY9" fmla="*/ 50800 h 63500"/>
                    <a:gd name="connsiteX10" fmla="*/ 79679 w 162229"/>
                    <a:gd name="connsiteY10" fmla="*/ 53975 h 63500"/>
                    <a:gd name="connsiteX11" fmla="*/ 89204 w 162229"/>
                    <a:gd name="connsiteY11" fmla="*/ 57150 h 63500"/>
                    <a:gd name="connsiteX12" fmla="*/ 124129 w 162229"/>
                    <a:gd name="connsiteY12" fmla="*/ 63500 h 63500"/>
                    <a:gd name="connsiteX13" fmla="*/ 155879 w 162229"/>
                    <a:gd name="connsiteY13" fmla="*/ 57150 h 63500"/>
                    <a:gd name="connsiteX14" fmla="*/ 162229 w 162229"/>
                    <a:gd name="connsiteY14" fmla="*/ 47625 h 63500"/>
                    <a:gd name="connsiteX15" fmla="*/ 159054 w 162229"/>
                    <a:gd name="connsiteY15" fmla="*/ 19050 h 63500"/>
                    <a:gd name="connsiteX16" fmla="*/ 155879 w 162229"/>
                    <a:gd name="connsiteY16" fmla="*/ 6350 h 63500"/>
                    <a:gd name="connsiteX17" fmla="*/ 146354 w 162229"/>
                    <a:gd name="connsiteY17" fmla="*/ 0 h 63500"/>
                    <a:gd name="connsiteX18" fmla="*/ 133654 w 162229"/>
                    <a:gd name="connsiteY18" fmla="*/ 3175 h 63500"/>
                    <a:gd name="connsiteX19" fmla="*/ 117779 w 162229"/>
                    <a:gd name="connsiteY19" fmla="*/ 1270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2229" h="63500">
                      <a:moveTo>
                        <a:pt x="117779" y="12700"/>
                      </a:moveTo>
                      <a:lnTo>
                        <a:pt x="117779" y="12700"/>
                      </a:lnTo>
                      <a:cubicBezTo>
                        <a:pt x="77460" y="8220"/>
                        <a:pt x="101235" y="6821"/>
                        <a:pt x="79679" y="12700"/>
                      </a:cubicBezTo>
                      <a:cubicBezTo>
                        <a:pt x="71259" y="14996"/>
                        <a:pt x="54279" y="19050"/>
                        <a:pt x="54279" y="19050"/>
                      </a:cubicBezTo>
                      <a:lnTo>
                        <a:pt x="35229" y="31750"/>
                      </a:lnTo>
                      <a:cubicBezTo>
                        <a:pt x="32054" y="33867"/>
                        <a:pt x="29324" y="36893"/>
                        <a:pt x="25704" y="38100"/>
                      </a:cubicBezTo>
                      <a:lnTo>
                        <a:pt x="6654" y="44450"/>
                      </a:lnTo>
                      <a:cubicBezTo>
                        <a:pt x="4537" y="47625"/>
                        <a:pt x="-1403" y="50562"/>
                        <a:pt x="304" y="53975"/>
                      </a:cubicBezTo>
                      <a:cubicBezTo>
                        <a:pt x="2255" y="57878"/>
                        <a:pt x="8640" y="57150"/>
                        <a:pt x="13004" y="57150"/>
                      </a:cubicBezTo>
                      <a:cubicBezTo>
                        <a:pt x="17035" y="57150"/>
                        <a:pt x="36681" y="52025"/>
                        <a:pt x="41579" y="50800"/>
                      </a:cubicBezTo>
                      <a:cubicBezTo>
                        <a:pt x="54279" y="51858"/>
                        <a:pt x="67047" y="52291"/>
                        <a:pt x="79679" y="53975"/>
                      </a:cubicBezTo>
                      <a:cubicBezTo>
                        <a:pt x="82996" y="54417"/>
                        <a:pt x="85957" y="56338"/>
                        <a:pt x="89204" y="57150"/>
                      </a:cubicBezTo>
                      <a:cubicBezTo>
                        <a:pt x="98079" y="59369"/>
                        <a:pt x="115637" y="62085"/>
                        <a:pt x="124129" y="63500"/>
                      </a:cubicBezTo>
                      <a:cubicBezTo>
                        <a:pt x="124192" y="63490"/>
                        <a:pt x="152721" y="59255"/>
                        <a:pt x="155879" y="57150"/>
                      </a:cubicBezTo>
                      <a:cubicBezTo>
                        <a:pt x="159054" y="55033"/>
                        <a:pt x="160112" y="50800"/>
                        <a:pt x="162229" y="47625"/>
                      </a:cubicBezTo>
                      <a:cubicBezTo>
                        <a:pt x="161171" y="38100"/>
                        <a:pt x="160511" y="28522"/>
                        <a:pt x="159054" y="19050"/>
                      </a:cubicBezTo>
                      <a:cubicBezTo>
                        <a:pt x="158390" y="14737"/>
                        <a:pt x="158300" y="9981"/>
                        <a:pt x="155879" y="6350"/>
                      </a:cubicBezTo>
                      <a:cubicBezTo>
                        <a:pt x="153762" y="3175"/>
                        <a:pt x="149529" y="2117"/>
                        <a:pt x="146354" y="0"/>
                      </a:cubicBezTo>
                      <a:cubicBezTo>
                        <a:pt x="142121" y="1058"/>
                        <a:pt x="137665" y="1456"/>
                        <a:pt x="133654" y="3175"/>
                      </a:cubicBezTo>
                      <a:cubicBezTo>
                        <a:pt x="116098" y="10699"/>
                        <a:pt x="120425" y="11112"/>
                        <a:pt x="117779" y="1270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sp>
            <p:nvSpPr>
              <p:cNvPr id="1274" name="Freeform 138">
                <a:extLst>
                  <a:ext uri="{FF2B5EF4-FFF2-40B4-BE49-F238E27FC236}">
                    <a16:creationId xmlns:a16="http://schemas.microsoft.com/office/drawing/2014/main" id="{26EDDD76-A60F-2B9A-FE40-D65160D5153B}"/>
                  </a:ext>
                </a:extLst>
              </p:cNvPr>
              <p:cNvSpPr/>
              <p:nvPr/>
            </p:nvSpPr>
            <p:spPr>
              <a:xfrm>
                <a:off x="4768547" y="3295242"/>
                <a:ext cx="742064" cy="113414"/>
              </a:xfrm>
              <a:custGeom>
                <a:avLst/>
                <a:gdLst>
                  <a:gd name="connsiteX0" fmla="*/ 715926 w 715926"/>
                  <a:gd name="connsiteY0" fmla="*/ 56707 h 113414"/>
                  <a:gd name="connsiteX1" fmla="*/ 715926 w 715926"/>
                  <a:gd name="connsiteY1" fmla="*/ 56707 h 113414"/>
                  <a:gd name="connsiteX2" fmla="*/ 659219 w 715926"/>
                  <a:gd name="connsiteY2" fmla="*/ 28354 h 113414"/>
                  <a:gd name="connsiteX3" fmla="*/ 637954 w 715926"/>
                  <a:gd name="connsiteY3" fmla="*/ 14177 h 113414"/>
                  <a:gd name="connsiteX4" fmla="*/ 595424 w 715926"/>
                  <a:gd name="connsiteY4" fmla="*/ 0 h 113414"/>
                  <a:gd name="connsiteX5" fmla="*/ 517452 w 715926"/>
                  <a:gd name="connsiteY5" fmla="*/ 21265 h 113414"/>
                  <a:gd name="connsiteX6" fmla="*/ 446568 w 715926"/>
                  <a:gd name="connsiteY6" fmla="*/ 42530 h 113414"/>
                  <a:gd name="connsiteX7" fmla="*/ 404038 w 715926"/>
                  <a:gd name="connsiteY7" fmla="*/ 49619 h 113414"/>
                  <a:gd name="connsiteX8" fmla="*/ 361507 w 715926"/>
                  <a:gd name="connsiteY8" fmla="*/ 63795 h 113414"/>
                  <a:gd name="connsiteX9" fmla="*/ 326065 w 715926"/>
                  <a:gd name="connsiteY9" fmla="*/ 70884 h 113414"/>
                  <a:gd name="connsiteX10" fmla="*/ 262270 w 715926"/>
                  <a:gd name="connsiteY10" fmla="*/ 56707 h 113414"/>
                  <a:gd name="connsiteX11" fmla="*/ 226828 w 715926"/>
                  <a:gd name="connsiteY11" fmla="*/ 49619 h 113414"/>
                  <a:gd name="connsiteX12" fmla="*/ 184298 w 715926"/>
                  <a:gd name="connsiteY12" fmla="*/ 35442 h 113414"/>
                  <a:gd name="connsiteX13" fmla="*/ 163033 w 715926"/>
                  <a:gd name="connsiteY13" fmla="*/ 28354 h 113414"/>
                  <a:gd name="connsiteX14" fmla="*/ 85061 w 715926"/>
                  <a:gd name="connsiteY14" fmla="*/ 35442 h 113414"/>
                  <a:gd name="connsiteX15" fmla="*/ 21265 w 715926"/>
                  <a:gd name="connsiteY15" fmla="*/ 49619 h 113414"/>
                  <a:gd name="connsiteX16" fmla="*/ 0 w 715926"/>
                  <a:gd name="connsiteY16" fmla="*/ 63795 h 113414"/>
                  <a:gd name="connsiteX17" fmla="*/ 85061 w 715926"/>
                  <a:gd name="connsiteY17" fmla="*/ 77972 h 113414"/>
                  <a:gd name="connsiteX18" fmla="*/ 141768 w 715926"/>
                  <a:gd name="connsiteY18" fmla="*/ 92149 h 113414"/>
                  <a:gd name="connsiteX19" fmla="*/ 184298 w 715926"/>
                  <a:gd name="connsiteY19" fmla="*/ 106326 h 113414"/>
                  <a:gd name="connsiteX20" fmla="*/ 233917 w 715926"/>
                  <a:gd name="connsiteY20" fmla="*/ 113414 h 113414"/>
                  <a:gd name="connsiteX21" fmla="*/ 368596 w 715926"/>
                  <a:gd name="connsiteY21" fmla="*/ 106326 h 113414"/>
                  <a:gd name="connsiteX22" fmla="*/ 389861 w 715926"/>
                  <a:gd name="connsiteY22" fmla="*/ 99237 h 113414"/>
                  <a:gd name="connsiteX23" fmla="*/ 432391 w 715926"/>
                  <a:gd name="connsiteY23" fmla="*/ 92149 h 113414"/>
                  <a:gd name="connsiteX24" fmla="*/ 652131 w 715926"/>
                  <a:gd name="connsiteY24" fmla="*/ 92149 h 113414"/>
                  <a:gd name="connsiteX25" fmla="*/ 694661 w 715926"/>
                  <a:gd name="connsiteY25" fmla="*/ 77972 h 113414"/>
                  <a:gd name="connsiteX26" fmla="*/ 715926 w 715926"/>
                  <a:gd name="connsiteY26" fmla="*/ 70884 h 113414"/>
                  <a:gd name="connsiteX27" fmla="*/ 715926 w 715926"/>
                  <a:gd name="connsiteY27" fmla="*/ 56707 h 11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5926" h="113414">
                    <a:moveTo>
                      <a:pt x="715926" y="56707"/>
                    </a:moveTo>
                    <a:lnTo>
                      <a:pt x="715926" y="56707"/>
                    </a:lnTo>
                    <a:cubicBezTo>
                      <a:pt x="697024" y="47256"/>
                      <a:pt x="677772" y="38474"/>
                      <a:pt x="659219" y="28354"/>
                    </a:cubicBezTo>
                    <a:cubicBezTo>
                      <a:pt x="651740" y="24275"/>
                      <a:pt x="645739" y="17637"/>
                      <a:pt x="637954" y="14177"/>
                    </a:cubicBezTo>
                    <a:cubicBezTo>
                      <a:pt x="624298" y="8108"/>
                      <a:pt x="595424" y="0"/>
                      <a:pt x="595424" y="0"/>
                    </a:cubicBezTo>
                    <a:cubicBezTo>
                      <a:pt x="466895" y="42843"/>
                      <a:pt x="627663" y="-8792"/>
                      <a:pt x="517452" y="21265"/>
                    </a:cubicBezTo>
                    <a:cubicBezTo>
                      <a:pt x="467712" y="34830"/>
                      <a:pt x="488093" y="34225"/>
                      <a:pt x="446568" y="42530"/>
                    </a:cubicBezTo>
                    <a:cubicBezTo>
                      <a:pt x="432475" y="45349"/>
                      <a:pt x="417981" y="46133"/>
                      <a:pt x="404038" y="49619"/>
                    </a:cubicBezTo>
                    <a:cubicBezTo>
                      <a:pt x="389540" y="53243"/>
                      <a:pt x="376161" y="60864"/>
                      <a:pt x="361507" y="63795"/>
                    </a:cubicBezTo>
                    <a:lnTo>
                      <a:pt x="326065" y="70884"/>
                    </a:lnTo>
                    <a:cubicBezTo>
                      <a:pt x="219080" y="49485"/>
                      <a:pt x="352440" y="76744"/>
                      <a:pt x="262270" y="56707"/>
                    </a:cubicBezTo>
                    <a:cubicBezTo>
                      <a:pt x="250509" y="54094"/>
                      <a:pt x="238451" y="52789"/>
                      <a:pt x="226828" y="49619"/>
                    </a:cubicBezTo>
                    <a:cubicBezTo>
                      <a:pt x="212411" y="45687"/>
                      <a:pt x="198475" y="40168"/>
                      <a:pt x="184298" y="35442"/>
                    </a:cubicBezTo>
                    <a:lnTo>
                      <a:pt x="163033" y="28354"/>
                    </a:lnTo>
                    <a:cubicBezTo>
                      <a:pt x="137042" y="30717"/>
                      <a:pt x="110980" y="32393"/>
                      <a:pt x="85061" y="35442"/>
                    </a:cubicBezTo>
                    <a:cubicBezTo>
                      <a:pt x="70815" y="37118"/>
                      <a:pt x="37629" y="41437"/>
                      <a:pt x="21265" y="49619"/>
                    </a:cubicBezTo>
                    <a:cubicBezTo>
                      <a:pt x="13645" y="53429"/>
                      <a:pt x="7088" y="59070"/>
                      <a:pt x="0" y="63795"/>
                    </a:cubicBezTo>
                    <a:cubicBezTo>
                      <a:pt x="51925" y="81105"/>
                      <a:pt x="-15833" y="60167"/>
                      <a:pt x="85061" y="77972"/>
                    </a:cubicBezTo>
                    <a:cubicBezTo>
                      <a:pt x="104249" y="81358"/>
                      <a:pt x="123284" y="85987"/>
                      <a:pt x="141768" y="92149"/>
                    </a:cubicBezTo>
                    <a:cubicBezTo>
                      <a:pt x="155945" y="96875"/>
                      <a:pt x="169505" y="104213"/>
                      <a:pt x="184298" y="106326"/>
                    </a:cubicBezTo>
                    <a:lnTo>
                      <a:pt x="233917" y="113414"/>
                    </a:lnTo>
                    <a:cubicBezTo>
                      <a:pt x="278810" y="111051"/>
                      <a:pt x="323825" y="110396"/>
                      <a:pt x="368596" y="106326"/>
                    </a:cubicBezTo>
                    <a:cubicBezTo>
                      <a:pt x="376037" y="105650"/>
                      <a:pt x="382567" y="100858"/>
                      <a:pt x="389861" y="99237"/>
                    </a:cubicBezTo>
                    <a:cubicBezTo>
                      <a:pt x="403891" y="96119"/>
                      <a:pt x="418214" y="94512"/>
                      <a:pt x="432391" y="92149"/>
                    </a:cubicBezTo>
                    <a:cubicBezTo>
                      <a:pt x="520875" y="109845"/>
                      <a:pt x="492750" y="107091"/>
                      <a:pt x="652131" y="92149"/>
                    </a:cubicBezTo>
                    <a:cubicBezTo>
                      <a:pt x="667009" y="90754"/>
                      <a:pt x="680484" y="82698"/>
                      <a:pt x="694661" y="77972"/>
                    </a:cubicBezTo>
                    <a:cubicBezTo>
                      <a:pt x="701749" y="75609"/>
                      <a:pt x="715926" y="78356"/>
                      <a:pt x="715926" y="70884"/>
                    </a:cubicBezTo>
                    <a:lnTo>
                      <a:pt x="715926" y="56707"/>
                    </a:lnTo>
                    <a:close/>
                  </a:path>
                </a:pathLst>
              </a:custGeom>
              <a:solidFill>
                <a:srgbClr val="67A6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dirty="0"/>
              </a:p>
            </p:txBody>
          </p:sp>
        </p:grpSp>
        <p:grpSp>
          <p:nvGrpSpPr>
            <p:cNvPr id="1206" name="Group 266">
              <a:extLst>
                <a:ext uri="{FF2B5EF4-FFF2-40B4-BE49-F238E27FC236}">
                  <a16:creationId xmlns:a16="http://schemas.microsoft.com/office/drawing/2014/main" id="{87E8B8EF-E5CE-C6EA-98C9-6C1483F08029}"/>
                </a:ext>
              </a:extLst>
            </p:cNvPr>
            <p:cNvGrpSpPr/>
            <p:nvPr/>
          </p:nvGrpSpPr>
          <p:grpSpPr>
            <a:xfrm flipH="1">
              <a:off x="5540138" y="1733667"/>
              <a:ext cx="109614" cy="648803"/>
              <a:chOff x="1611916" y="2139959"/>
              <a:chExt cx="264177" cy="1453393"/>
            </a:xfrm>
            <a:solidFill>
              <a:srgbClr val="0D0D0D">
                <a:alpha val="29804"/>
              </a:srgbClr>
            </a:solidFill>
          </p:grpSpPr>
          <p:sp>
            <p:nvSpPr>
              <p:cNvPr id="1255" name="Freeform 267">
                <a:extLst>
                  <a:ext uri="{FF2B5EF4-FFF2-40B4-BE49-F238E27FC236}">
                    <a16:creationId xmlns:a16="http://schemas.microsoft.com/office/drawing/2014/main" id="{DD0AE606-07EB-3479-FADF-B7A9A8E3F281}"/>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6" name="Freeform 268">
                <a:extLst>
                  <a:ext uri="{FF2B5EF4-FFF2-40B4-BE49-F238E27FC236}">
                    <a16:creationId xmlns:a16="http://schemas.microsoft.com/office/drawing/2014/main" id="{DBE51549-FA3C-7DEB-9E4C-CA84B9E8900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7" name="Freeform 269">
                <a:extLst>
                  <a:ext uri="{FF2B5EF4-FFF2-40B4-BE49-F238E27FC236}">
                    <a16:creationId xmlns:a16="http://schemas.microsoft.com/office/drawing/2014/main" id="{CB9B7CE9-6A10-9A8E-8F9F-FAFFD2F6CBA8}"/>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8" name="Freeform 270">
                <a:extLst>
                  <a:ext uri="{FF2B5EF4-FFF2-40B4-BE49-F238E27FC236}">
                    <a16:creationId xmlns:a16="http://schemas.microsoft.com/office/drawing/2014/main" id="{D9B8B283-1F47-2ACA-3F99-6BA98FA60785}"/>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9" name="Freeform 271">
                <a:extLst>
                  <a:ext uri="{FF2B5EF4-FFF2-40B4-BE49-F238E27FC236}">
                    <a16:creationId xmlns:a16="http://schemas.microsoft.com/office/drawing/2014/main" id="{D69D10F2-4799-6F3A-46B5-EFAB3666311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0" name="Freeform 272">
                <a:extLst>
                  <a:ext uri="{FF2B5EF4-FFF2-40B4-BE49-F238E27FC236}">
                    <a16:creationId xmlns:a16="http://schemas.microsoft.com/office/drawing/2014/main" id="{2E1E0833-500C-F02E-15F0-BDF8C062918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1" name="Freeform 273">
                <a:extLst>
                  <a:ext uri="{FF2B5EF4-FFF2-40B4-BE49-F238E27FC236}">
                    <a16:creationId xmlns:a16="http://schemas.microsoft.com/office/drawing/2014/main" id="{9CC114DD-AF80-06EF-CD73-14C4A031B349}"/>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2" name="Freeform 274">
                <a:extLst>
                  <a:ext uri="{FF2B5EF4-FFF2-40B4-BE49-F238E27FC236}">
                    <a16:creationId xmlns:a16="http://schemas.microsoft.com/office/drawing/2014/main" id="{FBDD8BBA-E540-68E5-B4AF-D86C19FF73F0}"/>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3" name="Freeform 275">
                <a:extLst>
                  <a:ext uri="{FF2B5EF4-FFF2-40B4-BE49-F238E27FC236}">
                    <a16:creationId xmlns:a16="http://schemas.microsoft.com/office/drawing/2014/main" id="{34786673-A516-3DE1-3DFC-48B1DF45EE02}"/>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4" name="Freeform 276">
                <a:extLst>
                  <a:ext uri="{FF2B5EF4-FFF2-40B4-BE49-F238E27FC236}">
                    <a16:creationId xmlns:a16="http://schemas.microsoft.com/office/drawing/2014/main" id="{C0FE95DE-1E55-8A80-AD22-4E5B7F41F9D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5" name="Freeform 277">
                <a:extLst>
                  <a:ext uri="{FF2B5EF4-FFF2-40B4-BE49-F238E27FC236}">
                    <a16:creationId xmlns:a16="http://schemas.microsoft.com/office/drawing/2014/main" id="{697ACA1E-21BF-243A-537C-DF64EE19934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6" name="Freeform 278">
                <a:extLst>
                  <a:ext uri="{FF2B5EF4-FFF2-40B4-BE49-F238E27FC236}">
                    <a16:creationId xmlns:a16="http://schemas.microsoft.com/office/drawing/2014/main" id="{6500A50C-F705-9857-88E9-F3B7088AB7BD}"/>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7" name="Freeform 279">
                <a:extLst>
                  <a:ext uri="{FF2B5EF4-FFF2-40B4-BE49-F238E27FC236}">
                    <a16:creationId xmlns:a16="http://schemas.microsoft.com/office/drawing/2014/main" id="{CF1A6FC7-FB87-DF33-772F-0DCE8286553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8" name="Freeform 280">
                <a:extLst>
                  <a:ext uri="{FF2B5EF4-FFF2-40B4-BE49-F238E27FC236}">
                    <a16:creationId xmlns:a16="http://schemas.microsoft.com/office/drawing/2014/main" id="{A96C0F22-AE05-C2A1-37DD-96084F448970}"/>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9" name="Freeform 281">
                <a:extLst>
                  <a:ext uri="{FF2B5EF4-FFF2-40B4-BE49-F238E27FC236}">
                    <a16:creationId xmlns:a16="http://schemas.microsoft.com/office/drawing/2014/main" id="{4B8A5F72-74F7-ED0A-A3B6-B96720907529}"/>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7" name="Group 282">
              <a:extLst>
                <a:ext uri="{FF2B5EF4-FFF2-40B4-BE49-F238E27FC236}">
                  <a16:creationId xmlns:a16="http://schemas.microsoft.com/office/drawing/2014/main" id="{8038E742-62F4-D7E1-C00C-B4DA949535B3}"/>
                </a:ext>
              </a:extLst>
            </p:cNvPr>
            <p:cNvGrpSpPr/>
            <p:nvPr/>
          </p:nvGrpSpPr>
          <p:grpSpPr>
            <a:xfrm flipH="1">
              <a:off x="5265725" y="1730687"/>
              <a:ext cx="144260" cy="642926"/>
              <a:chOff x="2073412" y="2165654"/>
              <a:chExt cx="314361" cy="1401954"/>
            </a:xfrm>
            <a:solidFill>
              <a:srgbClr val="0D0D0D">
                <a:alpha val="29804"/>
              </a:srgbClr>
            </a:solidFill>
          </p:grpSpPr>
          <p:sp>
            <p:nvSpPr>
              <p:cNvPr id="1241" name="Freeform 283">
                <a:extLst>
                  <a:ext uri="{FF2B5EF4-FFF2-40B4-BE49-F238E27FC236}">
                    <a16:creationId xmlns:a16="http://schemas.microsoft.com/office/drawing/2014/main" id="{1DF7DACB-0CF4-5E58-E439-A77EBED2C2C9}"/>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42" name="Freeform 284">
                <a:extLst>
                  <a:ext uri="{FF2B5EF4-FFF2-40B4-BE49-F238E27FC236}">
                    <a16:creationId xmlns:a16="http://schemas.microsoft.com/office/drawing/2014/main" id="{9A733AE5-63A7-0A87-B878-EAC448D456D8}"/>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3" name="Freeform 285">
                <a:extLst>
                  <a:ext uri="{FF2B5EF4-FFF2-40B4-BE49-F238E27FC236}">
                    <a16:creationId xmlns:a16="http://schemas.microsoft.com/office/drawing/2014/main" id="{0450335C-4F6E-564F-714B-088F3C8E4C7D}"/>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4" name="Freeform 286">
                <a:extLst>
                  <a:ext uri="{FF2B5EF4-FFF2-40B4-BE49-F238E27FC236}">
                    <a16:creationId xmlns:a16="http://schemas.microsoft.com/office/drawing/2014/main" id="{D4B365BB-6C0C-1E0D-AB36-7F631128A0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5" name="Freeform 287">
                <a:extLst>
                  <a:ext uri="{FF2B5EF4-FFF2-40B4-BE49-F238E27FC236}">
                    <a16:creationId xmlns:a16="http://schemas.microsoft.com/office/drawing/2014/main" id="{BACE909D-3AFD-63FA-38BA-817028BD88F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6" name="Freeform 288">
                <a:extLst>
                  <a:ext uri="{FF2B5EF4-FFF2-40B4-BE49-F238E27FC236}">
                    <a16:creationId xmlns:a16="http://schemas.microsoft.com/office/drawing/2014/main" id="{6EC71D9E-CD2B-8C1D-CBAC-D09C79A6AD8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7" name="Freeform 289">
                <a:extLst>
                  <a:ext uri="{FF2B5EF4-FFF2-40B4-BE49-F238E27FC236}">
                    <a16:creationId xmlns:a16="http://schemas.microsoft.com/office/drawing/2014/main" id="{FE13DE66-F2EB-DAEB-4711-E2A6543BAA9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8" name="Freeform 290">
                <a:extLst>
                  <a:ext uri="{FF2B5EF4-FFF2-40B4-BE49-F238E27FC236}">
                    <a16:creationId xmlns:a16="http://schemas.microsoft.com/office/drawing/2014/main" id="{37177888-3949-D91E-1C64-0E09C2435D2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9" name="Freeform 291">
                <a:extLst>
                  <a:ext uri="{FF2B5EF4-FFF2-40B4-BE49-F238E27FC236}">
                    <a16:creationId xmlns:a16="http://schemas.microsoft.com/office/drawing/2014/main" id="{DCEEC3CA-C57B-8576-812D-CE456D61905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0" name="Freeform 292">
                <a:extLst>
                  <a:ext uri="{FF2B5EF4-FFF2-40B4-BE49-F238E27FC236}">
                    <a16:creationId xmlns:a16="http://schemas.microsoft.com/office/drawing/2014/main" id="{4C96F687-0D6B-F021-5883-5446A83E78AF}"/>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1" name="Freeform 293">
                <a:extLst>
                  <a:ext uri="{FF2B5EF4-FFF2-40B4-BE49-F238E27FC236}">
                    <a16:creationId xmlns:a16="http://schemas.microsoft.com/office/drawing/2014/main" id="{D6F3C29D-51D8-C5CA-7F3D-11E3221FF878}"/>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2" name="Freeform 294">
                <a:extLst>
                  <a:ext uri="{FF2B5EF4-FFF2-40B4-BE49-F238E27FC236}">
                    <a16:creationId xmlns:a16="http://schemas.microsoft.com/office/drawing/2014/main" id="{3EA6E02A-7814-D630-0B69-66B0EE02E1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3" name="Freeform 295">
                <a:extLst>
                  <a:ext uri="{FF2B5EF4-FFF2-40B4-BE49-F238E27FC236}">
                    <a16:creationId xmlns:a16="http://schemas.microsoft.com/office/drawing/2014/main" id="{7013F5DB-C132-7F81-F647-267BDCC4AF37}"/>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4" name="Freeform 296">
                <a:extLst>
                  <a:ext uri="{FF2B5EF4-FFF2-40B4-BE49-F238E27FC236}">
                    <a16:creationId xmlns:a16="http://schemas.microsoft.com/office/drawing/2014/main" id="{31F9199A-4511-FD3E-AA67-A3B044A76509}"/>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8" name="Group 297">
              <a:extLst>
                <a:ext uri="{FF2B5EF4-FFF2-40B4-BE49-F238E27FC236}">
                  <a16:creationId xmlns:a16="http://schemas.microsoft.com/office/drawing/2014/main" id="{8CD89FA2-F2EA-AA7E-45DC-3B9E24CEECC4}"/>
                </a:ext>
              </a:extLst>
            </p:cNvPr>
            <p:cNvGrpSpPr/>
            <p:nvPr/>
          </p:nvGrpSpPr>
          <p:grpSpPr>
            <a:xfrm>
              <a:off x="4242702" y="1720736"/>
              <a:ext cx="117930" cy="648803"/>
              <a:chOff x="1611916" y="2139958"/>
              <a:chExt cx="264177" cy="1453393"/>
            </a:xfrm>
            <a:solidFill>
              <a:srgbClr val="0D0D0D">
                <a:alpha val="29804"/>
              </a:srgbClr>
            </a:solidFill>
          </p:grpSpPr>
          <p:sp>
            <p:nvSpPr>
              <p:cNvPr id="1226" name="Freeform 298">
                <a:extLst>
                  <a:ext uri="{FF2B5EF4-FFF2-40B4-BE49-F238E27FC236}">
                    <a16:creationId xmlns:a16="http://schemas.microsoft.com/office/drawing/2014/main" id="{86E564D2-892E-B373-A8EA-BDA8AA533D70}"/>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7" name="Freeform 299">
                <a:extLst>
                  <a:ext uri="{FF2B5EF4-FFF2-40B4-BE49-F238E27FC236}">
                    <a16:creationId xmlns:a16="http://schemas.microsoft.com/office/drawing/2014/main" id="{894F9C44-0903-7D30-5FD5-485B717BEB12}"/>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8" name="Freeform 300">
                <a:extLst>
                  <a:ext uri="{FF2B5EF4-FFF2-40B4-BE49-F238E27FC236}">
                    <a16:creationId xmlns:a16="http://schemas.microsoft.com/office/drawing/2014/main" id="{1EFE4691-3867-7A07-E08D-300022AA83A1}"/>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9" name="Freeform 301">
                <a:extLst>
                  <a:ext uri="{FF2B5EF4-FFF2-40B4-BE49-F238E27FC236}">
                    <a16:creationId xmlns:a16="http://schemas.microsoft.com/office/drawing/2014/main" id="{8728464E-41FB-CA45-C903-17B445130753}"/>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0" name="Freeform 302">
                <a:extLst>
                  <a:ext uri="{FF2B5EF4-FFF2-40B4-BE49-F238E27FC236}">
                    <a16:creationId xmlns:a16="http://schemas.microsoft.com/office/drawing/2014/main" id="{CB449712-0387-5F71-8BE6-FF1A0CAA698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1" name="Freeform 303">
                <a:extLst>
                  <a:ext uri="{FF2B5EF4-FFF2-40B4-BE49-F238E27FC236}">
                    <a16:creationId xmlns:a16="http://schemas.microsoft.com/office/drawing/2014/main" id="{50E27FB9-A8E6-A665-A463-40A41D953652}"/>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2" name="Freeform 304">
                <a:extLst>
                  <a:ext uri="{FF2B5EF4-FFF2-40B4-BE49-F238E27FC236}">
                    <a16:creationId xmlns:a16="http://schemas.microsoft.com/office/drawing/2014/main" id="{2873C166-4094-B9DC-1F34-509224AD8D1F}"/>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3" name="Freeform 305">
                <a:extLst>
                  <a:ext uri="{FF2B5EF4-FFF2-40B4-BE49-F238E27FC236}">
                    <a16:creationId xmlns:a16="http://schemas.microsoft.com/office/drawing/2014/main" id="{DDDE6C7A-4D4B-13F1-CDBB-77FCD97E6C4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4" name="Freeform 306">
                <a:extLst>
                  <a:ext uri="{FF2B5EF4-FFF2-40B4-BE49-F238E27FC236}">
                    <a16:creationId xmlns:a16="http://schemas.microsoft.com/office/drawing/2014/main" id="{A588BE03-2E5B-47E7-05A5-E76CF2B70F00}"/>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5" name="Freeform 307">
                <a:extLst>
                  <a:ext uri="{FF2B5EF4-FFF2-40B4-BE49-F238E27FC236}">
                    <a16:creationId xmlns:a16="http://schemas.microsoft.com/office/drawing/2014/main" id="{85DD8AD1-C599-6380-5626-F149CCEC7B0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6" name="Freeform 308">
                <a:extLst>
                  <a:ext uri="{FF2B5EF4-FFF2-40B4-BE49-F238E27FC236}">
                    <a16:creationId xmlns:a16="http://schemas.microsoft.com/office/drawing/2014/main" id="{20F1F06E-D02B-B601-87A2-0BA43FF1905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7" name="Freeform 309">
                <a:extLst>
                  <a:ext uri="{FF2B5EF4-FFF2-40B4-BE49-F238E27FC236}">
                    <a16:creationId xmlns:a16="http://schemas.microsoft.com/office/drawing/2014/main" id="{3092FB7B-A085-8827-34D4-E206AAD5E334}"/>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8" name="Freeform 310">
                <a:extLst>
                  <a:ext uri="{FF2B5EF4-FFF2-40B4-BE49-F238E27FC236}">
                    <a16:creationId xmlns:a16="http://schemas.microsoft.com/office/drawing/2014/main" id="{B5656339-DFC8-5CB2-BD79-7500D19DF5DF}"/>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9" name="Freeform 311">
                <a:extLst>
                  <a:ext uri="{FF2B5EF4-FFF2-40B4-BE49-F238E27FC236}">
                    <a16:creationId xmlns:a16="http://schemas.microsoft.com/office/drawing/2014/main" id="{5F7042CF-F23F-853D-8CF6-FBCFF6485409}"/>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0" name="Freeform 312">
                <a:extLst>
                  <a:ext uri="{FF2B5EF4-FFF2-40B4-BE49-F238E27FC236}">
                    <a16:creationId xmlns:a16="http://schemas.microsoft.com/office/drawing/2014/main" id="{F4C78BF5-57A9-96DD-13AA-A12405009AAE}"/>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9" name="Group 313">
              <a:extLst>
                <a:ext uri="{FF2B5EF4-FFF2-40B4-BE49-F238E27FC236}">
                  <a16:creationId xmlns:a16="http://schemas.microsoft.com/office/drawing/2014/main" id="{2765F26A-B9BE-6FD5-9AF2-7E6E3BB05272}"/>
                </a:ext>
              </a:extLst>
            </p:cNvPr>
            <p:cNvGrpSpPr/>
            <p:nvPr/>
          </p:nvGrpSpPr>
          <p:grpSpPr>
            <a:xfrm>
              <a:off x="4461909" y="1726612"/>
              <a:ext cx="144163" cy="642926"/>
              <a:chOff x="2073412" y="2165657"/>
              <a:chExt cx="314361" cy="1401954"/>
            </a:xfrm>
            <a:solidFill>
              <a:srgbClr val="0D0D0D">
                <a:alpha val="29804"/>
              </a:srgbClr>
            </a:solidFill>
          </p:grpSpPr>
          <p:sp>
            <p:nvSpPr>
              <p:cNvPr id="1212" name="Freeform 314">
                <a:extLst>
                  <a:ext uri="{FF2B5EF4-FFF2-40B4-BE49-F238E27FC236}">
                    <a16:creationId xmlns:a16="http://schemas.microsoft.com/office/drawing/2014/main" id="{D9409ECB-9645-359B-1190-FE6EE659ED88}"/>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13" name="Freeform 315">
                <a:extLst>
                  <a:ext uri="{FF2B5EF4-FFF2-40B4-BE49-F238E27FC236}">
                    <a16:creationId xmlns:a16="http://schemas.microsoft.com/office/drawing/2014/main" id="{556827A0-E742-3FC1-7C0F-983C1A13CAE0}"/>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4" name="Freeform 316">
                <a:extLst>
                  <a:ext uri="{FF2B5EF4-FFF2-40B4-BE49-F238E27FC236}">
                    <a16:creationId xmlns:a16="http://schemas.microsoft.com/office/drawing/2014/main" id="{0D9896AA-62A8-9404-125D-345E241554EA}"/>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5" name="Freeform 317">
                <a:extLst>
                  <a:ext uri="{FF2B5EF4-FFF2-40B4-BE49-F238E27FC236}">
                    <a16:creationId xmlns:a16="http://schemas.microsoft.com/office/drawing/2014/main" id="{40786AF4-5697-99EF-B13F-7EA272D28A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6" name="Freeform 318">
                <a:extLst>
                  <a:ext uri="{FF2B5EF4-FFF2-40B4-BE49-F238E27FC236}">
                    <a16:creationId xmlns:a16="http://schemas.microsoft.com/office/drawing/2014/main" id="{47AFAAAB-C707-0322-96E7-CD75942B7CEC}"/>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7" name="Freeform 319">
                <a:extLst>
                  <a:ext uri="{FF2B5EF4-FFF2-40B4-BE49-F238E27FC236}">
                    <a16:creationId xmlns:a16="http://schemas.microsoft.com/office/drawing/2014/main" id="{E162D320-BA8E-2BAC-DABE-19F5ECC01FFF}"/>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8" name="Freeform 320">
                <a:extLst>
                  <a:ext uri="{FF2B5EF4-FFF2-40B4-BE49-F238E27FC236}">
                    <a16:creationId xmlns:a16="http://schemas.microsoft.com/office/drawing/2014/main" id="{DA2582E1-E7C5-003F-F73D-3E5EA708A254}"/>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9" name="Freeform 321">
                <a:extLst>
                  <a:ext uri="{FF2B5EF4-FFF2-40B4-BE49-F238E27FC236}">
                    <a16:creationId xmlns:a16="http://schemas.microsoft.com/office/drawing/2014/main" id="{306CC503-69BD-88D7-80CF-889F58258CE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0" name="Freeform 322">
                <a:extLst>
                  <a:ext uri="{FF2B5EF4-FFF2-40B4-BE49-F238E27FC236}">
                    <a16:creationId xmlns:a16="http://schemas.microsoft.com/office/drawing/2014/main" id="{2C15FFB4-BEE0-A031-6C03-F83551DD9ED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1" name="Freeform 323">
                <a:extLst>
                  <a:ext uri="{FF2B5EF4-FFF2-40B4-BE49-F238E27FC236}">
                    <a16:creationId xmlns:a16="http://schemas.microsoft.com/office/drawing/2014/main" id="{774F4EB7-D51C-2FD6-1135-8CB0CD186A7A}"/>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2" name="Freeform 324">
                <a:extLst>
                  <a:ext uri="{FF2B5EF4-FFF2-40B4-BE49-F238E27FC236}">
                    <a16:creationId xmlns:a16="http://schemas.microsoft.com/office/drawing/2014/main" id="{079DB427-D28A-DD95-DB38-A2E4B72BA3DD}"/>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3" name="Freeform 325">
                <a:extLst>
                  <a:ext uri="{FF2B5EF4-FFF2-40B4-BE49-F238E27FC236}">
                    <a16:creationId xmlns:a16="http://schemas.microsoft.com/office/drawing/2014/main" id="{A58F5F60-BB0F-A699-86D1-80AC210BE890}"/>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4" name="Freeform 326">
                <a:extLst>
                  <a:ext uri="{FF2B5EF4-FFF2-40B4-BE49-F238E27FC236}">
                    <a16:creationId xmlns:a16="http://schemas.microsoft.com/office/drawing/2014/main" id="{E896B62F-C295-B098-B9B8-9D2D037A526B}"/>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5" name="Freeform 327">
                <a:extLst>
                  <a:ext uri="{FF2B5EF4-FFF2-40B4-BE49-F238E27FC236}">
                    <a16:creationId xmlns:a16="http://schemas.microsoft.com/office/drawing/2014/main" id="{1E7C590C-053B-A811-8C52-C1150B1A94E5}"/>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10" name="Picture 422">
              <a:extLst>
                <a:ext uri="{FF2B5EF4-FFF2-40B4-BE49-F238E27FC236}">
                  <a16:creationId xmlns:a16="http://schemas.microsoft.com/office/drawing/2014/main" id="{41EC5AAA-171B-B6CD-51E9-F67BE82C7473}"/>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5237208" y="1179926"/>
              <a:ext cx="495804" cy="429115"/>
            </a:xfrm>
            <a:prstGeom prst="rect">
              <a:avLst/>
            </a:prstGeom>
            <a:effectLst>
              <a:reflection endPos="0" dir="5400000" sy="-100000" algn="bl" rotWithShape="0"/>
            </a:effectLst>
          </p:spPr>
        </p:pic>
        <p:pic>
          <p:nvPicPr>
            <p:cNvPr id="1211" name="Picture 424">
              <a:extLst>
                <a:ext uri="{FF2B5EF4-FFF2-40B4-BE49-F238E27FC236}">
                  <a16:creationId xmlns:a16="http://schemas.microsoft.com/office/drawing/2014/main" id="{80996384-76C1-A9BB-86EA-88E998E9B498}"/>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57340" y="1127900"/>
              <a:ext cx="461093" cy="481142"/>
            </a:xfrm>
            <a:prstGeom prst="rect">
              <a:avLst/>
            </a:prstGeom>
          </p:spPr>
        </p:pic>
      </p:grpSp>
      <p:pic>
        <p:nvPicPr>
          <p:cNvPr id="7" name="תמונה 6">
            <a:extLst>
              <a:ext uri="{FF2B5EF4-FFF2-40B4-BE49-F238E27FC236}">
                <a16:creationId xmlns:a16="http://schemas.microsoft.com/office/drawing/2014/main" id="{CCA08C63-607F-71C1-8821-9E3119AFC871}"/>
              </a:ext>
            </a:extLst>
          </p:cNvPr>
          <p:cNvPicPr>
            <a:picLocks noChangeAspect="1"/>
          </p:cNvPicPr>
          <p:nvPr/>
        </p:nvPicPr>
        <p:blipFill>
          <a:blip r:embed="rId26"/>
          <a:stretch>
            <a:fillRect/>
          </a:stretch>
        </p:blipFill>
        <p:spPr>
          <a:xfrm>
            <a:off x="9776305" y="3001254"/>
            <a:ext cx="2415695" cy="3305688"/>
          </a:xfrm>
          <a:prstGeom prst="rect">
            <a:avLst/>
          </a:prstGeom>
        </p:spPr>
      </p:pic>
      <p:grpSp>
        <p:nvGrpSpPr>
          <p:cNvPr id="1277" name="Group 55">
            <a:extLst>
              <a:ext uri="{FF2B5EF4-FFF2-40B4-BE49-F238E27FC236}">
                <a16:creationId xmlns:a16="http://schemas.microsoft.com/office/drawing/2014/main" id="{351387B1-5206-6FFB-7251-F5BFD0549E83}"/>
              </a:ext>
            </a:extLst>
          </p:cNvPr>
          <p:cNvGrpSpPr/>
          <p:nvPr/>
        </p:nvGrpSpPr>
        <p:grpSpPr>
          <a:xfrm>
            <a:off x="6074045" y="1057976"/>
            <a:ext cx="2265957" cy="1261886"/>
            <a:chOff x="74248" y="2131496"/>
            <a:chExt cx="2015916" cy="1192681"/>
          </a:xfrm>
        </p:grpSpPr>
        <p:sp>
          <p:nvSpPr>
            <p:cNvPr id="1278" name="Oval 80">
              <a:extLst>
                <a:ext uri="{FF2B5EF4-FFF2-40B4-BE49-F238E27FC236}">
                  <a16:creationId xmlns:a16="http://schemas.microsoft.com/office/drawing/2014/main" id="{EC024927-CA25-9617-46B1-5B1EEC39AC4A}"/>
                </a:ext>
              </a:extLst>
            </p:cNvPr>
            <p:cNvSpPr/>
            <p:nvPr/>
          </p:nvSpPr>
          <p:spPr>
            <a:xfrm rot="16200000">
              <a:off x="74247" y="2352678"/>
              <a:ext cx="971500" cy="971498"/>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79" name="Oval 81">
              <a:extLst>
                <a:ext uri="{FF2B5EF4-FFF2-40B4-BE49-F238E27FC236}">
                  <a16:creationId xmlns:a16="http://schemas.microsoft.com/office/drawing/2014/main" id="{5419663A-9A7E-9674-2021-F3669530279A}"/>
                </a:ext>
              </a:extLst>
            </p:cNvPr>
            <p:cNvSpPr/>
            <p:nvPr/>
          </p:nvSpPr>
          <p:spPr>
            <a:xfrm rot="16200000">
              <a:off x="1118665" y="2352678"/>
              <a:ext cx="971500" cy="971498"/>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1440" dirty="0"/>
            </a:p>
          </p:txBody>
        </p:sp>
        <p:grpSp>
          <p:nvGrpSpPr>
            <p:cNvPr id="1280" name="Group 86">
              <a:extLst>
                <a:ext uri="{FF2B5EF4-FFF2-40B4-BE49-F238E27FC236}">
                  <a16:creationId xmlns:a16="http://schemas.microsoft.com/office/drawing/2014/main" id="{28C3184B-1BF0-FCDE-8937-77B8A373A2F0}"/>
                </a:ext>
              </a:extLst>
            </p:cNvPr>
            <p:cNvGrpSpPr/>
            <p:nvPr/>
          </p:nvGrpSpPr>
          <p:grpSpPr>
            <a:xfrm>
              <a:off x="411319" y="2610509"/>
              <a:ext cx="93496" cy="514376"/>
              <a:chOff x="1611916" y="2139958"/>
              <a:chExt cx="264177" cy="1453393"/>
            </a:xfrm>
            <a:solidFill>
              <a:srgbClr val="0D0D0D">
                <a:alpha val="29804"/>
              </a:srgbClr>
            </a:solidFill>
          </p:grpSpPr>
          <p:sp>
            <p:nvSpPr>
              <p:cNvPr id="1329" name="Freeform 104">
                <a:extLst>
                  <a:ext uri="{FF2B5EF4-FFF2-40B4-BE49-F238E27FC236}">
                    <a16:creationId xmlns:a16="http://schemas.microsoft.com/office/drawing/2014/main" id="{F5740138-7D44-F220-D604-3F8A1F33631E}"/>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30" name="Freeform 105">
                <a:extLst>
                  <a:ext uri="{FF2B5EF4-FFF2-40B4-BE49-F238E27FC236}">
                    <a16:creationId xmlns:a16="http://schemas.microsoft.com/office/drawing/2014/main" id="{471BBFD9-5583-E27D-F045-F60244D86E53}"/>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1" name="Freeform 106">
                <a:extLst>
                  <a:ext uri="{FF2B5EF4-FFF2-40B4-BE49-F238E27FC236}">
                    <a16:creationId xmlns:a16="http://schemas.microsoft.com/office/drawing/2014/main" id="{DE89287B-ED1B-9741-083D-DA4C7A9E4D54}"/>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2" name="Freeform 107">
                <a:extLst>
                  <a:ext uri="{FF2B5EF4-FFF2-40B4-BE49-F238E27FC236}">
                    <a16:creationId xmlns:a16="http://schemas.microsoft.com/office/drawing/2014/main" id="{0D2C1686-A51A-1B6D-D862-BAABE24284F1}"/>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3" name="Freeform 108">
                <a:extLst>
                  <a:ext uri="{FF2B5EF4-FFF2-40B4-BE49-F238E27FC236}">
                    <a16:creationId xmlns:a16="http://schemas.microsoft.com/office/drawing/2014/main" id="{0F515940-91F7-4E45-5BFB-637D63C3DC4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4" name="Freeform 109">
                <a:extLst>
                  <a:ext uri="{FF2B5EF4-FFF2-40B4-BE49-F238E27FC236}">
                    <a16:creationId xmlns:a16="http://schemas.microsoft.com/office/drawing/2014/main" id="{82F388E9-D5D4-FFDB-3D40-C154F6A27F9A}"/>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5" name="Freeform 110">
                <a:extLst>
                  <a:ext uri="{FF2B5EF4-FFF2-40B4-BE49-F238E27FC236}">
                    <a16:creationId xmlns:a16="http://schemas.microsoft.com/office/drawing/2014/main" id="{66B2EF9D-D10C-337C-AF1F-28D274CBF4F1}"/>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6" name="Freeform 111">
                <a:extLst>
                  <a:ext uri="{FF2B5EF4-FFF2-40B4-BE49-F238E27FC236}">
                    <a16:creationId xmlns:a16="http://schemas.microsoft.com/office/drawing/2014/main" id="{7858BF68-B075-ED19-C2A9-A69173CAA6B9}"/>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7" name="Freeform 112">
                <a:extLst>
                  <a:ext uri="{FF2B5EF4-FFF2-40B4-BE49-F238E27FC236}">
                    <a16:creationId xmlns:a16="http://schemas.microsoft.com/office/drawing/2014/main" id="{5D73959F-720F-4607-21F5-03400643762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8" name="Freeform 113">
                <a:extLst>
                  <a:ext uri="{FF2B5EF4-FFF2-40B4-BE49-F238E27FC236}">
                    <a16:creationId xmlns:a16="http://schemas.microsoft.com/office/drawing/2014/main" id="{48876CD6-D289-089E-55B8-B335B975769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9" name="Freeform 114">
                <a:extLst>
                  <a:ext uri="{FF2B5EF4-FFF2-40B4-BE49-F238E27FC236}">
                    <a16:creationId xmlns:a16="http://schemas.microsoft.com/office/drawing/2014/main" id="{286CB99B-7777-864C-3DFD-334BB5F76D5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0" name="Freeform 115">
                <a:extLst>
                  <a:ext uri="{FF2B5EF4-FFF2-40B4-BE49-F238E27FC236}">
                    <a16:creationId xmlns:a16="http://schemas.microsoft.com/office/drawing/2014/main" id="{0959810F-1077-A37E-A035-DB2322D650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1" name="Freeform 116">
                <a:extLst>
                  <a:ext uri="{FF2B5EF4-FFF2-40B4-BE49-F238E27FC236}">
                    <a16:creationId xmlns:a16="http://schemas.microsoft.com/office/drawing/2014/main" id="{81064DC1-7BF6-5E43-5007-CDDBF2CC8A2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2" name="Freeform 117">
                <a:extLst>
                  <a:ext uri="{FF2B5EF4-FFF2-40B4-BE49-F238E27FC236}">
                    <a16:creationId xmlns:a16="http://schemas.microsoft.com/office/drawing/2014/main" id="{8800FA26-36CF-E942-FB6F-56740E2E5E1F}"/>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3" name="Freeform 118">
                <a:extLst>
                  <a:ext uri="{FF2B5EF4-FFF2-40B4-BE49-F238E27FC236}">
                    <a16:creationId xmlns:a16="http://schemas.microsoft.com/office/drawing/2014/main" id="{F89439F2-5A45-D7BF-055E-1CE24B9DD966}"/>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1" name="Group 87">
              <a:extLst>
                <a:ext uri="{FF2B5EF4-FFF2-40B4-BE49-F238E27FC236}">
                  <a16:creationId xmlns:a16="http://schemas.microsoft.com/office/drawing/2014/main" id="{EA945CA3-0A34-C50F-6E3E-128497C8F9AC}"/>
                </a:ext>
              </a:extLst>
            </p:cNvPr>
            <p:cNvGrpSpPr/>
            <p:nvPr/>
          </p:nvGrpSpPr>
          <p:grpSpPr>
            <a:xfrm>
              <a:off x="585108" y="2615167"/>
              <a:ext cx="114294" cy="509717"/>
              <a:chOff x="2073412" y="2165657"/>
              <a:chExt cx="314361" cy="1401954"/>
            </a:xfrm>
            <a:solidFill>
              <a:srgbClr val="0D0D0D">
                <a:alpha val="29804"/>
              </a:srgbClr>
            </a:solidFill>
          </p:grpSpPr>
          <p:sp>
            <p:nvSpPr>
              <p:cNvPr id="1315" name="Freeform 90">
                <a:extLst>
                  <a:ext uri="{FF2B5EF4-FFF2-40B4-BE49-F238E27FC236}">
                    <a16:creationId xmlns:a16="http://schemas.microsoft.com/office/drawing/2014/main" id="{51094081-D277-3455-018A-979029FE9004}"/>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16" name="Freeform 91">
                <a:extLst>
                  <a:ext uri="{FF2B5EF4-FFF2-40B4-BE49-F238E27FC236}">
                    <a16:creationId xmlns:a16="http://schemas.microsoft.com/office/drawing/2014/main" id="{3FFA2CB7-CE93-AE78-DFDB-82AF6B283FB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7" name="Freeform 92">
                <a:extLst>
                  <a:ext uri="{FF2B5EF4-FFF2-40B4-BE49-F238E27FC236}">
                    <a16:creationId xmlns:a16="http://schemas.microsoft.com/office/drawing/2014/main" id="{D1C22F0C-BBD2-C33A-B92F-85E0187FD340}"/>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8" name="Freeform 93">
                <a:extLst>
                  <a:ext uri="{FF2B5EF4-FFF2-40B4-BE49-F238E27FC236}">
                    <a16:creationId xmlns:a16="http://schemas.microsoft.com/office/drawing/2014/main" id="{52A8930E-B391-7CD3-7819-E0A94D6693A9}"/>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9" name="Freeform 94">
                <a:extLst>
                  <a:ext uri="{FF2B5EF4-FFF2-40B4-BE49-F238E27FC236}">
                    <a16:creationId xmlns:a16="http://schemas.microsoft.com/office/drawing/2014/main" id="{59765C5A-0578-BF61-2AB3-8758DA2F7EBD}"/>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0" name="Freeform 95">
                <a:extLst>
                  <a:ext uri="{FF2B5EF4-FFF2-40B4-BE49-F238E27FC236}">
                    <a16:creationId xmlns:a16="http://schemas.microsoft.com/office/drawing/2014/main" id="{D82B1199-5EF1-F799-EC3F-F8EF295A9282}"/>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1" name="Freeform 96">
                <a:extLst>
                  <a:ext uri="{FF2B5EF4-FFF2-40B4-BE49-F238E27FC236}">
                    <a16:creationId xmlns:a16="http://schemas.microsoft.com/office/drawing/2014/main" id="{445AE18D-F1A5-C610-B896-37B93C8DF28E}"/>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2" name="Freeform 97">
                <a:extLst>
                  <a:ext uri="{FF2B5EF4-FFF2-40B4-BE49-F238E27FC236}">
                    <a16:creationId xmlns:a16="http://schemas.microsoft.com/office/drawing/2014/main" id="{FBBEF61D-4DA6-DBD2-EB62-730D9D0A6AEE}"/>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3" name="Freeform 98">
                <a:extLst>
                  <a:ext uri="{FF2B5EF4-FFF2-40B4-BE49-F238E27FC236}">
                    <a16:creationId xmlns:a16="http://schemas.microsoft.com/office/drawing/2014/main" id="{FC097E0B-B1FB-38F5-5F9D-09871677D6C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4" name="Freeform 99">
                <a:extLst>
                  <a:ext uri="{FF2B5EF4-FFF2-40B4-BE49-F238E27FC236}">
                    <a16:creationId xmlns:a16="http://schemas.microsoft.com/office/drawing/2014/main" id="{C25B8B77-2471-F001-344C-77557FDE56C7}"/>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5" name="Freeform 100">
                <a:extLst>
                  <a:ext uri="{FF2B5EF4-FFF2-40B4-BE49-F238E27FC236}">
                    <a16:creationId xmlns:a16="http://schemas.microsoft.com/office/drawing/2014/main" id="{D99F2FD5-D7C0-9BED-2C21-7930FFDD40D3}"/>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6" name="Freeform 101">
                <a:extLst>
                  <a:ext uri="{FF2B5EF4-FFF2-40B4-BE49-F238E27FC236}">
                    <a16:creationId xmlns:a16="http://schemas.microsoft.com/office/drawing/2014/main" id="{7AD8B64E-57C5-EB97-9804-659F8317326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7" name="Freeform 102">
                <a:extLst>
                  <a:ext uri="{FF2B5EF4-FFF2-40B4-BE49-F238E27FC236}">
                    <a16:creationId xmlns:a16="http://schemas.microsoft.com/office/drawing/2014/main" id="{91A19915-1CBD-408C-F969-CD01336999FA}"/>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28" name="Freeform 103">
                <a:extLst>
                  <a:ext uri="{FF2B5EF4-FFF2-40B4-BE49-F238E27FC236}">
                    <a16:creationId xmlns:a16="http://schemas.microsoft.com/office/drawing/2014/main" id="{601FCDEC-9326-458E-CBF5-7A1363B8D790}"/>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82" name="Picture 89">
              <a:extLst>
                <a:ext uri="{FF2B5EF4-FFF2-40B4-BE49-F238E27FC236}">
                  <a16:creationId xmlns:a16="http://schemas.microsoft.com/office/drawing/2014/main" id="{9CEDFB22-16A6-176E-12A9-066067ABE02B}"/>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1394" y="2131496"/>
              <a:ext cx="365558" cy="381453"/>
            </a:xfrm>
            <a:prstGeom prst="rect">
              <a:avLst/>
            </a:prstGeom>
          </p:spPr>
        </p:pic>
        <p:grpSp>
          <p:nvGrpSpPr>
            <p:cNvPr id="1283" name="Group 84">
              <a:extLst>
                <a:ext uri="{FF2B5EF4-FFF2-40B4-BE49-F238E27FC236}">
                  <a16:creationId xmlns:a16="http://schemas.microsoft.com/office/drawing/2014/main" id="{E0EE50EF-D390-8C29-7E5E-3EC9383EEA7C}"/>
                </a:ext>
              </a:extLst>
            </p:cNvPr>
            <p:cNvGrpSpPr/>
            <p:nvPr/>
          </p:nvGrpSpPr>
          <p:grpSpPr>
            <a:xfrm flipH="1">
              <a:off x="1648119" y="2622854"/>
              <a:ext cx="86903" cy="514376"/>
              <a:chOff x="1611916" y="2139959"/>
              <a:chExt cx="264177" cy="1453393"/>
            </a:xfrm>
            <a:solidFill>
              <a:srgbClr val="0D0D0D">
                <a:alpha val="29804"/>
              </a:srgbClr>
            </a:solidFill>
          </p:grpSpPr>
          <p:sp>
            <p:nvSpPr>
              <p:cNvPr id="1300" name="Freeform 135">
                <a:extLst>
                  <a:ext uri="{FF2B5EF4-FFF2-40B4-BE49-F238E27FC236}">
                    <a16:creationId xmlns:a16="http://schemas.microsoft.com/office/drawing/2014/main" id="{973EA77D-F7F0-DE01-4746-A90E9C1B40E8}"/>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01" name="Freeform 136">
                <a:extLst>
                  <a:ext uri="{FF2B5EF4-FFF2-40B4-BE49-F238E27FC236}">
                    <a16:creationId xmlns:a16="http://schemas.microsoft.com/office/drawing/2014/main" id="{FDDE6EEC-7D69-0720-8FE8-426E335B754F}"/>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2" name="Freeform 137">
                <a:extLst>
                  <a:ext uri="{FF2B5EF4-FFF2-40B4-BE49-F238E27FC236}">
                    <a16:creationId xmlns:a16="http://schemas.microsoft.com/office/drawing/2014/main" id="{9D475F17-EB25-74F8-A457-3195C3C34CCD}"/>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3" name="Freeform 139">
                <a:extLst>
                  <a:ext uri="{FF2B5EF4-FFF2-40B4-BE49-F238E27FC236}">
                    <a16:creationId xmlns:a16="http://schemas.microsoft.com/office/drawing/2014/main" id="{80F103AD-DFDC-F3D9-828F-A59C7B27FA5F}"/>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4" name="Freeform 140">
                <a:extLst>
                  <a:ext uri="{FF2B5EF4-FFF2-40B4-BE49-F238E27FC236}">
                    <a16:creationId xmlns:a16="http://schemas.microsoft.com/office/drawing/2014/main" id="{F75C03D9-0A97-D7F9-B888-C48798465311}"/>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5" name="Freeform 145">
                <a:extLst>
                  <a:ext uri="{FF2B5EF4-FFF2-40B4-BE49-F238E27FC236}">
                    <a16:creationId xmlns:a16="http://schemas.microsoft.com/office/drawing/2014/main" id="{87F1FBB8-14AE-554D-DD00-C25D6F47F0D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6" name="Freeform 146">
                <a:extLst>
                  <a:ext uri="{FF2B5EF4-FFF2-40B4-BE49-F238E27FC236}">
                    <a16:creationId xmlns:a16="http://schemas.microsoft.com/office/drawing/2014/main" id="{0E944CF5-F51C-05DD-42E2-2D043D4E0187}"/>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7" name="Freeform 147">
                <a:extLst>
                  <a:ext uri="{FF2B5EF4-FFF2-40B4-BE49-F238E27FC236}">
                    <a16:creationId xmlns:a16="http://schemas.microsoft.com/office/drawing/2014/main" id="{8F01DDF5-13BF-DB29-6830-6A8010AA597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8" name="Freeform 148">
                <a:extLst>
                  <a:ext uri="{FF2B5EF4-FFF2-40B4-BE49-F238E27FC236}">
                    <a16:creationId xmlns:a16="http://schemas.microsoft.com/office/drawing/2014/main" id="{4995810F-06C4-585A-940E-5B91090389FE}"/>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9" name="Freeform 150">
                <a:extLst>
                  <a:ext uri="{FF2B5EF4-FFF2-40B4-BE49-F238E27FC236}">
                    <a16:creationId xmlns:a16="http://schemas.microsoft.com/office/drawing/2014/main" id="{73486C29-45FA-292A-567D-F61D29C88B35}"/>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0" name="Freeform 151">
                <a:extLst>
                  <a:ext uri="{FF2B5EF4-FFF2-40B4-BE49-F238E27FC236}">
                    <a16:creationId xmlns:a16="http://schemas.microsoft.com/office/drawing/2014/main" id="{3EE5FFBF-5B0E-B13A-EE1C-5015DFF699A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1" name="Freeform 155">
                <a:extLst>
                  <a:ext uri="{FF2B5EF4-FFF2-40B4-BE49-F238E27FC236}">
                    <a16:creationId xmlns:a16="http://schemas.microsoft.com/office/drawing/2014/main" id="{DE70B84E-3C70-551E-ACF7-8D283DA60BF2}"/>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2" name="Freeform 156">
                <a:extLst>
                  <a:ext uri="{FF2B5EF4-FFF2-40B4-BE49-F238E27FC236}">
                    <a16:creationId xmlns:a16="http://schemas.microsoft.com/office/drawing/2014/main" id="{AE3FFB84-3EBE-2C85-DD4F-E860F67D6398}"/>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3" name="Freeform 157">
                <a:extLst>
                  <a:ext uri="{FF2B5EF4-FFF2-40B4-BE49-F238E27FC236}">
                    <a16:creationId xmlns:a16="http://schemas.microsoft.com/office/drawing/2014/main" id="{02C678DF-F15A-6578-0120-8373A0EDAF4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4" name="Freeform 158">
                <a:extLst>
                  <a:ext uri="{FF2B5EF4-FFF2-40B4-BE49-F238E27FC236}">
                    <a16:creationId xmlns:a16="http://schemas.microsoft.com/office/drawing/2014/main" id="{31849A23-429D-11BD-8070-AEC5CD82C311}"/>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4" name="Group 85">
              <a:extLst>
                <a:ext uri="{FF2B5EF4-FFF2-40B4-BE49-F238E27FC236}">
                  <a16:creationId xmlns:a16="http://schemas.microsoft.com/office/drawing/2014/main" id="{967D59DF-23A6-4868-4F12-79043E5193AF}"/>
                </a:ext>
              </a:extLst>
            </p:cNvPr>
            <p:cNvGrpSpPr/>
            <p:nvPr/>
          </p:nvGrpSpPr>
          <p:grpSpPr>
            <a:xfrm flipH="1">
              <a:off x="1430562" y="2620492"/>
              <a:ext cx="114370" cy="509717"/>
              <a:chOff x="2073412" y="2165654"/>
              <a:chExt cx="314361" cy="1401954"/>
            </a:xfrm>
            <a:solidFill>
              <a:srgbClr val="0D0D0D">
                <a:alpha val="29804"/>
              </a:srgbClr>
            </a:solidFill>
          </p:grpSpPr>
          <p:sp>
            <p:nvSpPr>
              <p:cNvPr id="1286" name="Freeform 119">
                <a:extLst>
                  <a:ext uri="{FF2B5EF4-FFF2-40B4-BE49-F238E27FC236}">
                    <a16:creationId xmlns:a16="http://schemas.microsoft.com/office/drawing/2014/main" id="{96387112-5280-FA8A-E96C-E7646F93EBC5}"/>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87" name="Freeform 120">
                <a:extLst>
                  <a:ext uri="{FF2B5EF4-FFF2-40B4-BE49-F238E27FC236}">
                    <a16:creationId xmlns:a16="http://schemas.microsoft.com/office/drawing/2014/main" id="{F58BAA71-2A27-682A-372C-1E4EE08FBC76}"/>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8" name="Freeform 121">
                <a:extLst>
                  <a:ext uri="{FF2B5EF4-FFF2-40B4-BE49-F238E27FC236}">
                    <a16:creationId xmlns:a16="http://schemas.microsoft.com/office/drawing/2014/main" id="{1229B99B-80CA-8DF9-C74D-6F59B55F3EA2}"/>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9" name="Freeform 123">
                <a:extLst>
                  <a:ext uri="{FF2B5EF4-FFF2-40B4-BE49-F238E27FC236}">
                    <a16:creationId xmlns:a16="http://schemas.microsoft.com/office/drawing/2014/main" id="{712B9CB6-BBC4-9C6C-4262-E58D68BD111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0" name="Freeform 124">
                <a:extLst>
                  <a:ext uri="{FF2B5EF4-FFF2-40B4-BE49-F238E27FC236}">
                    <a16:creationId xmlns:a16="http://schemas.microsoft.com/office/drawing/2014/main" id="{4C571FF2-2224-A49D-8A78-D3E3C0516191}"/>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1" name="Freeform 125">
                <a:extLst>
                  <a:ext uri="{FF2B5EF4-FFF2-40B4-BE49-F238E27FC236}">
                    <a16:creationId xmlns:a16="http://schemas.microsoft.com/office/drawing/2014/main" id="{F48F56B1-116E-F0B0-B047-724906C26CFE}"/>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2" name="Freeform 126">
                <a:extLst>
                  <a:ext uri="{FF2B5EF4-FFF2-40B4-BE49-F238E27FC236}">
                    <a16:creationId xmlns:a16="http://schemas.microsoft.com/office/drawing/2014/main" id="{0DA83A45-AEF6-3D55-0BC6-87E6BA2015B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3" name="Freeform 127">
                <a:extLst>
                  <a:ext uri="{FF2B5EF4-FFF2-40B4-BE49-F238E27FC236}">
                    <a16:creationId xmlns:a16="http://schemas.microsoft.com/office/drawing/2014/main" id="{8B24B2C5-BE7C-A4AC-A205-16546B501C5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4" name="Freeform 128">
                <a:extLst>
                  <a:ext uri="{FF2B5EF4-FFF2-40B4-BE49-F238E27FC236}">
                    <a16:creationId xmlns:a16="http://schemas.microsoft.com/office/drawing/2014/main" id="{8A365356-E20B-C88A-D4B8-522547A767A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5" name="Freeform 129">
                <a:extLst>
                  <a:ext uri="{FF2B5EF4-FFF2-40B4-BE49-F238E27FC236}">
                    <a16:creationId xmlns:a16="http://schemas.microsoft.com/office/drawing/2014/main" id="{A0132A0E-D085-DF50-D778-310C4EA3FA35}"/>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6" name="Freeform 131">
                <a:extLst>
                  <a:ext uri="{FF2B5EF4-FFF2-40B4-BE49-F238E27FC236}">
                    <a16:creationId xmlns:a16="http://schemas.microsoft.com/office/drawing/2014/main" id="{4BD6D2A1-E01C-56F4-0BD1-A007304D0A3F}"/>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7" name="Freeform 132">
                <a:extLst>
                  <a:ext uri="{FF2B5EF4-FFF2-40B4-BE49-F238E27FC236}">
                    <a16:creationId xmlns:a16="http://schemas.microsoft.com/office/drawing/2014/main" id="{B5FDF354-86E3-8841-DA67-D79A93C0DD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8" name="Freeform 133">
                <a:extLst>
                  <a:ext uri="{FF2B5EF4-FFF2-40B4-BE49-F238E27FC236}">
                    <a16:creationId xmlns:a16="http://schemas.microsoft.com/office/drawing/2014/main" id="{9DCE110B-286D-7BE2-16DA-B43FED3BB775}"/>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99" name="Freeform 134">
                <a:extLst>
                  <a:ext uri="{FF2B5EF4-FFF2-40B4-BE49-F238E27FC236}">
                    <a16:creationId xmlns:a16="http://schemas.microsoft.com/office/drawing/2014/main" id="{0FF76932-AA7C-3272-A472-DDF137C7821D}"/>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grpSp>
        <p:pic>
          <p:nvPicPr>
            <p:cNvPr id="1285" name="Picture 88">
              <a:extLst>
                <a:ext uri="{FF2B5EF4-FFF2-40B4-BE49-F238E27FC236}">
                  <a16:creationId xmlns:a16="http://schemas.microsoft.com/office/drawing/2014/main" id="{1EDBF978-B04F-49C2-0C82-E1E495B7B765}"/>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1410051" y="2172742"/>
              <a:ext cx="393077" cy="340207"/>
            </a:xfrm>
            <a:prstGeom prst="rect">
              <a:avLst/>
            </a:prstGeom>
            <a:effectLst>
              <a:reflection endPos="0" dir="5400000" sy="-100000" algn="bl" rotWithShape="0"/>
            </a:effectLst>
          </p:spPr>
        </p:pic>
      </p:grpSp>
      <p:grpSp>
        <p:nvGrpSpPr>
          <p:cNvPr id="1344" name="Group 175">
            <a:extLst>
              <a:ext uri="{FF2B5EF4-FFF2-40B4-BE49-F238E27FC236}">
                <a16:creationId xmlns:a16="http://schemas.microsoft.com/office/drawing/2014/main" id="{EF97EF15-DD68-53A7-AA29-79C35B4BEDEA}"/>
              </a:ext>
            </a:extLst>
          </p:cNvPr>
          <p:cNvGrpSpPr/>
          <p:nvPr/>
        </p:nvGrpSpPr>
        <p:grpSpPr>
          <a:xfrm>
            <a:off x="8426084" y="1291990"/>
            <a:ext cx="1086115" cy="1078197"/>
            <a:chOff x="2980599" y="1597222"/>
            <a:chExt cx="814586" cy="808648"/>
          </a:xfrm>
        </p:grpSpPr>
        <p:sp>
          <p:nvSpPr>
            <p:cNvPr id="1345" name="Striped Right Arrow 169">
              <a:extLst>
                <a:ext uri="{FF2B5EF4-FFF2-40B4-BE49-F238E27FC236}">
                  <a16:creationId xmlns:a16="http://schemas.microsoft.com/office/drawing/2014/main" id="{1FC4277D-934C-C98D-1590-D93BBCDD6A6A}"/>
                </a:ext>
              </a:extLst>
            </p:cNvPr>
            <p:cNvSpPr/>
            <p:nvPr/>
          </p:nvSpPr>
          <p:spPr>
            <a:xfrm>
              <a:off x="2980599" y="1597222"/>
              <a:ext cx="761602" cy="808648"/>
            </a:xfrm>
            <a:prstGeom prst="striped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880" dirty="0"/>
            </a:p>
          </p:txBody>
        </p:sp>
        <p:sp>
          <p:nvSpPr>
            <p:cNvPr id="1346" name="TextBox 171">
              <a:extLst>
                <a:ext uri="{FF2B5EF4-FFF2-40B4-BE49-F238E27FC236}">
                  <a16:creationId xmlns:a16="http://schemas.microsoft.com/office/drawing/2014/main" id="{E1FC4374-B2A3-0A6B-8113-3DE895C7FD98}"/>
                </a:ext>
              </a:extLst>
            </p:cNvPr>
            <p:cNvSpPr txBox="1"/>
            <p:nvPr/>
          </p:nvSpPr>
          <p:spPr>
            <a:xfrm>
              <a:off x="3025571" y="1841010"/>
              <a:ext cx="769614" cy="284742"/>
            </a:xfrm>
            <a:prstGeom prst="rect">
              <a:avLst/>
            </a:prstGeom>
            <a:noFill/>
          </p:spPr>
          <p:txBody>
            <a:bodyPr wrap="square">
              <a:spAutoFit/>
            </a:bodyPr>
            <a:lstStyle/>
            <a:p>
              <a:r>
                <a:rPr lang="en-US" sz="1867"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Fusion</a:t>
              </a:r>
              <a:endParaRPr lang="en-IL" sz="2133"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350" name="Title 20">
            <a:extLst>
              <a:ext uri="{FF2B5EF4-FFF2-40B4-BE49-F238E27FC236}">
                <a16:creationId xmlns:a16="http://schemas.microsoft.com/office/drawing/2014/main" id="{FE72AE43-4D76-1266-6FFB-50D20CBDE4DA}"/>
              </a:ext>
            </a:extLst>
          </p:cNvPr>
          <p:cNvSpPr txBox="1">
            <a:spLocks/>
          </p:cNvSpPr>
          <p:nvPr/>
        </p:nvSpPr>
        <p:spPr>
          <a:xfrm>
            <a:off x="12787" y="8394699"/>
            <a:ext cx="3608236" cy="675725"/>
          </a:xfrm>
          <a:prstGeom prst="rect">
            <a:avLst/>
          </a:prstGeom>
        </p:spPr>
        <p:txBody>
          <a:bodyPr vert="horz" lIns="121920" tIns="60960" rIns="121920" bIns="60960" rtlCol="1" anchor="b">
            <a:noAutofit/>
          </a:bodyPr>
          <a:lstStyle/>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Gokhman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 Genetics</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Agoglia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p:txBody>
      </p:sp>
      <p:grpSp>
        <p:nvGrpSpPr>
          <p:cNvPr id="1351" name="Group 4">
            <a:extLst>
              <a:ext uri="{FF2B5EF4-FFF2-40B4-BE49-F238E27FC236}">
                <a16:creationId xmlns:a16="http://schemas.microsoft.com/office/drawing/2014/main" id="{B8EAED6C-E4EF-61F6-D561-6963DECC46CB}"/>
              </a:ext>
            </a:extLst>
          </p:cNvPr>
          <p:cNvGrpSpPr/>
          <p:nvPr/>
        </p:nvGrpSpPr>
        <p:grpSpPr>
          <a:xfrm>
            <a:off x="6185179" y="2747968"/>
            <a:ext cx="3827018" cy="3972478"/>
            <a:chOff x="7047754" y="1893462"/>
            <a:chExt cx="1481271" cy="1510231"/>
          </a:xfrm>
        </p:grpSpPr>
        <p:sp>
          <p:nvSpPr>
            <p:cNvPr id="1352" name="Oval 83">
              <a:extLst>
                <a:ext uri="{FF2B5EF4-FFF2-40B4-BE49-F238E27FC236}">
                  <a16:creationId xmlns:a16="http://schemas.microsoft.com/office/drawing/2014/main" id="{A378CD4E-0E08-E9BE-0320-231DFA8A400E}"/>
                </a:ext>
              </a:extLst>
            </p:cNvPr>
            <p:cNvSpPr/>
            <p:nvPr/>
          </p:nvSpPr>
          <p:spPr>
            <a:xfrm>
              <a:off x="7047754" y="1922423"/>
              <a:ext cx="1481271" cy="1481270"/>
            </a:xfrm>
            <a:prstGeom prst="ellipse">
              <a:avLst/>
            </a:prstGeom>
            <a:solidFill>
              <a:srgbClr val="A3D1A8"/>
            </a:solidFill>
            <a:ln>
              <a:solidFill>
                <a:srgbClr val="4E8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1440" dirty="0"/>
            </a:p>
          </p:txBody>
        </p:sp>
        <p:grpSp>
          <p:nvGrpSpPr>
            <p:cNvPr id="1353" name="Group 328">
              <a:extLst>
                <a:ext uri="{FF2B5EF4-FFF2-40B4-BE49-F238E27FC236}">
                  <a16:creationId xmlns:a16="http://schemas.microsoft.com/office/drawing/2014/main" id="{B77A29C2-6E75-B674-7C03-C4D0D0CE2642}"/>
                </a:ext>
              </a:extLst>
            </p:cNvPr>
            <p:cNvGrpSpPr/>
            <p:nvPr/>
          </p:nvGrpSpPr>
          <p:grpSpPr>
            <a:xfrm>
              <a:off x="8131638" y="2424371"/>
              <a:ext cx="135223" cy="743943"/>
              <a:chOff x="1611916" y="2139960"/>
              <a:chExt cx="264177" cy="1453392"/>
            </a:xfrm>
            <a:solidFill>
              <a:srgbClr val="0D0D0D">
                <a:alpha val="29804"/>
              </a:srgbClr>
            </a:solidFill>
          </p:grpSpPr>
          <p:sp>
            <p:nvSpPr>
              <p:cNvPr id="1402" name="Freeform 329">
                <a:extLst>
                  <a:ext uri="{FF2B5EF4-FFF2-40B4-BE49-F238E27FC236}">
                    <a16:creationId xmlns:a16="http://schemas.microsoft.com/office/drawing/2014/main" id="{48CE2282-D626-0A85-2FA3-2EA72D53AEDE}"/>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3" name="Freeform 330">
                <a:extLst>
                  <a:ext uri="{FF2B5EF4-FFF2-40B4-BE49-F238E27FC236}">
                    <a16:creationId xmlns:a16="http://schemas.microsoft.com/office/drawing/2014/main" id="{5A078A1B-E893-E44A-2287-CC65CDA598D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4" name="Freeform 331">
                <a:extLst>
                  <a:ext uri="{FF2B5EF4-FFF2-40B4-BE49-F238E27FC236}">
                    <a16:creationId xmlns:a16="http://schemas.microsoft.com/office/drawing/2014/main" id="{56F560D4-262C-B26A-087D-1DB209B6D88B}"/>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5" name="Freeform 332">
                <a:extLst>
                  <a:ext uri="{FF2B5EF4-FFF2-40B4-BE49-F238E27FC236}">
                    <a16:creationId xmlns:a16="http://schemas.microsoft.com/office/drawing/2014/main" id="{A248AB36-7C4F-7D28-4490-C769CBA07C0E}"/>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6" name="Freeform 333">
                <a:extLst>
                  <a:ext uri="{FF2B5EF4-FFF2-40B4-BE49-F238E27FC236}">
                    <a16:creationId xmlns:a16="http://schemas.microsoft.com/office/drawing/2014/main" id="{65E9BBAA-07E0-2DA5-709F-AB2612D6B62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7" name="Freeform 334">
                <a:extLst>
                  <a:ext uri="{FF2B5EF4-FFF2-40B4-BE49-F238E27FC236}">
                    <a16:creationId xmlns:a16="http://schemas.microsoft.com/office/drawing/2014/main" id="{3F3EFFD2-70B9-9052-79F4-95FCB2468D31}"/>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8" name="Freeform 335">
                <a:extLst>
                  <a:ext uri="{FF2B5EF4-FFF2-40B4-BE49-F238E27FC236}">
                    <a16:creationId xmlns:a16="http://schemas.microsoft.com/office/drawing/2014/main" id="{DBB086BA-81BB-50EE-6BE3-6733DB29CFC8}"/>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9" name="Freeform 336">
                <a:extLst>
                  <a:ext uri="{FF2B5EF4-FFF2-40B4-BE49-F238E27FC236}">
                    <a16:creationId xmlns:a16="http://schemas.microsoft.com/office/drawing/2014/main" id="{A5AAB2A9-0453-0D01-FDB6-B8FC3D9177E6}"/>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0" name="Freeform 337">
                <a:extLst>
                  <a:ext uri="{FF2B5EF4-FFF2-40B4-BE49-F238E27FC236}">
                    <a16:creationId xmlns:a16="http://schemas.microsoft.com/office/drawing/2014/main" id="{8546569C-BAFE-8143-F4FC-A1985577078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1" name="Freeform 338">
                <a:extLst>
                  <a:ext uri="{FF2B5EF4-FFF2-40B4-BE49-F238E27FC236}">
                    <a16:creationId xmlns:a16="http://schemas.microsoft.com/office/drawing/2014/main" id="{0C515C63-1B59-E312-BA1D-491E5A5C1CE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2" name="Freeform 339">
                <a:extLst>
                  <a:ext uri="{FF2B5EF4-FFF2-40B4-BE49-F238E27FC236}">
                    <a16:creationId xmlns:a16="http://schemas.microsoft.com/office/drawing/2014/main" id="{0E8771FF-AB84-9B06-C98A-3872D5BE6100}"/>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3" name="Freeform 340">
                <a:extLst>
                  <a:ext uri="{FF2B5EF4-FFF2-40B4-BE49-F238E27FC236}">
                    <a16:creationId xmlns:a16="http://schemas.microsoft.com/office/drawing/2014/main" id="{CEFBE015-317D-2F90-9CA0-0355443E1CF6}"/>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4" name="Freeform 341">
                <a:extLst>
                  <a:ext uri="{FF2B5EF4-FFF2-40B4-BE49-F238E27FC236}">
                    <a16:creationId xmlns:a16="http://schemas.microsoft.com/office/drawing/2014/main" id="{E7626AF2-546B-FC08-E29A-258E728C424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5" name="Freeform 342">
                <a:extLst>
                  <a:ext uri="{FF2B5EF4-FFF2-40B4-BE49-F238E27FC236}">
                    <a16:creationId xmlns:a16="http://schemas.microsoft.com/office/drawing/2014/main" id="{36D76443-D1CE-86A0-8E08-9CD65E8F94C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6" name="Freeform 343">
                <a:extLst>
                  <a:ext uri="{FF2B5EF4-FFF2-40B4-BE49-F238E27FC236}">
                    <a16:creationId xmlns:a16="http://schemas.microsoft.com/office/drawing/2014/main" id="{2423B773-EC17-C836-8B0C-7503C602520C}"/>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4" name="Group 344">
              <a:extLst>
                <a:ext uri="{FF2B5EF4-FFF2-40B4-BE49-F238E27FC236}">
                  <a16:creationId xmlns:a16="http://schemas.microsoft.com/office/drawing/2014/main" id="{67B506DD-B006-7913-939D-A7287059945A}"/>
                </a:ext>
              </a:extLst>
            </p:cNvPr>
            <p:cNvGrpSpPr/>
            <p:nvPr/>
          </p:nvGrpSpPr>
          <p:grpSpPr>
            <a:xfrm>
              <a:off x="7903084" y="2431109"/>
              <a:ext cx="165303" cy="737204"/>
              <a:chOff x="2073412" y="2165656"/>
              <a:chExt cx="314361" cy="1401953"/>
            </a:xfrm>
            <a:solidFill>
              <a:srgbClr val="0D0D0D">
                <a:alpha val="29804"/>
              </a:srgbClr>
            </a:solidFill>
          </p:grpSpPr>
          <p:sp>
            <p:nvSpPr>
              <p:cNvPr id="1388" name="Freeform 345">
                <a:extLst>
                  <a:ext uri="{FF2B5EF4-FFF2-40B4-BE49-F238E27FC236}">
                    <a16:creationId xmlns:a16="http://schemas.microsoft.com/office/drawing/2014/main" id="{5E81A7B5-660A-BAE3-0562-4172D90CA617}"/>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89" name="Freeform 346">
                <a:extLst>
                  <a:ext uri="{FF2B5EF4-FFF2-40B4-BE49-F238E27FC236}">
                    <a16:creationId xmlns:a16="http://schemas.microsoft.com/office/drawing/2014/main" id="{EA993097-22A7-D5EC-B3EB-ACFFD59464F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0" name="Freeform 347">
                <a:extLst>
                  <a:ext uri="{FF2B5EF4-FFF2-40B4-BE49-F238E27FC236}">
                    <a16:creationId xmlns:a16="http://schemas.microsoft.com/office/drawing/2014/main" id="{84B3C1FE-9477-A8BC-BB80-0A98245AA34B}"/>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1" name="Freeform 348">
                <a:extLst>
                  <a:ext uri="{FF2B5EF4-FFF2-40B4-BE49-F238E27FC236}">
                    <a16:creationId xmlns:a16="http://schemas.microsoft.com/office/drawing/2014/main" id="{E4CBDA0C-B52C-375A-AA52-DA04B07080DC}"/>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2" name="Freeform 349">
                <a:extLst>
                  <a:ext uri="{FF2B5EF4-FFF2-40B4-BE49-F238E27FC236}">
                    <a16:creationId xmlns:a16="http://schemas.microsoft.com/office/drawing/2014/main" id="{19A70CBD-C527-1862-375D-5706BBD7817B}"/>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3" name="Freeform 350">
                <a:extLst>
                  <a:ext uri="{FF2B5EF4-FFF2-40B4-BE49-F238E27FC236}">
                    <a16:creationId xmlns:a16="http://schemas.microsoft.com/office/drawing/2014/main" id="{A131E514-C347-2E1E-747A-6F55F2D6ADB8}"/>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4" name="Freeform 351">
                <a:extLst>
                  <a:ext uri="{FF2B5EF4-FFF2-40B4-BE49-F238E27FC236}">
                    <a16:creationId xmlns:a16="http://schemas.microsoft.com/office/drawing/2014/main" id="{2C026A4B-4AAB-F0F8-E8FF-2E0E1FCE955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5" name="Freeform 352">
                <a:extLst>
                  <a:ext uri="{FF2B5EF4-FFF2-40B4-BE49-F238E27FC236}">
                    <a16:creationId xmlns:a16="http://schemas.microsoft.com/office/drawing/2014/main" id="{F5EAF31C-5B9F-812C-A4DF-329A6BCA18A9}"/>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6" name="Freeform 353">
                <a:extLst>
                  <a:ext uri="{FF2B5EF4-FFF2-40B4-BE49-F238E27FC236}">
                    <a16:creationId xmlns:a16="http://schemas.microsoft.com/office/drawing/2014/main" id="{3C078E89-EE65-94F2-3400-FF3F6FB85B2C}"/>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7" name="Freeform 354">
                <a:extLst>
                  <a:ext uri="{FF2B5EF4-FFF2-40B4-BE49-F238E27FC236}">
                    <a16:creationId xmlns:a16="http://schemas.microsoft.com/office/drawing/2014/main" id="{3615B0A1-C1C6-6931-ECE7-B156AFBAE2E2}"/>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8" name="Freeform 355">
                <a:extLst>
                  <a:ext uri="{FF2B5EF4-FFF2-40B4-BE49-F238E27FC236}">
                    <a16:creationId xmlns:a16="http://schemas.microsoft.com/office/drawing/2014/main" id="{0F5F7BD3-D81E-D867-51AD-E023DC40ECEA}"/>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9" name="Freeform 356">
                <a:extLst>
                  <a:ext uri="{FF2B5EF4-FFF2-40B4-BE49-F238E27FC236}">
                    <a16:creationId xmlns:a16="http://schemas.microsoft.com/office/drawing/2014/main" id="{400E0183-B73D-57CB-9500-285C3E5C5D9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0" name="Freeform 357">
                <a:extLst>
                  <a:ext uri="{FF2B5EF4-FFF2-40B4-BE49-F238E27FC236}">
                    <a16:creationId xmlns:a16="http://schemas.microsoft.com/office/drawing/2014/main" id="{B2645A9C-5A3D-3622-0814-50FE06F93581}"/>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1" name="Freeform 358">
                <a:extLst>
                  <a:ext uri="{FF2B5EF4-FFF2-40B4-BE49-F238E27FC236}">
                    <a16:creationId xmlns:a16="http://schemas.microsoft.com/office/drawing/2014/main" id="{1331C891-6618-E546-6D3B-0F630BFB5D1C}"/>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5" name="Group 359">
              <a:extLst>
                <a:ext uri="{FF2B5EF4-FFF2-40B4-BE49-F238E27FC236}">
                  <a16:creationId xmlns:a16="http://schemas.microsoft.com/office/drawing/2014/main" id="{6DA7372D-DC2A-ED26-1F72-77BD5C6EF20F}"/>
                </a:ext>
              </a:extLst>
            </p:cNvPr>
            <p:cNvGrpSpPr/>
            <p:nvPr/>
          </p:nvGrpSpPr>
          <p:grpSpPr>
            <a:xfrm flipH="1">
              <a:off x="7527307" y="2424371"/>
              <a:ext cx="125688" cy="743943"/>
              <a:chOff x="1611916" y="2139960"/>
              <a:chExt cx="264177" cy="1453392"/>
            </a:xfrm>
            <a:solidFill>
              <a:srgbClr val="0D0D0D">
                <a:alpha val="29804"/>
              </a:srgbClr>
            </a:solidFill>
          </p:grpSpPr>
          <p:sp>
            <p:nvSpPr>
              <p:cNvPr id="1373" name="Freeform 360">
                <a:extLst>
                  <a:ext uri="{FF2B5EF4-FFF2-40B4-BE49-F238E27FC236}">
                    <a16:creationId xmlns:a16="http://schemas.microsoft.com/office/drawing/2014/main" id="{CCCACAC1-C526-FF30-F147-15E34809E7A0}"/>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dirty="0"/>
              </a:p>
            </p:txBody>
          </p:sp>
          <p:sp>
            <p:nvSpPr>
              <p:cNvPr id="1374" name="Freeform 361">
                <a:extLst>
                  <a:ext uri="{FF2B5EF4-FFF2-40B4-BE49-F238E27FC236}">
                    <a16:creationId xmlns:a16="http://schemas.microsoft.com/office/drawing/2014/main" id="{891B98B1-CA2D-8884-7584-AA679F5C111A}"/>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5" name="Freeform 362">
                <a:extLst>
                  <a:ext uri="{FF2B5EF4-FFF2-40B4-BE49-F238E27FC236}">
                    <a16:creationId xmlns:a16="http://schemas.microsoft.com/office/drawing/2014/main" id="{29641A9A-9DAB-553A-9308-6A8D49B0E010}"/>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6" name="Freeform 363">
                <a:extLst>
                  <a:ext uri="{FF2B5EF4-FFF2-40B4-BE49-F238E27FC236}">
                    <a16:creationId xmlns:a16="http://schemas.microsoft.com/office/drawing/2014/main" id="{E5D06FCB-B43B-14AF-A1AB-438D9CD9723A}"/>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7" name="Freeform 364">
                <a:extLst>
                  <a:ext uri="{FF2B5EF4-FFF2-40B4-BE49-F238E27FC236}">
                    <a16:creationId xmlns:a16="http://schemas.microsoft.com/office/drawing/2014/main" id="{3ADADAE4-B917-E9B4-0C3A-EE2E2692B712}"/>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8" name="Freeform 365">
                <a:extLst>
                  <a:ext uri="{FF2B5EF4-FFF2-40B4-BE49-F238E27FC236}">
                    <a16:creationId xmlns:a16="http://schemas.microsoft.com/office/drawing/2014/main" id="{C7B8B71A-5B69-A94F-A349-3CCFBC7B62F7}"/>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9" name="Freeform 366">
                <a:extLst>
                  <a:ext uri="{FF2B5EF4-FFF2-40B4-BE49-F238E27FC236}">
                    <a16:creationId xmlns:a16="http://schemas.microsoft.com/office/drawing/2014/main" id="{C038A0FD-26D0-0BF4-779B-0293189063DA}"/>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0" name="Freeform 367">
                <a:extLst>
                  <a:ext uri="{FF2B5EF4-FFF2-40B4-BE49-F238E27FC236}">
                    <a16:creationId xmlns:a16="http://schemas.microsoft.com/office/drawing/2014/main" id="{21D7238C-410D-274E-8273-05783EBEF3D4}"/>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1" name="Freeform 368">
                <a:extLst>
                  <a:ext uri="{FF2B5EF4-FFF2-40B4-BE49-F238E27FC236}">
                    <a16:creationId xmlns:a16="http://schemas.microsoft.com/office/drawing/2014/main" id="{82A34AF9-56CA-60E0-D19A-04D525DADD76}"/>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2" name="Freeform 369">
                <a:extLst>
                  <a:ext uri="{FF2B5EF4-FFF2-40B4-BE49-F238E27FC236}">
                    <a16:creationId xmlns:a16="http://schemas.microsoft.com/office/drawing/2014/main" id="{3AD851DB-0978-166E-B04C-EFA33381650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3" name="Freeform 370">
                <a:extLst>
                  <a:ext uri="{FF2B5EF4-FFF2-40B4-BE49-F238E27FC236}">
                    <a16:creationId xmlns:a16="http://schemas.microsoft.com/office/drawing/2014/main" id="{663CEEB6-0217-FE8E-5170-B59BB3AD0BCD}"/>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4" name="Freeform 371">
                <a:extLst>
                  <a:ext uri="{FF2B5EF4-FFF2-40B4-BE49-F238E27FC236}">
                    <a16:creationId xmlns:a16="http://schemas.microsoft.com/office/drawing/2014/main" id="{CA12FD1A-5D77-03E9-5A28-259F44EB49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5" name="Freeform 372">
                <a:extLst>
                  <a:ext uri="{FF2B5EF4-FFF2-40B4-BE49-F238E27FC236}">
                    <a16:creationId xmlns:a16="http://schemas.microsoft.com/office/drawing/2014/main" id="{07F38551-2DB8-E65D-F3C0-7CCED135425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6" name="Freeform 373">
                <a:extLst>
                  <a:ext uri="{FF2B5EF4-FFF2-40B4-BE49-F238E27FC236}">
                    <a16:creationId xmlns:a16="http://schemas.microsoft.com/office/drawing/2014/main" id="{522DA525-F22C-BB2E-1D98-4973A3333D11}"/>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7" name="Freeform 374">
                <a:extLst>
                  <a:ext uri="{FF2B5EF4-FFF2-40B4-BE49-F238E27FC236}">
                    <a16:creationId xmlns:a16="http://schemas.microsoft.com/office/drawing/2014/main" id="{A8A2412C-073E-FD17-D061-A7D12762A9FB}"/>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6" name="Group 375">
              <a:extLst>
                <a:ext uri="{FF2B5EF4-FFF2-40B4-BE49-F238E27FC236}">
                  <a16:creationId xmlns:a16="http://schemas.microsoft.com/office/drawing/2014/main" id="{17760D7B-CB17-EBBD-9B14-950435356438}"/>
                </a:ext>
              </a:extLst>
            </p:cNvPr>
            <p:cNvGrpSpPr/>
            <p:nvPr/>
          </p:nvGrpSpPr>
          <p:grpSpPr>
            <a:xfrm flipH="1">
              <a:off x="7287457" y="2431109"/>
              <a:ext cx="165414" cy="737204"/>
              <a:chOff x="2073412" y="2165656"/>
              <a:chExt cx="314361" cy="1401953"/>
            </a:xfrm>
            <a:solidFill>
              <a:srgbClr val="0D0D0D">
                <a:alpha val="29804"/>
              </a:srgbClr>
            </a:solidFill>
          </p:grpSpPr>
          <p:sp>
            <p:nvSpPr>
              <p:cNvPr id="1359" name="Freeform 376">
                <a:extLst>
                  <a:ext uri="{FF2B5EF4-FFF2-40B4-BE49-F238E27FC236}">
                    <a16:creationId xmlns:a16="http://schemas.microsoft.com/office/drawing/2014/main" id="{ACE710DA-B012-1E1A-8B37-CBBB531BB7DE}"/>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60" name="Freeform 377">
                <a:extLst>
                  <a:ext uri="{FF2B5EF4-FFF2-40B4-BE49-F238E27FC236}">
                    <a16:creationId xmlns:a16="http://schemas.microsoft.com/office/drawing/2014/main" id="{6559BD76-EE49-2070-0E30-0E7ED22197C7}"/>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1" name="Freeform 378">
                <a:extLst>
                  <a:ext uri="{FF2B5EF4-FFF2-40B4-BE49-F238E27FC236}">
                    <a16:creationId xmlns:a16="http://schemas.microsoft.com/office/drawing/2014/main" id="{F37D7EF4-1008-CAF3-D7E5-80F9E973AA27}"/>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2" name="Freeform 379">
                <a:extLst>
                  <a:ext uri="{FF2B5EF4-FFF2-40B4-BE49-F238E27FC236}">
                    <a16:creationId xmlns:a16="http://schemas.microsoft.com/office/drawing/2014/main" id="{8FD1DDEF-AA07-0CC1-46FE-D48CE7C0C78F}"/>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3" name="Freeform 380">
                <a:extLst>
                  <a:ext uri="{FF2B5EF4-FFF2-40B4-BE49-F238E27FC236}">
                    <a16:creationId xmlns:a16="http://schemas.microsoft.com/office/drawing/2014/main" id="{1B599911-AB2C-0061-45D9-E9098565ECE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4" name="Freeform 381">
                <a:extLst>
                  <a:ext uri="{FF2B5EF4-FFF2-40B4-BE49-F238E27FC236}">
                    <a16:creationId xmlns:a16="http://schemas.microsoft.com/office/drawing/2014/main" id="{7E63BF8B-BB75-DB40-197F-3648A042713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5" name="Freeform 382">
                <a:extLst>
                  <a:ext uri="{FF2B5EF4-FFF2-40B4-BE49-F238E27FC236}">
                    <a16:creationId xmlns:a16="http://schemas.microsoft.com/office/drawing/2014/main" id="{9DEE0A3B-F791-E171-2183-A508372CE47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6" name="Freeform 383">
                <a:extLst>
                  <a:ext uri="{FF2B5EF4-FFF2-40B4-BE49-F238E27FC236}">
                    <a16:creationId xmlns:a16="http://schemas.microsoft.com/office/drawing/2014/main" id="{660DD138-2BD9-4768-FC95-78BA1C3D200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7" name="Freeform 384">
                <a:extLst>
                  <a:ext uri="{FF2B5EF4-FFF2-40B4-BE49-F238E27FC236}">
                    <a16:creationId xmlns:a16="http://schemas.microsoft.com/office/drawing/2014/main" id="{4FE6C163-0408-6831-497D-83681F858F14}"/>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sp>
            <p:nvSpPr>
              <p:cNvPr id="1368" name="Freeform 385">
                <a:extLst>
                  <a:ext uri="{FF2B5EF4-FFF2-40B4-BE49-F238E27FC236}">
                    <a16:creationId xmlns:a16="http://schemas.microsoft.com/office/drawing/2014/main" id="{C48DD43E-3150-0BA0-3B7D-2C01BF523010}"/>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9" name="Freeform 386">
                <a:extLst>
                  <a:ext uri="{FF2B5EF4-FFF2-40B4-BE49-F238E27FC236}">
                    <a16:creationId xmlns:a16="http://schemas.microsoft.com/office/drawing/2014/main" id="{9C762927-6882-548C-0ABA-8D3490C6C0A6}"/>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0" name="Freeform 387">
                <a:extLst>
                  <a:ext uri="{FF2B5EF4-FFF2-40B4-BE49-F238E27FC236}">
                    <a16:creationId xmlns:a16="http://schemas.microsoft.com/office/drawing/2014/main" id="{62E78EEE-9323-BB17-5725-5F6900BF53F5}"/>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1" name="Freeform 388">
                <a:extLst>
                  <a:ext uri="{FF2B5EF4-FFF2-40B4-BE49-F238E27FC236}">
                    <a16:creationId xmlns:a16="http://schemas.microsoft.com/office/drawing/2014/main" id="{3B1386EA-E551-34B5-3827-2BA068A9FB00}"/>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72" name="Freeform 389">
                <a:extLst>
                  <a:ext uri="{FF2B5EF4-FFF2-40B4-BE49-F238E27FC236}">
                    <a16:creationId xmlns:a16="http://schemas.microsoft.com/office/drawing/2014/main" id="{415A8B48-D7E4-468E-D045-1C092EC3090E}"/>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rtl="0"/>
                <a:endParaRPr lang="en-US" sz="2880"/>
              </a:p>
            </p:txBody>
          </p:sp>
        </p:grpSp>
        <p:pic>
          <p:nvPicPr>
            <p:cNvPr id="1357" name="Picture 390">
              <a:extLst>
                <a:ext uri="{FF2B5EF4-FFF2-40B4-BE49-F238E27FC236}">
                  <a16:creationId xmlns:a16="http://schemas.microsoft.com/office/drawing/2014/main" id="{3F71B508-9ECC-3BC9-7ED9-AB169DA0BFDF}"/>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7284255" y="1893462"/>
              <a:ext cx="421980" cy="440328"/>
            </a:xfrm>
            <a:prstGeom prst="rect">
              <a:avLst/>
            </a:prstGeom>
          </p:spPr>
        </p:pic>
        <p:pic>
          <p:nvPicPr>
            <p:cNvPr id="1358" name="Picture 392">
              <a:extLst>
                <a:ext uri="{FF2B5EF4-FFF2-40B4-BE49-F238E27FC236}">
                  <a16:creationId xmlns:a16="http://schemas.microsoft.com/office/drawing/2014/main" id="{630618BA-8ACC-975F-41A8-9F4B07BFA1D1}"/>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7848885" y="1929777"/>
              <a:ext cx="475867" cy="411861"/>
            </a:xfrm>
            <a:prstGeom prst="rect">
              <a:avLst/>
            </a:prstGeom>
            <a:effectLst>
              <a:reflection endPos="0" dir="5400000" sy="-100000" algn="bl" rotWithShape="0"/>
            </a:effectLst>
          </p:spPr>
        </p:pic>
      </p:grpSp>
      <p:grpSp>
        <p:nvGrpSpPr>
          <p:cNvPr id="1417" name="Group 5">
            <a:extLst>
              <a:ext uri="{FF2B5EF4-FFF2-40B4-BE49-F238E27FC236}">
                <a16:creationId xmlns:a16="http://schemas.microsoft.com/office/drawing/2014/main" id="{80652D1E-512F-21A9-9007-49DCBC22F8F1}"/>
              </a:ext>
            </a:extLst>
          </p:cNvPr>
          <p:cNvGrpSpPr/>
          <p:nvPr/>
        </p:nvGrpSpPr>
        <p:grpSpPr>
          <a:xfrm>
            <a:off x="6721033" y="4567274"/>
            <a:ext cx="571040" cy="543005"/>
            <a:chOff x="964222" y="1913482"/>
            <a:chExt cx="2041451" cy="1396429"/>
          </a:xfrm>
        </p:grpSpPr>
        <p:sp>
          <p:nvSpPr>
            <p:cNvPr id="1418" name="Freeform 24">
              <a:extLst>
                <a:ext uri="{FF2B5EF4-FFF2-40B4-BE49-F238E27FC236}">
                  <a16:creationId xmlns:a16="http://schemas.microsoft.com/office/drawing/2014/main" id="{914C5666-35FA-1B9B-FDE0-8716984BDC8E}"/>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19" name="Freeform 25">
              <a:extLst>
                <a:ext uri="{FF2B5EF4-FFF2-40B4-BE49-F238E27FC236}">
                  <a16:creationId xmlns:a16="http://schemas.microsoft.com/office/drawing/2014/main" id="{81813CE2-333E-430F-826D-7BB47E82C68D}"/>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0" name="Freeform 26">
              <a:extLst>
                <a:ext uri="{FF2B5EF4-FFF2-40B4-BE49-F238E27FC236}">
                  <a16:creationId xmlns:a16="http://schemas.microsoft.com/office/drawing/2014/main" id="{019E7360-FA37-86EB-BE5E-6214D13F5D12}"/>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1" name="Freeform 27">
              <a:extLst>
                <a:ext uri="{FF2B5EF4-FFF2-40B4-BE49-F238E27FC236}">
                  <a16:creationId xmlns:a16="http://schemas.microsoft.com/office/drawing/2014/main" id="{20BE431E-A404-4EA0-2222-E4997A9A26B3}"/>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2" name="Freeform 28">
              <a:extLst>
                <a:ext uri="{FF2B5EF4-FFF2-40B4-BE49-F238E27FC236}">
                  <a16:creationId xmlns:a16="http://schemas.microsoft.com/office/drawing/2014/main" id="{FC23C34E-B7F2-66A3-72E7-DD464CBB4A9D}"/>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23" name="Group 29">
            <a:extLst>
              <a:ext uri="{FF2B5EF4-FFF2-40B4-BE49-F238E27FC236}">
                <a16:creationId xmlns:a16="http://schemas.microsoft.com/office/drawing/2014/main" id="{0DDB0BEB-2B83-1ADF-B20C-D0F0A2DDE205}"/>
              </a:ext>
            </a:extLst>
          </p:cNvPr>
          <p:cNvGrpSpPr/>
          <p:nvPr/>
        </p:nvGrpSpPr>
        <p:grpSpPr>
          <a:xfrm>
            <a:off x="8372909" y="4770038"/>
            <a:ext cx="571040" cy="265988"/>
            <a:chOff x="964222" y="2625878"/>
            <a:chExt cx="2041451" cy="684033"/>
          </a:xfrm>
        </p:grpSpPr>
        <p:sp>
          <p:nvSpPr>
            <p:cNvPr id="1424" name="Freeform 30">
              <a:extLst>
                <a:ext uri="{FF2B5EF4-FFF2-40B4-BE49-F238E27FC236}">
                  <a16:creationId xmlns:a16="http://schemas.microsoft.com/office/drawing/2014/main" id="{A50F91FA-179A-2D67-7D55-464BBB4964D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5" name="Freeform 31">
              <a:extLst>
                <a:ext uri="{FF2B5EF4-FFF2-40B4-BE49-F238E27FC236}">
                  <a16:creationId xmlns:a16="http://schemas.microsoft.com/office/drawing/2014/main" id="{3707D268-7DD1-5884-3C59-1BAD9FEB57CA}"/>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grpSp>
        <p:nvGrpSpPr>
          <p:cNvPr id="1426" name="Group 38">
            <a:extLst>
              <a:ext uri="{FF2B5EF4-FFF2-40B4-BE49-F238E27FC236}">
                <a16:creationId xmlns:a16="http://schemas.microsoft.com/office/drawing/2014/main" id="{5D4E3491-25D6-CCFB-9FA4-3281839411B3}"/>
              </a:ext>
            </a:extLst>
          </p:cNvPr>
          <p:cNvGrpSpPr/>
          <p:nvPr/>
        </p:nvGrpSpPr>
        <p:grpSpPr>
          <a:xfrm>
            <a:off x="7431258" y="4567274"/>
            <a:ext cx="571040" cy="543005"/>
            <a:chOff x="964222" y="1913482"/>
            <a:chExt cx="2041451" cy="1396429"/>
          </a:xfrm>
        </p:grpSpPr>
        <p:sp>
          <p:nvSpPr>
            <p:cNvPr id="1427" name="Freeform 39">
              <a:extLst>
                <a:ext uri="{FF2B5EF4-FFF2-40B4-BE49-F238E27FC236}">
                  <a16:creationId xmlns:a16="http://schemas.microsoft.com/office/drawing/2014/main" id="{A9A1532B-E46C-2725-8080-7A597A2C2977}"/>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8" name="Freeform 40">
              <a:extLst>
                <a:ext uri="{FF2B5EF4-FFF2-40B4-BE49-F238E27FC236}">
                  <a16:creationId xmlns:a16="http://schemas.microsoft.com/office/drawing/2014/main" id="{F4D3CA74-3F51-0778-5D62-FC3614C83CCB}"/>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9" name="Freeform 41">
              <a:extLst>
                <a:ext uri="{FF2B5EF4-FFF2-40B4-BE49-F238E27FC236}">
                  <a16:creationId xmlns:a16="http://schemas.microsoft.com/office/drawing/2014/main" id="{C2DD8035-1315-6366-D8D3-250A09E06DC3}"/>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0" name="Freeform 42">
              <a:extLst>
                <a:ext uri="{FF2B5EF4-FFF2-40B4-BE49-F238E27FC236}">
                  <a16:creationId xmlns:a16="http://schemas.microsoft.com/office/drawing/2014/main" id="{12A09078-71E3-AF60-81E0-DB4DB1A92804}"/>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1" name="Freeform 43">
              <a:extLst>
                <a:ext uri="{FF2B5EF4-FFF2-40B4-BE49-F238E27FC236}">
                  <a16:creationId xmlns:a16="http://schemas.microsoft.com/office/drawing/2014/main" id="{539821EF-B27E-9CD3-0EC8-A179A465C283}"/>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32" name="Group 44">
            <a:extLst>
              <a:ext uri="{FF2B5EF4-FFF2-40B4-BE49-F238E27FC236}">
                <a16:creationId xmlns:a16="http://schemas.microsoft.com/office/drawing/2014/main" id="{92011886-1271-1931-EC42-B33DB1C339F6}"/>
              </a:ext>
            </a:extLst>
          </p:cNvPr>
          <p:cNvGrpSpPr/>
          <p:nvPr/>
        </p:nvGrpSpPr>
        <p:grpSpPr>
          <a:xfrm>
            <a:off x="9113634" y="4772125"/>
            <a:ext cx="571040" cy="265988"/>
            <a:chOff x="964222" y="2625878"/>
            <a:chExt cx="2041451" cy="684033"/>
          </a:xfrm>
        </p:grpSpPr>
        <p:sp>
          <p:nvSpPr>
            <p:cNvPr id="1433" name="Freeform 45">
              <a:extLst>
                <a:ext uri="{FF2B5EF4-FFF2-40B4-BE49-F238E27FC236}">
                  <a16:creationId xmlns:a16="http://schemas.microsoft.com/office/drawing/2014/main" id="{D4D2D47B-7655-2F06-3D68-0BE2AEAD412A}"/>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4" name="Freeform 46">
              <a:extLst>
                <a:ext uri="{FF2B5EF4-FFF2-40B4-BE49-F238E27FC236}">
                  <a16:creationId xmlns:a16="http://schemas.microsoft.com/office/drawing/2014/main" id="{1919521E-FA9C-5919-B8D0-EDC00E22886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sp>
        <p:nvSpPr>
          <p:cNvPr id="3" name="מציין מיקום תוכן 2">
            <a:extLst>
              <a:ext uri="{FF2B5EF4-FFF2-40B4-BE49-F238E27FC236}">
                <a16:creationId xmlns:a16="http://schemas.microsoft.com/office/drawing/2014/main" id="{590508E9-B29D-AA19-AEB0-0168E0F27930}"/>
              </a:ext>
            </a:extLst>
          </p:cNvPr>
          <p:cNvSpPr txBox="1">
            <a:spLocks/>
          </p:cNvSpPr>
          <p:nvPr/>
        </p:nvSpPr>
        <p:spPr>
          <a:xfrm>
            <a:off x="5925399" y="707349"/>
            <a:ext cx="1486369" cy="424006"/>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IPSCs</a:t>
            </a:r>
          </a:p>
        </p:txBody>
      </p:sp>
    </p:spTree>
    <p:extLst>
      <p:ext uri="{BB962C8B-B14F-4D97-AF65-F5344CB8AC3E}">
        <p14:creationId xmlns:p14="http://schemas.microsoft.com/office/powerpoint/2010/main" val="229915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EF9D6-8CFB-E36C-FDF7-0E60543E302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BD514C5-291A-1E17-5CBB-F22844589391}"/>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The origin of human-specific diseases</a:t>
            </a:r>
            <a:endParaRPr lang="he-IL" dirty="0"/>
          </a:p>
        </p:txBody>
      </p:sp>
      <p:pic>
        <p:nvPicPr>
          <p:cNvPr id="1026" name="Picture 2" descr="‪Chimpanzee 2d cartoon vector illustration on white backgro | Premium  AI-generated image‬‏">
            <a:extLst>
              <a:ext uri="{FF2B5EF4-FFF2-40B4-BE49-F238E27FC236}">
                <a16:creationId xmlns:a16="http://schemas.microsoft.com/office/drawing/2014/main" id="{360BB567-757A-5E10-9567-6115A43F17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קבוצה 17">
            <a:extLst>
              <a:ext uri="{FF2B5EF4-FFF2-40B4-BE49-F238E27FC236}">
                <a16:creationId xmlns:a16="http://schemas.microsoft.com/office/drawing/2014/main" id="{063F16D6-2C77-90CA-98CE-3AEBF3E02FEC}"/>
              </a:ext>
            </a:extLst>
          </p:cNvPr>
          <p:cNvGrpSpPr/>
          <p:nvPr/>
        </p:nvGrpSpPr>
        <p:grpSpPr>
          <a:xfrm>
            <a:off x="2859332" y="1378566"/>
            <a:ext cx="6502382" cy="4044875"/>
            <a:chOff x="2859332" y="1378566"/>
            <a:chExt cx="6502382" cy="4044875"/>
          </a:xfrm>
        </p:grpSpPr>
        <p:grpSp>
          <p:nvGrpSpPr>
            <p:cNvPr id="9" name="קבוצה 8">
              <a:extLst>
                <a:ext uri="{FF2B5EF4-FFF2-40B4-BE49-F238E27FC236}">
                  <a16:creationId xmlns:a16="http://schemas.microsoft.com/office/drawing/2014/main" id="{F9C7D1BA-1C53-F3DA-6AE9-937175022076}"/>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15CD799B-E4A3-E306-E431-11512D88AEA4}"/>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a:extLst>
                  <a:ext uri="{FF2B5EF4-FFF2-40B4-BE49-F238E27FC236}">
                    <a16:creationId xmlns:a16="http://schemas.microsoft.com/office/drawing/2014/main" id="{A71B84E2-8A49-258A-1153-3BBFE10755DB}"/>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3" name="מציין מיקום תוכן 2">
              <a:extLst>
                <a:ext uri="{FF2B5EF4-FFF2-40B4-BE49-F238E27FC236}">
                  <a16:creationId xmlns:a16="http://schemas.microsoft.com/office/drawing/2014/main" id="{CEFF0903-003D-A8A3-2526-3D5D979615A6}"/>
                </a:ext>
              </a:extLst>
            </p:cNvPr>
            <p:cNvSpPr txBox="1">
              <a:spLocks/>
            </p:cNvSpPr>
            <p:nvPr/>
          </p:nvSpPr>
          <p:spPr>
            <a:xfrm>
              <a:off x="4894239" y="2688137"/>
              <a:ext cx="2403519" cy="1129443"/>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Shared </a:t>
              </a:r>
            </a:p>
            <a:p>
              <a:pPr marL="0" indent="0" algn="ctr" rtl="0">
                <a:buNone/>
              </a:pPr>
              <a:r>
                <a:rPr lang="en-US" sz="2400" b="1" i="1" dirty="0"/>
                <a:t>traits</a:t>
              </a:r>
            </a:p>
          </p:txBody>
        </p:sp>
        <p:sp>
          <p:nvSpPr>
            <p:cNvPr id="10" name="מציין מיקום תוכן 2">
              <a:extLst>
                <a:ext uri="{FF2B5EF4-FFF2-40B4-BE49-F238E27FC236}">
                  <a16:creationId xmlns:a16="http://schemas.microsoft.com/office/drawing/2014/main" id="{AA82A526-F6EA-FA5C-F5F8-B8971545EDFC}"/>
                </a:ext>
              </a:extLst>
            </p:cNvPr>
            <p:cNvSpPr txBox="1">
              <a:spLocks/>
            </p:cNvSpPr>
            <p:nvPr/>
          </p:nvSpPr>
          <p:spPr>
            <a:xfrm>
              <a:off x="2859332"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Chimp-</a:t>
              </a:r>
            </a:p>
            <a:p>
              <a:pPr marL="0" indent="0" algn="ctr" rtl="0">
                <a:buNone/>
              </a:pPr>
              <a:r>
                <a:rPr lang="en-US" sz="2400" b="1" i="1" dirty="0"/>
                <a:t>specific </a:t>
              </a:r>
            </a:p>
            <a:p>
              <a:pPr marL="0" indent="0" algn="ctr" rtl="0">
                <a:buNone/>
              </a:pPr>
              <a:r>
                <a:rPr lang="en-US" sz="2400" b="1" i="1" dirty="0"/>
                <a:t>traits</a:t>
              </a:r>
            </a:p>
          </p:txBody>
        </p:sp>
        <p:sp>
          <p:nvSpPr>
            <p:cNvPr id="11" name="מציין מיקום תוכן 2">
              <a:extLst>
                <a:ext uri="{FF2B5EF4-FFF2-40B4-BE49-F238E27FC236}">
                  <a16:creationId xmlns:a16="http://schemas.microsoft.com/office/drawing/2014/main" id="{C2FEF912-381D-471A-A71C-8875193DEC84}"/>
                </a:ext>
              </a:extLst>
            </p:cNvPr>
            <p:cNvSpPr txBox="1">
              <a:spLocks/>
            </p:cNvSpPr>
            <p:nvPr/>
          </p:nvSpPr>
          <p:spPr>
            <a:xfrm>
              <a:off x="6958195" y="2622141"/>
              <a:ext cx="2403519" cy="1129443"/>
            </a:xfrm>
            <a:prstGeom prst="rect">
              <a:avLst/>
            </a:prstGeom>
          </p:spPr>
          <p:txBody>
            <a:bodyPr vert="horz" lIns="91440" tIns="45720" rIns="91440" bIns="45720" rtlCol="1">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Human-</a:t>
              </a:r>
            </a:p>
            <a:p>
              <a:pPr marL="0" indent="0" algn="ctr" rtl="0">
                <a:buNone/>
              </a:pPr>
              <a:r>
                <a:rPr lang="en-US" sz="2400" b="1" i="1" dirty="0"/>
                <a:t>specific </a:t>
              </a:r>
            </a:p>
            <a:p>
              <a:pPr marL="0" indent="0" algn="ctr" rtl="0">
                <a:buNone/>
              </a:pPr>
              <a:r>
                <a:rPr lang="en-US" sz="2400" b="1" i="1" dirty="0"/>
                <a:t>traits</a:t>
              </a:r>
            </a:p>
          </p:txBody>
        </p:sp>
      </p:grpSp>
      <p:pic>
        <p:nvPicPr>
          <p:cNvPr id="1028" name="Picture 4" descr="‪Funny Cute Couple Ancient Human Cartoon. Royalty Free SVG, Cliparts,  Vectors, and Stock Illustration. Image 74301183.‬‏">
            <a:extLst>
              <a:ext uri="{FF2B5EF4-FFF2-40B4-BE49-F238E27FC236}">
                <a16:creationId xmlns:a16="http://schemas.microsoft.com/office/drawing/2014/main" id="{92DFF049-E1E9-A819-71CA-B1BF23AA20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4FFA8C97-0EE6-68BE-6D14-441E3879548E}"/>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Environment</a:t>
            </a:r>
          </a:p>
        </p:txBody>
      </p:sp>
      <p:sp>
        <p:nvSpPr>
          <p:cNvPr id="5" name="מציין מיקום תוכן 2">
            <a:extLst>
              <a:ext uri="{FF2B5EF4-FFF2-40B4-BE49-F238E27FC236}">
                <a16:creationId xmlns:a16="http://schemas.microsoft.com/office/drawing/2014/main" id="{3D177215-E3F3-9653-0765-63F16DE49530}"/>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Life span</a:t>
            </a:r>
          </a:p>
        </p:txBody>
      </p:sp>
      <p:sp>
        <p:nvSpPr>
          <p:cNvPr id="6" name="מציין מיקום תוכן 2">
            <a:extLst>
              <a:ext uri="{FF2B5EF4-FFF2-40B4-BE49-F238E27FC236}">
                <a16:creationId xmlns:a16="http://schemas.microsoft.com/office/drawing/2014/main" id="{4D78A536-9428-A591-FB47-3B7842C53BBE}"/>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Lack of data</a:t>
            </a:r>
          </a:p>
        </p:txBody>
      </p:sp>
      <p:pic>
        <p:nvPicPr>
          <p:cNvPr id="1032" name="Picture 8" descr="‪Mascot Thermometer Fever - Stock Illustration [27457006] - PIXTA‬‏">
            <a:extLst>
              <a:ext uri="{FF2B5EF4-FFF2-40B4-BE49-F238E27FC236}">
                <a16:creationId xmlns:a16="http://schemas.microsoft.com/office/drawing/2014/main" id="{2C8256DD-09BB-B86C-DAD6-426B74A5121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151722" y="1378566"/>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54AB6815-3B82-CD3E-C22A-0420703C1CA7}"/>
              </a:ext>
            </a:extLst>
          </p:cNvPr>
          <p:cNvSpPr txBox="1"/>
          <p:nvPr/>
        </p:nvSpPr>
        <p:spPr>
          <a:xfrm>
            <a:off x="9332668"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3" name="TextBox 13">
            <a:extLst>
              <a:ext uri="{FF2B5EF4-FFF2-40B4-BE49-F238E27FC236}">
                <a16:creationId xmlns:a16="http://schemas.microsoft.com/office/drawing/2014/main" id="{8BDD3DC3-9452-225F-EB2E-F460EA411D39}"/>
              </a:ext>
            </a:extLst>
          </p:cNvPr>
          <p:cNvSpPr txBox="1"/>
          <p:nvPr/>
        </p:nvSpPr>
        <p:spPr>
          <a:xfrm>
            <a:off x="5691400"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4" name="TextBox 13">
            <a:extLst>
              <a:ext uri="{FF2B5EF4-FFF2-40B4-BE49-F238E27FC236}">
                <a16:creationId xmlns:a16="http://schemas.microsoft.com/office/drawing/2014/main" id="{02D99711-F2C9-CE02-4837-1085BD7AA9C6}"/>
              </a:ext>
            </a:extLst>
          </p:cNvPr>
          <p:cNvSpPr txBox="1"/>
          <p:nvPr/>
        </p:nvSpPr>
        <p:spPr>
          <a:xfrm>
            <a:off x="2050133" y="5582754"/>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grpSp>
        <p:nvGrpSpPr>
          <p:cNvPr id="15" name="Group 6">
            <a:extLst>
              <a:ext uri="{FF2B5EF4-FFF2-40B4-BE49-F238E27FC236}">
                <a16:creationId xmlns:a16="http://schemas.microsoft.com/office/drawing/2014/main" id="{6DDBD77E-AF16-8993-E6EB-A0EE0341B939}"/>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CA909C89-D87B-3686-A14E-BD5EBA056C4C}"/>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p>
          </p:txBody>
        </p:sp>
        <p:sp>
          <p:nvSpPr>
            <p:cNvPr id="17" name="TextBox 21">
              <a:extLst>
                <a:ext uri="{FF2B5EF4-FFF2-40B4-BE49-F238E27FC236}">
                  <a16:creationId xmlns:a16="http://schemas.microsoft.com/office/drawing/2014/main" id="{5EA24A98-BE4F-8F6D-60F9-ED2EC651FBA7}"/>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Genetic changes </a:t>
              </a: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 human susceptibility</a:t>
              </a:r>
              <a:endParaRPr lang="en-IL"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19" name="אליפסה 18">
            <a:extLst>
              <a:ext uri="{FF2B5EF4-FFF2-40B4-BE49-F238E27FC236}">
                <a16:creationId xmlns:a16="http://schemas.microsoft.com/office/drawing/2014/main" id="{13937FA5-5AE6-B729-5C73-7307E96FCFB8}"/>
              </a:ext>
            </a:extLst>
          </p:cNvPr>
          <p:cNvSpPr/>
          <p:nvPr/>
        </p:nvSpPr>
        <p:spPr>
          <a:xfrm>
            <a:off x="5927783" y="4598996"/>
            <a:ext cx="3571219" cy="11086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81561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DB8A-F329-066D-DECD-9917AF058516}"/>
            </a:ext>
          </a:extLst>
        </p:cNvPr>
        <p:cNvGrpSpPr/>
        <p:nvPr/>
      </p:nvGrpSpPr>
      <p:grpSpPr>
        <a:xfrm>
          <a:off x="0" y="0"/>
          <a:ext cx="0" cy="0"/>
          <a:chOff x="0" y="0"/>
          <a:chExt cx="0" cy="0"/>
        </a:xfrm>
      </p:grpSpPr>
      <p:pic>
        <p:nvPicPr>
          <p:cNvPr id="1028" name="Picture 4" descr="‪Body Outline Images – Browse 577,029 Stock Photos, Vectors, and Video |  Adobe Stock‬‏">
            <a:extLst>
              <a:ext uri="{FF2B5EF4-FFF2-40B4-BE49-F238E27FC236}">
                <a16:creationId xmlns:a16="http://schemas.microsoft.com/office/drawing/2014/main" id="{ED186A50-00ED-1E7C-5E0F-06F26E8535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26" r="28254"/>
          <a:stretch/>
        </p:blipFill>
        <p:spPr bwMode="auto">
          <a:xfrm>
            <a:off x="8397273" y="1329000"/>
            <a:ext cx="2471230" cy="5476972"/>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0F9BD07F-9669-457A-D5D7-523BF791B40A}"/>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Which diseases can we study using the hybrid system?</a:t>
            </a:r>
            <a:endParaRPr lang="he-IL" dirty="0"/>
          </a:p>
        </p:txBody>
      </p:sp>
      <p:sp>
        <p:nvSpPr>
          <p:cNvPr id="5" name="מציין מיקום תוכן 2">
            <a:extLst>
              <a:ext uri="{FF2B5EF4-FFF2-40B4-BE49-F238E27FC236}">
                <a16:creationId xmlns:a16="http://schemas.microsoft.com/office/drawing/2014/main" id="{F430CEE6-B8B5-9F49-48E1-198B4749B9F4}"/>
              </a:ext>
            </a:extLst>
          </p:cNvPr>
          <p:cNvSpPr>
            <a:spLocks noGrp="1"/>
          </p:cNvSpPr>
          <p:nvPr>
            <p:ph idx="1"/>
          </p:nvPr>
        </p:nvSpPr>
        <p:spPr>
          <a:xfrm>
            <a:off x="838200" y="1825625"/>
            <a:ext cx="6530788" cy="4351338"/>
          </a:xfrm>
        </p:spPr>
        <p:txBody>
          <a:bodyPr>
            <a:normAutofit/>
          </a:bodyPr>
          <a:lstStyle/>
          <a:p>
            <a:pPr marL="514350" indent="-514350" algn="l" rtl="0">
              <a:buFont typeface="+mj-lt"/>
              <a:buAutoNum type="arabicPeriod"/>
            </a:pPr>
            <a:r>
              <a:rPr lang="en-US" b="1" i="1" dirty="0"/>
              <a:t>Curate list of human-specific diseases</a:t>
            </a:r>
          </a:p>
          <a:p>
            <a:pPr marL="514350" indent="-514350" algn="l" rtl="0">
              <a:buFont typeface="+mj-lt"/>
              <a:buAutoNum type="arabicPeriod"/>
            </a:pPr>
            <a:endParaRPr lang="en-US" b="1" i="1" dirty="0"/>
          </a:p>
          <a:p>
            <a:pPr marL="514350" indent="-514350" algn="l" rtl="0">
              <a:buFont typeface="+mj-lt"/>
              <a:buAutoNum type="arabicPeriod"/>
            </a:pPr>
            <a:r>
              <a:rPr lang="en-US" b="1" i="1" dirty="0"/>
              <a:t>Search literature to detect related </a:t>
            </a:r>
            <a:r>
              <a:rPr lang="en-US" b="1" i="1" dirty="0" err="1"/>
              <a:t>celltypes</a:t>
            </a:r>
            <a:endParaRPr lang="en-US" b="1" i="1" dirty="0"/>
          </a:p>
          <a:p>
            <a:pPr marL="514350" indent="-514350" algn="l" rtl="0">
              <a:buFont typeface="+mj-lt"/>
              <a:buAutoNum type="arabicPeriod"/>
            </a:pPr>
            <a:endParaRPr lang="en-US" b="1" i="1" dirty="0"/>
          </a:p>
          <a:p>
            <a:pPr marL="514350" indent="-514350" algn="l" rtl="0">
              <a:buFont typeface="+mj-lt"/>
              <a:buAutoNum type="arabicPeriod"/>
            </a:pPr>
            <a:endParaRPr lang="en-US" b="1" i="1" dirty="0"/>
          </a:p>
          <a:p>
            <a:pPr marL="514350" indent="-514350" algn="l" rtl="0">
              <a:buFont typeface="+mj-lt"/>
              <a:buAutoNum type="arabicPeriod"/>
            </a:pPr>
            <a:r>
              <a:rPr lang="en-US" b="1" i="1" dirty="0"/>
              <a:t>Intersect with hybrid data</a:t>
            </a:r>
          </a:p>
          <a:p>
            <a:pPr marL="514350" indent="-514350" algn="l" rtl="0">
              <a:buFont typeface="+mj-lt"/>
              <a:buAutoNum type="arabicPeriod"/>
            </a:pPr>
            <a:endParaRPr lang="en-US" b="1" i="1" dirty="0"/>
          </a:p>
        </p:txBody>
      </p:sp>
      <p:cxnSp>
        <p:nvCxnSpPr>
          <p:cNvPr id="6" name="מחבר: מרפקי 5">
            <a:extLst>
              <a:ext uri="{FF2B5EF4-FFF2-40B4-BE49-F238E27FC236}">
                <a16:creationId xmlns:a16="http://schemas.microsoft.com/office/drawing/2014/main" id="{9C1192BC-5E08-C796-ACE6-65D60B89E9C9}"/>
              </a:ext>
            </a:extLst>
          </p:cNvPr>
          <p:cNvCxnSpPr>
            <a:cxnSpLocks/>
          </p:cNvCxnSpPr>
          <p:nvPr/>
        </p:nvCxnSpPr>
        <p:spPr>
          <a:xfrm flipV="1">
            <a:off x="9763432" y="1564875"/>
            <a:ext cx="972301" cy="144316"/>
          </a:xfrm>
          <a:prstGeom prst="bentConnector3">
            <a:avLst/>
          </a:prstGeom>
          <a:ln>
            <a:tailEnd type="triangle"/>
          </a:ln>
        </p:spPr>
        <p:style>
          <a:lnRef idx="2">
            <a:schemeClr val="accent6"/>
          </a:lnRef>
          <a:fillRef idx="0">
            <a:schemeClr val="accent6"/>
          </a:fillRef>
          <a:effectRef idx="1">
            <a:schemeClr val="accent6"/>
          </a:effectRef>
          <a:fontRef idx="minor">
            <a:schemeClr val="tx1"/>
          </a:fontRef>
        </p:style>
      </p:cxnSp>
      <p:sp>
        <p:nvSpPr>
          <p:cNvPr id="9" name="מציין מיקום תוכן 2">
            <a:extLst>
              <a:ext uri="{FF2B5EF4-FFF2-40B4-BE49-F238E27FC236}">
                <a16:creationId xmlns:a16="http://schemas.microsoft.com/office/drawing/2014/main" id="{633C4CC4-C266-699F-D3B4-5353A179D560}"/>
              </a:ext>
            </a:extLst>
          </p:cNvPr>
          <p:cNvSpPr txBox="1">
            <a:spLocks/>
          </p:cNvSpPr>
          <p:nvPr/>
        </p:nvSpPr>
        <p:spPr>
          <a:xfrm>
            <a:off x="2922555" y="2682904"/>
            <a:ext cx="2236467" cy="590874"/>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solidFill>
                  <a:srgbClr val="FF0000"/>
                </a:solidFill>
              </a:rPr>
              <a:t>56 diseases</a:t>
            </a:r>
          </a:p>
        </p:txBody>
      </p:sp>
      <p:sp>
        <p:nvSpPr>
          <p:cNvPr id="10" name="מציין מיקום תוכן 2">
            <a:extLst>
              <a:ext uri="{FF2B5EF4-FFF2-40B4-BE49-F238E27FC236}">
                <a16:creationId xmlns:a16="http://schemas.microsoft.com/office/drawing/2014/main" id="{46F6210D-132A-68FD-13E4-1A474D1589CC}"/>
              </a:ext>
            </a:extLst>
          </p:cNvPr>
          <p:cNvSpPr txBox="1">
            <a:spLocks/>
          </p:cNvSpPr>
          <p:nvPr/>
        </p:nvSpPr>
        <p:spPr>
          <a:xfrm>
            <a:off x="2922555" y="5735299"/>
            <a:ext cx="2236467" cy="590874"/>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solidFill>
                  <a:srgbClr val="FF0000"/>
                </a:solidFill>
              </a:rPr>
              <a:t>32 diseases</a:t>
            </a:r>
          </a:p>
        </p:txBody>
      </p:sp>
      <p:sp>
        <p:nvSpPr>
          <p:cNvPr id="11" name="מציין מיקום תוכן 2">
            <a:extLst>
              <a:ext uri="{FF2B5EF4-FFF2-40B4-BE49-F238E27FC236}">
                <a16:creationId xmlns:a16="http://schemas.microsoft.com/office/drawing/2014/main" id="{3EBCB13D-56E3-6AEA-A94B-127CE71AE5C0}"/>
              </a:ext>
            </a:extLst>
          </p:cNvPr>
          <p:cNvSpPr txBox="1">
            <a:spLocks/>
          </p:cNvSpPr>
          <p:nvPr/>
        </p:nvSpPr>
        <p:spPr>
          <a:xfrm>
            <a:off x="10566977" y="1363773"/>
            <a:ext cx="1399897"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accent6">
                    <a:lumMod val="60000"/>
                    <a:lumOff val="40000"/>
                  </a:schemeClr>
                </a:solidFill>
              </a:rPr>
              <a:t>Alzheimer’s </a:t>
            </a:r>
          </a:p>
          <a:p>
            <a:pPr marL="0" indent="0" algn="ctr" rtl="0">
              <a:buNone/>
            </a:pPr>
            <a:r>
              <a:rPr lang="en-US" sz="1200" b="1" i="1" dirty="0">
                <a:solidFill>
                  <a:schemeClr val="accent6">
                    <a:lumMod val="60000"/>
                    <a:lumOff val="40000"/>
                  </a:schemeClr>
                </a:solidFill>
              </a:rPr>
              <a:t>Schizophrenia</a:t>
            </a:r>
          </a:p>
        </p:txBody>
      </p:sp>
      <p:cxnSp>
        <p:nvCxnSpPr>
          <p:cNvPr id="12" name="מחבר: מרפקי 11">
            <a:extLst>
              <a:ext uri="{FF2B5EF4-FFF2-40B4-BE49-F238E27FC236}">
                <a16:creationId xmlns:a16="http://schemas.microsoft.com/office/drawing/2014/main" id="{84C8ACC4-856E-3BA9-07EF-01310E2334FC}"/>
              </a:ext>
            </a:extLst>
          </p:cNvPr>
          <p:cNvCxnSpPr>
            <a:cxnSpLocks/>
          </p:cNvCxnSpPr>
          <p:nvPr/>
        </p:nvCxnSpPr>
        <p:spPr>
          <a:xfrm flipV="1">
            <a:off x="10520969" y="3273778"/>
            <a:ext cx="474133" cy="19969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מציין מיקום תוכן 2">
            <a:extLst>
              <a:ext uri="{FF2B5EF4-FFF2-40B4-BE49-F238E27FC236}">
                <a16:creationId xmlns:a16="http://schemas.microsoft.com/office/drawing/2014/main" id="{E4408A42-27B4-D603-CC7E-E6CF6352D9B4}"/>
              </a:ext>
            </a:extLst>
          </p:cNvPr>
          <p:cNvSpPr txBox="1">
            <a:spLocks/>
          </p:cNvSpPr>
          <p:nvPr/>
        </p:nvSpPr>
        <p:spPr>
          <a:xfrm>
            <a:off x="10607239" y="3085631"/>
            <a:ext cx="15847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accent1"/>
                </a:solidFill>
              </a:rPr>
              <a:t>Psoriasis</a:t>
            </a:r>
          </a:p>
          <a:p>
            <a:pPr marL="0" indent="0" algn="ctr" rtl="0">
              <a:buNone/>
            </a:pPr>
            <a:r>
              <a:rPr lang="en-US" sz="1200" b="1" i="1" dirty="0">
                <a:solidFill>
                  <a:schemeClr val="accent1"/>
                </a:solidFill>
              </a:rPr>
              <a:t>Carcinoma</a:t>
            </a:r>
          </a:p>
        </p:txBody>
      </p:sp>
      <p:grpSp>
        <p:nvGrpSpPr>
          <p:cNvPr id="22" name="Group 62">
            <a:extLst>
              <a:ext uri="{FF2B5EF4-FFF2-40B4-BE49-F238E27FC236}">
                <a16:creationId xmlns:a16="http://schemas.microsoft.com/office/drawing/2014/main" id="{71E8386D-EE39-A34D-7DB0-88553FC9E222}"/>
              </a:ext>
            </a:extLst>
          </p:cNvPr>
          <p:cNvGrpSpPr/>
          <p:nvPr/>
        </p:nvGrpSpPr>
        <p:grpSpPr>
          <a:xfrm>
            <a:off x="9335541" y="2142880"/>
            <a:ext cx="671285" cy="1858414"/>
            <a:chOff x="4369354" y="616282"/>
            <a:chExt cx="615419" cy="1824782"/>
          </a:xfrm>
        </p:grpSpPr>
        <p:sp>
          <p:nvSpPr>
            <p:cNvPr id="23" name="Rectangle 60">
              <a:extLst>
                <a:ext uri="{FF2B5EF4-FFF2-40B4-BE49-F238E27FC236}">
                  <a16:creationId xmlns:a16="http://schemas.microsoft.com/office/drawing/2014/main" id="{0E34D9CF-5BFD-F0E9-B463-04386E12DE23}"/>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nvGrpSpPr>
            <p:cNvPr id="24" name="Group 50">
              <a:extLst>
                <a:ext uri="{FF2B5EF4-FFF2-40B4-BE49-F238E27FC236}">
                  <a16:creationId xmlns:a16="http://schemas.microsoft.com/office/drawing/2014/main" id="{0AF2448B-8CAB-2036-8D49-6E4397462F37}"/>
                </a:ext>
              </a:extLst>
            </p:cNvPr>
            <p:cNvGrpSpPr/>
            <p:nvPr/>
          </p:nvGrpSpPr>
          <p:grpSpPr>
            <a:xfrm>
              <a:off x="4482472" y="622186"/>
              <a:ext cx="373391" cy="1818878"/>
              <a:chOff x="7430624" y="36225"/>
              <a:chExt cx="1013108" cy="4935102"/>
            </a:xfrm>
          </p:grpSpPr>
          <p:pic>
            <p:nvPicPr>
              <p:cNvPr id="25" name="Picture 2" descr="Anterior and Posterior Views of Spine">
                <a:extLst>
                  <a:ext uri="{FF2B5EF4-FFF2-40B4-BE49-F238E27FC236}">
                    <a16:creationId xmlns:a16="http://schemas.microsoft.com/office/drawing/2014/main" id="{8B2D0861-26F4-F04D-FB43-6D399E56171B}"/>
                  </a:ext>
                </a:extLst>
              </p:cNvPr>
              <p:cNvPicPr>
                <a:picLocks noChangeAspect="1" noChangeArrowheads="1"/>
              </p:cNvPicPr>
              <p:nvPr/>
            </p:nvPicPr>
            <p:blipFill rotWithShape="1">
              <a:blip r:embed="rId4">
                <a:duotone>
                  <a:schemeClr val="accent2">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49">
                <a:extLst>
                  <a:ext uri="{FF2B5EF4-FFF2-40B4-BE49-F238E27FC236}">
                    <a16:creationId xmlns:a16="http://schemas.microsoft.com/office/drawing/2014/main" id="{16A4A05E-412B-1A6A-9A16-70654ED5EC07}"/>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27" name="Rectangle 52">
                <a:extLst>
                  <a:ext uri="{FF2B5EF4-FFF2-40B4-BE49-F238E27FC236}">
                    <a16:creationId xmlns:a16="http://schemas.microsoft.com/office/drawing/2014/main" id="{8DC2A778-39E3-08F5-174A-18934C41260A}"/>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28" name="Rectangle 53">
                <a:extLst>
                  <a:ext uri="{FF2B5EF4-FFF2-40B4-BE49-F238E27FC236}">
                    <a16:creationId xmlns:a16="http://schemas.microsoft.com/office/drawing/2014/main" id="{C17E119D-A97F-2103-A39D-4831C1911195}"/>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29" name="Rectangle 54">
                <a:extLst>
                  <a:ext uri="{FF2B5EF4-FFF2-40B4-BE49-F238E27FC236}">
                    <a16:creationId xmlns:a16="http://schemas.microsoft.com/office/drawing/2014/main" id="{C1BB79D5-2C0B-8ACF-EAA9-4FEB5DCEEB5C}"/>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30" name="Rectangle 55">
                <a:extLst>
                  <a:ext uri="{FF2B5EF4-FFF2-40B4-BE49-F238E27FC236}">
                    <a16:creationId xmlns:a16="http://schemas.microsoft.com/office/drawing/2014/main" id="{A9047645-1E74-A2D2-2149-A138EB865AFE}"/>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31" name="Rectangle 56">
                <a:extLst>
                  <a:ext uri="{FF2B5EF4-FFF2-40B4-BE49-F238E27FC236}">
                    <a16:creationId xmlns:a16="http://schemas.microsoft.com/office/drawing/2014/main" id="{02C1425F-AC58-7280-F131-6EE11DF0A7FC}"/>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024" name="Rectangle 57">
                <a:extLst>
                  <a:ext uri="{FF2B5EF4-FFF2-40B4-BE49-F238E27FC236}">
                    <a16:creationId xmlns:a16="http://schemas.microsoft.com/office/drawing/2014/main" id="{A29CE5F4-AEED-A4B3-C4B7-81C85C8053E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grpSp>
      <p:pic>
        <p:nvPicPr>
          <p:cNvPr id="16" name="תמונה 15">
            <a:extLst>
              <a:ext uri="{FF2B5EF4-FFF2-40B4-BE49-F238E27FC236}">
                <a16:creationId xmlns:a16="http://schemas.microsoft.com/office/drawing/2014/main" id="{C12C4B6A-C455-4926-5573-90FCA85D3E29}"/>
              </a:ext>
            </a:extLst>
          </p:cNvPr>
          <p:cNvPicPr>
            <a:picLocks noChangeAspect="1"/>
          </p:cNvPicPr>
          <p:nvPr/>
        </p:nvPicPr>
        <p:blipFill>
          <a:blip r:embed="rId5"/>
          <a:srcRect l="19050" t="6673" r="5577"/>
          <a:stretch/>
        </p:blipFill>
        <p:spPr>
          <a:xfrm>
            <a:off x="9453342" y="2223777"/>
            <a:ext cx="442738" cy="583229"/>
          </a:xfrm>
          <a:prstGeom prst="rect">
            <a:avLst/>
          </a:prstGeom>
        </p:spPr>
      </p:pic>
      <p:pic>
        <p:nvPicPr>
          <p:cNvPr id="20" name="תמונה 19">
            <a:extLst>
              <a:ext uri="{FF2B5EF4-FFF2-40B4-BE49-F238E27FC236}">
                <a16:creationId xmlns:a16="http://schemas.microsoft.com/office/drawing/2014/main" id="{092776A3-063C-AF99-9187-76FCCC1AD3D0}"/>
              </a:ext>
            </a:extLst>
          </p:cNvPr>
          <p:cNvPicPr>
            <a:picLocks noChangeAspect="1"/>
          </p:cNvPicPr>
          <p:nvPr/>
        </p:nvPicPr>
        <p:blipFill>
          <a:blip r:embed="rId6"/>
          <a:stretch>
            <a:fillRect/>
          </a:stretch>
        </p:blipFill>
        <p:spPr>
          <a:xfrm>
            <a:off x="9636414" y="2764474"/>
            <a:ext cx="337154" cy="427733"/>
          </a:xfrm>
          <a:prstGeom prst="rect">
            <a:avLst/>
          </a:prstGeom>
        </p:spPr>
      </p:pic>
      <p:pic>
        <p:nvPicPr>
          <p:cNvPr id="21" name="Picture 44" descr="brain_sketch_by_pcek-d53270v.png">
            <a:extLst>
              <a:ext uri="{FF2B5EF4-FFF2-40B4-BE49-F238E27FC236}">
                <a16:creationId xmlns:a16="http://schemas.microsoft.com/office/drawing/2014/main" id="{C1D75B37-63F0-C3BA-4F1F-B8D80397AF9A}"/>
              </a:ext>
            </a:extLst>
          </p:cNvPr>
          <p:cNvPicPr>
            <a:picLocks noChangeAspect="1"/>
          </p:cNvPicPr>
          <p:nvPr/>
        </p:nvPicPr>
        <p:blipFill>
          <a:blip r:embed="rId7" cstate="print">
            <a:duotone>
              <a:schemeClr val="accent6">
                <a:shade val="45000"/>
                <a:satMod val="135000"/>
              </a:schemeClr>
              <a:prstClr val="white"/>
            </a:duotone>
          </a:blip>
          <a:stretch>
            <a:fillRect/>
          </a:stretch>
        </p:blipFill>
        <p:spPr>
          <a:xfrm>
            <a:off x="9495644" y="1605565"/>
            <a:ext cx="358133" cy="260750"/>
          </a:xfrm>
          <a:prstGeom prst="rect">
            <a:avLst/>
          </a:prstGeom>
        </p:spPr>
      </p:pic>
      <p:sp>
        <p:nvSpPr>
          <p:cNvPr id="1025" name="אליפסה 1024">
            <a:extLst>
              <a:ext uri="{FF2B5EF4-FFF2-40B4-BE49-F238E27FC236}">
                <a16:creationId xmlns:a16="http://schemas.microsoft.com/office/drawing/2014/main" id="{0ADE4D73-FDA2-C5D7-92A0-975B7B7F6FFA}"/>
              </a:ext>
            </a:extLst>
          </p:cNvPr>
          <p:cNvSpPr/>
          <p:nvPr/>
        </p:nvSpPr>
        <p:spPr>
          <a:xfrm>
            <a:off x="9555064" y="3918935"/>
            <a:ext cx="214564" cy="201849"/>
          </a:xfrm>
          <a:prstGeom prst="ellipse">
            <a:avLst/>
          </a:prstGeom>
          <a:solidFill>
            <a:srgbClr val="F2CFE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27" name="אליפסה 1026">
            <a:extLst>
              <a:ext uri="{FF2B5EF4-FFF2-40B4-BE49-F238E27FC236}">
                <a16:creationId xmlns:a16="http://schemas.microsoft.com/office/drawing/2014/main" id="{FFA91C1B-1800-CA4A-8D5C-90F2580D61C4}"/>
              </a:ext>
            </a:extLst>
          </p:cNvPr>
          <p:cNvSpPr/>
          <p:nvPr/>
        </p:nvSpPr>
        <p:spPr>
          <a:xfrm>
            <a:off x="9437238" y="3342811"/>
            <a:ext cx="572519" cy="483582"/>
          </a:xfrm>
          <a:prstGeom prst="ellipse">
            <a:avLst/>
          </a:prstGeom>
          <a:solidFill>
            <a:srgbClr val="CCF6EC">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029" name="מחבר: מרפקי 1028">
            <a:extLst>
              <a:ext uri="{FF2B5EF4-FFF2-40B4-BE49-F238E27FC236}">
                <a16:creationId xmlns:a16="http://schemas.microsoft.com/office/drawing/2014/main" id="{8F6D8950-A8A6-25AF-1E07-B2533A1F0C4F}"/>
              </a:ext>
            </a:extLst>
          </p:cNvPr>
          <p:cNvCxnSpPr>
            <a:cxnSpLocks/>
            <a:stCxn id="20" idx="3"/>
          </p:cNvCxnSpPr>
          <p:nvPr/>
        </p:nvCxnSpPr>
        <p:spPr>
          <a:xfrm flipV="1">
            <a:off x="9973568" y="2413570"/>
            <a:ext cx="593409" cy="564771"/>
          </a:xfrm>
          <a:prstGeom prst="bentConnector3">
            <a:avLst/>
          </a:prstGeom>
          <a:ln>
            <a:solidFill>
              <a:schemeClr val="bg2">
                <a:lumMod val="75000"/>
              </a:schemeClr>
            </a:solidFill>
            <a:tailEnd type="triangle"/>
          </a:ln>
        </p:spPr>
        <p:style>
          <a:lnRef idx="2">
            <a:schemeClr val="accent3"/>
          </a:lnRef>
          <a:fillRef idx="0">
            <a:schemeClr val="accent3"/>
          </a:fillRef>
          <a:effectRef idx="1">
            <a:schemeClr val="accent3"/>
          </a:effectRef>
          <a:fontRef idx="minor">
            <a:schemeClr val="tx1"/>
          </a:fontRef>
        </p:style>
      </p:cxnSp>
      <p:sp>
        <p:nvSpPr>
          <p:cNvPr id="1031" name="מציין מיקום תוכן 2">
            <a:extLst>
              <a:ext uri="{FF2B5EF4-FFF2-40B4-BE49-F238E27FC236}">
                <a16:creationId xmlns:a16="http://schemas.microsoft.com/office/drawing/2014/main" id="{CF09DD9A-EDFF-3A25-C02E-C71033BA8414}"/>
              </a:ext>
            </a:extLst>
          </p:cNvPr>
          <p:cNvSpPr txBox="1">
            <a:spLocks/>
          </p:cNvSpPr>
          <p:nvPr/>
        </p:nvSpPr>
        <p:spPr>
          <a:xfrm>
            <a:off x="10520969" y="2196686"/>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bg2">
                    <a:lumMod val="75000"/>
                  </a:schemeClr>
                </a:solidFill>
              </a:rPr>
              <a:t>Myocardial infractions</a:t>
            </a:r>
          </a:p>
          <a:p>
            <a:pPr marL="0" indent="0" algn="ctr" rtl="0">
              <a:buNone/>
            </a:pPr>
            <a:r>
              <a:rPr lang="en-US" sz="1200" b="1" i="1" dirty="0">
                <a:solidFill>
                  <a:schemeClr val="bg2">
                    <a:lumMod val="75000"/>
                  </a:schemeClr>
                </a:solidFill>
              </a:rPr>
              <a:t>Varicose veins</a:t>
            </a:r>
          </a:p>
        </p:txBody>
      </p:sp>
      <p:cxnSp>
        <p:nvCxnSpPr>
          <p:cNvPr id="1034" name="מחבר: מרפקי 1033">
            <a:extLst>
              <a:ext uri="{FF2B5EF4-FFF2-40B4-BE49-F238E27FC236}">
                <a16:creationId xmlns:a16="http://schemas.microsoft.com/office/drawing/2014/main" id="{AC8D7AB4-D866-9E23-C2C8-BDFA5AD92A1E}"/>
              </a:ext>
            </a:extLst>
          </p:cNvPr>
          <p:cNvCxnSpPr>
            <a:cxnSpLocks/>
          </p:cNvCxnSpPr>
          <p:nvPr/>
        </p:nvCxnSpPr>
        <p:spPr>
          <a:xfrm rot="10800000">
            <a:off x="8899566" y="2028742"/>
            <a:ext cx="608720" cy="572151"/>
          </a:xfrm>
          <a:prstGeom prst="bentConnector3">
            <a:avLst/>
          </a:prstGeom>
          <a:ln>
            <a:solidFill>
              <a:schemeClr val="accent5">
                <a:lumMod val="60000"/>
                <a:lumOff val="40000"/>
              </a:schemeClr>
            </a:solidFill>
            <a:tailEnd type="triangle"/>
          </a:ln>
        </p:spPr>
        <p:style>
          <a:lnRef idx="2">
            <a:schemeClr val="accent3"/>
          </a:lnRef>
          <a:fillRef idx="0">
            <a:schemeClr val="accent3"/>
          </a:fillRef>
          <a:effectRef idx="1">
            <a:schemeClr val="accent3"/>
          </a:effectRef>
          <a:fontRef idx="minor">
            <a:schemeClr val="tx1"/>
          </a:fontRef>
        </p:style>
      </p:cxnSp>
      <p:sp>
        <p:nvSpPr>
          <p:cNvPr id="1036" name="מציין מיקום תוכן 2">
            <a:extLst>
              <a:ext uri="{FF2B5EF4-FFF2-40B4-BE49-F238E27FC236}">
                <a16:creationId xmlns:a16="http://schemas.microsoft.com/office/drawing/2014/main" id="{45B4BA20-39CC-C7B1-0B6E-CA1766EA814B}"/>
              </a:ext>
            </a:extLst>
          </p:cNvPr>
          <p:cNvSpPr txBox="1">
            <a:spLocks/>
          </p:cNvSpPr>
          <p:nvPr/>
        </p:nvSpPr>
        <p:spPr>
          <a:xfrm>
            <a:off x="7297108" y="1752191"/>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accent5">
                    <a:lumMod val="60000"/>
                    <a:lumOff val="40000"/>
                  </a:schemeClr>
                </a:solidFill>
              </a:rPr>
              <a:t>Bronchial asthma</a:t>
            </a:r>
          </a:p>
          <a:p>
            <a:pPr marL="0" indent="0" algn="ctr" rtl="0">
              <a:buNone/>
            </a:pPr>
            <a:r>
              <a:rPr lang="en-US" sz="1200" b="1" i="1" dirty="0">
                <a:solidFill>
                  <a:schemeClr val="accent5">
                    <a:lumMod val="60000"/>
                    <a:lumOff val="40000"/>
                  </a:schemeClr>
                </a:solidFill>
              </a:rPr>
              <a:t>Sleep apnea</a:t>
            </a:r>
          </a:p>
        </p:txBody>
      </p:sp>
      <p:cxnSp>
        <p:nvCxnSpPr>
          <p:cNvPr id="1037" name="מחבר: מרפקי 1036">
            <a:extLst>
              <a:ext uri="{FF2B5EF4-FFF2-40B4-BE49-F238E27FC236}">
                <a16:creationId xmlns:a16="http://schemas.microsoft.com/office/drawing/2014/main" id="{C6BDC006-0C7C-3B95-44D4-3A744D281194}"/>
              </a:ext>
            </a:extLst>
          </p:cNvPr>
          <p:cNvCxnSpPr>
            <a:cxnSpLocks/>
          </p:cNvCxnSpPr>
          <p:nvPr/>
        </p:nvCxnSpPr>
        <p:spPr>
          <a:xfrm rot="10800000">
            <a:off x="8646291" y="2899548"/>
            <a:ext cx="984813" cy="310058"/>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sp>
        <p:nvSpPr>
          <p:cNvPr id="1039" name="מציין מיקום תוכן 2">
            <a:extLst>
              <a:ext uri="{FF2B5EF4-FFF2-40B4-BE49-F238E27FC236}">
                <a16:creationId xmlns:a16="http://schemas.microsoft.com/office/drawing/2014/main" id="{293B47E7-EF24-5C06-3CE0-5E2A57A1AB0F}"/>
              </a:ext>
            </a:extLst>
          </p:cNvPr>
          <p:cNvSpPr txBox="1">
            <a:spLocks/>
          </p:cNvSpPr>
          <p:nvPr/>
        </p:nvSpPr>
        <p:spPr>
          <a:xfrm>
            <a:off x="7241608" y="2637378"/>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accent2">
                    <a:lumMod val="60000"/>
                    <a:lumOff val="40000"/>
                  </a:schemeClr>
                </a:solidFill>
              </a:rPr>
              <a:t>Scoliosis</a:t>
            </a:r>
          </a:p>
          <a:p>
            <a:pPr marL="0" indent="0" algn="ctr" rtl="0">
              <a:buNone/>
            </a:pPr>
            <a:r>
              <a:rPr lang="en-US" sz="1200" b="1" i="1" dirty="0">
                <a:solidFill>
                  <a:schemeClr val="accent2">
                    <a:lumMod val="60000"/>
                    <a:lumOff val="40000"/>
                  </a:schemeClr>
                </a:solidFill>
              </a:rPr>
              <a:t>Osteoporosis</a:t>
            </a:r>
          </a:p>
        </p:txBody>
      </p:sp>
      <p:cxnSp>
        <p:nvCxnSpPr>
          <p:cNvPr id="1040" name="מחבר: מרפקי 1039">
            <a:extLst>
              <a:ext uri="{FF2B5EF4-FFF2-40B4-BE49-F238E27FC236}">
                <a16:creationId xmlns:a16="http://schemas.microsoft.com/office/drawing/2014/main" id="{4147897E-A680-4C08-EAEB-30BCEE105299}"/>
              </a:ext>
            </a:extLst>
          </p:cNvPr>
          <p:cNvCxnSpPr>
            <a:cxnSpLocks/>
          </p:cNvCxnSpPr>
          <p:nvPr/>
        </p:nvCxnSpPr>
        <p:spPr>
          <a:xfrm rot="10800000" flipV="1">
            <a:off x="8387190" y="3587971"/>
            <a:ext cx="1081796" cy="263238"/>
          </a:xfrm>
          <a:prstGeom prst="bentConnector3">
            <a:avLst/>
          </a:prstGeom>
          <a:ln>
            <a:solidFill>
              <a:srgbClr val="25D5D5"/>
            </a:solidFill>
            <a:tailEnd type="triangle"/>
          </a:ln>
        </p:spPr>
        <p:style>
          <a:lnRef idx="2">
            <a:schemeClr val="accent2"/>
          </a:lnRef>
          <a:fillRef idx="0">
            <a:schemeClr val="accent2"/>
          </a:fillRef>
          <a:effectRef idx="1">
            <a:schemeClr val="accent2"/>
          </a:effectRef>
          <a:fontRef idx="minor">
            <a:schemeClr val="tx1"/>
          </a:fontRef>
        </p:style>
      </p:cxnSp>
      <p:sp>
        <p:nvSpPr>
          <p:cNvPr id="1042" name="מציין מיקום תוכן 2">
            <a:extLst>
              <a:ext uri="{FF2B5EF4-FFF2-40B4-BE49-F238E27FC236}">
                <a16:creationId xmlns:a16="http://schemas.microsoft.com/office/drawing/2014/main" id="{05E5C228-0CBF-1241-D6BA-3EE28FA1078D}"/>
              </a:ext>
            </a:extLst>
          </p:cNvPr>
          <p:cNvSpPr txBox="1">
            <a:spLocks/>
          </p:cNvSpPr>
          <p:nvPr/>
        </p:nvSpPr>
        <p:spPr>
          <a:xfrm>
            <a:off x="6979452" y="3569214"/>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rgbClr val="25D5D5"/>
                </a:solidFill>
              </a:rPr>
              <a:t>Colon diverticulosis</a:t>
            </a:r>
          </a:p>
          <a:p>
            <a:pPr marL="0" indent="0" algn="ctr" rtl="0">
              <a:buNone/>
            </a:pPr>
            <a:r>
              <a:rPr lang="en-US" sz="1200" b="1" i="1" dirty="0">
                <a:solidFill>
                  <a:srgbClr val="25D5D5"/>
                </a:solidFill>
              </a:rPr>
              <a:t>Hemorrhoids</a:t>
            </a:r>
          </a:p>
        </p:txBody>
      </p:sp>
      <p:cxnSp>
        <p:nvCxnSpPr>
          <p:cNvPr id="1043" name="מחבר: מרפקי 1042">
            <a:extLst>
              <a:ext uri="{FF2B5EF4-FFF2-40B4-BE49-F238E27FC236}">
                <a16:creationId xmlns:a16="http://schemas.microsoft.com/office/drawing/2014/main" id="{24708754-64F8-79D7-3768-43B91985AE94}"/>
              </a:ext>
            </a:extLst>
          </p:cNvPr>
          <p:cNvCxnSpPr>
            <a:cxnSpLocks/>
          </p:cNvCxnSpPr>
          <p:nvPr/>
        </p:nvCxnSpPr>
        <p:spPr>
          <a:xfrm rot="10800000" flipV="1">
            <a:off x="8617041" y="4041863"/>
            <a:ext cx="967510" cy="424860"/>
          </a:xfrm>
          <a:prstGeom prst="bentConnector3">
            <a:avLst/>
          </a:prstGeom>
          <a:ln>
            <a:solidFill>
              <a:srgbClr val="F2CFEE"/>
            </a:solidFill>
            <a:tailEnd type="triangle"/>
          </a:ln>
        </p:spPr>
        <p:style>
          <a:lnRef idx="2">
            <a:schemeClr val="accent2"/>
          </a:lnRef>
          <a:fillRef idx="0">
            <a:schemeClr val="accent2"/>
          </a:fillRef>
          <a:effectRef idx="1">
            <a:schemeClr val="accent2"/>
          </a:effectRef>
          <a:fontRef idx="minor">
            <a:schemeClr val="tx1"/>
          </a:fontRef>
        </p:style>
      </p:cxnSp>
      <p:sp>
        <p:nvSpPr>
          <p:cNvPr id="1045" name="מציין מיקום תוכן 2">
            <a:extLst>
              <a:ext uri="{FF2B5EF4-FFF2-40B4-BE49-F238E27FC236}">
                <a16:creationId xmlns:a16="http://schemas.microsoft.com/office/drawing/2014/main" id="{D99EBB30-1AF2-5781-0E5B-4409F00B275D}"/>
              </a:ext>
            </a:extLst>
          </p:cNvPr>
          <p:cNvSpPr txBox="1">
            <a:spLocks/>
          </p:cNvSpPr>
          <p:nvPr/>
        </p:nvSpPr>
        <p:spPr>
          <a:xfrm>
            <a:off x="7118205" y="4254293"/>
            <a:ext cx="1781361" cy="483583"/>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200" b="1" i="1" dirty="0">
                <a:solidFill>
                  <a:schemeClr val="accent5">
                    <a:lumMod val="40000"/>
                    <a:lumOff val="60000"/>
                  </a:schemeClr>
                </a:solidFill>
              </a:rPr>
              <a:t>Morning sickness</a:t>
            </a:r>
          </a:p>
          <a:p>
            <a:pPr marL="0" indent="0" algn="ctr" rtl="0">
              <a:buNone/>
            </a:pPr>
            <a:r>
              <a:rPr lang="en-US" sz="1200" b="1" i="1" dirty="0">
                <a:solidFill>
                  <a:schemeClr val="accent5">
                    <a:lumMod val="40000"/>
                    <a:lumOff val="60000"/>
                  </a:schemeClr>
                </a:solidFill>
              </a:rPr>
              <a:t>Premature labor</a:t>
            </a:r>
          </a:p>
        </p:txBody>
      </p:sp>
      <p:pic>
        <p:nvPicPr>
          <p:cNvPr id="1046" name="תמונה 1045">
            <a:extLst>
              <a:ext uri="{FF2B5EF4-FFF2-40B4-BE49-F238E27FC236}">
                <a16:creationId xmlns:a16="http://schemas.microsoft.com/office/drawing/2014/main" id="{1EB2893F-A235-DEDC-C333-5787F6CA702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l="18515" t="8391" r="18441" b="63264"/>
          <a:stretch/>
        </p:blipFill>
        <p:spPr>
          <a:xfrm>
            <a:off x="646446" y="4120784"/>
            <a:ext cx="1522972" cy="936995"/>
          </a:xfrm>
          <a:prstGeom prst="rect">
            <a:avLst/>
          </a:prstGeom>
        </p:spPr>
      </p:pic>
      <p:pic>
        <p:nvPicPr>
          <p:cNvPr id="1047" name="תמונה 1046">
            <a:extLst>
              <a:ext uri="{FF2B5EF4-FFF2-40B4-BE49-F238E27FC236}">
                <a16:creationId xmlns:a16="http://schemas.microsoft.com/office/drawing/2014/main" id="{E34A6DC0-B734-F526-AB62-21FA6D5A9714}"/>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t="69331"/>
          <a:stretch/>
        </p:blipFill>
        <p:spPr>
          <a:xfrm>
            <a:off x="3197703" y="4163072"/>
            <a:ext cx="2415695" cy="1013817"/>
          </a:xfrm>
          <a:prstGeom prst="rect">
            <a:avLst/>
          </a:prstGeom>
        </p:spPr>
      </p:pic>
      <p:pic>
        <p:nvPicPr>
          <p:cNvPr id="1048" name="תמונה 1047">
            <a:extLst>
              <a:ext uri="{FF2B5EF4-FFF2-40B4-BE49-F238E27FC236}">
                <a16:creationId xmlns:a16="http://schemas.microsoft.com/office/drawing/2014/main" id="{8F9EA96B-C281-E173-5096-80F84EE321C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l="28374" t="34465" r="27899" b="30784"/>
          <a:stretch/>
        </p:blipFill>
        <p:spPr>
          <a:xfrm>
            <a:off x="2150370" y="4041863"/>
            <a:ext cx="1056299" cy="1148768"/>
          </a:xfrm>
          <a:prstGeom prst="rect">
            <a:avLst/>
          </a:prstGeom>
        </p:spPr>
      </p:pic>
      <p:sp>
        <p:nvSpPr>
          <p:cNvPr id="1049" name="תיבת טקסט 1048">
            <a:extLst>
              <a:ext uri="{FF2B5EF4-FFF2-40B4-BE49-F238E27FC236}">
                <a16:creationId xmlns:a16="http://schemas.microsoft.com/office/drawing/2014/main" id="{68FDC755-B8F6-A8F2-868C-45551960AA73}"/>
              </a:ext>
            </a:extLst>
          </p:cNvPr>
          <p:cNvSpPr txBox="1"/>
          <p:nvPr/>
        </p:nvSpPr>
        <p:spPr>
          <a:xfrm>
            <a:off x="7392136" y="2850724"/>
            <a:ext cx="1230460" cy="369332"/>
          </a:xfrm>
          <a:prstGeom prst="rect">
            <a:avLst/>
          </a:prstGeom>
          <a:solidFill>
            <a:srgbClr val="FFFFFF">
              <a:alpha val="50196"/>
            </a:srgbClr>
          </a:solidFill>
        </p:spPr>
        <p:txBody>
          <a:bodyPr wrap="square" rtlCol="1">
            <a:spAutoFit/>
          </a:bodyPr>
          <a:lstStyle/>
          <a:p>
            <a:endParaRPr lang="he-IL" dirty="0"/>
          </a:p>
        </p:txBody>
      </p:sp>
      <p:sp>
        <p:nvSpPr>
          <p:cNvPr id="1050" name="תיבת טקסט 1049">
            <a:extLst>
              <a:ext uri="{FF2B5EF4-FFF2-40B4-BE49-F238E27FC236}">
                <a16:creationId xmlns:a16="http://schemas.microsoft.com/office/drawing/2014/main" id="{1339F5C1-0AE7-1E27-EB3C-470D44C2F6C7}"/>
              </a:ext>
            </a:extLst>
          </p:cNvPr>
          <p:cNvSpPr txBox="1"/>
          <p:nvPr/>
        </p:nvSpPr>
        <p:spPr>
          <a:xfrm>
            <a:off x="7368988" y="4515925"/>
            <a:ext cx="1230460" cy="369332"/>
          </a:xfrm>
          <a:prstGeom prst="rect">
            <a:avLst/>
          </a:prstGeom>
          <a:solidFill>
            <a:srgbClr val="FFFFFF">
              <a:alpha val="50196"/>
            </a:srgbClr>
          </a:solidFill>
        </p:spPr>
        <p:txBody>
          <a:bodyPr wrap="square" rtlCol="1">
            <a:spAutoFit/>
          </a:bodyPr>
          <a:lstStyle/>
          <a:p>
            <a:endParaRPr lang="he-IL" dirty="0"/>
          </a:p>
        </p:txBody>
      </p:sp>
      <p:sp>
        <p:nvSpPr>
          <p:cNvPr id="1051" name="תיבת טקסט 1050">
            <a:extLst>
              <a:ext uri="{FF2B5EF4-FFF2-40B4-BE49-F238E27FC236}">
                <a16:creationId xmlns:a16="http://schemas.microsoft.com/office/drawing/2014/main" id="{BFA2B0E3-0C3D-7D8D-18C7-C6DE8613A469}"/>
              </a:ext>
            </a:extLst>
          </p:cNvPr>
          <p:cNvSpPr txBox="1"/>
          <p:nvPr/>
        </p:nvSpPr>
        <p:spPr>
          <a:xfrm>
            <a:off x="10802459" y="2436770"/>
            <a:ext cx="1230460" cy="369332"/>
          </a:xfrm>
          <a:prstGeom prst="rect">
            <a:avLst/>
          </a:prstGeom>
          <a:solidFill>
            <a:srgbClr val="FFFFFF">
              <a:alpha val="50196"/>
            </a:srgbClr>
          </a:solidFill>
        </p:spPr>
        <p:txBody>
          <a:bodyPr wrap="square" rtlCol="1">
            <a:spAutoFit/>
          </a:bodyPr>
          <a:lstStyle/>
          <a:p>
            <a:endParaRPr lang="he-IL" dirty="0"/>
          </a:p>
        </p:txBody>
      </p:sp>
    </p:spTree>
    <p:extLst>
      <p:ext uri="{BB962C8B-B14F-4D97-AF65-F5344CB8AC3E}">
        <p14:creationId xmlns:p14="http://schemas.microsoft.com/office/powerpoint/2010/main" val="137006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 grpId="0"/>
      <p:bldP spid="10" grpId="0"/>
      <p:bldP spid="11" grpId="0"/>
      <p:bldP spid="14" grpId="0"/>
      <p:bldP spid="1031" grpId="0"/>
      <p:bldP spid="1036" grpId="0"/>
      <p:bldP spid="1039" grpId="0"/>
      <p:bldP spid="1042" grpId="0"/>
      <p:bldP spid="1045" grpId="0"/>
      <p:bldP spid="1049" grpId="0" animBg="1"/>
      <p:bldP spid="1050" grpId="0" animBg="1"/>
      <p:bldP spid="10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D6A5-41CD-AADA-7203-AD5479CA2A3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3C9B698-C5F6-8A97-D823-25339146FA2F}"/>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Identifying disease-associated genes</a:t>
            </a:r>
            <a:endParaRPr lang="he-IL" dirty="0"/>
          </a:p>
        </p:txBody>
      </p:sp>
      <p:pic>
        <p:nvPicPr>
          <p:cNvPr id="5" name="תמונה 4">
            <a:extLst>
              <a:ext uri="{FF2B5EF4-FFF2-40B4-BE49-F238E27FC236}">
                <a16:creationId xmlns:a16="http://schemas.microsoft.com/office/drawing/2014/main" id="{DA094304-FBA3-E879-A9F9-656DAE608373}"/>
              </a:ext>
            </a:extLst>
          </p:cNvPr>
          <p:cNvPicPr>
            <a:picLocks noChangeAspect="1"/>
          </p:cNvPicPr>
          <p:nvPr/>
        </p:nvPicPr>
        <p:blipFill>
          <a:blip r:embed="rId3"/>
          <a:stretch>
            <a:fillRect/>
          </a:stretch>
        </p:blipFill>
        <p:spPr>
          <a:xfrm>
            <a:off x="3025949" y="2680352"/>
            <a:ext cx="6140103" cy="3692750"/>
          </a:xfrm>
          <a:prstGeom prst="rect">
            <a:avLst/>
          </a:prstGeom>
        </p:spPr>
      </p:pic>
      <p:pic>
        <p:nvPicPr>
          <p:cNvPr id="10" name="תמונה 9">
            <a:extLst>
              <a:ext uri="{FF2B5EF4-FFF2-40B4-BE49-F238E27FC236}">
                <a16:creationId xmlns:a16="http://schemas.microsoft.com/office/drawing/2014/main" id="{7F96DAC9-BC3B-F697-285A-73DA85353508}"/>
              </a:ext>
            </a:extLst>
          </p:cNvPr>
          <p:cNvPicPr>
            <a:picLocks noChangeAspect="1"/>
          </p:cNvPicPr>
          <p:nvPr/>
        </p:nvPicPr>
        <p:blipFill>
          <a:blip r:embed="rId4"/>
          <a:stretch>
            <a:fillRect/>
          </a:stretch>
        </p:blipFill>
        <p:spPr>
          <a:xfrm>
            <a:off x="2881871" y="1509713"/>
            <a:ext cx="6428258" cy="1035702"/>
          </a:xfrm>
          <a:prstGeom prst="rect">
            <a:avLst/>
          </a:prstGeom>
        </p:spPr>
      </p:pic>
    </p:spTree>
    <p:extLst>
      <p:ext uri="{BB962C8B-B14F-4D97-AF65-F5344CB8AC3E}">
        <p14:creationId xmlns:p14="http://schemas.microsoft.com/office/powerpoint/2010/main" val="312749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635C-6F98-330D-ACED-0F9A765EF36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595AEBC-1143-177C-76B9-5DFAE366B8C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Identifying disease-associated genes</a:t>
            </a:r>
            <a:endParaRPr lang="he-IL" dirty="0"/>
          </a:p>
        </p:txBody>
      </p:sp>
      <p:pic>
        <p:nvPicPr>
          <p:cNvPr id="7" name="מציין מיקום תוכן 6" descr="תמונה שמכילה טקסט, צילום מסך, עלילה, תרשים&#10;&#10;תוכן שנוצר על-ידי בינה מלאכותית עשוי להיות שגוי.">
            <a:extLst>
              <a:ext uri="{FF2B5EF4-FFF2-40B4-BE49-F238E27FC236}">
                <a16:creationId xmlns:a16="http://schemas.microsoft.com/office/drawing/2014/main" id="{E1036967-F43A-2288-7E4F-800F469F6B3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90920" y="1690688"/>
            <a:ext cx="6010160" cy="4861673"/>
          </a:xfrm>
        </p:spPr>
      </p:pic>
      <p:sp>
        <p:nvSpPr>
          <p:cNvPr id="8" name="כותרת משנה 2">
            <a:extLst>
              <a:ext uri="{FF2B5EF4-FFF2-40B4-BE49-F238E27FC236}">
                <a16:creationId xmlns:a16="http://schemas.microsoft.com/office/drawing/2014/main" id="{590EB39A-A8C7-5D36-4E98-37FD12A74CA5}"/>
              </a:ext>
            </a:extLst>
          </p:cNvPr>
          <p:cNvSpPr txBox="1">
            <a:spLocks/>
          </p:cNvSpPr>
          <p:nvPr/>
        </p:nvSpPr>
        <p:spPr>
          <a:xfrm>
            <a:off x="3415865" y="1352925"/>
            <a:ext cx="568521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Total number of genes per disease</a:t>
            </a:r>
            <a:endParaRPr lang="he-IL" sz="2000" b="1" i="1" dirty="0"/>
          </a:p>
        </p:txBody>
      </p:sp>
      <p:sp>
        <p:nvSpPr>
          <p:cNvPr id="9" name="תיבת טקסט 8">
            <a:extLst>
              <a:ext uri="{FF2B5EF4-FFF2-40B4-BE49-F238E27FC236}">
                <a16:creationId xmlns:a16="http://schemas.microsoft.com/office/drawing/2014/main" id="{3C8DD660-2C8E-211E-B5C5-C665A775C7BD}"/>
              </a:ext>
            </a:extLst>
          </p:cNvPr>
          <p:cNvSpPr txBox="1"/>
          <p:nvPr/>
        </p:nvSpPr>
        <p:spPr>
          <a:xfrm rot="16200000">
            <a:off x="2220316" y="3477613"/>
            <a:ext cx="2018207" cy="276999"/>
          </a:xfrm>
          <a:prstGeom prst="rect">
            <a:avLst/>
          </a:prstGeom>
          <a:solidFill>
            <a:schemeClr val="bg1"/>
          </a:solidFill>
        </p:spPr>
        <p:txBody>
          <a:bodyPr wrap="square" rtlCol="1">
            <a:spAutoFit/>
          </a:bodyPr>
          <a:lstStyle/>
          <a:p>
            <a:pPr algn="ctr"/>
            <a:endParaRPr lang="he-IL" sz="1200" dirty="0"/>
          </a:p>
        </p:txBody>
      </p:sp>
    </p:spTree>
    <p:extLst>
      <p:ext uri="{BB962C8B-B14F-4D97-AF65-F5344CB8AC3E}">
        <p14:creationId xmlns:p14="http://schemas.microsoft.com/office/powerpoint/2010/main" val="23204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FA2C-6DCA-D08C-D8CA-65EAC5213D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0A95015-B2EC-6BFE-7958-2E23654922E3}"/>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What are we looking for?</a:t>
            </a:r>
            <a:endParaRPr lang="he-IL" dirty="0"/>
          </a:p>
        </p:txBody>
      </p:sp>
      <p:pic>
        <p:nvPicPr>
          <p:cNvPr id="4" name="Picture 44" descr="brain_sketch_by_pcek-d53270v.png">
            <a:extLst>
              <a:ext uri="{FF2B5EF4-FFF2-40B4-BE49-F238E27FC236}">
                <a16:creationId xmlns:a16="http://schemas.microsoft.com/office/drawing/2014/main" id="{EC806614-A13F-4A46-0F93-245AE7839F0B}"/>
              </a:ext>
            </a:extLst>
          </p:cNvPr>
          <p:cNvPicPr>
            <a:picLocks noChangeAspect="1"/>
          </p:cNvPicPr>
          <p:nvPr/>
        </p:nvPicPr>
        <p:blipFill>
          <a:blip r:embed="rId3" cstate="print">
            <a:duotone>
              <a:schemeClr val="accent5">
                <a:shade val="45000"/>
                <a:satMod val="135000"/>
              </a:schemeClr>
              <a:prstClr val="white"/>
            </a:duotone>
          </a:blip>
          <a:stretch>
            <a:fillRect/>
          </a:stretch>
        </p:blipFill>
        <p:spPr>
          <a:xfrm>
            <a:off x="1276238" y="1662794"/>
            <a:ext cx="1526951" cy="1111744"/>
          </a:xfrm>
          <a:prstGeom prst="rect">
            <a:avLst/>
          </a:prstGeom>
        </p:spPr>
      </p:pic>
      <p:pic>
        <p:nvPicPr>
          <p:cNvPr id="5" name="Picture 43" descr="human_heart_pencil_drawing.jpg">
            <a:extLst>
              <a:ext uri="{FF2B5EF4-FFF2-40B4-BE49-F238E27FC236}">
                <a16:creationId xmlns:a16="http://schemas.microsoft.com/office/drawing/2014/main" id="{42558F64-7915-E386-6196-193E16DDE670}"/>
              </a:ext>
            </a:extLst>
          </p:cNvPr>
          <p:cNvPicPr>
            <a:picLocks noChangeAspect="1"/>
          </p:cNvPicPr>
          <p:nvPr/>
        </p:nvPicPr>
        <p:blipFill rotWithShape="1">
          <a:blip r:embed="rId4" cstate="print">
            <a:duotone>
              <a:schemeClr val="accent5">
                <a:shade val="45000"/>
                <a:satMod val="135000"/>
              </a:schemeClr>
              <a:prstClr val="white"/>
            </a:duotone>
          </a:blip>
          <a:srcRect l="8093"/>
          <a:stretch/>
        </p:blipFill>
        <p:spPr>
          <a:xfrm>
            <a:off x="1340791" y="4857187"/>
            <a:ext cx="1048969" cy="1543056"/>
          </a:xfrm>
          <a:prstGeom prst="rect">
            <a:avLst/>
          </a:prstGeom>
        </p:spPr>
      </p:pic>
      <p:grpSp>
        <p:nvGrpSpPr>
          <p:cNvPr id="6" name="Group 62">
            <a:extLst>
              <a:ext uri="{FF2B5EF4-FFF2-40B4-BE49-F238E27FC236}">
                <a16:creationId xmlns:a16="http://schemas.microsoft.com/office/drawing/2014/main" id="{FAD67D56-23AB-3A03-7952-7D2C2B8E3126}"/>
              </a:ext>
            </a:extLst>
          </p:cNvPr>
          <p:cNvGrpSpPr/>
          <p:nvPr/>
        </p:nvGrpSpPr>
        <p:grpSpPr>
          <a:xfrm>
            <a:off x="1569201" y="2475759"/>
            <a:ext cx="820559" cy="2433043"/>
            <a:chOff x="4369354" y="616282"/>
            <a:chExt cx="615419" cy="1824782"/>
          </a:xfrm>
        </p:grpSpPr>
        <p:sp>
          <p:nvSpPr>
            <p:cNvPr id="7" name="Rectangle 60">
              <a:extLst>
                <a:ext uri="{FF2B5EF4-FFF2-40B4-BE49-F238E27FC236}">
                  <a16:creationId xmlns:a16="http://schemas.microsoft.com/office/drawing/2014/main" id="{A411B253-3DC1-2C5B-EBF5-C63DAA274624}"/>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nvGrpSpPr>
            <p:cNvPr id="8" name="Group 50">
              <a:extLst>
                <a:ext uri="{FF2B5EF4-FFF2-40B4-BE49-F238E27FC236}">
                  <a16:creationId xmlns:a16="http://schemas.microsoft.com/office/drawing/2014/main" id="{8C64076B-5032-B807-64FA-AB6D944798FD}"/>
                </a:ext>
              </a:extLst>
            </p:cNvPr>
            <p:cNvGrpSpPr/>
            <p:nvPr/>
          </p:nvGrpSpPr>
          <p:grpSpPr>
            <a:xfrm>
              <a:off x="4482472" y="622186"/>
              <a:ext cx="373391" cy="1818878"/>
              <a:chOff x="7430624" y="36225"/>
              <a:chExt cx="1013108" cy="4935102"/>
            </a:xfrm>
          </p:grpSpPr>
          <p:pic>
            <p:nvPicPr>
              <p:cNvPr id="9" name="Picture 2" descr="Anterior and Posterior Views of Spine">
                <a:extLst>
                  <a:ext uri="{FF2B5EF4-FFF2-40B4-BE49-F238E27FC236}">
                    <a16:creationId xmlns:a16="http://schemas.microsoft.com/office/drawing/2014/main" id="{587C814A-1F28-D194-0DFD-813B42C5456A}"/>
                  </a:ext>
                </a:extLst>
              </p:cNvPr>
              <p:cNvPicPr>
                <a:picLocks noChangeAspect="1" noChangeArrowheads="1"/>
              </p:cNvPicPr>
              <p:nvPr/>
            </p:nvPicPr>
            <p:blipFill rotWithShape="1">
              <a:blip r:embed="rId5">
                <a:duotone>
                  <a:schemeClr val="accent5">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9">
                <a:extLst>
                  <a:ext uri="{FF2B5EF4-FFF2-40B4-BE49-F238E27FC236}">
                    <a16:creationId xmlns:a16="http://schemas.microsoft.com/office/drawing/2014/main" id="{9725C1B5-E8E6-16B1-906C-AC681A6F5A0A}"/>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1" name="Rectangle 52">
                <a:extLst>
                  <a:ext uri="{FF2B5EF4-FFF2-40B4-BE49-F238E27FC236}">
                    <a16:creationId xmlns:a16="http://schemas.microsoft.com/office/drawing/2014/main" id="{B9988192-E530-38DC-0CC4-8A616ADCC255}"/>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2" name="Rectangle 53">
                <a:extLst>
                  <a:ext uri="{FF2B5EF4-FFF2-40B4-BE49-F238E27FC236}">
                    <a16:creationId xmlns:a16="http://schemas.microsoft.com/office/drawing/2014/main" id="{380A4870-0999-13ED-50F1-416001FCCAF4}"/>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3" name="Rectangle 54">
                <a:extLst>
                  <a:ext uri="{FF2B5EF4-FFF2-40B4-BE49-F238E27FC236}">
                    <a16:creationId xmlns:a16="http://schemas.microsoft.com/office/drawing/2014/main" id="{24B436D1-187A-2E70-0CE4-07C8EBE4219E}"/>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4" name="Rectangle 55">
                <a:extLst>
                  <a:ext uri="{FF2B5EF4-FFF2-40B4-BE49-F238E27FC236}">
                    <a16:creationId xmlns:a16="http://schemas.microsoft.com/office/drawing/2014/main" id="{D1A07799-CF71-6905-60FF-336649519653}"/>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5" name="Rectangle 56">
                <a:extLst>
                  <a:ext uri="{FF2B5EF4-FFF2-40B4-BE49-F238E27FC236}">
                    <a16:creationId xmlns:a16="http://schemas.microsoft.com/office/drawing/2014/main" id="{F6840572-9743-C2F0-7121-12DF562F1420}"/>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6" name="Rectangle 57">
                <a:extLst>
                  <a:ext uri="{FF2B5EF4-FFF2-40B4-BE49-F238E27FC236}">
                    <a16:creationId xmlns:a16="http://schemas.microsoft.com/office/drawing/2014/main" id="{4003A8F1-F80E-6200-414F-9D7FC64B476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grpSp>
      <p:sp>
        <p:nvSpPr>
          <p:cNvPr id="17" name="Rectangle 4">
            <a:extLst>
              <a:ext uri="{FF2B5EF4-FFF2-40B4-BE49-F238E27FC236}">
                <a16:creationId xmlns:a16="http://schemas.microsoft.com/office/drawing/2014/main" id="{036DF4CD-4EC1-C833-6CD8-8A331A89FDBA}"/>
              </a:ext>
            </a:extLst>
          </p:cNvPr>
          <p:cNvSpPr/>
          <p:nvPr/>
        </p:nvSpPr>
        <p:spPr>
          <a:xfrm>
            <a:off x="12751" y="1943712"/>
            <a:ext cx="1263487" cy="420115"/>
          </a:xfrm>
          <a:prstGeom prst="rect">
            <a:avLst/>
          </a:prstGeom>
        </p:spPr>
        <p:txBody>
          <a:bodyPr wrap="none">
            <a:spAutoFit/>
          </a:bodyPr>
          <a:lstStyle/>
          <a:p>
            <a:pPr algn="ctr" rtl="0"/>
            <a:r>
              <a:rPr lang="en-US" sz="2130" dirty="0">
                <a:solidFill>
                  <a:srgbClr val="4D799D"/>
                </a:solidFill>
                <a:latin typeface="Helvetica Neue Medium" panose="02000503000000020004" pitchFamily="2" charset="0"/>
                <a:ea typeface="Helvetica Neue Medium" panose="02000503000000020004" pitchFamily="2" charset="0"/>
                <a:cs typeface="Helvetica Neue Medium" panose="02000503000000020004" pitchFamily="2" charset="0"/>
              </a:rPr>
              <a:t>3x</a:t>
            </a:r>
            <a:r>
              <a:rPr lang="en-US" sz="2130" dirty="0">
                <a:solidFill>
                  <a:srgbClr val="4D799D"/>
                </a:solidFill>
                <a:latin typeface="Helvetica Neue Thin" panose="020B0403020202020204" pitchFamily="34" charset="0"/>
                <a:ea typeface="Helvetica Neue Thin" panose="020B0403020202020204" pitchFamily="34" charset="0"/>
              </a:rPr>
              <a:t>  Brain</a:t>
            </a:r>
          </a:p>
        </p:txBody>
      </p:sp>
      <p:sp>
        <p:nvSpPr>
          <p:cNvPr id="18" name="Rectangle 15">
            <a:extLst>
              <a:ext uri="{FF2B5EF4-FFF2-40B4-BE49-F238E27FC236}">
                <a16:creationId xmlns:a16="http://schemas.microsoft.com/office/drawing/2014/main" id="{378BB348-F9E0-E7B6-1897-078819DA6EC8}"/>
              </a:ext>
            </a:extLst>
          </p:cNvPr>
          <p:cNvSpPr/>
          <p:nvPr/>
        </p:nvSpPr>
        <p:spPr>
          <a:xfrm>
            <a:off x="267369" y="3338338"/>
            <a:ext cx="1141659" cy="748795"/>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Upright </a:t>
            </a:r>
          </a:p>
          <a:p>
            <a:pPr algn="ctr" rtl="0"/>
            <a:r>
              <a:rPr lang="en-US" sz="2133" dirty="0">
                <a:solidFill>
                  <a:srgbClr val="4D799D"/>
                </a:solidFill>
                <a:latin typeface="Helvetica Neue Thin" panose="020B0403020202020204" pitchFamily="34" charset="0"/>
                <a:ea typeface="Helvetica Neue Thin" panose="020B0403020202020204" pitchFamily="34" charset="0"/>
              </a:rPr>
              <a:t>walking</a:t>
            </a:r>
          </a:p>
        </p:txBody>
      </p:sp>
      <p:grpSp>
        <p:nvGrpSpPr>
          <p:cNvPr id="19" name="Group 28">
            <a:extLst>
              <a:ext uri="{FF2B5EF4-FFF2-40B4-BE49-F238E27FC236}">
                <a16:creationId xmlns:a16="http://schemas.microsoft.com/office/drawing/2014/main" id="{8803A503-4A2E-487A-41BC-13DBA2AA96E4}"/>
              </a:ext>
            </a:extLst>
          </p:cNvPr>
          <p:cNvGrpSpPr/>
          <p:nvPr/>
        </p:nvGrpSpPr>
        <p:grpSpPr>
          <a:xfrm>
            <a:off x="-27690" y="5286435"/>
            <a:ext cx="1508746" cy="753420"/>
            <a:chOff x="331755" y="2724841"/>
            <a:chExt cx="1131560" cy="565065"/>
          </a:xfrm>
        </p:grpSpPr>
        <p:sp>
          <p:nvSpPr>
            <p:cNvPr id="20" name="Rectangle 16">
              <a:extLst>
                <a:ext uri="{FF2B5EF4-FFF2-40B4-BE49-F238E27FC236}">
                  <a16:creationId xmlns:a16="http://schemas.microsoft.com/office/drawing/2014/main" id="{39BF4CF7-B725-04BD-7396-D60146DCF9E2}"/>
                </a:ext>
              </a:extLst>
            </p:cNvPr>
            <p:cNvSpPr/>
            <p:nvPr/>
          </p:nvSpPr>
          <p:spPr>
            <a:xfrm>
              <a:off x="331755" y="2724841"/>
              <a:ext cx="1131560" cy="315423"/>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Endurance</a:t>
              </a:r>
            </a:p>
          </p:txBody>
        </p:sp>
        <p:sp>
          <p:nvSpPr>
            <p:cNvPr id="21" name="TextBox 27">
              <a:extLst>
                <a:ext uri="{FF2B5EF4-FFF2-40B4-BE49-F238E27FC236}">
                  <a16:creationId xmlns:a16="http://schemas.microsoft.com/office/drawing/2014/main" id="{CE81BC29-2A24-37AC-A6F5-04E8D22ADCBF}"/>
                </a:ext>
              </a:extLst>
            </p:cNvPr>
            <p:cNvSpPr txBox="1"/>
            <p:nvPr/>
          </p:nvSpPr>
          <p:spPr>
            <a:xfrm>
              <a:off x="460847" y="2974483"/>
              <a:ext cx="873375" cy="315423"/>
            </a:xfrm>
            <a:prstGeom prst="rect">
              <a:avLst/>
            </a:prstGeom>
            <a:noFill/>
          </p:spPr>
          <p:txBody>
            <a:bodyPr wrap="square">
              <a:spAutoFit/>
            </a:bodyPr>
            <a:lstStyle/>
            <a:p>
              <a:pPr algn="ctr"/>
              <a:r>
                <a:rPr lang="en-US" sz="2133" i="1" dirty="0">
                  <a:solidFill>
                    <a:srgbClr val="4D799D"/>
                  </a:solidFill>
                  <a:latin typeface="Helvetica Neue Thin" panose="020B0403020202020204" pitchFamily="34" charset="0"/>
                  <a:ea typeface="Helvetica Neue Thin" panose="020B0403020202020204" pitchFamily="34" charset="0"/>
                </a:rPr>
                <a:t>running</a:t>
              </a:r>
              <a:endParaRPr lang="en-IL" sz="2133" i="1" dirty="0"/>
            </a:p>
          </p:txBody>
        </p:sp>
      </p:grpSp>
      <p:sp>
        <p:nvSpPr>
          <p:cNvPr id="23" name="Rectangle 18">
            <a:extLst>
              <a:ext uri="{FF2B5EF4-FFF2-40B4-BE49-F238E27FC236}">
                <a16:creationId xmlns:a16="http://schemas.microsoft.com/office/drawing/2014/main" id="{9CB6CE95-BCA1-5E02-E5FB-9A8D0ABEB092}"/>
              </a:ext>
            </a:extLst>
          </p:cNvPr>
          <p:cNvSpPr/>
          <p:nvPr/>
        </p:nvSpPr>
        <p:spPr>
          <a:xfrm>
            <a:off x="2828192" y="1858889"/>
            <a:ext cx="2230098" cy="707886"/>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Alzheimer's disease</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Schizophrenia</a:t>
            </a:r>
          </a:p>
        </p:txBody>
      </p:sp>
      <p:sp>
        <p:nvSpPr>
          <p:cNvPr id="24" name="Rectangle 19">
            <a:extLst>
              <a:ext uri="{FF2B5EF4-FFF2-40B4-BE49-F238E27FC236}">
                <a16:creationId xmlns:a16="http://schemas.microsoft.com/office/drawing/2014/main" id="{551361D0-81EA-439E-B4CC-6A80AA682A59}"/>
              </a:ext>
            </a:extLst>
          </p:cNvPr>
          <p:cNvSpPr/>
          <p:nvPr/>
        </p:nvSpPr>
        <p:spPr>
          <a:xfrm>
            <a:off x="2744935" y="5228605"/>
            <a:ext cx="2401940" cy="400110"/>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Myocardial infarction</a:t>
            </a:r>
          </a:p>
        </p:txBody>
      </p:sp>
      <p:sp>
        <p:nvSpPr>
          <p:cNvPr id="25" name="Rectangle 20">
            <a:extLst>
              <a:ext uri="{FF2B5EF4-FFF2-40B4-BE49-F238E27FC236}">
                <a16:creationId xmlns:a16="http://schemas.microsoft.com/office/drawing/2014/main" id="{C41D6282-BA3C-3BF5-60E0-2D14E4E8A494}"/>
              </a:ext>
            </a:extLst>
          </p:cNvPr>
          <p:cNvSpPr/>
          <p:nvPr/>
        </p:nvSpPr>
        <p:spPr>
          <a:xfrm>
            <a:off x="2759788" y="3176937"/>
            <a:ext cx="2331724" cy="707886"/>
          </a:xfrm>
          <a:prstGeom prst="rect">
            <a:avLst/>
          </a:prstGeom>
        </p:spPr>
        <p:txBody>
          <a:bodyPr wrap="squar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Chronic back pain</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scoliosis</a:t>
            </a:r>
          </a:p>
        </p:txBody>
      </p:sp>
      <p:pic>
        <p:nvPicPr>
          <p:cNvPr id="27" name="תמונה 26">
            <a:extLst>
              <a:ext uri="{FF2B5EF4-FFF2-40B4-BE49-F238E27FC236}">
                <a16:creationId xmlns:a16="http://schemas.microsoft.com/office/drawing/2014/main" id="{72BD2FF3-5CC3-9790-2BE8-80968D8836CF}"/>
              </a:ext>
            </a:extLst>
          </p:cNvPr>
          <p:cNvPicPr>
            <a:picLocks noChangeAspect="1"/>
          </p:cNvPicPr>
          <p:nvPr/>
        </p:nvPicPr>
        <p:blipFill>
          <a:blip r:embed="rId6"/>
          <a:stretch>
            <a:fillRect/>
          </a:stretch>
        </p:blipFill>
        <p:spPr>
          <a:xfrm>
            <a:off x="6440301" y="1662794"/>
            <a:ext cx="4584830" cy="3774380"/>
          </a:xfrm>
          <a:prstGeom prst="rect">
            <a:avLst/>
          </a:prstGeom>
        </p:spPr>
      </p:pic>
      <p:sp>
        <p:nvSpPr>
          <p:cNvPr id="3" name="מציין מיקום תוכן 2">
            <a:extLst>
              <a:ext uri="{FF2B5EF4-FFF2-40B4-BE49-F238E27FC236}">
                <a16:creationId xmlns:a16="http://schemas.microsoft.com/office/drawing/2014/main" id="{23F41A33-5C9B-C733-02E0-C4F60EBBC84B}"/>
              </a:ext>
            </a:extLst>
          </p:cNvPr>
          <p:cNvSpPr txBox="1">
            <a:spLocks/>
          </p:cNvSpPr>
          <p:nvPr/>
        </p:nvSpPr>
        <p:spPr>
          <a:xfrm>
            <a:off x="2421619"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More changes</a:t>
            </a:r>
          </a:p>
        </p:txBody>
      </p:sp>
      <p:sp>
        <p:nvSpPr>
          <p:cNvPr id="26" name="מציין מיקום תוכן 2">
            <a:extLst>
              <a:ext uri="{FF2B5EF4-FFF2-40B4-BE49-F238E27FC236}">
                <a16:creationId xmlns:a16="http://schemas.microsoft.com/office/drawing/2014/main" id="{1430F621-531F-E566-1E65-2F6E555319CE}"/>
              </a:ext>
            </a:extLst>
          </p:cNvPr>
          <p:cNvSpPr txBox="1">
            <a:spLocks/>
          </p:cNvSpPr>
          <p:nvPr/>
        </p:nvSpPr>
        <p:spPr>
          <a:xfrm>
            <a:off x="5296227"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Larger changes</a:t>
            </a:r>
          </a:p>
        </p:txBody>
      </p:sp>
      <p:sp>
        <p:nvSpPr>
          <p:cNvPr id="28" name="מציין מיקום תוכן 2">
            <a:extLst>
              <a:ext uri="{FF2B5EF4-FFF2-40B4-BE49-F238E27FC236}">
                <a16:creationId xmlns:a16="http://schemas.microsoft.com/office/drawing/2014/main" id="{8A58ADEF-501D-AF9C-DB58-AAF64AF5190E}"/>
              </a:ext>
            </a:extLst>
          </p:cNvPr>
          <p:cNvSpPr txBox="1">
            <a:spLocks/>
          </p:cNvSpPr>
          <p:nvPr/>
        </p:nvSpPr>
        <p:spPr>
          <a:xfrm>
            <a:off x="8170835" y="622350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Biased changes</a:t>
            </a:r>
          </a:p>
        </p:txBody>
      </p:sp>
      <p:sp>
        <p:nvSpPr>
          <p:cNvPr id="44" name="מציין מיקום תוכן 2">
            <a:extLst>
              <a:ext uri="{FF2B5EF4-FFF2-40B4-BE49-F238E27FC236}">
                <a16:creationId xmlns:a16="http://schemas.microsoft.com/office/drawing/2014/main" id="{2E2B1BD3-36CF-2B62-8392-1BB67B270550}"/>
              </a:ext>
            </a:extLst>
          </p:cNvPr>
          <p:cNvSpPr txBox="1">
            <a:spLocks/>
          </p:cNvSpPr>
          <p:nvPr/>
        </p:nvSpPr>
        <p:spPr>
          <a:xfrm>
            <a:off x="424673" y="1335890"/>
            <a:ext cx="2403519" cy="538750"/>
          </a:xfrm>
          <a:prstGeom prst="rect">
            <a:avLst/>
          </a:prstGeom>
        </p:spPr>
        <p:txBody>
          <a:bodyPr vert="horz" lIns="91440" tIns="45720" rIns="91440" bIns="45720" rtlCol="1">
            <a:normAutofit fontScale="925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Adaptive change</a:t>
            </a:r>
          </a:p>
        </p:txBody>
      </p:sp>
      <p:sp>
        <p:nvSpPr>
          <p:cNvPr id="45" name="מציין מיקום תוכן 2">
            <a:extLst>
              <a:ext uri="{FF2B5EF4-FFF2-40B4-BE49-F238E27FC236}">
                <a16:creationId xmlns:a16="http://schemas.microsoft.com/office/drawing/2014/main" id="{1FF381BE-995B-9857-46D4-307185EAFFE6}"/>
              </a:ext>
            </a:extLst>
          </p:cNvPr>
          <p:cNvSpPr txBox="1">
            <a:spLocks/>
          </p:cNvSpPr>
          <p:nvPr/>
        </p:nvSpPr>
        <p:spPr>
          <a:xfrm>
            <a:off x="2889919" y="1335262"/>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400" b="1" i="1" dirty="0"/>
              <a:t>Tradeoff</a:t>
            </a:r>
          </a:p>
        </p:txBody>
      </p:sp>
    </p:spTree>
    <p:extLst>
      <p:ext uri="{BB962C8B-B14F-4D97-AF65-F5344CB8AC3E}">
        <p14:creationId xmlns:p14="http://schemas.microsoft.com/office/powerpoint/2010/main" val="399279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3" grpId="0"/>
      <p:bldP spid="24" grpId="0"/>
      <p:bldP spid="25" grpId="0"/>
      <p:bldP spid="3" grpId="0"/>
      <p:bldP spid="26" grpId="0"/>
      <p:bldP spid="28" grpId="0"/>
      <p:bldP spid="44"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F422-7A25-8760-B7AE-789998A77C3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997AA8-45B9-CEF8-371D-CF57477B02DB}"/>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Percentage of differentially expressed genes</a:t>
            </a:r>
            <a:endParaRPr lang="he-IL" dirty="0"/>
          </a:p>
        </p:txBody>
      </p:sp>
      <p:pic>
        <p:nvPicPr>
          <p:cNvPr id="4" name="תמונה 3"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D0A283C7-5467-B6B3-378C-03960BDB7D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 y="1681352"/>
            <a:ext cx="6886579" cy="5164935"/>
          </a:xfrm>
          <a:prstGeom prst="rect">
            <a:avLst/>
          </a:prstGeom>
        </p:spPr>
      </p:pic>
      <p:pic>
        <p:nvPicPr>
          <p:cNvPr id="6" name="תמונה 5"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966AA430-3394-9997-8B4D-BBFEF01DB8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0479" y="1753495"/>
            <a:ext cx="3403004" cy="2552253"/>
          </a:xfrm>
          <a:prstGeom prst="rect">
            <a:avLst/>
          </a:prstGeom>
        </p:spPr>
      </p:pic>
      <p:pic>
        <p:nvPicPr>
          <p:cNvPr id="8" name="תמונה 7"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9446D094-1DAA-4B6B-DFB7-0CC6BF2E2B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12097" y="4305748"/>
            <a:ext cx="3403003" cy="2552252"/>
          </a:xfrm>
          <a:prstGeom prst="rect">
            <a:avLst/>
          </a:prstGeom>
        </p:spPr>
      </p:pic>
      <p:pic>
        <p:nvPicPr>
          <p:cNvPr id="10" name="תמונה 9"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676BBA8F-9B94-9D2B-CA00-51562D173E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88997" y="4305748"/>
            <a:ext cx="3403003" cy="2552252"/>
          </a:xfrm>
          <a:prstGeom prst="rect">
            <a:avLst/>
          </a:prstGeom>
        </p:spPr>
      </p:pic>
    </p:spTree>
    <p:extLst>
      <p:ext uri="{BB962C8B-B14F-4D97-AF65-F5344CB8AC3E}">
        <p14:creationId xmlns:p14="http://schemas.microsoft.com/office/powerpoint/2010/main" val="166971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25CBC-AB41-AA22-45FB-70D0578B8C3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598277B-7EF4-65D2-3304-F130105308F6}"/>
              </a:ext>
            </a:extLst>
          </p:cNvPr>
          <p:cNvSpPr>
            <a:spLocks noGrp="1"/>
          </p:cNvSpPr>
          <p:nvPr>
            <p:ph type="title"/>
          </p:nvPr>
        </p:nvSpPr>
        <p:spPr>
          <a:xfrm>
            <a:off x="838200" y="0"/>
            <a:ext cx="10515600" cy="1325563"/>
          </a:xfrm>
        </p:spPr>
        <p:txBody>
          <a:bodyPr>
            <a:normAutofit/>
          </a:bodyPr>
          <a:lstStyle/>
          <a:p>
            <a:pPr algn="ctr" rtl="0"/>
            <a:r>
              <a:rPr lang="en-US" sz="3600" dirty="0">
                <a:solidFill>
                  <a:srgbClr val="0070C0"/>
                </a:solidFill>
                <a:latin typeface="Comic Sans MS" panose="030F0702030302020204" pitchFamily="66" charset="0"/>
                <a:ea typeface="+mn-ea"/>
                <a:cs typeface="+mn-cs"/>
              </a:rPr>
              <a:t>Percentage of differentially expressed genes</a:t>
            </a:r>
            <a:endParaRPr lang="he-IL" sz="3600" dirty="0"/>
          </a:p>
        </p:txBody>
      </p:sp>
      <p:pic>
        <p:nvPicPr>
          <p:cNvPr id="4" name="תמונה 3">
            <a:extLst>
              <a:ext uri="{FF2B5EF4-FFF2-40B4-BE49-F238E27FC236}">
                <a16:creationId xmlns:a16="http://schemas.microsoft.com/office/drawing/2014/main" id="{F2FEB91D-9B7B-3796-1B22-0CC1C15C84AC}"/>
              </a:ext>
            </a:extLst>
          </p:cNvPr>
          <p:cNvPicPr>
            <a:picLocks noChangeAspect="1"/>
          </p:cNvPicPr>
          <p:nvPr/>
        </p:nvPicPr>
        <p:blipFill>
          <a:blip r:embed="rId3"/>
          <a:stretch>
            <a:fillRect/>
          </a:stretch>
        </p:blipFill>
        <p:spPr>
          <a:xfrm>
            <a:off x="0" y="1042989"/>
            <a:ext cx="12192000" cy="5748234"/>
          </a:xfrm>
          <a:prstGeom prst="rect">
            <a:avLst/>
          </a:prstGeom>
        </p:spPr>
      </p:pic>
    </p:spTree>
    <p:extLst>
      <p:ext uri="{BB962C8B-B14F-4D97-AF65-F5344CB8AC3E}">
        <p14:creationId xmlns:p14="http://schemas.microsoft.com/office/powerpoint/2010/main" val="66933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A770-E34D-C638-6454-970B09A2FEF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0BBFBBC-C1BD-351D-6106-6670334E95E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 fewer differentially expressed genes</a:t>
            </a:r>
            <a:endParaRPr lang="he-IL" dirty="0"/>
          </a:p>
        </p:txBody>
      </p:sp>
      <p:sp>
        <p:nvSpPr>
          <p:cNvPr id="11" name="כותרת משנה 2">
            <a:extLst>
              <a:ext uri="{FF2B5EF4-FFF2-40B4-BE49-F238E27FC236}">
                <a16:creationId xmlns:a16="http://schemas.microsoft.com/office/drawing/2014/main" id="{45CE8F93-661A-1508-66D4-1957A984F1E2}"/>
              </a:ext>
            </a:extLst>
          </p:cNvPr>
          <p:cNvSpPr txBox="1">
            <a:spLocks/>
          </p:cNvSpPr>
          <p:nvPr/>
        </p:nvSpPr>
        <p:spPr>
          <a:xfrm>
            <a:off x="1802629" y="1671128"/>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sp>
        <p:nvSpPr>
          <p:cNvPr id="12" name="כותרת משנה 2">
            <a:extLst>
              <a:ext uri="{FF2B5EF4-FFF2-40B4-BE49-F238E27FC236}">
                <a16:creationId xmlns:a16="http://schemas.microsoft.com/office/drawing/2014/main" id="{27F417EB-C7EF-633E-35A7-27F38DEED0A6}"/>
              </a:ext>
            </a:extLst>
          </p:cNvPr>
          <p:cNvSpPr txBox="1">
            <a:spLocks/>
          </p:cNvSpPr>
          <p:nvPr/>
        </p:nvSpPr>
        <p:spPr>
          <a:xfrm>
            <a:off x="5957959" y="1637790"/>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pic>
        <p:nvPicPr>
          <p:cNvPr id="4" name="תמונה 3"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5F762A72-A710-A977-F734-AF635834FC52}"/>
              </a:ext>
            </a:extLst>
          </p:cNvPr>
          <p:cNvPicPr>
            <a:picLocks noChangeAspect="1"/>
          </p:cNvPicPr>
          <p:nvPr/>
        </p:nvPicPr>
        <p:blipFill>
          <a:blip r:embed="rId3">
            <a:extLst>
              <a:ext uri="{28A0092B-C50C-407E-A947-70E740481C1C}">
                <a14:useLocalDpi xmlns:a14="http://schemas.microsoft.com/office/drawing/2010/main" val="0"/>
              </a:ext>
            </a:extLst>
          </a:blip>
          <a:srcRect t="9419" b="5219"/>
          <a:stretch/>
        </p:blipFill>
        <p:spPr>
          <a:xfrm>
            <a:off x="302860" y="2438400"/>
            <a:ext cx="6497904" cy="4160108"/>
          </a:xfrm>
          <a:prstGeom prst="rect">
            <a:avLst/>
          </a:prstGeom>
        </p:spPr>
      </p:pic>
      <p:pic>
        <p:nvPicPr>
          <p:cNvPr id="8" name="תמונה 7"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27965A7C-7943-3FEA-40BE-DF8F935E52E5}"/>
              </a:ext>
            </a:extLst>
          </p:cNvPr>
          <p:cNvPicPr>
            <a:picLocks noChangeAspect="1"/>
          </p:cNvPicPr>
          <p:nvPr/>
        </p:nvPicPr>
        <p:blipFill>
          <a:blip r:embed="rId4">
            <a:extLst>
              <a:ext uri="{28A0092B-C50C-407E-A947-70E740481C1C}">
                <a14:useLocalDpi xmlns:a14="http://schemas.microsoft.com/office/drawing/2010/main" val="0"/>
              </a:ext>
            </a:extLst>
          </a:blip>
          <a:srcRect t="9418" b="5139"/>
          <a:stretch/>
        </p:blipFill>
        <p:spPr>
          <a:xfrm>
            <a:off x="5391236" y="2434543"/>
            <a:ext cx="6497904" cy="4163965"/>
          </a:xfrm>
          <a:prstGeom prst="rect">
            <a:avLst/>
          </a:prstGeom>
        </p:spPr>
      </p:pic>
    </p:spTree>
    <p:extLst>
      <p:ext uri="{BB962C8B-B14F-4D97-AF65-F5344CB8AC3E}">
        <p14:creationId xmlns:p14="http://schemas.microsoft.com/office/powerpoint/2010/main" val="143880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02B8-0C79-E4A8-14B0-D577B1EFE17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2E8F72A-F438-179C-D5C9-D844C936730E}"/>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Schizophrenia-related genes are depleted of large expression changes</a:t>
            </a:r>
          </a:p>
        </p:txBody>
      </p:sp>
      <p:pic>
        <p:nvPicPr>
          <p:cNvPr id="4" name="תמונה 3" descr="תמונה שמכילה טקסט, תרשים, קו, מספר&#10;&#10;תוכן שנוצר על-ידי בינה מלאכותית עשוי להיות שגוי.">
            <a:extLst>
              <a:ext uri="{FF2B5EF4-FFF2-40B4-BE49-F238E27FC236}">
                <a16:creationId xmlns:a16="http://schemas.microsoft.com/office/drawing/2014/main" id="{6A6D8173-A990-1973-0A54-A31DFAA14F5F}"/>
              </a:ext>
            </a:extLst>
          </p:cNvPr>
          <p:cNvPicPr>
            <a:picLocks noChangeAspect="1"/>
          </p:cNvPicPr>
          <p:nvPr/>
        </p:nvPicPr>
        <p:blipFill>
          <a:blip r:embed="rId3">
            <a:extLst>
              <a:ext uri="{28A0092B-C50C-407E-A947-70E740481C1C}">
                <a14:useLocalDpi xmlns:a14="http://schemas.microsoft.com/office/drawing/2010/main" val="0"/>
              </a:ext>
            </a:extLst>
          </a:blip>
          <a:srcRect t="17857"/>
          <a:stretch/>
        </p:blipFill>
        <p:spPr>
          <a:xfrm>
            <a:off x="2012791" y="1690688"/>
            <a:ext cx="8166419" cy="4695687"/>
          </a:xfrm>
          <a:prstGeom prst="rect">
            <a:avLst/>
          </a:prstGeom>
        </p:spPr>
      </p:pic>
      <p:sp>
        <p:nvSpPr>
          <p:cNvPr id="5" name="כותרת משנה 2">
            <a:extLst>
              <a:ext uri="{FF2B5EF4-FFF2-40B4-BE49-F238E27FC236}">
                <a16:creationId xmlns:a16="http://schemas.microsoft.com/office/drawing/2014/main" id="{9024B717-0F94-52FB-A8DD-F4CBF620FEA6}"/>
              </a:ext>
            </a:extLst>
          </p:cNvPr>
          <p:cNvSpPr txBox="1">
            <a:spLocks/>
          </p:cNvSpPr>
          <p:nvPr/>
        </p:nvSpPr>
        <p:spPr>
          <a:xfrm>
            <a:off x="3700128" y="6242842"/>
            <a:ext cx="4791743"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800" b="1" i="1" dirty="0"/>
              <a:t>Cortical Organoids (day 150)</a:t>
            </a:r>
            <a:endParaRPr lang="he-IL" sz="1800" b="1" i="1" dirty="0"/>
          </a:p>
        </p:txBody>
      </p:sp>
    </p:spTree>
    <p:extLst>
      <p:ext uri="{BB962C8B-B14F-4D97-AF65-F5344CB8AC3E}">
        <p14:creationId xmlns:p14="http://schemas.microsoft.com/office/powerpoint/2010/main" val="112336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FF46-D2AF-29D9-A613-F00FCE8864A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717386-446C-FCA1-3D55-AB8AAD20CBB4}"/>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Scoliosis: more differentially expressed genes</a:t>
            </a:r>
            <a:endParaRPr lang="he-IL" dirty="0"/>
          </a:p>
        </p:txBody>
      </p:sp>
      <p:pic>
        <p:nvPicPr>
          <p:cNvPr id="2050" name="Picture 2" descr="‪Scoliosis - Wikipedia‬‏">
            <a:extLst>
              <a:ext uri="{FF2B5EF4-FFF2-40B4-BE49-F238E27FC236}">
                <a16:creationId xmlns:a16="http://schemas.microsoft.com/office/drawing/2014/main" id="{75C72701-98FB-1A5A-17EA-188F754C9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940" y="1690688"/>
            <a:ext cx="2089327" cy="4178654"/>
          </a:xfrm>
          <a:prstGeom prst="rect">
            <a:avLst/>
          </a:prstGeom>
          <a:noFill/>
          <a:extLst>
            <a:ext uri="{909E8E84-426E-40DD-AFC4-6F175D3DCCD1}">
              <a14:hiddenFill xmlns:a14="http://schemas.microsoft.com/office/drawing/2010/main">
                <a:solidFill>
                  <a:srgbClr val="FFFFFF"/>
                </a:solidFill>
              </a14:hiddenFill>
            </a:ext>
          </a:extLst>
        </p:spPr>
      </p:pic>
      <p:sp>
        <p:nvSpPr>
          <p:cNvPr id="3" name="כותרת משנה 2">
            <a:extLst>
              <a:ext uri="{FF2B5EF4-FFF2-40B4-BE49-F238E27FC236}">
                <a16:creationId xmlns:a16="http://schemas.microsoft.com/office/drawing/2014/main" id="{4F090D66-24B5-A921-E9B6-B9725B99D7F2}"/>
              </a:ext>
            </a:extLst>
          </p:cNvPr>
          <p:cNvSpPr txBox="1">
            <a:spLocks/>
          </p:cNvSpPr>
          <p:nvPr/>
        </p:nvSpPr>
        <p:spPr>
          <a:xfrm>
            <a:off x="3903978" y="190261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CNCCs</a:t>
            </a:r>
            <a:endParaRPr lang="he-IL" sz="2000" b="1" i="1" dirty="0"/>
          </a:p>
        </p:txBody>
      </p:sp>
      <p:pic>
        <p:nvPicPr>
          <p:cNvPr id="8" name="מציין מיקום תוכן 7"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3F20FC3F-DFD5-8AC9-DF18-399086BCB245}"/>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9056" b="5263"/>
          <a:stretch/>
        </p:blipFill>
        <p:spPr>
          <a:xfrm>
            <a:off x="3031823" y="2535583"/>
            <a:ext cx="5801784" cy="3728278"/>
          </a:xfrm>
        </p:spPr>
      </p:pic>
      <p:sp>
        <p:nvSpPr>
          <p:cNvPr id="6" name="כותרת משנה 2">
            <a:extLst>
              <a:ext uri="{FF2B5EF4-FFF2-40B4-BE49-F238E27FC236}">
                <a16:creationId xmlns:a16="http://schemas.microsoft.com/office/drawing/2014/main" id="{4B453BFF-B716-56DA-8531-B3F7D2A723AA}"/>
              </a:ext>
            </a:extLst>
          </p:cNvPr>
          <p:cNvSpPr txBox="1">
            <a:spLocks/>
          </p:cNvSpPr>
          <p:nvPr/>
        </p:nvSpPr>
        <p:spPr>
          <a:xfrm>
            <a:off x="7946206" y="3985410"/>
            <a:ext cx="3115915" cy="2197675"/>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Option 1: accelerated evolution</a:t>
            </a:r>
          </a:p>
          <a:p>
            <a:pPr marL="0" indent="0" algn="ctr" rtl="0">
              <a:buNone/>
            </a:pPr>
            <a:endParaRPr lang="en-US" sz="2000" b="1" i="1" dirty="0"/>
          </a:p>
          <a:p>
            <a:pPr marL="0" indent="0" algn="ctr" rtl="0">
              <a:buNone/>
            </a:pPr>
            <a:r>
              <a:rPr lang="en-US" sz="2000" b="1" i="1" dirty="0"/>
              <a:t>Option 2: relaxation of negative selection</a:t>
            </a:r>
            <a:endParaRPr lang="he-IL" sz="2000" b="1" i="1" dirty="0"/>
          </a:p>
        </p:txBody>
      </p:sp>
    </p:spTree>
    <p:extLst>
      <p:ext uri="{BB962C8B-B14F-4D97-AF65-F5344CB8AC3E}">
        <p14:creationId xmlns:p14="http://schemas.microsoft.com/office/powerpoint/2010/main" val="298063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EF37-7CEB-E59E-7A1C-18986A96F9D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A655CAB-BDE6-9FEA-7505-EA7ADCEF9F88}"/>
              </a:ext>
            </a:extLst>
          </p:cNvPr>
          <p:cNvSpPr>
            <a:spLocks noGrp="1"/>
          </p:cNvSpPr>
          <p:nvPr>
            <p:ph type="title"/>
          </p:nvPr>
        </p:nvSpPr>
        <p:spPr>
          <a:xfrm>
            <a:off x="838200" y="18255"/>
            <a:ext cx="10515600" cy="1325563"/>
          </a:xfrm>
        </p:spPr>
        <p:txBody>
          <a:bodyPr>
            <a:normAutofit/>
          </a:bodyPr>
          <a:lstStyle/>
          <a:p>
            <a:pPr algn="ctr" rtl="0"/>
            <a:r>
              <a:rPr lang="en-US" dirty="0">
                <a:solidFill>
                  <a:srgbClr val="0070C0"/>
                </a:solidFill>
                <a:latin typeface="Comic Sans MS" panose="030F0702030302020204" pitchFamily="66" charset="0"/>
                <a:ea typeface="+mn-ea"/>
                <a:cs typeface="+mn-cs"/>
              </a:rPr>
              <a:t>Direction of regulation changes</a:t>
            </a:r>
            <a:endParaRPr lang="he-IL" dirty="0"/>
          </a:p>
        </p:txBody>
      </p:sp>
      <p:sp>
        <p:nvSpPr>
          <p:cNvPr id="4" name="מציין מיקום תוכן 3">
            <a:extLst>
              <a:ext uri="{FF2B5EF4-FFF2-40B4-BE49-F238E27FC236}">
                <a16:creationId xmlns:a16="http://schemas.microsoft.com/office/drawing/2014/main" id="{6B1EBC9D-7210-5C03-22C4-387AAC8FFC78}"/>
              </a:ext>
            </a:extLst>
          </p:cNvPr>
          <p:cNvSpPr>
            <a:spLocks noGrp="1"/>
          </p:cNvSpPr>
          <p:nvPr>
            <p:ph idx="1"/>
          </p:nvPr>
        </p:nvSpPr>
        <p:spPr/>
        <p:txBody>
          <a:bodyPr/>
          <a:lstStyle/>
          <a:p>
            <a:endParaRPr lang="he-IL"/>
          </a:p>
        </p:txBody>
      </p:sp>
      <p:pic>
        <p:nvPicPr>
          <p:cNvPr id="9" name="תמונה 8">
            <a:extLst>
              <a:ext uri="{FF2B5EF4-FFF2-40B4-BE49-F238E27FC236}">
                <a16:creationId xmlns:a16="http://schemas.microsoft.com/office/drawing/2014/main" id="{AF4715CA-5369-A292-74AF-7653C798017E}"/>
              </a:ext>
            </a:extLst>
          </p:cNvPr>
          <p:cNvPicPr>
            <a:picLocks noChangeAspect="1"/>
          </p:cNvPicPr>
          <p:nvPr/>
        </p:nvPicPr>
        <p:blipFill>
          <a:blip r:embed="rId3"/>
          <a:stretch>
            <a:fillRect/>
          </a:stretch>
        </p:blipFill>
        <p:spPr>
          <a:xfrm>
            <a:off x="0" y="1076445"/>
            <a:ext cx="12192000" cy="5769667"/>
          </a:xfrm>
          <a:prstGeom prst="rect">
            <a:avLst/>
          </a:prstGeom>
        </p:spPr>
      </p:pic>
    </p:spTree>
    <p:extLst>
      <p:ext uri="{BB962C8B-B14F-4D97-AF65-F5344CB8AC3E}">
        <p14:creationId xmlns:p14="http://schemas.microsoft.com/office/powerpoint/2010/main" val="1878991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9404-CC3A-C2A0-EFDF-0857846B8B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756E622-2003-6092-A9E7-0344199F0E21}"/>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 positive selection for upregulation of genes</a:t>
            </a:r>
            <a:endParaRPr lang="he-IL" dirty="0"/>
          </a:p>
        </p:txBody>
      </p:sp>
      <p:sp>
        <p:nvSpPr>
          <p:cNvPr id="8" name="כותרת משנה 2">
            <a:extLst>
              <a:ext uri="{FF2B5EF4-FFF2-40B4-BE49-F238E27FC236}">
                <a16:creationId xmlns:a16="http://schemas.microsoft.com/office/drawing/2014/main" id="{DC977DCC-457B-BA9F-19AE-4A565F34A2F0}"/>
              </a:ext>
            </a:extLst>
          </p:cNvPr>
          <p:cNvSpPr txBox="1">
            <a:spLocks/>
          </p:cNvSpPr>
          <p:nvPr/>
        </p:nvSpPr>
        <p:spPr>
          <a:xfrm>
            <a:off x="6754455" y="1794034"/>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pic>
        <p:nvPicPr>
          <p:cNvPr id="14" name="תמונה 13"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7212DFB9-EEF9-10A2-2ACF-7F6C1CD16CF6}"/>
              </a:ext>
            </a:extLst>
          </p:cNvPr>
          <p:cNvPicPr>
            <a:picLocks noChangeAspect="1"/>
          </p:cNvPicPr>
          <p:nvPr/>
        </p:nvPicPr>
        <p:blipFill>
          <a:blip r:embed="rId3">
            <a:extLst>
              <a:ext uri="{28A0092B-C50C-407E-A947-70E740481C1C}">
                <a14:useLocalDpi xmlns:a14="http://schemas.microsoft.com/office/drawing/2010/main" val="0"/>
              </a:ext>
            </a:extLst>
          </a:blip>
          <a:srcRect t="7885" b="4919"/>
          <a:stretch/>
        </p:blipFill>
        <p:spPr>
          <a:xfrm>
            <a:off x="1069788" y="2572906"/>
            <a:ext cx="5862471" cy="3578313"/>
          </a:xfrm>
          <a:prstGeom prst="rect">
            <a:avLst/>
          </a:prstGeom>
        </p:spPr>
      </p:pic>
      <p:sp>
        <p:nvSpPr>
          <p:cNvPr id="15" name="כותרת משנה 2">
            <a:extLst>
              <a:ext uri="{FF2B5EF4-FFF2-40B4-BE49-F238E27FC236}">
                <a16:creationId xmlns:a16="http://schemas.microsoft.com/office/drawing/2014/main" id="{D2CD4532-FD0D-7F2E-3A90-AAEC333023D5}"/>
              </a:ext>
            </a:extLst>
          </p:cNvPr>
          <p:cNvSpPr txBox="1">
            <a:spLocks/>
          </p:cNvSpPr>
          <p:nvPr/>
        </p:nvSpPr>
        <p:spPr>
          <a:xfrm>
            <a:off x="1797827" y="1794034"/>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pic>
        <p:nvPicPr>
          <p:cNvPr id="19" name="מציין מיקום תוכן 18" descr="תמונה שמכילה טקסט, צילום מסך, תרשים, מלבן&#10;&#10;תוכן שנוצר על-ידי בינה מלאכותית עשוי להיות שגוי.">
            <a:extLst>
              <a:ext uri="{FF2B5EF4-FFF2-40B4-BE49-F238E27FC236}">
                <a16:creationId xmlns:a16="http://schemas.microsoft.com/office/drawing/2014/main" id="{30D5D67E-B3A9-0922-3FF7-70AAAAF580DF}"/>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7975" b="5067"/>
          <a:stretch/>
        </p:blipFill>
        <p:spPr>
          <a:xfrm>
            <a:off x="5766960" y="2572905"/>
            <a:ext cx="5878551" cy="3578313"/>
          </a:xfrm>
        </p:spPr>
      </p:pic>
    </p:spTree>
    <p:extLst>
      <p:ext uri="{BB962C8B-B14F-4D97-AF65-F5344CB8AC3E}">
        <p14:creationId xmlns:p14="http://schemas.microsoft.com/office/powerpoint/2010/main" val="19974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5E87-9062-B969-69F5-21429AB3F5E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C8E7A2E-A310-103E-338E-AD08DA69FF8C}"/>
              </a:ext>
            </a:extLst>
          </p:cNvPr>
          <p:cNvSpPr>
            <a:spLocks noGrp="1"/>
          </p:cNvSpPr>
          <p:nvPr>
            <p:ph type="title"/>
          </p:nvPr>
        </p:nvSpPr>
        <p:spPr/>
        <p:txBody>
          <a:bodyPr>
            <a:normAutofit fontScale="90000"/>
          </a:bodyPr>
          <a:lstStyle/>
          <a:p>
            <a:pPr algn="ctr" rtl="0"/>
            <a:r>
              <a:rPr lang="en-US" dirty="0">
                <a:solidFill>
                  <a:srgbClr val="0070C0"/>
                </a:solidFill>
                <a:latin typeface="Comic Sans MS" panose="030F0702030302020204" pitchFamily="66" charset="0"/>
                <a:ea typeface="+mn-ea"/>
                <a:cs typeface="+mn-cs"/>
              </a:rPr>
              <a:t>Schizophrenia-related genes are depleted of large negative expression changes</a:t>
            </a:r>
            <a:endParaRPr lang="he-IL" dirty="0"/>
          </a:p>
        </p:txBody>
      </p:sp>
      <p:sp>
        <p:nvSpPr>
          <p:cNvPr id="7" name="כותרת משנה 2">
            <a:extLst>
              <a:ext uri="{FF2B5EF4-FFF2-40B4-BE49-F238E27FC236}">
                <a16:creationId xmlns:a16="http://schemas.microsoft.com/office/drawing/2014/main" id="{09C103D6-B92D-524D-2C16-A9D003011AB2}"/>
              </a:ext>
            </a:extLst>
          </p:cNvPr>
          <p:cNvSpPr txBox="1">
            <a:spLocks/>
          </p:cNvSpPr>
          <p:nvPr/>
        </p:nvSpPr>
        <p:spPr>
          <a:xfrm>
            <a:off x="3700128" y="6242842"/>
            <a:ext cx="4791743"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1800" b="1" i="1" dirty="0"/>
              <a:t>Cortical Organoids (day 100)</a:t>
            </a:r>
            <a:endParaRPr lang="he-IL" sz="1800" b="1" i="1" dirty="0"/>
          </a:p>
        </p:txBody>
      </p:sp>
      <p:pic>
        <p:nvPicPr>
          <p:cNvPr id="13" name="מציין מיקום תוכן 12" descr="תמונה שמכילה טקסט, תרשים, קו, עלילה&#10;&#10;תוכן שנוצר על-ידי בינה מלאכותית עשוי להיות שגוי.">
            <a:extLst>
              <a:ext uri="{FF2B5EF4-FFF2-40B4-BE49-F238E27FC236}">
                <a16:creationId xmlns:a16="http://schemas.microsoft.com/office/drawing/2014/main" id="{5B3E5D5F-A438-C4AA-837C-0A78B8E58BE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9444"/>
          <a:stretch/>
        </p:blipFill>
        <p:spPr>
          <a:xfrm>
            <a:off x="2118040" y="1690689"/>
            <a:ext cx="7955920" cy="4486274"/>
          </a:xfrm>
        </p:spPr>
      </p:pic>
    </p:spTree>
    <p:extLst>
      <p:ext uri="{BB962C8B-B14F-4D97-AF65-F5344CB8AC3E}">
        <p14:creationId xmlns:p14="http://schemas.microsoft.com/office/powerpoint/2010/main" val="3740476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0774-958C-1F4B-316E-65FA188FA7F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27FFC82-E50A-6ECE-894E-D8D547428F6A}"/>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Scoliosis: larger changes in downregulated genes</a:t>
            </a:r>
            <a:endParaRPr lang="he-IL" dirty="0"/>
          </a:p>
        </p:txBody>
      </p:sp>
      <p:pic>
        <p:nvPicPr>
          <p:cNvPr id="4" name="תמונה 3" descr="תמונה שמכילה טקסט, עלילה, תרשים, צילום מסך&#10;&#10;תוכן שנוצר על-ידי בינה מלאכותית עשוי להיות שגוי.">
            <a:extLst>
              <a:ext uri="{FF2B5EF4-FFF2-40B4-BE49-F238E27FC236}">
                <a16:creationId xmlns:a16="http://schemas.microsoft.com/office/drawing/2014/main" id="{2D0E4D38-FFD5-042B-4E63-8C9707CCADAE}"/>
              </a:ext>
            </a:extLst>
          </p:cNvPr>
          <p:cNvPicPr>
            <a:picLocks noChangeAspect="1"/>
          </p:cNvPicPr>
          <p:nvPr/>
        </p:nvPicPr>
        <p:blipFill>
          <a:blip r:embed="rId3">
            <a:extLst>
              <a:ext uri="{28A0092B-C50C-407E-A947-70E740481C1C}">
                <a14:useLocalDpi xmlns:a14="http://schemas.microsoft.com/office/drawing/2010/main" val="0"/>
              </a:ext>
            </a:extLst>
          </a:blip>
          <a:srcRect t="7573" b="7317"/>
          <a:stretch/>
        </p:blipFill>
        <p:spPr>
          <a:xfrm>
            <a:off x="6155852" y="2755540"/>
            <a:ext cx="5990090" cy="3058868"/>
          </a:xfrm>
          <a:prstGeom prst="rect">
            <a:avLst/>
          </a:prstGeom>
        </p:spPr>
      </p:pic>
      <p:sp>
        <p:nvSpPr>
          <p:cNvPr id="7" name="כותרת משנה 2">
            <a:extLst>
              <a:ext uri="{FF2B5EF4-FFF2-40B4-BE49-F238E27FC236}">
                <a16:creationId xmlns:a16="http://schemas.microsoft.com/office/drawing/2014/main" id="{C49D33BB-DD25-F2B9-0399-6204262C0290}"/>
              </a:ext>
            </a:extLst>
          </p:cNvPr>
          <p:cNvSpPr txBox="1">
            <a:spLocks/>
          </p:cNvSpPr>
          <p:nvPr/>
        </p:nvSpPr>
        <p:spPr>
          <a:xfrm>
            <a:off x="1614250"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Skeletal myocytes</a:t>
            </a:r>
            <a:endParaRPr lang="he-IL" sz="2000" b="1" i="1" dirty="0"/>
          </a:p>
        </p:txBody>
      </p:sp>
      <p:pic>
        <p:nvPicPr>
          <p:cNvPr id="9" name="תמונה 8" descr="תמונה שמכילה טקסט, תרשים, עלילה, צילום מסך&#10;&#10;תוכן שנוצר על-ידי בינה מלאכותית עשוי להיות שגוי.">
            <a:extLst>
              <a:ext uri="{FF2B5EF4-FFF2-40B4-BE49-F238E27FC236}">
                <a16:creationId xmlns:a16="http://schemas.microsoft.com/office/drawing/2014/main" id="{1D00F8A0-30DD-4031-F0AE-E649C61CC6F3}"/>
              </a:ext>
            </a:extLst>
          </p:cNvPr>
          <p:cNvPicPr>
            <a:picLocks noChangeAspect="1"/>
          </p:cNvPicPr>
          <p:nvPr/>
        </p:nvPicPr>
        <p:blipFill>
          <a:blip r:embed="rId4">
            <a:extLst>
              <a:ext uri="{28A0092B-C50C-407E-A947-70E740481C1C}">
                <a14:useLocalDpi xmlns:a14="http://schemas.microsoft.com/office/drawing/2010/main" val="0"/>
              </a:ext>
            </a:extLst>
          </a:blip>
          <a:srcRect t="7573" b="7317"/>
          <a:stretch/>
        </p:blipFill>
        <p:spPr>
          <a:xfrm>
            <a:off x="333812" y="2772728"/>
            <a:ext cx="5990090" cy="3058868"/>
          </a:xfrm>
          <a:prstGeom prst="rect">
            <a:avLst/>
          </a:prstGeom>
        </p:spPr>
      </p:pic>
      <p:sp>
        <p:nvSpPr>
          <p:cNvPr id="8" name="כותרת משנה 2">
            <a:extLst>
              <a:ext uri="{FF2B5EF4-FFF2-40B4-BE49-F238E27FC236}">
                <a16:creationId xmlns:a16="http://schemas.microsoft.com/office/drawing/2014/main" id="{79CC4FB9-2B51-D82B-FFE6-14485DD79110}"/>
              </a:ext>
            </a:extLst>
          </p:cNvPr>
          <p:cNvSpPr txBox="1">
            <a:spLocks/>
          </p:cNvSpPr>
          <p:nvPr/>
        </p:nvSpPr>
        <p:spPr>
          <a:xfrm>
            <a:off x="7715472" y="1766001"/>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Perichondral mesenchyme</a:t>
            </a:r>
            <a:endParaRPr lang="he-IL" sz="2000" b="1" i="1" dirty="0"/>
          </a:p>
        </p:txBody>
      </p:sp>
      <p:sp>
        <p:nvSpPr>
          <p:cNvPr id="13" name="תיבת טקסט 12">
            <a:extLst>
              <a:ext uri="{FF2B5EF4-FFF2-40B4-BE49-F238E27FC236}">
                <a16:creationId xmlns:a16="http://schemas.microsoft.com/office/drawing/2014/main" id="{BEB96380-8876-FD08-9026-B89324C18158}"/>
              </a:ext>
            </a:extLst>
          </p:cNvPr>
          <p:cNvSpPr txBox="1"/>
          <p:nvPr/>
        </p:nvSpPr>
        <p:spPr>
          <a:xfrm>
            <a:off x="2382981" y="5749636"/>
            <a:ext cx="2653146" cy="276999"/>
          </a:xfrm>
          <a:prstGeom prst="rect">
            <a:avLst/>
          </a:prstGeom>
          <a:noFill/>
        </p:spPr>
        <p:txBody>
          <a:bodyPr wrap="square" rtlCol="1">
            <a:spAutoFit/>
          </a:bodyPr>
          <a:lstStyle/>
          <a:p>
            <a:pPr algn="ctr"/>
            <a:r>
              <a:rPr lang="en-US" sz="1200" dirty="0"/>
              <a:t>Absolute log fold-change</a:t>
            </a:r>
          </a:p>
        </p:txBody>
      </p:sp>
      <p:sp>
        <p:nvSpPr>
          <p:cNvPr id="14" name="תיבת טקסט 13">
            <a:extLst>
              <a:ext uri="{FF2B5EF4-FFF2-40B4-BE49-F238E27FC236}">
                <a16:creationId xmlns:a16="http://schemas.microsoft.com/office/drawing/2014/main" id="{D18E0E9C-149C-6A21-968C-8E62927BB9B1}"/>
              </a:ext>
            </a:extLst>
          </p:cNvPr>
          <p:cNvSpPr txBox="1"/>
          <p:nvPr/>
        </p:nvSpPr>
        <p:spPr>
          <a:xfrm>
            <a:off x="8178241" y="5749635"/>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5" name="תיבת טקסט 14">
            <a:extLst>
              <a:ext uri="{FF2B5EF4-FFF2-40B4-BE49-F238E27FC236}">
                <a16:creationId xmlns:a16="http://schemas.microsoft.com/office/drawing/2014/main" id="{D6987DFF-D395-6B19-C9FA-3C5AD44586C3}"/>
              </a:ext>
            </a:extLst>
          </p:cNvPr>
          <p:cNvSpPr txBox="1"/>
          <p:nvPr/>
        </p:nvSpPr>
        <p:spPr>
          <a:xfrm rot="16200000">
            <a:off x="-899612" y="3973419"/>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
        <p:nvSpPr>
          <p:cNvPr id="16" name="תיבת טקסט 15">
            <a:extLst>
              <a:ext uri="{FF2B5EF4-FFF2-40B4-BE49-F238E27FC236}">
                <a16:creationId xmlns:a16="http://schemas.microsoft.com/office/drawing/2014/main" id="{A87AA886-DFCC-64C8-7D58-6CDAD41F5131}"/>
              </a:ext>
            </a:extLst>
          </p:cNvPr>
          <p:cNvSpPr txBox="1"/>
          <p:nvPr/>
        </p:nvSpPr>
        <p:spPr>
          <a:xfrm rot="16200000">
            <a:off x="5026879" y="3973420"/>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Tree>
    <p:extLst>
      <p:ext uri="{BB962C8B-B14F-4D97-AF65-F5344CB8AC3E}">
        <p14:creationId xmlns:p14="http://schemas.microsoft.com/office/powerpoint/2010/main" val="23122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4" grpId="0"/>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0E00-D0CB-3646-D4D1-B04A475B808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3D3F8F5-186A-6761-13BA-335951760D01}"/>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Discussion</a:t>
            </a:r>
            <a:endParaRPr lang="he-IL" dirty="0"/>
          </a:p>
        </p:txBody>
      </p:sp>
      <p:grpSp>
        <p:nvGrpSpPr>
          <p:cNvPr id="1037" name="קבוצה 1036">
            <a:extLst>
              <a:ext uri="{FF2B5EF4-FFF2-40B4-BE49-F238E27FC236}">
                <a16:creationId xmlns:a16="http://schemas.microsoft.com/office/drawing/2014/main" id="{42A45C1B-ABA9-132C-09CC-A9641A7BD801}"/>
              </a:ext>
            </a:extLst>
          </p:cNvPr>
          <p:cNvGrpSpPr/>
          <p:nvPr/>
        </p:nvGrpSpPr>
        <p:grpSpPr>
          <a:xfrm>
            <a:off x="631441" y="2355925"/>
            <a:ext cx="4951777" cy="3853015"/>
            <a:chOff x="695988" y="2492958"/>
            <a:chExt cx="3932240" cy="3227940"/>
          </a:xfrm>
        </p:grpSpPr>
        <p:sp>
          <p:nvSpPr>
            <p:cNvPr id="8" name="Freeform 9">
              <a:extLst>
                <a:ext uri="{FF2B5EF4-FFF2-40B4-BE49-F238E27FC236}">
                  <a16:creationId xmlns:a16="http://schemas.microsoft.com/office/drawing/2014/main" id="{027F4B13-D51B-544C-9AF0-421E9C65295B}"/>
                </a:ext>
              </a:extLst>
            </p:cNvPr>
            <p:cNvSpPr/>
            <p:nvPr/>
          </p:nvSpPr>
          <p:spPr>
            <a:xfrm>
              <a:off x="1352459" y="3269611"/>
              <a:ext cx="2892385" cy="1341509"/>
            </a:xfrm>
            <a:custGeom>
              <a:avLst/>
              <a:gdLst>
                <a:gd name="connsiteX0" fmla="*/ 0 w 2646947"/>
                <a:gd name="connsiteY0" fmla="*/ 398234 h 1341509"/>
                <a:gd name="connsiteX1" fmla="*/ 125128 w 2646947"/>
                <a:gd name="connsiteY1" fmla="*/ 369358 h 1341509"/>
                <a:gd name="connsiteX2" fmla="*/ 182880 w 2646947"/>
                <a:gd name="connsiteY2" fmla="*/ 350107 h 1341509"/>
                <a:gd name="connsiteX3" fmla="*/ 269507 w 2646947"/>
                <a:gd name="connsiteY3" fmla="*/ 311606 h 1341509"/>
                <a:gd name="connsiteX4" fmla="*/ 433137 w 2646947"/>
                <a:gd name="connsiteY4" fmla="*/ 292356 h 1341509"/>
                <a:gd name="connsiteX5" fmla="*/ 500513 w 2646947"/>
                <a:gd name="connsiteY5" fmla="*/ 273105 h 1341509"/>
                <a:gd name="connsiteX6" fmla="*/ 577516 w 2646947"/>
                <a:gd name="connsiteY6" fmla="*/ 253855 h 1341509"/>
                <a:gd name="connsiteX7" fmla="*/ 616017 w 2646947"/>
                <a:gd name="connsiteY7" fmla="*/ 244229 h 1341509"/>
                <a:gd name="connsiteX8" fmla="*/ 644892 w 2646947"/>
                <a:gd name="connsiteY8" fmla="*/ 234604 h 1341509"/>
                <a:gd name="connsiteX9" fmla="*/ 741145 w 2646947"/>
                <a:gd name="connsiteY9" fmla="*/ 215354 h 1341509"/>
                <a:gd name="connsiteX10" fmla="*/ 827772 w 2646947"/>
                <a:gd name="connsiteY10" fmla="*/ 196103 h 1341509"/>
                <a:gd name="connsiteX11" fmla="*/ 885524 w 2646947"/>
                <a:gd name="connsiteY11" fmla="*/ 176853 h 1341509"/>
                <a:gd name="connsiteX12" fmla="*/ 914400 w 2646947"/>
                <a:gd name="connsiteY12" fmla="*/ 167227 h 1341509"/>
                <a:gd name="connsiteX13" fmla="*/ 1001027 w 2646947"/>
                <a:gd name="connsiteY13" fmla="*/ 147977 h 1341509"/>
                <a:gd name="connsiteX14" fmla="*/ 1039528 w 2646947"/>
                <a:gd name="connsiteY14" fmla="*/ 138352 h 1341509"/>
                <a:gd name="connsiteX15" fmla="*/ 1212783 w 2646947"/>
                <a:gd name="connsiteY15" fmla="*/ 99851 h 1341509"/>
                <a:gd name="connsiteX16" fmla="*/ 1386038 w 2646947"/>
                <a:gd name="connsiteY16" fmla="*/ 42099 h 1341509"/>
                <a:gd name="connsiteX17" fmla="*/ 1414913 w 2646947"/>
                <a:gd name="connsiteY17" fmla="*/ 32474 h 1341509"/>
                <a:gd name="connsiteX18" fmla="*/ 1443789 w 2646947"/>
                <a:gd name="connsiteY18" fmla="*/ 22848 h 1341509"/>
                <a:gd name="connsiteX19" fmla="*/ 1617044 w 2646947"/>
                <a:gd name="connsiteY19" fmla="*/ 13223 h 1341509"/>
                <a:gd name="connsiteX20" fmla="*/ 1771048 w 2646947"/>
                <a:gd name="connsiteY20" fmla="*/ 13223 h 1341509"/>
                <a:gd name="connsiteX21" fmla="*/ 1799924 w 2646947"/>
                <a:gd name="connsiteY21" fmla="*/ 32474 h 1341509"/>
                <a:gd name="connsiteX22" fmla="*/ 1828800 w 2646947"/>
                <a:gd name="connsiteY22" fmla="*/ 42099 h 1341509"/>
                <a:gd name="connsiteX23" fmla="*/ 1915427 w 2646947"/>
                <a:gd name="connsiteY23" fmla="*/ 109476 h 1341509"/>
                <a:gd name="connsiteX24" fmla="*/ 1934678 w 2646947"/>
                <a:gd name="connsiteY24" fmla="*/ 138352 h 1341509"/>
                <a:gd name="connsiteX25" fmla="*/ 2002054 w 2646947"/>
                <a:gd name="connsiteY25" fmla="*/ 224979 h 1341509"/>
                <a:gd name="connsiteX26" fmla="*/ 2021305 w 2646947"/>
                <a:gd name="connsiteY26" fmla="*/ 253855 h 1341509"/>
                <a:gd name="connsiteX27" fmla="*/ 2040556 w 2646947"/>
                <a:gd name="connsiteY27" fmla="*/ 311606 h 1341509"/>
                <a:gd name="connsiteX28" fmla="*/ 2050181 w 2646947"/>
                <a:gd name="connsiteY28" fmla="*/ 340482 h 1341509"/>
                <a:gd name="connsiteX29" fmla="*/ 2069431 w 2646947"/>
                <a:gd name="connsiteY29" fmla="*/ 369358 h 1341509"/>
                <a:gd name="connsiteX30" fmla="*/ 2088682 w 2646947"/>
                <a:gd name="connsiteY30" fmla="*/ 436735 h 1341509"/>
                <a:gd name="connsiteX31" fmla="*/ 2107932 w 2646947"/>
                <a:gd name="connsiteY31" fmla="*/ 475236 h 1341509"/>
                <a:gd name="connsiteX32" fmla="*/ 2117558 w 2646947"/>
                <a:gd name="connsiteY32" fmla="*/ 504112 h 1341509"/>
                <a:gd name="connsiteX33" fmla="*/ 2136808 w 2646947"/>
                <a:gd name="connsiteY33" fmla="*/ 552238 h 1341509"/>
                <a:gd name="connsiteX34" fmla="*/ 2175309 w 2646947"/>
                <a:gd name="connsiteY34" fmla="*/ 629240 h 1341509"/>
                <a:gd name="connsiteX35" fmla="*/ 2204185 w 2646947"/>
                <a:gd name="connsiteY35" fmla="*/ 696617 h 1341509"/>
                <a:gd name="connsiteX36" fmla="*/ 2233061 w 2646947"/>
                <a:gd name="connsiteY36" fmla="*/ 802495 h 1341509"/>
                <a:gd name="connsiteX37" fmla="*/ 2252311 w 2646947"/>
                <a:gd name="connsiteY37" fmla="*/ 850621 h 1341509"/>
                <a:gd name="connsiteX38" fmla="*/ 2261937 w 2646947"/>
                <a:gd name="connsiteY38" fmla="*/ 898747 h 1341509"/>
                <a:gd name="connsiteX39" fmla="*/ 2281187 w 2646947"/>
                <a:gd name="connsiteY39" fmla="*/ 946874 h 1341509"/>
                <a:gd name="connsiteX40" fmla="*/ 2290812 w 2646947"/>
                <a:gd name="connsiteY40" fmla="*/ 975749 h 1341509"/>
                <a:gd name="connsiteX41" fmla="*/ 2310063 w 2646947"/>
                <a:gd name="connsiteY41" fmla="*/ 1004625 h 1341509"/>
                <a:gd name="connsiteX42" fmla="*/ 2319688 w 2646947"/>
                <a:gd name="connsiteY42" fmla="*/ 1033501 h 1341509"/>
                <a:gd name="connsiteX43" fmla="*/ 2338939 w 2646947"/>
                <a:gd name="connsiteY43" fmla="*/ 1062377 h 1341509"/>
                <a:gd name="connsiteX44" fmla="*/ 2377440 w 2646947"/>
                <a:gd name="connsiteY44" fmla="*/ 1149004 h 1341509"/>
                <a:gd name="connsiteX45" fmla="*/ 2425566 w 2646947"/>
                <a:gd name="connsiteY45" fmla="*/ 1235632 h 1341509"/>
                <a:gd name="connsiteX46" fmla="*/ 2473692 w 2646947"/>
                <a:gd name="connsiteY46" fmla="*/ 1283758 h 1341509"/>
                <a:gd name="connsiteX47" fmla="*/ 2531444 w 2646947"/>
                <a:gd name="connsiteY47" fmla="*/ 1303008 h 1341509"/>
                <a:gd name="connsiteX48" fmla="*/ 2618071 w 2646947"/>
                <a:gd name="connsiteY48" fmla="*/ 1331884 h 1341509"/>
                <a:gd name="connsiteX49" fmla="*/ 2646947 w 2646947"/>
                <a:gd name="connsiteY49" fmla="*/ 1341509 h 134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46947" h="1341509">
                  <a:moveTo>
                    <a:pt x="0" y="398234"/>
                  </a:moveTo>
                  <a:cubicBezTo>
                    <a:pt x="87466" y="385738"/>
                    <a:pt x="45853" y="395782"/>
                    <a:pt x="125128" y="369358"/>
                  </a:cubicBezTo>
                  <a:cubicBezTo>
                    <a:pt x="125133" y="369356"/>
                    <a:pt x="182876" y="350110"/>
                    <a:pt x="182880" y="350107"/>
                  </a:cubicBezTo>
                  <a:cubicBezTo>
                    <a:pt x="212142" y="330600"/>
                    <a:pt x="229721" y="315223"/>
                    <a:pt x="269507" y="311606"/>
                  </a:cubicBezTo>
                  <a:cubicBezTo>
                    <a:pt x="343382" y="304890"/>
                    <a:pt x="368757" y="305232"/>
                    <a:pt x="433137" y="292356"/>
                  </a:cubicBezTo>
                  <a:cubicBezTo>
                    <a:pt x="493278" y="280328"/>
                    <a:pt x="450041" y="286870"/>
                    <a:pt x="500513" y="273105"/>
                  </a:cubicBezTo>
                  <a:cubicBezTo>
                    <a:pt x="526038" y="266144"/>
                    <a:pt x="551848" y="260272"/>
                    <a:pt x="577516" y="253855"/>
                  </a:cubicBezTo>
                  <a:cubicBezTo>
                    <a:pt x="590350" y="250647"/>
                    <a:pt x="603467" y="248412"/>
                    <a:pt x="616017" y="244229"/>
                  </a:cubicBezTo>
                  <a:cubicBezTo>
                    <a:pt x="625642" y="241021"/>
                    <a:pt x="635137" y="237391"/>
                    <a:pt x="644892" y="234604"/>
                  </a:cubicBezTo>
                  <a:cubicBezTo>
                    <a:pt x="689584" y="221835"/>
                    <a:pt x="689143" y="224809"/>
                    <a:pt x="741145" y="215354"/>
                  </a:cubicBezTo>
                  <a:cubicBezTo>
                    <a:pt x="764385" y="211128"/>
                    <a:pt x="804011" y="203231"/>
                    <a:pt x="827772" y="196103"/>
                  </a:cubicBezTo>
                  <a:cubicBezTo>
                    <a:pt x="847208" y="190272"/>
                    <a:pt x="866273" y="183270"/>
                    <a:pt x="885524" y="176853"/>
                  </a:cubicBezTo>
                  <a:cubicBezTo>
                    <a:pt x="895149" y="173645"/>
                    <a:pt x="904557" y="169688"/>
                    <a:pt x="914400" y="167227"/>
                  </a:cubicBezTo>
                  <a:cubicBezTo>
                    <a:pt x="1008296" y="143754"/>
                    <a:pt x="891051" y="172416"/>
                    <a:pt x="1001027" y="147977"/>
                  </a:cubicBezTo>
                  <a:cubicBezTo>
                    <a:pt x="1013941" y="145107"/>
                    <a:pt x="1026593" y="141124"/>
                    <a:pt x="1039528" y="138352"/>
                  </a:cubicBezTo>
                  <a:cubicBezTo>
                    <a:pt x="1082232" y="129201"/>
                    <a:pt x="1168316" y="114674"/>
                    <a:pt x="1212783" y="99851"/>
                  </a:cubicBezTo>
                  <a:lnTo>
                    <a:pt x="1386038" y="42099"/>
                  </a:lnTo>
                  <a:lnTo>
                    <a:pt x="1414913" y="32474"/>
                  </a:lnTo>
                  <a:cubicBezTo>
                    <a:pt x="1424538" y="29265"/>
                    <a:pt x="1433659" y="23411"/>
                    <a:pt x="1443789" y="22848"/>
                  </a:cubicBezTo>
                  <a:lnTo>
                    <a:pt x="1617044" y="13223"/>
                  </a:lnTo>
                  <a:cubicBezTo>
                    <a:pt x="1681602" y="-2916"/>
                    <a:pt x="1675726" y="-5841"/>
                    <a:pt x="1771048" y="13223"/>
                  </a:cubicBezTo>
                  <a:cubicBezTo>
                    <a:pt x="1782392" y="15492"/>
                    <a:pt x="1789577" y="27301"/>
                    <a:pt x="1799924" y="32474"/>
                  </a:cubicBezTo>
                  <a:cubicBezTo>
                    <a:pt x="1808999" y="37011"/>
                    <a:pt x="1819931" y="37172"/>
                    <a:pt x="1828800" y="42099"/>
                  </a:cubicBezTo>
                  <a:cubicBezTo>
                    <a:pt x="1862106" y="60602"/>
                    <a:pt x="1891237" y="80449"/>
                    <a:pt x="1915427" y="109476"/>
                  </a:cubicBezTo>
                  <a:cubicBezTo>
                    <a:pt x="1922833" y="118363"/>
                    <a:pt x="1927272" y="129465"/>
                    <a:pt x="1934678" y="138352"/>
                  </a:cubicBezTo>
                  <a:cubicBezTo>
                    <a:pt x="2010070" y="228822"/>
                    <a:pt x="1904744" y="79015"/>
                    <a:pt x="2002054" y="224979"/>
                  </a:cubicBezTo>
                  <a:lnTo>
                    <a:pt x="2021305" y="253855"/>
                  </a:lnTo>
                  <a:lnTo>
                    <a:pt x="2040556" y="311606"/>
                  </a:lnTo>
                  <a:cubicBezTo>
                    <a:pt x="2043764" y="321231"/>
                    <a:pt x="2044553" y="332040"/>
                    <a:pt x="2050181" y="340482"/>
                  </a:cubicBezTo>
                  <a:cubicBezTo>
                    <a:pt x="2056598" y="350107"/>
                    <a:pt x="2064258" y="359011"/>
                    <a:pt x="2069431" y="369358"/>
                  </a:cubicBezTo>
                  <a:cubicBezTo>
                    <a:pt x="2081070" y="392636"/>
                    <a:pt x="2079426" y="412052"/>
                    <a:pt x="2088682" y="436735"/>
                  </a:cubicBezTo>
                  <a:cubicBezTo>
                    <a:pt x="2093720" y="450170"/>
                    <a:pt x="2102280" y="462048"/>
                    <a:pt x="2107932" y="475236"/>
                  </a:cubicBezTo>
                  <a:cubicBezTo>
                    <a:pt x="2111929" y="484562"/>
                    <a:pt x="2113995" y="494612"/>
                    <a:pt x="2117558" y="504112"/>
                  </a:cubicBezTo>
                  <a:cubicBezTo>
                    <a:pt x="2123625" y="520290"/>
                    <a:pt x="2129568" y="536551"/>
                    <a:pt x="2136808" y="552238"/>
                  </a:cubicBezTo>
                  <a:cubicBezTo>
                    <a:pt x="2148834" y="578294"/>
                    <a:pt x="2166235" y="602016"/>
                    <a:pt x="2175309" y="629240"/>
                  </a:cubicBezTo>
                  <a:cubicBezTo>
                    <a:pt x="2189471" y="671728"/>
                    <a:pt x="2180396" y="649041"/>
                    <a:pt x="2204185" y="696617"/>
                  </a:cubicBezTo>
                  <a:cubicBezTo>
                    <a:pt x="2213852" y="744954"/>
                    <a:pt x="2213520" y="753642"/>
                    <a:pt x="2233061" y="802495"/>
                  </a:cubicBezTo>
                  <a:cubicBezTo>
                    <a:pt x="2239478" y="818537"/>
                    <a:pt x="2247346" y="834072"/>
                    <a:pt x="2252311" y="850621"/>
                  </a:cubicBezTo>
                  <a:cubicBezTo>
                    <a:pt x="2257012" y="866291"/>
                    <a:pt x="2257236" y="883077"/>
                    <a:pt x="2261937" y="898747"/>
                  </a:cubicBezTo>
                  <a:cubicBezTo>
                    <a:pt x="2266902" y="915296"/>
                    <a:pt x="2275120" y="930696"/>
                    <a:pt x="2281187" y="946874"/>
                  </a:cubicBezTo>
                  <a:cubicBezTo>
                    <a:pt x="2284749" y="956374"/>
                    <a:pt x="2286275" y="966674"/>
                    <a:pt x="2290812" y="975749"/>
                  </a:cubicBezTo>
                  <a:cubicBezTo>
                    <a:pt x="2295986" y="986096"/>
                    <a:pt x="2303646" y="995000"/>
                    <a:pt x="2310063" y="1004625"/>
                  </a:cubicBezTo>
                  <a:cubicBezTo>
                    <a:pt x="2313271" y="1014250"/>
                    <a:pt x="2315151" y="1024426"/>
                    <a:pt x="2319688" y="1033501"/>
                  </a:cubicBezTo>
                  <a:cubicBezTo>
                    <a:pt x="2324861" y="1043848"/>
                    <a:pt x="2334241" y="1051806"/>
                    <a:pt x="2338939" y="1062377"/>
                  </a:cubicBezTo>
                  <a:cubicBezTo>
                    <a:pt x="2384756" y="1165466"/>
                    <a:pt x="2333872" y="1083654"/>
                    <a:pt x="2377440" y="1149004"/>
                  </a:cubicBezTo>
                  <a:cubicBezTo>
                    <a:pt x="2394381" y="1199828"/>
                    <a:pt x="2381438" y="1169441"/>
                    <a:pt x="2425566" y="1235632"/>
                  </a:cubicBezTo>
                  <a:cubicBezTo>
                    <a:pt x="2443126" y="1261972"/>
                    <a:pt x="2443300" y="1270250"/>
                    <a:pt x="2473692" y="1283758"/>
                  </a:cubicBezTo>
                  <a:cubicBezTo>
                    <a:pt x="2492235" y="1291999"/>
                    <a:pt x="2512193" y="1296591"/>
                    <a:pt x="2531444" y="1303008"/>
                  </a:cubicBezTo>
                  <a:lnTo>
                    <a:pt x="2618071" y="1331884"/>
                  </a:lnTo>
                  <a:lnTo>
                    <a:pt x="2646947" y="134150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9" name="Oval 10">
              <a:extLst>
                <a:ext uri="{FF2B5EF4-FFF2-40B4-BE49-F238E27FC236}">
                  <a16:creationId xmlns:a16="http://schemas.microsoft.com/office/drawing/2014/main" id="{AE8B7834-7E07-80A7-C130-3004CB8C4CB5}"/>
                </a:ext>
              </a:extLst>
            </p:cNvPr>
            <p:cNvSpPr/>
            <p:nvPr/>
          </p:nvSpPr>
          <p:spPr>
            <a:xfrm>
              <a:off x="3009856" y="2913785"/>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 name="Oval 11">
              <a:extLst>
                <a:ext uri="{FF2B5EF4-FFF2-40B4-BE49-F238E27FC236}">
                  <a16:creationId xmlns:a16="http://schemas.microsoft.com/office/drawing/2014/main" id="{407F7F3C-E992-7185-C89F-BE2514BA8742}"/>
                </a:ext>
              </a:extLst>
            </p:cNvPr>
            <p:cNvSpPr/>
            <p:nvPr/>
          </p:nvSpPr>
          <p:spPr>
            <a:xfrm>
              <a:off x="1448709" y="3250361"/>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1" name="Oval 12">
              <a:extLst>
                <a:ext uri="{FF2B5EF4-FFF2-40B4-BE49-F238E27FC236}">
                  <a16:creationId xmlns:a16="http://schemas.microsoft.com/office/drawing/2014/main" id="{D43EBC20-C036-2F0C-2AD1-50CA24DEDCB7}"/>
                </a:ext>
              </a:extLst>
            </p:cNvPr>
            <p:cNvSpPr/>
            <p:nvPr/>
          </p:nvSpPr>
          <p:spPr>
            <a:xfrm>
              <a:off x="4033094" y="4245359"/>
              <a:ext cx="356135" cy="356135"/>
            </a:xfrm>
            <a:prstGeom prst="ellipse">
              <a:avLst/>
            </a:prstGeom>
            <a:solidFill>
              <a:srgbClr val="B12E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pic>
          <p:nvPicPr>
            <p:cNvPr id="12" name="Picture 13">
              <a:extLst>
                <a:ext uri="{FF2B5EF4-FFF2-40B4-BE49-F238E27FC236}">
                  <a16:creationId xmlns:a16="http://schemas.microsoft.com/office/drawing/2014/main" id="{B51DC060-CEFF-4C0D-6AA7-D6772ACFEB77}"/>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3032065" y="2492958"/>
              <a:ext cx="431506" cy="450268"/>
            </a:xfrm>
            <a:prstGeom prst="rect">
              <a:avLst/>
            </a:prstGeom>
          </p:spPr>
        </p:pic>
        <p:pic>
          <p:nvPicPr>
            <p:cNvPr id="13" name="Picture 14">
              <a:extLst>
                <a:ext uri="{FF2B5EF4-FFF2-40B4-BE49-F238E27FC236}">
                  <a16:creationId xmlns:a16="http://schemas.microsoft.com/office/drawing/2014/main" id="{735BF2FC-4A01-39EE-2732-B22F6AE59E16}"/>
                </a:ext>
              </a:extLst>
            </p:cNvPr>
            <p:cNvPicPr>
              <a:picLocks noChangeAspect="1"/>
            </p:cNvPicPr>
            <p:nvPr/>
          </p:nvPicPr>
          <p:blipFill>
            <a:blip r:embed="rId4">
              <a:lum bright="20000" contrast="-40000"/>
            </a:blip>
            <a:stretch>
              <a:fillRect/>
            </a:stretch>
          </p:blipFill>
          <p:spPr>
            <a:xfrm flipH="1">
              <a:off x="1404606" y="2846711"/>
              <a:ext cx="405839" cy="460790"/>
            </a:xfrm>
            <a:prstGeom prst="rect">
              <a:avLst/>
            </a:prstGeom>
          </p:spPr>
        </p:pic>
        <p:pic>
          <p:nvPicPr>
            <p:cNvPr id="14" name="Picture 15">
              <a:extLst>
                <a:ext uri="{FF2B5EF4-FFF2-40B4-BE49-F238E27FC236}">
                  <a16:creationId xmlns:a16="http://schemas.microsoft.com/office/drawing/2014/main" id="{2F52F414-A43C-1458-F3F2-E2FE45C1FCC7}"/>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4072451" y="3816921"/>
              <a:ext cx="431506" cy="450268"/>
            </a:xfrm>
            <a:prstGeom prst="rect">
              <a:avLst/>
            </a:prstGeom>
          </p:spPr>
        </p:pic>
        <p:sp>
          <p:nvSpPr>
            <p:cNvPr id="15" name="Rectangle 19">
              <a:extLst>
                <a:ext uri="{FF2B5EF4-FFF2-40B4-BE49-F238E27FC236}">
                  <a16:creationId xmlns:a16="http://schemas.microsoft.com/office/drawing/2014/main" id="{38549BE4-B8BF-265C-5792-182D7034792F}"/>
                </a:ext>
              </a:extLst>
            </p:cNvPr>
            <p:cNvSpPr/>
            <p:nvPr/>
          </p:nvSpPr>
          <p:spPr>
            <a:xfrm>
              <a:off x="3966641" y="3589894"/>
              <a:ext cx="601447"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Disease</a:t>
              </a:r>
            </a:p>
          </p:txBody>
        </p:sp>
        <p:grpSp>
          <p:nvGrpSpPr>
            <p:cNvPr id="16" name="Group 21">
              <a:extLst>
                <a:ext uri="{FF2B5EF4-FFF2-40B4-BE49-F238E27FC236}">
                  <a16:creationId xmlns:a16="http://schemas.microsoft.com/office/drawing/2014/main" id="{3487D7B8-5EC3-55F9-874E-C995A4C7618B}"/>
                </a:ext>
              </a:extLst>
            </p:cNvPr>
            <p:cNvGrpSpPr/>
            <p:nvPr/>
          </p:nvGrpSpPr>
          <p:grpSpPr>
            <a:xfrm>
              <a:off x="1846164" y="3044787"/>
              <a:ext cx="1124072" cy="410927"/>
              <a:chOff x="1905441" y="3332926"/>
              <a:chExt cx="1124072" cy="410927"/>
            </a:xfrm>
          </p:grpSpPr>
          <p:cxnSp>
            <p:nvCxnSpPr>
              <p:cNvPr id="1034" name="Straight Arrow Connector 17">
                <a:extLst>
                  <a:ext uri="{FF2B5EF4-FFF2-40B4-BE49-F238E27FC236}">
                    <a16:creationId xmlns:a16="http://schemas.microsoft.com/office/drawing/2014/main" id="{E9E7634C-36BB-D4DA-DBE2-DB8CB9E504F5}"/>
                  </a:ext>
                </a:extLst>
              </p:cNvPr>
              <p:cNvCxnSpPr>
                <a:cxnSpLocks/>
              </p:cNvCxnSpPr>
              <p:nvPr/>
            </p:nvCxnSpPr>
            <p:spPr>
              <a:xfrm flipV="1">
                <a:off x="1923450" y="3456303"/>
                <a:ext cx="1106063" cy="287550"/>
              </a:xfrm>
              <a:prstGeom prst="straightConnector1">
                <a:avLst/>
              </a:prstGeom>
              <a:ln>
                <a:solidFill>
                  <a:srgbClr val="4898BD"/>
                </a:solidFill>
                <a:tailEnd type="triangle"/>
              </a:ln>
            </p:spPr>
            <p:style>
              <a:lnRef idx="1">
                <a:schemeClr val="accent1"/>
              </a:lnRef>
              <a:fillRef idx="0">
                <a:schemeClr val="accent1"/>
              </a:fillRef>
              <a:effectRef idx="0">
                <a:schemeClr val="accent1"/>
              </a:effectRef>
              <a:fontRef idx="minor">
                <a:schemeClr val="tx1"/>
              </a:fontRef>
            </p:style>
          </p:cxnSp>
          <p:sp>
            <p:nvSpPr>
              <p:cNvPr id="1035" name="Rectangle 20">
                <a:extLst>
                  <a:ext uri="{FF2B5EF4-FFF2-40B4-BE49-F238E27FC236}">
                    <a16:creationId xmlns:a16="http://schemas.microsoft.com/office/drawing/2014/main" id="{78EFAA55-8E5C-74C6-FAAF-587BFA3E3FB8}"/>
                  </a:ext>
                </a:extLst>
              </p:cNvPr>
              <p:cNvSpPr/>
              <p:nvPr/>
            </p:nvSpPr>
            <p:spPr>
              <a:xfrm rot="20681911">
                <a:off x="1905441" y="3332926"/>
                <a:ext cx="1083951"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4898BD"/>
                    </a:solidFill>
                    <a:latin typeface="Avenir Next Condensed" panose="020B0506020202020204" pitchFamily="34" charset="0"/>
                    <a:ea typeface="Helvetica Neue Medium" panose="02000503000000020004" pitchFamily="2" charset="0"/>
                    <a:cs typeface="Helvetica Neue Medium" panose="02000503000000020004" pitchFamily="2" charset="0"/>
                  </a:rPr>
                  <a:t>Adaptive change</a:t>
                </a:r>
              </a:p>
            </p:txBody>
          </p:sp>
        </p:grpSp>
        <p:cxnSp>
          <p:nvCxnSpPr>
            <p:cNvPr id="17" name="Straight Arrow Connector 23">
              <a:extLst>
                <a:ext uri="{FF2B5EF4-FFF2-40B4-BE49-F238E27FC236}">
                  <a16:creationId xmlns:a16="http://schemas.microsoft.com/office/drawing/2014/main" id="{0E2E8932-340B-F21B-80B9-4061B2DAF085}"/>
                </a:ext>
              </a:extLst>
            </p:cNvPr>
            <p:cNvCxnSpPr>
              <a:cxnSpLocks/>
            </p:cNvCxnSpPr>
            <p:nvPr/>
          </p:nvCxnSpPr>
          <p:spPr>
            <a:xfrm>
              <a:off x="3595437" y="3289432"/>
              <a:ext cx="304333" cy="702652"/>
            </a:xfrm>
            <a:prstGeom prst="straightConnector1">
              <a:avLst/>
            </a:prstGeom>
            <a:ln>
              <a:solidFill>
                <a:srgbClr val="B12E3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3">
              <a:extLst>
                <a:ext uri="{FF2B5EF4-FFF2-40B4-BE49-F238E27FC236}">
                  <a16:creationId xmlns:a16="http://schemas.microsoft.com/office/drawing/2014/main" id="{D106FB1C-014A-4BED-34B3-E55CD13E8ED2}"/>
                </a:ext>
              </a:extLst>
            </p:cNvPr>
            <p:cNvGrpSpPr/>
            <p:nvPr/>
          </p:nvGrpSpPr>
          <p:grpSpPr>
            <a:xfrm>
              <a:off x="1510486" y="4984342"/>
              <a:ext cx="335693" cy="153583"/>
              <a:chOff x="964222" y="2625872"/>
              <a:chExt cx="2041451" cy="684035"/>
            </a:xfrm>
          </p:grpSpPr>
          <p:sp>
            <p:nvSpPr>
              <p:cNvPr id="1032" name="Freeform 4">
                <a:extLst>
                  <a:ext uri="{FF2B5EF4-FFF2-40B4-BE49-F238E27FC236}">
                    <a16:creationId xmlns:a16="http://schemas.microsoft.com/office/drawing/2014/main" id="{CB96149F-E865-9015-DBD5-B40FD39DAE43}"/>
                  </a:ext>
                </a:extLst>
              </p:cNvPr>
              <p:cNvSpPr/>
              <p:nvPr/>
            </p:nvSpPr>
            <p:spPr>
              <a:xfrm>
                <a:off x="964222" y="2863339"/>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33" name="Freeform 5">
                <a:extLst>
                  <a:ext uri="{FF2B5EF4-FFF2-40B4-BE49-F238E27FC236}">
                    <a16:creationId xmlns:a16="http://schemas.microsoft.com/office/drawing/2014/main" id="{25A5CD62-8B08-B16D-B293-045D356EDD2A}"/>
                  </a:ext>
                </a:extLst>
              </p:cNvPr>
              <p:cNvSpPr/>
              <p:nvPr/>
            </p:nvSpPr>
            <p:spPr>
              <a:xfrm>
                <a:off x="964222" y="2625872"/>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dirty="0"/>
              </a:p>
            </p:txBody>
          </p:sp>
        </p:grpSp>
        <p:cxnSp>
          <p:nvCxnSpPr>
            <p:cNvPr id="19" name="Straight Arrow Connector 7">
              <a:extLst>
                <a:ext uri="{FF2B5EF4-FFF2-40B4-BE49-F238E27FC236}">
                  <a16:creationId xmlns:a16="http://schemas.microsoft.com/office/drawing/2014/main" id="{DAEC7C7A-ABE6-529A-559A-4E92340296A2}"/>
                </a:ext>
              </a:extLst>
            </p:cNvPr>
            <p:cNvCxnSpPr>
              <a:cxnSpLocks/>
            </p:cNvCxnSpPr>
            <p:nvPr/>
          </p:nvCxnSpPr>
          <p:spPr>
            <a:xfrm flipV="1">
              <a:off x="1038006" y="2617871"/>
              <a:ext cx="0" cy="2253132"/>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27">
              <a:extLst>
                <a:ext uri="{FF2B5EF4-FFF2-40B4-BE49-F238E27FC236}">
                  <a16:creationId xmlns:a16="http://schemas.microsoft.com/office/drawing/2014/main" id="{AA5750AA-F319-9F9C-77AA-D21E19C3CF71}"/>
                </a:ext>
              </a:extLst>
            </p:cNvPr>
            <p:cNvCxnSpPr>
              <a:cxnSpLocks/>
            </p:cNvCxnSpPr>
            <p:nvPr/>
          </p:nvCxnSpPr>
          <p:spPr>
            <a:xfrm>
              <a:off x="1038006" y="4871003"/>
              <a:ext cx="3590222"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44">
              <a:extLst>
                <a:ext uri="{FF2B5EF4-FFF2-40B4-BE49-F238E27FC236}">
                  <a16:creationId xmlns:a16="http://schemas.microsoft.com/office/drawing/2014/main" id="{99BD29F9-A471-E244-E49B-B24DE21FC913}"/>
                </a:ext>
              </a:extLst>
            </p:cNvPr>
            <p:cNvGrpSpPr/>
            <p:nvPr/>
          </p:nvGrpSpPr>
          <p:grpSpPr>
            <a:xfrm>
              <a:off x="2920508" y="4981767"/>
              <a:ext cx="340108" cy="263510"/>
              <a:chOff x="3037536" y="4442132"/>
              <a:chExt cx="340108" cy="263510"/>
            </a:xfrm>
          </p:grpSpPr>
          <p:grpSp>
            <p:nvGrpSpPr>
              <p:cNvPr id="1025" name="Group 29">
                <a:extLst>
                  <a:ext uri="{FF2B5EF4-FFF2-40B4-BE49-F238E27FC236}">
                    <a16:creationId xmlns:a16="http://schemas.microsoft.com/office/drawing/2014/main" id="{E79D78EF-EDDE-9015-702D-B212F850D4DC}"/>
                  </a:ext>
                </a:extLst>
              </p:cNvPr>
              <p:cNvGrpSpPr/>
              <p:nvPr/>
            </p:nvGrpSpPr>
            <p:grpSpPr>
              <a:xfrm>
                <a:off x="3037536" y="4442132"/>
                <a:ext cx="335693" cy="153583"/>
                <a:chOff x="964222" y="2625878"/>
                <a:chExt cx="2041451" cy="684033"/>
              </a:xfrm>
            </p:grpSpPr>
            <p:sp>
              <p:nvSpPr>
                <p:cNvPr id="1030" name="Freeform 30">
                  <a:extLst>
                    <a:ext uri="{FF2B5EF4-FFF2-40B4-BE49-F238E27FC236}">
                      <a16:creationId xmlns:a16="http://schemas.microsoft.com/office/drawing/2014/main" id="{0549B43F-6874-5595-AB25-CBCE92612757}"/>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31" name="Freeform 31">
                  <a:extLst>
                    <a:ext uri="{FF2B5EF4-FFF2-40B4-BE49-F238E27FC236}">
                      <a16:creationId xmlns:a16="http://schemas.microsoft.com/office/drawing/2014/main" id="{78FFD6E5-5D5C-2F6C-B6F8-BA18FFC7EC32}"/>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27" name="Group 32">
                <a:extLst>
                  <a:ext uri="{FF2B5EF4-FFF2-40B4-BE49-F238E27FC236}">
                    <a16:creationId xmlns:a16="http://schemas.microsoft.com/office/drawing/2014/main" id="{2896B75C-BE36-050B-E1A4-31099079736D}"/>
                  </a:ext>
                </a:extLst>
              </p:cNvPr>
              <p:cNvGrpSpPr/>
              <p:nvPr/>
            </p:nvGrpSpPr>
            <p:grpSpPr>
              <a:xfrm>
                <a:off x="3041951" y="4552059"/>
                <a:ext cx="335693" cy="153583"/>
                <a:chOff x="964222" y="2625878"/>
                <a:chExt cx="2041451" cy="684033"/>
              </a:xfrm>
            </p:grpSpPr>
            <p:sp>
              <p:nvSpPr>
                <p:cNvPr id="1028" name="Freeform 33">
                  <a:extLst>
                    <a:ext uri="{FF2B5EF4-FFF2-40B4-BE49-F238E27FC236}">
                      <a16:creationId xmlns:a16="http://schemas.microsoft.com/office/drawing/2014/main" id="{B7E79E32-3227-4D0B-952C-9B384709EEF4}"/>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29" name="Freeform 34">
                  <a:extLst>
                    <a:ext uri="{FF2B5EF4-FFF2-40B4-BE49-F238E27FC236}">
                      <a16:creationId xmlns:a16="http://schemas.microsoft.com/office/drawing/2014/main" id="{0C1D762F-7E06-75B1-E864-B1D5F4255563}"/>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grpSp>
          <p:nvGrpSpPr>
            <p:cNvPr id="22" name="Group 45">
              <a:extLst>
                <a:ext uri="{FF2B5EF4-FFF2-40B4-BE49-F238E27FC236}">
                  <a16:creationId xmlns:a16="http://schemas.microsoft.com/office/drawing/2014/main" id="{1CF0DCB2-3341-FE49-4553-270A4526D62C}"/>
                </a:ext>
              </a:extLst>
            </p:cNvPr>
            <p:cNvGrpSpPr/>
            <p:nvPr/>
          </p:nvGrpSpPr>
          <p:grpSpPr>
            <a:xfrm>
              <a:off x="1511096" y="4941025"/>
              <a:ext cx="2931160" cy="448413"/>
              <a:chOff x="1368243" y="4401390"/>
              <a:chExt cx="2931160" cy="448413"/>
            </a:xfrm>
          </p:grpSpPr>
          <p:grpSp>
            <p:nvGrpSpPr>
              <p:cNvPr id="24" name="Group 35">
                <a:extLst>
                  <a:ext uri="{FF2B5EF4-FFF2-40B4-BE49-F238E27FC236}">
                    <a16:creationId xmlns:a16="http://schemas.microsoft.com/office/drawing/2014/main" id="{BCE04FD5-6FD1-B01E-D73E-D6677AA10251}"/>
                  </a:ext>
                </a:extLst>
              </p:cNvPr>
              <p:cNvGrpSpPr/>
              <p:nvPr/>
            </p:nvGrpSpPr>
            <p:grpSpPr>
              <a:xfrm>
                <a:off x="3963710" y="4401390"/>
                <a:ext cx="335693" cy="153583"/>
                <a:chOff x="964222" y="2625878"/>
                <a:chExt cx="2041451" cy="684033"/>
              </a:xfrm>
            </p:grpSpPr>
            <p:sp>
              <p:nvSpPr>
                <p:cNvPr id="31" name="Freeform 36">
                  <a:extLst>
                    <a:ext uri="{FF2B5EF4-FFF2-40B4-BE49-F238E27FC236}">
                      <a16:creationId xmlns:a16="http://schemas.microsoft.com/office/drawing/2014/main" id="{1B277BD6-D433-827F-0385-DA75E956CBDF}"/>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24" name="Freeform 37">
                  <a:extLst>
                    <a:ext uri="{FF2B5EF4-FFF2-40B4-BE49-F238E27FC236}">
                      <a16:creationId xmlns:a16="http://schemas.microsoft.com/office/drawing/2014/main" id="{A704C8E0-22FC-87F3-B4FD-DDF51DD6C3C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25" name="Group 38">
                <a:extLst>
                  <a:ext uri="{FF2B5EF4-FFF2-40B4-BE49-F238E27FC236}">
                    <a16:creationId xmlns:a16="http://schemas.microsoft.com/office/drawing/2014/main" id="{ECD8CA22-B651-0850-9026-0479F68C72B1}"/>
                  </a:ext>
                </a:extLst>
              </p:cNvPr>
              <p:cNvGrpSpPr/>
              <p:nvPr/>
            </p:nvGrpSpPr>
            <p:grpSpPr>
              <a:xfrm>
                <a:off x="1371437" y="4570670"/>
                <a:ext cx="335695" cy="153582"/>
                <a:chOff x="-14859213" y="2876247"/>
                <a:chExt cx="2041463" cy="684029"/>
              </a:xfrm>
            </p:grpSpPr>
            <p:sp>
              <p:nvSpPr>
                <p:cNvPr id="29" name="Freeform 39">
                  <a:extLst>
                    <a:ext uri="{FF2B5EF4-FFF2-40B4-BE49-F238E27FC236}">
                      <a16:creationId xmlns:a16="http://schemas.microsoft.com/office/drawing/2014/main" id="{CA802ACF-E8E8-A538-E0BF-D17A0224E67F}"/>
                    </a:ext>
                  </a:extLst>
                </p:cNvPr>
                <p:cNvSpPr/>
                <p:nvPr/>
              </p:nvSpPr>
              <p:spPr>
                <a:xfrm>
                  <a:off x="-14859199" y="3113709"/>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30" name="Freeform 40">
                  <a:extLst>
                    <a:ext uri="{FF2B5EF4-FFF2-40B4-BE49-F238E27FC236}">
                      <a16:creationId xmlns:a16="http://schemas.microsoft.com/office/drawing/2014/main" id="{53A5743D-CA61-E2E7-6DEC-80E7FB67BB47}"/>
                    </a:ext>
                  </a:extLst>
                </p:cNvPr>
                <p:cNvSpPr/>
                <p:nvPr/>
              </p:nvSpPr>
              <p:spPr>
                <a:xfrm>
                  <a:off x="-14859213" y="2876247"/>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26" name="Group 41">
                <a:extLst>
                  <a:ext uri="{FF2B5EF4-FFF2-40B4-BE49-F238E27FC236}">
                    <a16:creationId xmlns:a16="http://schemas.microsoft.com/office/drawing/2014/main" id="{BA545031-BB6A-FC0A-3084-1DF0D83A5EED}"/>
                  </a:ext>
                </a:extLst>
              </p:cNvPr>
              <p:cNvGrpSpPr/>
              <p:nvPr/>
            </p:nvGrpSpPr>
            <p:grpSpPr>
              <a:xfrm>
                <a:off x="1368243" y="4696221"/>
                <a:ext cx="335694" cy="153582"/>
                <a:chOff x="-14859213" y="2876247"/>
                <a:chExt cx="2041459" cy="684029"/>
              </a:xfrm>
            </p:grpSpPr>
            <p:sp>
              <p:nvSpPr>
                <p:cNvPr id="27" name="Freeform 42">
                  <a:extLst>
                    <a:ext uri="{FF2B5EF4-FFF2-40B4-BE49-F238E27FC236}">
                      <a16:creationId xmlns:a16="http://schemas.microsoft.com/office/drawing/2014/main" id="{8BE7811B-1FB3-9DD6-2514-77B29B4CCBE2}"/>
                    </a:ext>
                  </a:extLst>
                </p:cNvPr>
                <p:cNvSpPr/>
                <p:nvPr/>
              </p:nvSpPr>
              <p:spPr>
                <a:xfrm>
                  <a:off x="-14859203" y="3113709"/>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28" name="Freeform 43">
                  <a:extLst>
                    <a:ext uri="{FF2B5EF4-FFF2-40B4-BE49-F238E27FC236}">
                      <a16:creationId xmlns:a16="http://schemas.microsoft.com/office/drawing/2014/main" id="{31287F21-E80A-6EBF-B8F0-20B4D90A6014}"/>
                    </a:ext>
                  </a:extLst>
                </p:cNvPr>
                <p:cNvSpPr/>
                <p:nvPr/>
              </p:nvSpPr>
              <p:spPr>
                <a:xfrm>
                  <a:off x="-14859213" y="2876247"/>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sp>
          <p:nvSpPr>
            <p:cNvPr id="23" name="TextBox 46">
              <a:extLst>
                <a:ext uri="{FF2B5EF4-FFF2-40B4-BE49-F238E27FC236}">
                  <a16:creationId xmlns:a16="http://schemas.microsoft.com/office/drawing/2014/main" id="{C6D2840A-2E2B-F9F8-56B6-C5D6CAB35CA0}"/>
                </a:ext>
              </a:extLst>
            </p:cNvPr>
            <p:cNvSpPr txBox="1"/>
            <p:nvPr/>
          </p:nvSpPr>
          <p:spPr>
            <a:xfrm rot="16200000">
              <a:off x="12284" y="3620834"/>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Fitness</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036" name="TextBox 28">
              <a:extLst>
                <a:ext uri="{FF2B5EF4-FFF2-40B4-BE49-F238E27FC236}">
                  <a16:creationId xmlns:a16="http://schemas.microsoft.com/office/drawing/2014/main" id="{029E95AC-ADE3-F28E-4539-FDABFA0F67DF}"/>
                </a:ext>
              </a:extLst>
            </p:cNvPr>
            <p:cNvSpPr txBox="1"/>
            <p:nvPr/>
          </p:nvSpPr>
          <p:spPr>
            <a:xfrm>
              <a:off x="1788385" y="5413121"/>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Gene expression</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039" name="כותרת משנה 2">
            <a:extLst>
              <a:ext uri="{FF2B5EF4-FFF2-40B4-BE49-F238E27FC236}">
                <a16:creationId xmlns:a16="http://schemas.microsoft.com/office/drawing/2014/main" id="{8DE84968-E6BA-FAC6-C470-4E4C4A5FAED1}"/>
              </a:ext>
            </a:extLst>
          </p:cNvPr>
          <p:cNvSpPr txBox="1">
            <a:spLocks/>
          </p:cNvSpPr>
          <p:nvPr/>
        </p:nvSpPr>
        <p:spPr>
          <a:xfrm>
            <a:off x="911172" y="1359744"/>
            <a:ext cx="383892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Cliffedge theory in scoliosis</a:t>
            </a:r>
            <a:endParaRPr lang="he-IL" sz="2000" b="1" i="1" dirty="0"/>
          </a:p>
        </p:txBody>
      </p:sp>
      <p:grpSp>
        <p:nvGrpSpPr>
          <p:cNvPr id="1040" name="קבוצה 1039">
            <a:extLst>
              <a:ext uri="{FF2B5EF4-FFF2-40B4-BE49-F238E27FC236}">
                <a16:creationId xmlns:a16="http://schemas.microsoft.com/office/drawing/2014/main" id="{2F003D73-098E-94CF-EB98-6E3322DB12B6}"/>
              </a:ext>
            </a:extLst>
          </p:cNvPr>
          <p:cNvGrpSpPr/>
          <p:nvPr/>
        </p:nvGrpSpPr>
        <p:grpSpPr>
          <a:xfrm>
            <a:off x="6402023" y="2456451"/>
            <a:ext cx="4951777" cy="3853015"/>
            <a:chOff x="695988" y="2492958"/>
            <a:chExt cx="3932240" cy="3227940"/>
          </a:xfrm>
        </p:grpSpPr>
        <p:sp>
          <p:nvSpPr>
            <p:cNvPr id="1041" name="Freeform 9">
              <a:extLst>
                <a:ext uri="{FF2B5EF4-FFF2-40B4-BE49-F238E27FC236}">
                  <a16:creationId xmlns:a16="http://schemas.microsoft.com/office/drawing/2014/main" id="{D62199CA-D53E-BFC9-ADE0-D7E41EBDB135}"/>
                </a:ext>
              </a:extLst>
            </p:cNvPr>
            <p:cNvSpPr/>
            <p:nvPr/>
          </p:nvSpPr>
          <p:spPr>
            <a:xfrm>
              <a:off x="1352459" y="3269611"/>
              <a:ext cx="2892385" cy="1341509"/>
            </a:xfrm>
            <a:custGeom>
              <a:avLst/>
              <a:gdLst>
                <a:gd name="connsiteX0" fmla="*/ 0 w 2646947"/>
                <a:gd name="connsiteY0" fmla="*/ 398234 h 1341509"/>
                <a:gd name="connsiteX1" fmla="*/ 125128 w 2646947"/>
                <a:gd name="connsiteY1" fmla="*/ 369358 h 1341509"/>
                <a:gd name="connsiteX2" fmla="*/ 182880 w 2646947"/>
                <a:gd name="connsiteY2" fmla="*/ 350107 h 1341509"/>
                <a:gd name="connsiteX3" fmla="*/ 269507 w 2646947"/>
                <a:gd name="connsiteY3" fmla="*/ 311606 h 1341509"/>
                <a:gd name="connsiteX4" fmla="*/ 433137 w 2646947"/>
                <a:gd name="connsiteY4" fmla="*/ 292356 h 1341509"/>
                <a:gd name="connsiteX5" fmla="*/ 500513 w 2646947"/>
                <a:gd name="connsiteY5" fmla="*/ 273105 h 1341509"/>
                <a:gd name="connsiteX6" fmla="*/ 577516 w 2646947"/>
                <a:gd name="connsiteY6" fmla="*/ 253855 h 1341509"/>
                <a:gd name="connsiteX7" fmla="*/ 616017 w 2646947"/>
                <a:gd name="connsiteY7" fmla="*/ 244229 h 1341509"/>
                <a:gd name="connsiteX8" fmla="*/ 644892 w 2646947"/>
                <a:gd name="connsiteY8" fmla="*/ 234604 h 1341509"/>
                <a:gd name="connsiteX9" fmla="*/ 741145 w 2646947"/>
                <a:gd name="connsiteY9" fmla="*/ 215354 h 1341509"/>
                <a:gd name="connsiteX10" fmla="*/ 827772 w 2646947"/>
                <a:gd name="connsiteY10" fmla="*/ 196103 h 1341509"/>
                <a:gd name="connsiteX11" fmla="*/ 885524 w 2646947"/>
                <a:gd name="connsiteY11" fmla="*/ 176853 h 1341509"/>
                <a:gd name="connsiteX12" fmla="*/ 914400 w 2646947"/>
                <a:gd name="connsiteY12" fmla="*/ 167227 h 1341509"/>
                <a:gd name="connsiteX13" fmla="*/ 1001027 w 2646947"/>
                <a:gd name="connsiteY13" fmla="*/ 147977 h 1341509"/>
                <a:gd name="connsiteX14" fmla="*/ 1039528 w 2646947"/>
                <a:gd name="connsiteY14" fmla="*/ 138352 h 1341509"/>
                <a:gd name="connsiteX15" fmla="*/ 1212783 w 2646947"/>
                <a:gd name="connsiteY15" fmla="*/ 99851 h 1341509"/>
                <a:gd name="connsiteX16" fmla="*/ 1386038 w 2646947"/>
                <a:gd name="connsiteY16" fmla="*/ 42099 h 1341509"/>
                <a:gd name="connsiteX17" fmla="*/ 1414913 w 2646947"/>
                <a:gd name="connsiteY17" fmla="*/ 32474 h 1341509"/>
                <a:gd name="connsiteX18" fmla="*/ 1443789 w 2646947"/>
                <a:gd name="connsiteY18" fmla="*/ 22848 h 1341509"/>
                <a:gd name="connsiteX19" fmla="*/ 1617044 w 2646947"/>
                <a:gd name="connsiteY19" fmla="*/ 13223 h 1341509"/>
                <a:gd name="connsiteX20" fmla="*/ 1771048 w 2646947"/>
                <a:gd name="connsiteY20" fmla="*/ 13223 h 1341509"/>
                <a:gd name="connsiteX21" fmla="*/ 1799924 w 2646947"/>
                <a:gd name="connsiteY21" fmla="*/ 32474 h 1341509"/>
                <a:gd name="connsiteX22" fmla="*/ 1828800 w 2646947"/>
                <a:gd name="connsiteY22" fmla="*/ 42099 h 1341509"/>
                <a:gd name="connsiteX23" fmla="*/ 1915427 w 2646947"/>
                <a:gd name="connsiteY23" fmla="*/ 109476 h 1341509"/>
                <a:gd name="connsiteX24" fmla="*/ 1934678 w 2646947"/>
                <a:gd name="connsiteY24" fmla="*/ 138352 h 1341509"/>
                <a:gd name="connsiteX25" fmla="*/ 2002054 w 2646947"/>
                <a:gd name="connsiteY25" fmla="*/ 224979 h 1341509"/>
                <a:gd name="connsiteX26" fmla="*/ 2021305 w 2646947"/>
                <a:gd name="connsiteY26" fmla="*/ 253855 h 1341509"/>
                <a:gd name="connsiteX27" fmla="*/ 2040556 w 2646947"/>
                <a:gd name="connsiteY27" fmla="*/ 311606 h 1341509"/>
                <a:gd name="connsiteX28" fmla="*/ 2050181 w 2646947"/>
                <a:gd name="connsiteY28" fmla="*/ 340482 h 1341509"/>
                <a:gd name="connsiteX29" fmla="*/ 2069431 w 2646947"/>
                <a:gd name="connsiteY29" fmla="*/ 369358 h 1341509"/>
                <a:gd name="connsiteX30" fmla="*/ 2088682 w 2646947"/>
                <a:gd name="connsiteY30" fmla="*/ 436735 h 1341509"/>
                <a:gd name="connsiteX31" fmla="*/ 2107932 w 2646947"/>
                <a:gd name="connsiteY31" fmla="*/ 475236 h 1341509"/>
                <a:gd name="connsiteX32" fmla="*/ 2117558 w 2646947"/>
                <a:gd name="connsiteY32" fmla="*/ 504112 h 1341509"/>
                <a:gd name="connsiteX33" fmla="*/ 2136808 w 2646947"/>
                <a:gd name="connsiteY33" fmla="*/ 552238 h 1341509"/>
                <a:gd name="connsiteX34" fmla="*/ 2175309 w 2646947"/>
                <a:gd name="connsiteY34" fmla="*/ 629240 h 1341509"/>
                <a:gd name="connsiteX35" fmla="*/ 2204185 w 2646947"/>
                <a:gd name="connsiteY35" fmla="*/ 696617 h 1341509"/>
                <a:gd name="connsiteX36" fmla="*/ 2233061 w 2646947"/>
                <a:gd name="connsiteY36" fmla="*/ 802495 h 1341509"/>
                <a:gd name="connsiteX37" fmla="*/ 2252311 w 2646947"/>
                <a:gd name="connsiteY37" fmla="*/ 850621 h 1341509"/>
                <a:gd name="connsiteX38" fmla="*/ 2261937 w 2646947"/>
                <a:gd name="connsiteY38" fmla="*/ 898747 h 1341509"/>
                <a:gd name="connsiteX39" fmla="*/ 2281187 w 2646947"/>
                <a:gd name="connsiteY39" fmla="*/ 946874 h 1341509"/>
                <a:gd name="connsiteX40" fmla="*/ 2290812 w 2646947"/>
                <a:gd name="connsiteY40" fmla="*/ 975749 h 1341509"/>
                <a:gd name="connsiteX41" fmla="*/ 2310063 w 2646947"/>
                <a:gd name="connsiteY41" fmla="*/ 1004625 h 1341509"/>
                <a:gd name="connsiteX42" fmla="*/ 2319688 w 2646947"/>
                <a:gd name="connsiteY42" fmla="*/ 1033501 h 1341509"/>
                <a:gd name="connsiteX43" fmla="*/ 2338939 w 2646947"/>
                <a:gd name="connsiteY43" fmla="*/ 1062377 h 1341509"/>
                <a:gd name="connsiteX44" fmla="*/ 2377440 w 2646947"/>
                <a:gd name="connsiteY44" fmla="*/ 1149004 h 1341509"/>
                <a:gd name="connsiteX45" fmla="*/ 2425566 w 2646947"/>
                <a:gd name="connsiteY45" fmla="*/ 1235632 h 1341509"/>
                <a:gd name="connsiteX46" fmla="*/ 2473692 w 2646947"/>
                <a:gd name="connsiteY46" fmla="*/ 1283758 h 1341509"/>
                <a:gd name="connsiteX47" fmla="*/ 2531444 w 2646947"/>
                <a:gd name="connsiteY47" fmla="*/ 1303008 h 1341509"/>
                <a:gd name="connsiteX48" fmla="*/ 2618071 w 2646947"/>
                <a:gd name="connsiteY48" fmla="*/ 1331884 h 1341509"/>
                <a:gd name="connsiteX49" fmla="*/ 2646947 w 2646947"/>
                <a:gd name="connsiteY49" fmla="*/ 1341509 h 134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46947" h="1341509">
                  <a:moveTo>
                    <a:pt x="0" y="398234"/>
                  </a:moveTo>
                  <a:cubicBezTo>
                    <a:pt x="87466" y="385738"/>
                    <a:pt x="45853" y="395782"/>
                    <a:pt x="125128" y="369358"/>
                  </a:cubicBezTo>
                  <a:cubicBezTo>
                    <a:pt x="125133" y="369356"/>
                    <a:pt x="182876" y="350110"/>
                    <a:pt x="182880" y="350107"/>
                  </a:cubicBezTo>
                  <a:cubicBezTo>
                    <a:pt x="212142" y="330600"/>
                    <a:pt x="229721" y="315223"/>
                    <a:pt x="269507" y="311606"/>
                  </a:cubicBezTo>
                  <a:cubicBezTo>
                    <a:pt x="343382" y="304890"/>
                    <a:pt x="368757" y="305232"/>
                    <a:pt x="433137" y="292356"/>
                  </a:cubicBezTo>
                  <a:cubicBezTo>
                    <a:pt x="493278" y="280328"/>
                    <a:pt x="450041" y="286870"/>
                    <a:pt x="500513" y="273105"/>
                  </a:cubicBezTo>
                  <a:cubicBezTo>
                    <a:pt x="526038" y="266144"/>
                    <a:pt x="551848" y="260272"/>
                    <a:pt x="577516" y="253855"/>
                  </a:cubicBezTo>
                  <a:cubicBezTo>
                    <a:pt x="590350" y="250647"/>
                    <a:pt x="603467" y="248412"/>
                    <a:pt x="616017" y="244229"/>
                  </a:cubicBezTo>
                  <a:cubicBezTo>
                    <a:pt x="625642" y="241021"/>
                    <a:pt x="635137" y="237391"/>
                    <a:pt x="644892" y="234604"/>
                  </a:cubicBezTo>
                  <a:cubicBezTo>
                    <a:pt x="689584" y="221835"/>
                    <a:pt x="689143" y="224809"/>
                    <a:pt x="741145" y="215354"/>
                  </a:cubicBezTo>
                  <a:cubicBezTo>
                    <a:pt x="764385" y="211128"/>
                    <a:pt x="804011" y="203231"/>
                    <a:pt x="827772" y="196103"/>
                  </a:cubicBezTo>
                  <a:cubicBezTo>
                    <a:pt x="847208" y="190272"/>
                    <a:pt x="866273" y="183270"/>
                    <a:pt x="885524" y="176853"/>
                  </a:cubicBezTo>
                  <a:cubicBezTo>
                    <a:pt x="895149" y="173645"/>
                    <a:pt x="904557" y="169688"/>
                    <a:pt x="914400" y="167227"/>
                  </a:cubicBezTo>
                  <a:cubicBezTo>
                    <a:pt x="1008296" y="143754"/>
                    <a:pt x="891051" y="172416"/>
                    <a:pt x="1001027" y="147977"/>
                  </a:cubicBezTo>
                  <a:cubicBezTo>
                    <a:pt x="1013941" y="145107"/>
                    <a:pt x="1026593" y="141124"/>
                    <a:pt x="1039528" y="138352"/>
                  </a:cubicBezTo>
                  <a:cubicBezTo>
                    <a:pt x="1082232" y="129201"/>
                    <a:pt x="1168316" y="114674"/>
                    <a:pt x="1212783" y="99851"/>
                  </a:cubicBezTo>
                  <a:lnTo>
                    <a:pt x="1386038" y="42099"/>
                  </a:lnTo>
                  <a:lnTo>
                    <a:pt x="1414913" y="32474"/>
                  </a:lnTo>
                  <a:cubicBezTo>
                    <a:pt x="1424538" y="29265"/>
                    <a:pt x="1433659" y="23411"/>
                    <a:pt x="1443789" y="22848"/>
                  </a:cubicBezTo>
                  <a:lnTo>
                    <a:pt x="1617044" y="13223"/>
                  </a:lnTo>
                  <a:cubicBezTo>
                    <a:pt x="1681602" y="-2916"/>
                    <a:pt x="1675726" y="-5841"/>
                    <a:pt x="1771048" y="13223"/>
                  </a:cubicBezTo>
                  <a:cubicBezTo>
                    <a:pt x="1782392" y="15492"/>
                    <a:pt x="1789577" y="27301"/>
                    <a:pt x="1799924" y="32474"/>
                  </a:cubicBezTo>
                  <a:cubicBezTo>
                    <a:pt x="1808999" y="37011"/>
                    <a:pt x="1819931" y="37172"/>
                    <a:pt x="1828800" y="42099"/>
                  </a:cubicBezTo>
                  <a:cubicBezTo>
                    <a:pt x="1862106" y="60602"/>
                    <a:pt x="1891237" y="80449"/>
                    <a:pt x="1915427" y="109476"/>
                  </a:cubicBezTo>
                  <a:cubicBezTo>
                    <a:pt x="1922833" y="118363"/>
                    <a:pt x="1927272" y="129465"/>
                    <a:pt x="1934678" y="138352"/>
                  </a:cubicBezTo>
                  <a:cubicBezTo>
                    <a:pt x="2010070" y="228822"/>
                    <a:pt x="1904744" y="79015"/>
                    <a:pt x="2002054" y="224979"/>
                  </a:cubicBezTo>
                  <a:lnTo>
                    <a:pt x="2021305" y="253855"/>
                  </a:lnTo>
                  <a:lnTo>
                    <a:pt x="2040556" y="311606"/>
                  </a:lnTo>
                  <a:cubicBezTo>
                    <a:pt x="2043764" y="321231"/>
                    <a:pt x="2044553" y="332040"/>
                    <a:pt x="2050181" y="340482"/>
                  </a:cubicBezTo>
                  <a:cubicBezTo>
                    <a:pt x="2056598" y="350107"/>
                    <a:pt x="2064258" y="359011"/>
                    <a:pt x="2069431" y="369358"/>
                  </a:cubicBezTo>
                  <a:cubicBezTo>
                    <a:pt x="2081070" y="392636"/>
                    <a:pt x="2079426" y="412052"/>
                    <a:pt x="2088682" y="436735"/>
                  </a:cubicBezTo>
                  <a:cubicBezTo>
                    <a:pt x="2093720" y="450170"/>
                    <a:pt x="2102280" y="462048"/>
                    <a:pt x="2107932" y="475236"/>
                  </a:cubicBezTo>
                  <a:cubicBezTo>
                    <a:pt x="2111929" y="484562"/>
                    <a:pt x="2113995" y="494612"/>
                    <a:pt x="2117558" y="504112"/>
                  </a:cubicBezTo>
                  <a:cubicBezTo>
                    <a:pt x="2123625" y="520290"/>
                    <a:pt x="2129568" y="536551"/>
                    <a:pt x="2136808" y="552238"/>
                  </a:cubicBezTo>
                  <a:cubicBezTo>
                    <a:pt x="2148834" y="578294"/>
                    <a:pt x="2166235" y="602016"/>
                    <a:pt x="2175309" y="629240"/>
                  </a:cubicBezTo>
                  <a:cubicBezTo>
                    <a:pt x="2189471" y="671728"/>
                    <a:pt x="2180396" y="649041"/>
                    <a:pt x="2204185" y="696617"/>
                  </a:cubicBezTo>
                  <a:cubicBezTo>
                    <a:pt x="2213852" y="744954"/>
                    <a:pt x="2213520" y="753642"/>
                    <a:pt x="2233061" y="802495"/>
                  </a:cubicBezTo>
                  <a:cubicBezTo>
                    <a:pt x="2239478" y="818537"/>
                    <a:pt x="2247346" y="834072"/>
                    <a:pt x="2252311" y="850621"/>
                  </a:cubicBezTo>
                  <a:cubicBezTo>
                    <a:pt x="2257012" y="866291"/>
                    <a:pt x="2257236" y="883077"/>
                    <a:pt x="2261937" y="898747"/>
                  </a:cubicBezTo>
                  <a:cubicBezTo>
                    <a:pt x="2266902" y="915296"/>
                    <a:pt x="2275120" y="930696"/>
                    <a:pt x="2281187" y="946874"/>
                  </a:cubicBezTo>
                  <a:cubicBezTo>
                    <a:pt x="2284749" y="956374"/>
                    <a:pt x="2286275" y="966674"/>
                    <a:pt x="2290812" y="975749"/>
                  </a:cubicBezTo>
                  <a:cubicBezTo>
                    <a:pt x="2295986" y="986096"/>
                    <a:pt x="2303646" y="995000"/>
                    <a:pt x="2310063" y="1004625"/>
                  </a:cubicBezTo>
                  <a:cubicBezTo>
                    <a:pt x="2313271" y="1014250"/>
                    <a:pt x="2315151" y="1024426"/>
                    <a:pt x="2319688" y="1033501"/>
                  </a:cubicBezTo>
                  <a:cubicBezTo>
                    <a:pt x="2324861" y="1043848"/>
                    <a:pt x="2334241" y="1051806"/>
                    <a:pt x="2338939" y="1062377"/>
                  </a:cubicBezTo>
                  <a:cubicBezTo>
                    <a:pt x="2384756" y="1165466"/>
                    <a:pt x="2333872" y="1083654"/>
                    <a:pt x="2377440" y="1149004"/>
                  </a:cubicBezTo>
                  <a:cubicBezTo>
                    <a:pt x="2394381" y="1199828"/>
                    <a:pt x="2381438" y="1169441"/>
                    <a:pt x="2425566" y="1235632"/>
                  </a:cubicBezTo>
                  <a:cubicBezTo>
                    <a:pt x="2443126" y="1261972"/>
                    <a:pt x="2443300" y="1270250"/>
                    <a:pt x="2473692" y="1283758"/>
                  </a:cubicBezTo>
                  <a:cubicBezTo>
                    <a:pt x="2492235" y="1291999"/>
                    <a:pt x="2512193" y="1296591"/>
                    <a:pt x="2531444" y="1303008"/>
                  </a:cubicBezTo>
                  <a:lnTo>
                    <a:pt x="2618071" y="1331884"/>
                  </a:lnTo>
                  <a:lnTo>
                    <a:pt x="2646947" y="134150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2" name="Oval 10">
              <a:extLst>
                <a:ext uri="{FF2B5EF4-FFF2-40B4-BE49-F238E27FC236}">
                  <a16:creationId xmlns:a16="http://schemas.microsoft.com/office/drawing/2014/main" id="{F1089D31-0466-E191-7D76-C05C9FD9BC1A}"/>
                </a:ext>
              </a:extLst>
            </p:cNvPr>
            <p:cNvSpPr/>
            <p:nvPr/>
          </p:nvSpPr>
          <p:spPr>
            <a:xfrm>
              <a:off x="3009856" y="2913785"/>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3" name="Oval 11">
              <a:extLst>
                <a:ext uri="{FF2B5EF4-FFF2-40B4-BE49-F238E27FC236}">
                  <a16:creationId xmlns:a16="http://schemas.microsoft.com/office/drawing/2014/main" id="{5D973F34-F0C3-BFAA-7561-927D9A0C4E8A}"/>
                </a:ext>
              </a:extLst>
            </p:cNvPr>
            <p:cNvSpPr/>
            <p:nvPr/>
          </p:nvSpPr>
          <p:spPr>
            <a:xfrm>
              <a:off x="1448709" y="3250361"/>
              <a:ext cx="356135" cy="356135"/>
            </a:xfrm>
            <a:prstGeom prst="ellipse">
              <a:avLst/>
            </a:prstGeom>
            <a:solidFill>
              <a:srgbClr val="489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sp>
          <p:nvSpPr>
            <p:cNvPr id="1044" name="Oval 12">
              <a:extLst>
                <a:ext uri="{FF2B5EF4-FFF2-40B4-BE49-F238E27FC236}">
                  <a16:creationId xmlns:a16="http://schemas.microsoft.com/office/drawing/2014/main" id="{92C26F5F-275C-1B5F-C921-F4568A155D5C}"/>
                </a:ext>
              </a:extLst>
            </p:cNvPr>
            <p:cNvSpPr/>
            <p:nvPr/>
          </p:nvSpPr>
          <p:spPr>
            <a:xfrm>
              <a:off x="4033094" y="4245359"/>
              <a:ext cx="356135" cy="356135"/>
            </a:xfrm>
            <a:prstGeom prst="ellipse">
              <a:avLst/>
            </a:prstGeom>
            <a:solidFill>
              <a:srgbClr val="B12E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L"/>
            </a:p>
          </p:txBody>
        </p:sp>
        <p:pic>
          <p:nvPicPr>
            <p:cNvPr id="1045" name="Picture 13">
              <a:extLst>
                <a:ext uri="{FF2B5EF4-FFF2-40B4-BE49-F238E27FC236}">
                  <a16:creationId xmlns:a16="http://schemas.microsoft.com/office/drawing/2014/main" id="{A774386B-195D-BDDF-1289-7F76E7716C88}"/>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3032065" y="2492958"/>
              <a:ext cx="431506" cy="450268"/>
            </a:xfrm>
            <a:prstGeom prst="rect">
              <a:avLst/>
            </a:prstGeom>
          </p:spPr>
        </p:pic>
        <p:pic>
          <p:nvPicPr>
            <p:cNvPr id="1046" name="Picture 14">
              <a:extLst>
                <a:ext uri="{FF2B5EF4-FFF2-40B4-BE49-F238E27FC236}">
                  <a16:creationId xmlns:a16="http://schemas.microsoft.com/office/drawing/2014/main" id="{45FA2A80-28B6-4EAB-DB19-B00042DB8A24}"/>
                </a:ext>
              </a:extLst>
            </p:cNvPr>
            <p:cNvPicPr>
              <a:picLocks noChangeAspect="1"/>
            </p:cNvPicPr>
            <p:nvPr/>
          </p:nvPicPr>
          <p:blipFill>
            <a:blip r:embed="rId4">
              <a:lum bright="20000" contrast="-40000"/>
            </a:blip>
            <a:stretch>
              <a:fillRect/>
            </a:stretch>
          </p:blipFill>
          <p:spPr>
            <a:xfrm flipH="1">
              <a:off x="1404606" y="2846711"/>
              <a:ext cx="405839" cy="460790"/>
            </a:xfrm>
            <a:prstGeom prst="rect">
              <a:avLst/>
            </a:prstGeom>
          </p:spPr>
        </p:pic>
        <p:pic>
          <p:nvPicPr>
            <p:cNvPr id="1047" name="Picture 15">
              <a:extLst>
                <a:ext uri="{FF2B5EF4-FFF2-40B4-BE49-F238E27FC236}">
                  <a16:creationId xmlns:a16="http://schemas.microsoft.com/office/drawing/2014/main" id="{B01F9BDE-947E-114D-B9E0-8027048D4578}"/>
                </a:ext>
              </a:extLst>
            </p:cNvPr>
            <p:cNvPicPr>
              <a:picLocks noChangeAspect="1"/>
            </p:cNvPicPr>
            <p:nvPr/>
          </p:nvPicPr>
          <p:blipFill>
            <a:blip r:embed="rId3">
              <a:duotone>
                <a:schemeClr val="accent3">
                  <a:shade val="45000"/>
                  <a:satMod val="135000"/>
                </a:schemeClr>
                <a:prstClr val="white"/>
              </a:duotone>
            </a:blip>
            <a:stretch>
              <a:fillRect/>
            </a:stretch>
          </p:blipFill>
          <p:spPr>
            <a:xfrm flipH="1">
              <a:off x="4072451" y="3816921"/>
              <a:ext cx="431506" cy="450268"/>
            </a:xfrm>
            <a:prstGeom prst="rect">
              <a:avLst/>
            </a:prstGeom>
          </p:spPr>
        </p:pic>
        <p:sp>
          <p:nvSpPr>
            <p:cNvPr id="1048" name="Rectangle 19">
              <a:extLst>
                <a:ext uri="{FF2B5EF4-FFF2-40B4-BE49-F238E27FC236}">
                  <a16:creationId xmlns:a16="http://schemas.microsoft.com/office/drawing/2014/main" id="{C8E66F24-B213-9C41-0944-F3D17FB6D98B}"/>
                </a:ext>
              </a:extLst>
            </p:cNvPr>
            <p:cNvSpPr/>
            <p:nvPr/>
          </p:nvSpPr>
          <p:spPr>
            <a:xfrm>
              <a:off x="3966641" y="3589894"/>
              <a:ext cx="601447"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Disease</a:t>
              </a:r>
            </a:p>
          </p:txBody>
        </p:sp>
        <p:grpSp>
          <p:nvGrpSpPr>
            <p:cNvPr id="1049" name="Group 21">
              <a:extLst>
                <a:ext uri="{FF2B5EF4-FFF2-40B4-BE49-F238E27FC236}">
                  <a16:creationId xmlns:a16="http://schemas.microsoft.com/office/drawing/2014/main" id="{0EB748E7-76E9-E325-C664-D2E79CFF8BB5}"/>
                </a:ext>
              </a:extLst>
            </p:cNvPr>
            <p:cNvGrpSpPr/>
            <p:nvPr/>
          </p:nvGrpSpPr>
          <p:grpSpPr>
            <a:xfrm>
              <a:off x="1846164" y="3044787"/>
              <a:ext cx="1124072" cy="410927"/>
              <a:chOff x="1905441" y="3332926"/>
              <a:chExt cx="1124072" cy="410927"/>
            </a:xfrm>
          </p:grpSpPr>
          <p:cxnSp>
            <p:nvCxnSpPr>
              <p:cNvPr id="1075" name="Straight Arrow Connector 17">
                <a:extLst>
                  <a:ext uri="{FF2B5EF4-FFF2-40B4-BE49-F238E27FC236}">
                    <a16:creationId xmlns:a16="http://schemas.microsoft.com/office/drawing/2014/main" id="{36852886-12FF-FA72-20F1-34C09DCA66E7}"/>
                  </a:ext>
                </a:extLst>
              </p:cNvPr>
              <p:cNvCxnSpPr>
                <a:cxnSpLocks/>
              </p:cNvCxnSpPr>
              <p:nvPr/>
            </p:nvCxnSpPr>
            <p:spPr>
              <a:xfrm flipV="1">
                <a:off x="1923450" y="3456303"/>
                <a:ext cx="1106063" cy="287550"/>
              </a:xfrm>
              <a:prstGeom prst="straightConnector1">
                <a:avLst/>
              </a:prstGeom>
              <a:ln>
                <a:solidFill>
                  <a:srgbClr val="4898BD"/>
                </a:solidFill>
                <a:tailEnd type="triangle"/>
              </a:ln>
            </p:spPr>
            <p:style>
              <a:lnRef idx="1">
                <a:schemeClr val="accent1"/>
              </a:lnRef>
              <a:fillRef idx="0">
                <a:schemeClr val="accent1"/>
              </a:fillRef>
              <a:effectRef idx="0">
                <a:schemeClr val="accent1"/>
              </a:effectRef>
              <a:fontRef idx="minor">
                <a:schemeClr val="tx1"/>
              </a:fontRef>
            </p:style>
          </p:cxnSp>
          <p:sp>
            <p:nvSpPr>
              <p:cNvPr id="1076" name="Rectangle 20">
                <a:extLst>
                  <a:ext uri="{FF2B5EF4-FFF2-40B4-BE49-F238E27FC236}">
                    <a16:creationId xmlns:a16="http://schemas.microsoft.com/office/drawing/2014/main" id="{A634F267-C82D-EEC1-030B-F609F477CCD2}"/>
                  </a:ext>
                </a:extLst>
              </p:cNvPr>
              <p:cNvSpPr/>
              <p:nvPr/>
            </p:nvSpPr>
            <p:spPr>
              <a:xfrm rot="20681911">
                <a:off x="1905441" y="3332926"/>
                <a:ext cx="1083951" cy="276999"/>
              </a:xfrm>
              <a:prstGeom prst="rect">
                <a:avLst/>
              </a:prstGeom>
            </p:spPr>
            <p:txBody>
              <a:bodyPr wrap="non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sz="1200" dirty="0">
                    <a:solidFill>
                      <a:srgbClr val="4898BD"/>
                    </a:solidFill>
                    <a:latin typeface="Avenir Next Condensed" panose="020B0506020202020204" pitchFamily="34" charset="0"/>
                    <a:ea typeface="Helvetica Neue Medium" panose="02000503000000020004" pitchFamily="2" charset="0"/>
                    <a:cs typeface="Helvetica Neue Medium" panose="02000503000000020004" pitchFamily="2" charset="0"/>
                  </a:rPr>
                  <a:t>Adaptive change</a:t>
                </a:r>
              </a:p>
            </p:txBody>
          </p:sp>
        </p:grpSp>
        <p:cxnSp>
          <p:nvCxnSpPr>
            <p:cNvPr id="1050" name="Straight Arrow Connector 23">
              <a:extLst>
                <a:ext uri="{FF2B5EF4-FFF2-40B4-BE49-F238E27FC236}">
                  <a16:creationId xmlns:a16="http://schemas.microsoft.com/office/drawing/2014/main" id="{2AAA6BB1-E541-C217-5A7B-104C9693FECE}"/>
                </a:ext>
              </a:extLst>
            </p:cNvPr>
            <p:cNvCxnSpPr>
              <a:cxnSpLocks/>
            </p:cNvCxnSpPr>
            <p:nvPr/>
          </p:nvCxnSpPr>
          <p:spPr>
            <a:xfrm>
              <a:off x="3595437" y="3289432"/>
              <a:ext cx="304333" cy="702652"/>
            </a:xfrm>
            <a:prstGeom prst="straightConnector1">
              <a:avLst/>
            </a:prstGeom>
            <a:ln>
              <a:solidFill>
                <a:srgbClr val="B12E31"/>
              </a:solidFill>
              <a:tailEnd type="triangle"/>
            </a:ln>
          </p:spPr>
          <p:style>
            <a:lnRef idx="1">
              <a:schemeClr val="accent1"/>
            </a:lnRef>
            <a:fillRef idx="0">
              <a:schemeClr val="accent1"/>
            </a:fillRef>
            <a:effectRef idx="0">
              <a:schemeClr val="accent1"/>
            </a:effectRef>
            <a:fontRef idx="minor">
              <a:schemeClr val="tx1"/>
            </a:fontRef>
          </p:style>
        </p:cxnSp>
        <p:grpSp>
          <p:nvGrpSpPr>
            <p:cNvPr id="1051" name="Group 3">
              <a:extLst>
                <a:ext uri="{FF2B5EF4-FFF2-40B4-BE49-F238E27FC236}">
                  <a16:creationId xmlns:a16="http://schemas.microsoft.com/office/drawing/2014/main" id="{05F23C1F-D159-5FD2-4815-34B0569357C4}"/>
                </a:ext>
              </a:extLst>
            </p:cNvPr>
            <p:cNvGrpSpPr/>
            <p:nvPr/>
          </p:nvGrpSpPr>
          <p:grpSpPr>
            <a:xfrm>
              <a:off x="1510486" y="4984342"/>
              <a:ext cx="335693" cy="153583"/>
              <a:chOff x="964222" y="2625872"/>
              <a:chExt cx="2041451" cy="684035"/>
            </a:xfrm>
          </p:grpSpPr>
          <p:sp>
            <p:nvSpPr>
              <p:cNvPr id="1073" name="Freeform 4">
                <a:extLst>
                  <a:ext uri="{FF2B5EF4-FFF2-40B4-BE49-F238E27FC236}">
                    <a16:creationId xmlns:a16="http://schemas.microsoft.com/office/drawing/2014/main" id="{DF246660-051F-2C9F-7AC3-F7AF64F96B30}"/>
                  </a:ext>
                </a:extLst>
              </p:cNvPr>
              <p:cNvSpPr/>
              <p:nvPr/>
            </p:nvSpPr>
            <p:spPr>
              <a:xfrm>
                <a:off x="964222" y="2863339"/>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4" name="Freeform 5">
                <a:extLst>
                  <a:ext uri="{FF2B5EF4-FFF2-40B4-BE49-F238E27FC236}">
                    <a16:creationId xmlns:a16="http://schemas.microsoft.com/office/drawing/2014/main" id="{F36661C6-7B66-6386-DE95-314B09116E71}"/>
                  </a:ext>
                </a:extLst>
              </p:cNvPr>
              <p:cNvSpPr/>
              <p:nvPr/>
            </p:nvSpPr>
            <p:spPr>
              <a:xfrm>
                <a:off x="964222" y="2625872"/>
                <a:ext cx="2041451" cy="446568"/>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dirty="0"/>
              </a:p>
            </p:txBody>
          </p:sp>
        </p:grpSp>
        <p:cxnSp>
          <p:nvCxnSpPr>
            <p:cNvPr id="1052" name="Straight Arrow Connector 7">
              <a:extLst>
                <a:ext uri="{FF2B5EF4-FFF2-40B4-BE49-F238E27FC236}">
                  <a16:creationId xmlns:a16="http://schemas.microsoft.com/office/drawing/2014/main" id="{3901D441-E342-3B4A-EE0F-9C8D9FFE5379}"/>
                </a:ext>
              </a:extLst>
            </p:cNvPr>
            <p:cNvCxnSpPr>
              <a:cxnSpLocks/>
            </p:cNvCxnSpPr>
            <p:nvPr/>
          </p:nvCxnSpPr>
          <p:spPr>
            <a:xfrm flipV="1">
              <a:off x="1038006" y="2617871"/>
              <a:ext cx="0" cy="2253132"/>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3" name="Straight Arrow Connector 27">
              <a:extLst>
                <a:ext uri="{FF2B5EF4-FFF2-40B4-BE49-F238E27FC236}">
                  <a16:creationId xmlns:a16="http://schemas.microsoft.com/office/drawing/2014/main" id="{5E659E7C-E622-EE5F-821F-F475A35F8C71}"/>
                </a:ext>
              </a:extLst>
            </p:cNvPr>
            <p:cNvCxnSpPr>
              <a:cxnSpLocks/>
            </p:cNvCxnSpPr>
            <p:nvPr/>
          </p:nvCxnSpPr>
          <p:spPr>
            <a:xfrm>
              <a:off x="1038006" y="4871003"/>
              <a:ext cx="3590222"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54" name="Group 44">
              <a:extLst>
                <a:ext uri="{FF2B5EF4-FFF2-40B4-BE49-F238E27FC236}">
                  <a16:creationId xmlns:a16="http://schemas.microsoft.com/office/drawing/2014/main" id="{936112DE-0543-2508-B0C1-41C4243D877A}"/>
                </a:ext>
              </a:extLst>
            </p:cNvPr>
            <p:cNvGrpSpPr/>
            <p:nvPr/>
          </p:nvGrpSpPr>
          <p:grpSpPr>
            <a:xfrm>
              <a:off x="2920508" y="4981767"/>
              <a:ext cx="340108" cy="263510"/>
              <a:chOff x="3037536" y="4442132"/>
              <a:chExt cx="340108" cy="263510"/>
            </a:xfrm>
          </p:grpSpPr>
          <p:grpSp>
            <p:nvGrpSpPr>
              <p:cNvPr id="1067" name="Group 29">
                <a:extLst>
                  <a:ext uri="{FF2B5EF4-FFF2-40B4-BE49-F238E27FC236}">
                    <a16:creationId xmlns:a16="http://schemas.microsoft.com/office/drawing/2014/main" id="{87A5C9BF-92E7-8380-CCF5-97A4FBC7C25F}"/>
                  </a:ext>
                </a:extLst>
              </p:cNvPr>
              <p:cNvGrpSpPr/>
              <p:nvPr/>
            </p:nvGrpSpPr>
            <p:grpSpPr>
              <a:xfrm>
                <a:off x="3037536" y="4442132"/>
                <a:ext cx="335693" cy="153583"/>
                <a:chOff x="964222" y="2625878"/>
                <a:chExt cx="2041451" cy="684033"/>
              </a:xfrm>
            </p:grpSpPr>
            <p:sp>
              <p:nvSpPr>
                <p:cNvPr id="1071" name="Freeform 30">
                  <a:extLst>
                    <a:ext uri="{FF2B5EF4-FFF2-40B4-BE49-F238E27FC236}">
                      <a16:creationId xmlns:a16="http://schemas.microsoft.com/office/drawing/2014/main" id="{0B2DE4CE-3531-9171-BBAA-CA18FAB9EE01}"/>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2" name="Freeform 31">
                  <a:extLst>
                    <a:ext uri="{FF2B5EF4-FFF2-40B4-BE49-F238E27FC236}">
                      <a16:creationId xmlns:a16="http://schemas.microsoft.com/office/drawing/2014/main" id="{EDCB4D4D-55CC-E05A-98BE-1BA5721CC634}"/>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68" name="Group 32">
                <a:extLst>
                  <a:ext uri="{FF2B5EF4-FFF2-40B4-BE49-F238E27FC236}">
                    <a16:creationId xmlns:a16="http://schemas.microsoft.com/office/drawing/2014/main" id="{ADFE499B-AD5E-23E9-5759-E981505B563B}"/>
                  </a:ext>
                </a:extLst>
              </p:cNvPr>
              <p:cNvGrpSpPr/>
              <p:nvPr/>
            </p:nvGrpSpPr>
            <p:grpSpPr>
              <a:xfrm>
                <a:off x="3041951" y="4552059"/>
                <a:ext cx="335693" cy="153583"/>
                <a:chOff x="964222" y="2625878"/>
                <a:chExt cx="2041451" cy="684033"/>
              </a:xfrm>
            </p:grpSpPr>
            <p:sp>
              <p:nvSpPr>
                <p:cNvPr id="1069" name="Freeform 33">
                  <a:extLst>
                    <a:ext uri="{FF2B5EF4-FFF2-40B4-BE49-F238E27FC236}">
                      <a16:creationId xmlns:a16="http://schemas.microsoft.com/office/drawing/2014/main" id="{4316D3C7-FDE2-602F-0CE8-2FB86E0E337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70" name="Freeform 34">
                  <a:extLst>
                    <a:ext uri="{FF2B5EF4-FFF2-40B4-BE49-F238E27FC236}">
                      <a16:creationId xmlns:a16="http://schemas.microsoft.com/office/drawing/2014/main" id="{E29323FD-DF26-5EC8-8393-4A157DB783D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grpSp>
          <p:nvGrpSpPr>
            <p:cNvPr id="1055" name="Group 45">
              <a:extLst>
                <a:ext uri="{FF2B5EF4-FFF2-40B4-BE49-F238E27FC236}">
                  <a16:creationId xmlns:a16="http://schemas.microsoft.com/office/drawing/2014/main" id="{27D0D9C1-EFFC-74C3-FC22-F0725BC8A180}"/>
                </a:ext>
              </a:extLst>
            </p:cNvPr>
            <p:cNvGrpSpPr/>
            <p:nvPr/>
          </p:nvGrpSpPr>
          <p:grpSpPr>
            <a:xfrm>
              <a:off x="4103365" y="4941025"/>
              <a:ext cx="338891" cy="396065"/>
              <a:chOff x="3960512" y="4401390"/>
              <a:chExt cx="338891" cy="396065"/>
            </a:xfrm>
          </p:grpSpPr>
          <p:grpSp>
            <p:nvGrpSpPr>
              <p:cNvPr id="1058" name="Group 35">
                <a:extLst>
                  <a:ext uri="{FF2B5EF4-FFF2-40B4-BE49-F238E27FC236}">
                    <a16:creationId xmlns:a16="http://schemas.microsoft.com/office/drawing/2014/main" id="{BCFCB6BA-7011-A296-822B-543A70DCA004}"/>
                  </a:ext>
                </a:extLst>
              </p:cNvPr>
              <p:cNvGrpSpPr/>
              <p:nvPr/>
            </p:nvGrpSpPr>
            <p:grpSpPr>
              <a:xfrm>
                <a:off x="3963710" y="4401390"/>
                <a:ext cx="335693" cy="153583"/>
                <a:chOff x="964222" y="2625878"/>
                <a:chExt cx="2041451" cy="684033"/>
              </a:xfrm>
            </p:grpSpPr>
            <p:sp>
              <p:nvSpPr>
                <p:cNvPr id="1065" name="Freeform 36">
                  <a:extLst>
                    <a:ext uri="{FF2B5EF4-FFF2-40B4-BE49-F238E27FC236}">
                      <a16:creationId xmlns:a16="http://schemas.microsoft.com/office/drawing/2014/main" id="{11FD63E8-3303-73F5-C01F-B80F264CE2C3}"/>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6" name="Freeform 37">
                  <a:extLst>
                    <a:ext uri="{FF2B5EF4-FFF2-40B4-BE49-F238E27FC236}">
                      <a16:creationId xmlns:a16="http://schemas.microsoft.com/office/drawing/2014/main" id="{3AEF6993-B677-5E5B-6AEF-5D2496D996A9}"/>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59" name="Group 38">
                <a:extLst>
                  <a:ext uri="{FF2B5EF4-FFF2-40B4-BE49-F238E27FC236}">
                    <a16:creationId xmlns:a16="http://schemas.microsoft.com/office/drawing/2014/main" id="{46E8F2C5-5F31-698B-E8BA-B4E8467C6AF2}"/>
                  </a:ext>
                </a:extLst>
              </p:cNvPr>
              <p:cNvGrpSpPr/>
              <p:nvPr/>
            </p:nvGrpSpPr>
            <p:grpSpPr>
              <a:xfrm>
                <a:off x="3963707" y="4518322"/>
                <a:ext cx="335696" cy="153581"/>
                <a:chOff x="905166" y="2643086"/>
                <a:chExt cx="2041467" cy="684022"/>
              </a:xfrm>
            </p:grpSpPr>
            <p:sp>
              <p:nvSpPr>
                <p:cNvPr id="1063" name="Freeform 39">
                  <a:extLst>
                    <a:ext uri="{FF2B5EF4-FFF2-40B4-BE49-F238E27FC236}">
                      <a16:creationId xmlns:a16="http://schemas.microsoft.com/office/drawing/2014/main" id="{4E17FBCF-CC21-134C-D2F4-8F3E89EC3869}"/>
                    </a:ext>
                  </a:extLst>
                </p:cNvPr>
                <p:cNvSpPr/>
                <p:nvPr/>
              </p:nvSpPr>
              <p:spPr>
                <a:xfrm>
                  <a:off x="905184" y="2880541"/>
                  <a:ext cx="2041449"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4" name="Freeform 40">
                  <a:extLst>
                    <a:ext uri="{FF2B5EF4-FFF2-40B4-BE49-F238E27FC236}">
                      <a16:creationId xmlns:a16="http://schemas.microsoft.com/office/drawing/2014/main" id="{4070FAF9-B644-15A5-D852-3F1128D7AFD6}"/>
                    </a:ext>
                  </a:extLst>
                </p:cNvPr>
                <p:cNvSpPr/>
                <p:nvPr/>
              </p:nvSpPr>
              <p:spPr>
                <a:xfrm>
                  <a:off x="905166" y="2643086"/>
                  <a:ext cx="2041453" cy="446565"/>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nvGrpSpPr>
              <p:cNvPr id="1060" name="Group 41">
                <a:extLst>
                  <a:ext uri="{FF2B5EF4-FFF2-40B4-BE49-F238E27FC236}">
                    <a16:creationId xmlns:a16="http://schemas.microsoft.com/office/drawing/2014/main" id="{48539139-25C1-8ED4-456D-5BDB0084FFCA}"/>
                  </a:ext>
                </a:extLst>
              </p:cNvPr>
              <p:cNvGrpSpPr/>
              <p:nvPr/>
            </p:nvGrpSpPr>
            <p:grpSpPr>
              <a:xfrm>
                <a:off x="3960512" y="4643873"/>
                <a:ext cx="335696" cy="153582"/>
                <a:chOff x="905172" y="2643086"/>
                <a:chExt cx="2041469" cy="684026"/>
              </a:xfrm>
            </p:grpSpPr>
            <p:sp>
              <p:nvSpPr>
                <p:cNvPr id="1061" name="Freeform 42">
                  <a:extLst>
                    <a:ext uri="{FF2B5EF4-FFF2-40B4-BE49-F238E27FC236}">
                      <a16:creationId xmlns:a16="http://schemas.microsoft.com/office/drawing/2014/main" id="{AE2C8C16-A481-5015-2D10-7C87A1003540}"/>
                    </a:ext>
                  </a:extLst>
                </p:cNvPr>
                <p:cNvSpPr/>
                <p:nvPr/>
              </p:nvSpPr>
              <p:spPr>
                <a:xfrm>
                  <a:off x="905194" y="2880545"/>
                  <a:ext cx="2041447"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1062" name="Freeform 43">
                  <a:extLst>
                    <a:ext uri="{FF2B5EF4-FFF2-40B4-BE49-F238E27FC236}">
                      <a16:creationId xmlns:a16="http://schemas.microsoft.com/office/drawing/2014/main" id="{3872D219-2CE1-1106-7ED7-05D9E3CD9720}"/>
                    </a:ext>
                  </a:extLst>
                </p:cNvPr>
                <p:cNvSpPr/>
                <p:nvPr/>
              </p:nvSpPr>
              <p:spPr>
                <a:xfrm>
                  <a:off x="905172" y="2643086"/>
                  <a:ext cx="2041449" cy="446565"/>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12700" cap="rnd">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I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grpSp>
        </p:grpSp>
        <p:sp>
          <p:nvSpPr>
            <p:cNvPr id="1056" name="TextBox 46">
              <a:extLst>
                <a:ext uri="{FF2B5EF4-FFF2-40B4-BE49-F238E27FC236}">
                  <a16:creationId xmlns:a16="http://schemas.microsoft.com/office/drawing/2014/main" id="{C7C9D5D6-3455-B71A-26DC-222900E56862}"/>
                </a:ext>
              </a:extLst>
            </p:cNvPr>
            <p:cNvSpPr txBox="1"/>
            <p:nvPr/>
          </p:nvSpPr>
          <p:spPr>
            <a:xfrm rot="16200000">
              <a:off x="12284" y="3620834"/>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Fitness</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057" name="TextBox 28">
              <a:extLst>
                <a:ext uri="{FF2B5EF4-FFF2-40B4-BE49-F238E27FC236}">
                  <a16:creationId xmlns:a16="http://schemas.microsoft.com/office/drawing/2014/main" id="{EBF96B84-503C-8129-ED9C-EA87BA8DE3FE}"/>
                </a:ext>
              </a:extLst>
            </p:cNvPr>
            <p:cNvSpPr txBox="1"/>
            <p:nvPr/>
          </p:nvSpPr>
          <p:spPr>
            <a:xfrm>
              <a:off x="1788385" y="5413121"/>
              <a:ext cx="1675186" cy="307777"/>
            </a:xfrm>
            <a:prstGeom prst="rect">
              <a:avLst/>
            </a:prstGeom>
            <a:noFill/>
          </p:spPr>
          <p:txBody>
            <a:bodyPr wrap="square">
              <a:spAutoFit/>
            </a:bodyPr>
            <a:ls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914400" eaLnBrk="1" latinLnBrk="0" hangingPunct="1"/>
              <a:r>
                <a:rPr lang="en-US" sz="1400" dirty="0">
                  <a:solidFill>
                    <a:schemeClr val="tx1">
                      <a:lumMod val="85000"/>
                      <a:lumOff val="1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Gene expression</a:t>
              </a:r>
              <a:endParaRPr lang="en-US" sz="1100" dirty="0">
                <a:solidFill>
                  <a:schemeClr val="tx1">
                    <a:lumMod val="65000"/>
                    <a:lumOff val="3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078" name="כותרת משנה 2">
            <a:extLst>
              <a:ext uri="{FF2B5EF4-FFF2-40B4-BE49-F238E27FC236}">
                <a16:creationId xmlns:a16="http://schemas.microsoft.com/office/drawing/2014/main" id="{0FAF7BC5-B8F2-18FE-8F80-7CFBE5031805}"/>
              </a:ext>
            </a:extLst>
          </p:cNvPr>
          <p:cNvSpPr txBox="1">
            <a:spLocks/>
          </p:cNvSpPr>
          <p:nvPr/>
        </p:nvSpPr>
        <p:spPr>
          <a:xfrm>
            <a:off x="6681754" y="1460270"/>
            <a:ext cx="4515554"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Cliffedge theory in schizophrenia</a:t>
            </a:r>
            <a:endParaRPr lang="he-IL" sz="2000" b="1" i="1" dirty="0"/>
          </a:p>
        </p:txBody>
      </p:sp>
      <p:pic>
        <p:nvPicPr>
          <p:cNvPr id="3" name="מציין מיקום תוכן 5" descr="תמונה שמכילה טקסט, תרשים, קו, עלילה&#10;&#10;תוכן שנוצר על-ידי בינה מלאכותית עשוי להיות שגוי.">
            <a:extLst>
              <a:ext uri="{FF2B5EF4-FFF2-40B4-BE49-F238E27FC236}">
                <a16:creationId xmlns:a16="http://schemas.microsoft.com/office/drawing/2014/main" id="{9C65C91F-0579-36C3-C305-8961FE348510}"/>
              </a:ext>
            </a:extLst>
          </p:cNvPr>
          <p:cNvPicPr>
            <a:picLocks noChangeAspect="1"/>
          </p:cNvPicPr>
          <p:nvPr/>
        </p:nvPicPr>
        <p:blipFill>
          <a:blip r:embed="rId5">
            <a:extLst>
              <a:ext uri="{28A0092B-C50C-407E-A947-70E740481C1C}">
                <a14:useLocalDpi xmlns:a14="http://schemas.microsoft.com/office/drawing/2010/main" val="0"/>
              </a:ext>
            </a:extLst>
          </a:blip>
          <a:srcRect t="19926"/>
          <a:stretch/>
        </p:blipFill>
        <p:spPr>
          <a:xfrm>
            <a:off x="7853817" y="1932977"/>
            <a:ext cx="1462005" cy="819478"/>
          </a:xfrm>
          <a:prstGeom prst="rect">
            <a:avLst/>
          </a:prstGeom>
        </p:spPr>
      </p:pic>
      <p:pic>
        <p:nvPicPr>
          <p:cNvPr id="6" name="תמונה 5" descr="תמונה שמכילה טקסט, עלילה, תרשים, צילום מסך&#10;&#10;תוכן שנוצר על-ידי בינה מלאכותית עשוי להיות שגוי.">
            <a:extLst>
              <a:ext uri="{FF2B5EF4-FFF2-40B4-BE49-F238E27FC236}">
                <a16:creationId xmlns:a16="http://schemas.microsoft.com/office/drawing/2014/main" id="{5F5B9DD3-9F01-21ED-CE4F-75699AE77881}"/>
              </a:ext>
            </a:extLst>
          </p:cNvPr>
          <p:cNvPicPr>
            <a:picLocks noChangeAspect="1"/>
          </p:cNvPicPr>
          <p:nvPr/>
        </p:nvPicPr>
        <p:blipFill>
          <a:blip r:embed="rId6">
            <a:extLst>
              <a:ext uri="{28A0092B-C50C-407E-A947-70E740481C1C}">
                <a14:useLocalDpi xmlns:a14="http://schemas.microsoft.com/office/drawing/2010/main" val="0"/>
              </a:ext>
            </a:extLst>
          </a:blip>
          <a:srcRect t="7573" b="7317"/>
          <a:stretch/>
        </p:blipFill>
        <p:spPr>
          <a:xfrm>
            <a:off x="1785600" y="1846663"/>
            <a:ext cx="1647127" cy="841113"/>
          </a:xfrm>
          <a:prstGeom prst="rect">
            <a:avLst/>
          </a:prstGeom>
        </p:spPr>
      </p:pic>
    </p:spTree>
    <p:extLst>
      <p:ext uri="{BB962C8B-B14F-4D97-AF65-F5344CB8AC3E}">
        <p14:creationId xmlns:p14="http://schemas.microsoft.com/office/powerpoint/2010/main" val="16896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 grpId="0"/>
      <p:bldP spid="10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978A-BD54-489B-8D07-AB54F92CBFF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C842496-9895-827A-A6AC-B388E0EF828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To be continued: future directions</a:t>
            </a:r>
            <a:endParaRPr lang="he-IL" dirty="0"/>
          </a:p>
        </p:txBody>
      </p:sp>
      <p:sp>
        <p:nvSpPr>
          <p:cNvPr id="3" name="מציין מיקום תוכן 2">
            <a:extLst>
              <a:ext uri="{FF2B5EF4-FFF2-40B4-BE49-F238E27FC236}">
                <a16:creationId xmlns:a16="http://schemas.microsoft.com/office/drawing/2014/main" id="{11B82077-B3E9-D58F-FB9E-6FE7FB0196A5}"/>
              </a:ext>
            </a:extLst>
          </p:cNvPr>
          <p:cNvSpPr>
            <a:spLocks noGrp="1"/>
          </p:cNvSpPr>
          <p:nvPr>
            <p:ph idx="1"/>
          </p:nvPr>
        </p:nvSpPr>
        <p:spPr>
          <a:xfrm>
            <a:off x="1094698" y="1720272"/>
            <a:ext cx="9965188" cy="4351338"/>
          </a:xfrm>
        </p:spPr>
        <p:txBody>
          <a:bodyPr>
            <a:normAutofit/>
          </a:bodyPr>
          <a:lstStyle/>
          <a:p>
            <a:pPr algn="l" rtl="0"/>
            <a:r>
              <a:rPr lang="en-US" b="1" i="1" dirty="0"/>
              <a:t>Understand disease mechanisms: look into the function of differentially expressed disease-related genes</a:t>
            </a:r>
          </a:p>
          <a:p>
            <a:pPr marL="0" indent="0" algn="l" rtl="0">
              <a:buNone/>
            </a:pPr>
            <a:endParaRPr lang="en-US" b="1" i="1" dirty="0"/>
          </a:p>
          <a:p>
            <a:pPr algn="l" rtl="0"/>
            <a:r>
              <a:rPr lang="en-US" b="1" i="1" dirty="0"/>
              <a:t>Look for the tradeoff: what was the adaptive change?</a:t>
            </a:r>
          </a:p>
          <a:p>
            <a:pPr algn="l" rtl="0"/>
            <a:endParaRPr lang="en-US" b="1" i="1" dirty="0"/>
          </a:p>
          <a:p>
            <a:pPr algn="l" rtl="0"/>
            <a:r>
              <a:rPr lang="en-US" b="1" i="1" dirty="0"/>
              <a:t>Are these evolutionary patterns conserved? Look for similar patterns in other organisms</a:t>
            </a:r>
          </a:p>
          <a:p>
            <a:pPr algn="l" rtl="0"/>
            <a:endParaRPr lang="en-US" b="1" i="1" dirty="0"/>
          </a:p>
        </p:txBody>
      </p:sp>
      <p:pic>
        <p:nvPicPr>
          <p:cNvPr id="3074"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EA08C125-4B75-929A-BFB6-77E94B6935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57" y="1690688"/>
            <a:ext cx="893433" cy="8934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7989B5DA-6C6C-1BCC-9ECE-8B3089735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69" y="3016251"/>
            <a:ext cx="893433" cy="8934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441,900+ Person Shadow Stock Photos, Pictures &amp; Royalty-Free Images -  iStock | Person shadow on wall, Business person shadow, Person shadow from  above‬‏">
            <a:extLst>
              <a:ext uri="{FF2B5EF4-FFF2-40B4-BE49-F238E27FC236}">
                <a16:creationId xmlns:a16="http://schemas.microsoft.com/office/drawing/2014/main" id="{4EB7492B-6193-8A88-C005-557B9923D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68" y="4273879"/>
            <a:ext cx="893433" cy="893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1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לבן 2">
            <a:extLst>
              <a:ext uri="{FF2B5EF4-FFF2-40B4-BE49-F238E27FC236}">
                <a16:creationId xmlns:a16="http://schemas.microsoft.com/office/drawing/2014/main" id="{54E37224-50DC-881A-EA88-5598FAB839C4}"/>
              </a:ext>
            </a:extLst>
          </p:cNvPr>
          <p:cNvSpPr/>
          <p:nvPr/>
        </p:nvSpPr>
        <p:spPr>
          <a:xfrm>
            <a:off x="838199" y="1174819"/>
            <a:ext cx="4826795" cy="2858363"/>
          </a:xfrm>
          <a:prstGeom prst="rect">
            <a:avLst/>
          </a:prstGeom>
        </p:spPr>
        <p:txBody>
          <a:bodyPr lIns="91440" tIns="45720" rIns="91440" bIns="45720">
            <a:normAutofit/>
          </a:bodyPr>
          <a:lstStyle/>
          <a:p>
            <a:pPr algn="l">
              <a:spcAft>
                <a:spcPts val="600"/>
              </a:spcAft>
            </a:pPr>
            <a:r>
              <a:rPr lang="en-US" sz="7200" b="1" cap="none" spc="50">
                <a:ln w="9525" cmpd="sng">
                  <a:solidFill>
                    <a:schemeClr val="accent1"/>
                  </a:solidFill>
                  <a:prstDash val="solid"/>
                </a:ln>
                <a:solidFill>
                  <a:schemeClr val="bg1"/>
                </a:solidFill>
                <a:effectLst>
                  <a:glow rad="38100">
                    <a:schemeClr val="accent1">
                      <a:alpha val="40000"/>
                    </a:schemeClr>
                  </a:glow>
                </a:effectLst>
              </a:rPr>
              <a:t>Thanks for listening!</a:t>
            </a:r>
            <a:endParaRPr lang="he-IL" sz="7200" b="1" cap="none" spc="50">
              <a:ln w="9525" cmpd="sng">
                <a:solidFill>
                  <a:schemeClr val="accent1"/>
                </a:solidFill>
                <a:prstDash val="solid"/>
              </a:ln>
              <a:solidFill>
                <a:schemeClr val="bg1"/>
              </a:solidFill>
              <a:effectLst>
                <a:glow rad="38100">
                  <a:schemeClr val="accent1">
                    <a:alpha val="40000"/>
                  </a:schemeClr>
                </a:glow>
              </a:effectLst>
            </a:endParaRPr>
          </a:p>
        </p:txBody>
      </p:sp>
      <p:pic>
        <p:nvPicPr>
          <p:cNvPr id="3074" name="Picture 2" descr="‪The chimpanzee who sees sounds | Nature‬‏">
            <a:extLst>
              <a:ext uri="{FF2B5EF4-FFF2-40B4-BE49-F238E27FC236}">
                <a16:creationId xmlns:a16="http://schemas.microsoft.com/office/drawing/2014/main" id="{EDDD4C1D-1687-CB09-3260-61A9674BF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079" r="10555" b="2"/>
          <a:stretch>
            <a:fillRect/>
          </a:stretch>
        </p:blipFill>
        <p:spPr bwMode="auto">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effectLst>
            <a:outerShdw blurRad="381000" dist="152400" dir="5400000" algn="t"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3081" name="Freeform: Shape 3080">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83" name="Freeform: Shape 3082">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456930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5877</TotalTime>
  <Words>1938</Words>
  <Application>Microsoft Office PowerPoint</Application>
  <PresentationFormat>מסך רחב</PresentationFormat>
  <Paragraphs>201</Paragraphs>
  <Slides>20</Slides>
  <Notes>19</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20</vt:i4>
      </vt:variant>
    </vt:vector>
  </HeadingPairs>
  <TitlesOfParts>
    <vt:vector size="30" baseType="lpstr">
      <vt:lpstr>Aptos</vt:lpstr>
      <vt:lpstr>Aptos Display</vt:lpstr>
      <vt:lpstr>Arial</vt:lpstr>
      <vt:lpstr>Avenir Next Condensed</vt:lpstr>
      <vt:lpstr>Comic Sans MS</vt:lpstr>
      <vt:lpstr>Helvetica Neue</vt:lpstr>
      <vt:lpstr>Helvetica Neue Light</vt:lpstr>
      <vt:lpstr>Helvetica Neue Medium</vt:lpstr>
      <vt:lpstr>Helvetica Neue Thin</vt:lpstr>
      <vt:lpstr>ערכת נושא Office</vt:lpstr>
      <vt:lpstr>The evolution of human-specific diseases</vt:lpstr>
      <vt:lpstr>The origin of human-specific diseases</vt:lpstr>
      <vt:lpstr>Regulatory changes: the immediate suspect</vt:lpstr>
      <vt:lpstr>The origin of human-specific diseases</vt:lpstr>
      <vt:lpstr>Which diseases can we study using the hybrid system?</vt:lpstr>
      <vt:lpstr>Identifying disease-associated genes</vt:lpstr>
      <vt:lpstr>Identifying disease-associated genes</vt:lpstr>
      <vt:lpstr>What are we looking for?</vt:lpstr>
      <vt:lpstr>Percentage of differentially expressed genes</vt:lpstr>
      <vt:lpstr>Percentage of differentially expressed genes</vt:lpstr>
      <vt:lpstr>Schizophrenia: fewer differentially expressed genes</vt:lpstr>
      <vt:lpstr>Schizophrenia-related genes are depleted of large expression changes</vt:lpstr>
      <vt:lpstr>Scoliosis: more differentially expressed genes</vt:lpstr>
      <vt:lpstr>Direction of regulation changes</vt:lpstr>
      <vt:lpstr>Schizophrenia: positive selection for upregulation of genes</vt:lpstr>
      <vt:lpstr>Schizophrenia-related genes are depleted of large negative expression changes</vt:lpstr>
      <vt:lpstr>Scoliosis: larger changes in downregulated genes</vt:lpstr>
      <vt:lpstr>Discussion</vt:lpstr>
      <vt:lpstr>To be continued: future directions</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 Moses</dc:creator>
  <cp:lastModifiedBy>Sarit Moses</cp:lastModifiedBy>
  <cp:revision>33</cp:revision>
  <dcterms:created xsi:type="dcterms:W3CDTF">2025-06-29T11:13:21Z</dcterms:created>
  <dcterms:modified xsi:type="dcterms:W3CDTF">2025-07-13T08:41:08Z</dcterms:modified>
</cp:coreProperties>
</file>