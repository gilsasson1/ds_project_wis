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8"/>
  </p:notesMasterIdLst>
  <p:sldIdLst>
    <p:sldId id="256" r:id="rId2"/>
    <p:sldId id="992" r:id="rId3"/>
    <p:sldId id="993" r:id="rId4"/>
    <p:sldId id="994" r:id="rId5"/>
    <p:sldId id="995" r:id="rId6"/>
    <p:sldId id="1003" r:id="rId7"/>
    <p:sldId id="996" r:id="rId8"/>
    <p:sldId id="997" r:id="rId9"/>
    <p:sldId id="1000" r:id="rId10"/>
    <p:sldId id="1002" r:id="rId11"/>
    <p:sldId id="1001" r:id="rId12"/>
    <p:sldId id="998" r:id="rId13"/>
    <p:sldId id="1004" r:id="rId14"/>
    <p:sldId id="1005" r:id="rId15"/>
    <p:sldId id="999" r:id="rId16"/>
    <p:sldId id="267" r:id="rId1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7CB"/>
    <a:srgbClr val="F2CFEE"/>
    <a:srgbClr val="CAEEFB"/>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945" autoAdjust="0"/>
    <p:restoredTop sz="26667" autoAdjust="0"/>
  </p:normalViewPr>
  <p:slideViewPr>
    <p:cSldViewPr snapToGrid="0">
      <p:cViewPr varScale="1">
        <p:scale>
          <a:sx n="22" d="100"/>
          <a:sy n="22" d="100"/>
        </p:scale>
        <p:origin x="274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E00752A-24CB-480C-96D7-C9C8B079CBDF}" type="datetimeFigureOut">
              <a:rPr lang="he-IL" smtClean="0"/>
              <a:t>י"ד/תמוז/תשפ"ה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4F50766-83A2-4A8D-A724-80D60639DE7B}" type="slidenum">
              <a:rPr lang="he-IL" smtClean="0"/>
              <a:t>‹#›</a:t>
            </a:fld>
            <a:endParaRPr lang="he-IL"/>
          </a:p>
        </p:txBody>
      </p:sp>
    </p:spTree>
    <p:extLst>
      <p:ext uri="{BB962C8B-B14F-4D97-AF65-F5344CB8AC3E}">
        <p14:creationId xmlns:p14="http://schemas.microsoft.com/office/powerpoint/2010/main" val="34102999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buAutoNum type="arabicPeriod"/>
            </a:pPr>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1</a:t>
            </a:fld>
            <a:endParaRPr lang="he-IL"/>
          </a:p>
        </p:txBody>
      </p:sp>
    </p:spTree>
    <p:extLst>
      <p:ext uri="{BB962C8B-B14F-4D97-AF65-F5344CB8AC3E}">
        <p14:creationId xmlns:p14="http://schemas.microsoft.com/office/powerpoint/2010/main" val="30772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יום אחד מופיע אינדיבידואל שהוא רגיש למחלה ועדיין מתפשט באוכלוסייה – למה זה הגיוני אבולוציונית? כמה אופציות: סביבה, תוחלת חיים... אבל יש קבוצת מחלות שאי אפשר להסביר ככה, ולכן יש כאן הבדלים גנטיים בינינו לבין שימפנזה.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Humans and great apes are very close (evolutionary). We have many things in common, but there is a group of diseases that is specific to humans. This difference between humans and monkeys can be explained by factors like environment, better lifespan of humans, or lack of data on apes – for example diabetes can be explained by environmental factors, and monkeys that each as much ice cream as we do would eventually become diabetic. But there are diseases that cannot be explained by any of these factors, and therefore we conclude that they are the result of the genetic changes between us and apes.</a:t>
            </a:r>
            <a:endParaRPr lang="he-IL" dirty="0"/>
          </a:p>
          <a:p>
            <a:r>
              <a:rPr lang="he-IL" dirty="0"/>
              <a:t>תיקונים: לדבר על תכונות משותפות + להוסיף טקסט </a:t>
            </a:r>
            <a:r>
              <a:rPr lang="he-IL" dirty="0" err="1"/>
              <a:t>בven</a:t>
            </a:r>
            <a:r>
              <a:rPr lang="he-IL" dirty="0"/>
              <a:t> </a:t>
            </a:r>
            <a:r>
              <a:rPr lang="he-IL" dirty="0" err="1"/>
              <a:t>diagram</a:t>
            </a:r>
            <a:endParaRPr lang="he-IL" dirty="0"/>
          </a:p>
          <a:p>
            <a:r>
              <a:rPr lang="he-IL" dirty="0"/>
              <a:t>נעשה פוקוס על </a:t>
            </a:r>
            <a:r>
              <a:rPr lang="he-IL" dirty="0" err="1"/>
              <a:t>gentic</a:t>
            </a:r>
            <a:r>
              <a:rPr lang="he-IL" dirty="0"/>
              <a:t> </a:t>
            </a:r>
            <a:r>
              <a:rPr lang="he-IL" dirty="0" err="1"/>
              <a:t>chmages</a:t>
            </a:r>
            <a:r>
              <a:rPr lang="he-IL" dirty="0"/>
              <a:t> </a:t>
            </a:r>
          </a:p>
          <a:p>
            <a:r>
              <a:rPr lang="he-IL" dirty="0"/>
              <a:t>ואז בהמשך על </a:t>
            </a:r>
            <a:r>
              <a:rPr lang="he-IL" dirty="0" err="1"/>
              <a:t>human</a:t>
            </a:r>
            <a:r>
              <a:rPr lang="he-IL" dirty="0"/>
              <a:t> </a:t>
            </a:r>
            <a:r>
              <a:rPr lang="he-IL" dirty="0" err="1"/>
              <a:t>susceptibiality</a:t>
            </a:r>
            <a:endParaRPr lang="he-IL" dirty="0"/>
          </a:p>
          <a:p>
            <a:r>
              <a:rPr lang="he-IL" dirty="0"/>
              <a:t>להסביר שצריך להסתכל מפריזמה אבולוציונית כדי להסביר שינויים </a:t>
            </a:r>
            <a:r>
              <a:rPr lang="he-IL" dirty="0" err="1"/>
              <a:t>גנטים</a:t>
            </a:r>
            <a:endParaRPr lang="he-IL" dirty="0"/>
          </a:p>
          <a:p>
            <a:endParaRPr lang="he-IL" dirty="0"/>
          </a:p>
          <a:p>
            <a:r>
              <a:rPr lang="en-US" dirty="0"/>
              <a:t>V</a:t>
            </a:r>
            <a:endParaRPr lang="he-IL" dirty="0"/>
          </a:p>
          <a:p>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2</a:t>
            </a:fld>
            <a:endParaRPr lang="he-IL"/>
          </a:p>
        </p:txBody>
      </p:sp>
    </p:spTree>
    <p:extLst>
      <p:ext uri="{BB962C8B-B14F-4D97-AF65-F5344CB8AC3E}">
        <p14:creationId xmlns:p14="http://schemas.microsoft.com/office/powerpoint/2010/main" val="27417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F08DC-1294-CCC9-866C-45177556EB6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57E18FD-4F65-1D1D-F6BD-1F8C0D10726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2B6F243-6A15-3D33-0C4E-03DE3C19E4EA}"/>
              </a:ext>
            </a:extLst>
          </p:cNvPr>
          <p:cNvSpPr>
            <a:spLocks noGrp="1"/>
          </p:cNvSpPr>
          <p:nvPr>
            <p:ph type="body" idx="1"/>
          </p:nvPr>
        </p:nvSpPr>
        <p:spPr/>
        <p:txBody>
          <a:bodyPr/>
          <a:lstStyle/>
          <a:p>
            <a:pPr marL="0" indent="0">
              <a:buNone/>
            </a:pPr>
            <a:r>
              <a:rPr lang="he-IL" dirty="0"/>
              <a:t>שקופית 2 מתחילים משינויי רגולציה כי היום ידוע שרוב ההבדלים </a:t>
            </a:r>
            <a:r>
              <a:rPr lang="he-IL" dirty="0" err="1"/>
              <a:t>הפנוטיפיים</a:t>
            </a:r>
            <a:r>
              <a:rPr lang="he-IL" dirty="0"/>
              <a:t> בין מינים קרובים הם תוצאה של שינויי </a:t>
            </a:r>
            <a:r>
              <a:rPr lang="en-US" dirty="0"/>
              <a:t>expression</a:t>
            </a:r>
            <a:r>
              <a:rPr lang="he-IL" dirty="0"/>
              <a:t>. להסביר איך </a:t>
            </a:r>
            <a:r>
              <a:rPr lang="he-IL" dirty="0" err="1"/>
              <a:t>בודקיםש</a:t>
            </a:r>
            <a:r>
              <a:rPr lang="he-IL" dirty="0"/>
              <a:t> </a:t>
            </a:r>
            <a:r>
              <a:rPr lang="he-IL" dirty="0" err="1"/>
              <a:t>ינויי</a:t>
            </a:r>
            <a:r>
              <a:rPr lang="he-IL" dirty="0"/>
              <a:t> רגולציה – להציג את הדאטה של </a:t>
            </a:r>
            <a:r>
              <a:rPr lang="he-IL" dirty="0" err="1"/>
              <a:t>ההיברידיפ</a:t>
            </a:r>
            <a:r>
              <a:rPr lang="he-IL" dirty="0"/>
              <a:t>. למה ששינויי רגולציה יהיו הסיבה? מהיר מדי / </a:t>
            </a:r>
            <a:r>
              <a:rPr lang="en-US" dirty="0"/>
              <a:t>tradeoff</a:t>
            </a:r>
            <a:r>
              <a:rPr lang="he-IL" dirty="0"/>
              <a:t> / הצטברות של המון דברים שהם כמעט-</a:t>
            </a:r>
            <a:r>
              <a:rPr lang="he-IL" dirty="0" err="1"/>
              <a:t>ניטרלים</a:t>
            </a:r>
            <a:r>
              <a:rPr lang="he-IL" dirty="0"/>
              <a:t>. במה זה מתבטא? מחלות אולי יהיו עם יותר שינויים לעומת שאר הגנום, או שינויים קיצוניים יותר ולכן קשה לתקן (להוסיף קונטרול – כמה </a:t>
            </a:r>
            <a:r>
              <a:rPr lang="en-US" dirty="0"/>
              <a:t>ASE </a:t>
            </a:r>
            <a:r>
              <a:rPr lang="he-IL" dirty="0"/>
              <a:t>לעומת כל הגנים שקשורים לסוכרת? = כדי להבדיל בין הבדלים שקשורים למחלה סתם לבין דברים שקשורים דווקא </a:t>
            </a:r>
            <a:r>
              <a:rPr lang="he-IL" dirty="0" err="1"/>
              <a:t>להיומן</a:t>
            </a:r>
            <a:r>
              <a:rPr lang="he-IL" dirty="0"/>
              <a:t> </a:t>
            </a:r>
            <a:r>
              <a:rPr lang="he-IL" dirty="0" err="1"/>
              <a:t>ספסיפיק</a:t>
            </a:r>
            <a:r>
              <a:rPr lang="he-IL" dirty="0"/>
              <a:t>) </a:t>
            </a:r>
          </a:p>
          <a:p>
            <a:pPr marL="0" indent="0">
              <a:buNone/>
            </a:pPr>
            <a:endParaRPr lang="he-IL" dirty="0"/>
          </a:p>
          <a:p>
            <a:pPr marL="0" indent="0">
              <a:buNone/>
            </a:pPr>
            <a:r>
              <a:rPr lang="he-IL" dirty="0"/>
              <a:t>תיקונים: ההסבר ללמה דווקא שינויי רגולציה בהתחלת השקופית הזאת</a:t>
            </a:r>
          </a:p>
          <a:p>
            <a:pPr marL="0" indent="0">
              <a:buNone/>
            </a:pPr>
            <a:r>
              <a:rPr lang="he-IL" dirty="0"/>
              <a:t>להדגיש שאנחנו משתמשים </a:t>
            </a:r>
            <a:r>
              <a:rPr lang="he-IL" dirty="0" err="1"/>
              <a:t>בהיברדיים</a:t>
            </a:r>
            <a:r>
              <a:rPr lang="he-IL" dirty="0"/>
              <a:t> בשביל למנוע הבדלים לא </a:t>
            </a:r>
            <a:r>
              <a:rPr lang="he-IL" dirty="0" err="1"/>
              <a:t>אבולוציונים</a:t>
            </a:r>
            <a:endParaRPr lang="he-IL" dirty="0"/>
          </a:p>
          <a:p>
            <a:pPr marL="0" indent="0">
              <a:buNone/>
            </a:pPr>
            <a:r>
              <a:rPr lang="he-IL" dirty="0"/>
              <a:t>נזיז את החיצים של אבולוציה בין התאים ואת </a:t>
            </a:r>
            <a:r>
              <a:rPr lang="he-IL" dirty="0" err="1"/>
              <a:t>הקאונפדורים</a:t>
            </a:r>
            <a:r>
              <a:rPr lang="he-IL" dirty="0"/>
              <a:t> מתחת לתאים</a:t>
            </a:r>
          </a:p>
          <a:p>
            <a:pPr marL="0" indent="0">
              <a:buNone/>
            </a:pPr>
            <a:r>
              <a:rPr lang="he-IL" dirty="0"/>
              <a:t>לסיים ב: </a:t>
            </a:r>
            <a:r>
              <a:rPr lang="en-US" dirty="0"/>
              <a:t>in this system any expression changes we see has to be a true </a:t>
            </a:r>
            <a:r>
              <a:rPr lang="en-US" dirty="0" err="1"/>
              <a:t>evolutionay</a:t>
            </a:r>
            <a:r>
              <a:rPr lang="en-US" dirty="0"/>
              <a:t> or </a:t>
            </a:r>
            <a:r>
              <a:rPr lang="en-US" dirty="0" err="1"/>
              <a:t>gentic</a:t>
            </a:r>
            <a:r>
              <a:rPr lang="en-US" dirty="0"/>
              <a:t> difference</a:t>
            </a:r>
          </a:p>
          <a:p>
            <a:pPr marL="0" indent="0">
              <a:buNone/>
            </a:pPr>
            <a:r>
              <a:rPr lang="he-IL" dirty="0"/>
              <a:t>להוסיף תמונות של כמה סוגי תאים ומספר התאים</a:t>
            </a:r>
          </a:p>
          <a:p>
            <a:pPr marL="0" indent="0">
              <a:buNone/>
            </a:pPr>
            <a:r>
              <a:rPr lang="he-IL" dirty="0"/>
              <a:t>להשתמש באותם גרפים או </a:t>
            </a:r>
            <a:r>
              <a:rPr lang="he-IL" dirty="0" err="1"/>
              <a:t>ויזוליזציות</a:t>
            </a:r>
            <a:r>
              <a:rPr lang="he-IL" dirty="0"/>
              <a:t> שמדברים על אותו דבר</a:t>
            </a:r>
          </a:p>
          <a:p>
            <a:pPr marL="0" indent="0">
              <a:buNone/>
            </a:pPr>
            <a:endParaRPr lang="he-IL" dirty="0"/>
          </a:p>
          <a:p>
            <a:pPr marL="0" indent="0">
              <a:buNone/>
            </a:pPr>
            <a:r>
              <a:rPr lang="en-US" dirty="0"/>
              <a:t>V</a:t>
            </a:r>
            <a:endParaRPr lang="he-IL" dirty="0"/>
          </a:p>
          <a:p>
            <a:pPr marL="0" indent="0">
              <a:buNone/>
            </a:pPr>
            <a:endParaRPr lang="he-IL" dirty="0"/>
          </a:p>
          <a:p>
            <a:pPr marL="0" indent="0">
              <a:buNone/>
            </a:pPr>
            <a:endParaRPr lang="he-IL" dirty="0"/>
          </a:p>
        </p:txBody>
      </p:sp>
      <p:sp>
        <p:nvSpPr>
          <p:cNvPr id="4" name="מציין מיקום של מספר שקופית 3">
            <a:extLst>
              <a:ext uri="{FF2B5EF4-FFF2-40B4-BE49-F238E27FC236}">
                <a16:creationId xmlns:a16="http://schemas.microsoft.com/office/drawing/2014/main" id="{7690E324-8C62-A196-6BF5-76CC49915D35}"/>
              </a:ext>
            </a:extLst>
          </p:cNvPr>
          <p:cNvSpPr>
            <a:spLocks noGrp="1"/>
          </p:cNvSpPr>
          <p:nvPr>
            <p:ph type="sldNum" sz="quarter" idx="5"/>
          </p:nvPr>
        </p:nvSpPr>
        <p:spPr/>
        <p:txBody>
          <a:bodyPr/>
          <a:lstStyle/>
          <a:p>
            <a:fld id="{64F50766-83A2-4A8D-A724-80D60639DE7B}" type="slidenum">
              <a:rPr lang="he-IL" smtClean="0"/>
              <a:t>3</a:t>
            </a:fld>
            <a:endParaRPr lang="he-IL"/>
          </a:p>
        </p:txBody>
      </p:sp>
    </p:spTree>
    <p:extLst>
      <p:ext uri="{BB962C8B-B14F-4D97-AF65-F5344CB8AC3E}">
        <p14:creationId xmlns:p14="http://schemas.microsoft.com/office/powerpoint/2010/main" val="664541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62AD-F519-5B92-7793-2921EDC16A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CD773-7F43-EC4A-0A1B-06D84D9D0D6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EB6192-7BE6-C2D4-CF4D-970EC21A8B18}"/>
              </a:ext>
            </a:extLst>
          </p:cNvPr>
          <p:cNvSpPr>
            <a:spLocks noGrp="1"/>
          </p:cNvSpPr>
          <p:nvPr>
            <p:ph type="body" idx="1"/>
          </p:nvPr>
        </p:nvSpPr>
        <p:spPr/>
        <p:txBody>
          <a:bodyPr/>
          <a:lstStyle/>
          <a:p>
            <a:pPr marL="0" indent="0">
              <a:buNone/>
            </a:pPr>
            <a:r>
              <a:rPr lang="he-IL" dirty="0"/>
              <a:t>הסתכלנו על כל המחלות, מצאנו מה </a:t>
            </a:r>
            <a:r>
              <a:rPr lang="en-US" dirty="0" err="1"/>
              <a:t>celltype</a:t>
            </a:r>
            <a:r>
              <a:rPr lang="he-IL" dirty="0"/>
              <a:t> רלוונטי, המשכנו רק עם אלה שיש דאטה של היברידים מתאים.</a:t>
            </a:r>
          </a:p>
          <a:p>
            <a:pPr marL="0" indent="0">
              <a:buNone/>
            </a:pPr>
            <a:r>
              <a:rPr lang="he-IL" dirty="0"/>
              <a:t>זו שקופית קצרה – לקח הרבה זמן אבל לא מאוד מעניין מבחינת הקורס אז אין שום סיבה להתעכב על זה יותר מדי. </a:t>
            </a:r>
            <a:endParaRPr lang="en-US" dirty="0"/>
          </a:p>
          <a:p>
            <a:pPr marL="0" indent="0">
              <a:buNone/>
            </a:pPr>
            <a:endParaRPr lang="he-IL" dirty="0"/>
          </a:p>
          <a:p>
            <a:pPr marL="0" indent="0">
              <a:buNone/>
            </a:pPr>
            <a:r>
              <a:rPr lang="he-IL" dirty="0"/>
              <a:t>תיקונים: לשמור על מעבר טוב לשקופית הזאת ולא מעבר פתאומי</a:t>
            </a:r>
          </a:p>
          <a:p>
            <a:pPr marL="0" indent="0">
              <a:buNone/>
            </a:pPr>
            <a:r>
              <a:rPr lang="he-IL" dirty="0"/>
              <a:t>להוסיף רשימה של מחלות על גוף אדם ומספר מחלות</a:t>
            </a:r>
          </a:p>
          <a:p>
            <a:pPr marL="0" indent="0">
              <a:buNone/>
            </a:pPr>
            <a:r>
              <a:rPr lang="he-IL" dirty="0"/>
              <a:t>לציין שה61 מחלות האלה עם לא תוצאה </a:t>
            </a:r>
          </a:p>
          <a:p>
            <a:pPr marL="0" indent="0">
              <a:buNone/>
            </a:pPr>
            <a:r>
              <a:rPr lang="he-IL" dirty="0"/>
              <a:t>ויזואליזציה של </a:t>
            </a:r>
            <a:r>
              <a:rPr lang="he-IL" dirty="0" err="1"/>
              <a:t>celltypes</a:t>
            </a:r>
            <a:endParaRPr lang="he-IL" dirty="0"/>
          </a:p>
        </p:txBody>
      </p:sp>
      <p:sp>
        <p:nvSpPr>
          <p:cNvPr id="4" name="מציין מיקום של מספר שקופית 3">
            <a:extLst>
              <a:ext uri="{FF2B5EF4-FFF2-40B4-BE49-F238E27FC236}">
                <a16:creationId xmlns:a16="http://schemas.microsoft.com/office/drawing/2014/main" id="{4CDAEDA8-FEA9-9093-459E-06512690C80A}"/>
              </a:ext>
            </a:extLst>
          </p:cNvPr>
          <p:cNvSpPr>
            <a:spLocks noGrp="1"/>
          </p:cNvSpPr>
          <p:nvPr>
            <p:ph type="sldNum" sz="quarter" idx="5"/>
          </p:nvPr>
        </p:nvSpPr>
        <p:spPr/>
        <p:txBody>
          <a:bodyPr/>
          <a:lstStyle/>
          <a:p>
            <a:fld id="{64F50766-83A2-4A8D-A724-80D60639DE7B}" type="slidenum">
              <a:rPr lang="he-IL" smtClean="0"/>
              <a:t>4</a:t>
            </a:fld>
            <a:endParaRPr lang="he-IL"/>
          </a:p>
        </p:txBody>
      </p:sp>
    </p:spTree>
    <p:extLst>
      <p:ext uri="{BB962C8B-B14F-4D97-AF65-F5344CB8AC3E}">
        <p14:creationId xmlns:p14="http://schemas.microsoft.com/office/powerpoint/2010/main" val="84854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3559-4227-19AC-5F63-E91FC8B40B2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6D79D57-74DA-7BC7-BB7E-2F9088D697A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E6C3545-C6D3-DA72-25DD-A943BF473B4D}"/>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p>
          <a:p>
            <a:pPr marL="0" indent="0">
              <a:buNone/>
            </a:pPr>
            <a:endParaRPr lang="he-IL" dirty="0"/>
          </a:p>
          <a:p>
            <a:pPr marL="0" indent="0">
              <a:buNone/>
            </a:pPr>
            <a:r>
              <a:rPr lang="he-IL" dirty="0"/>
              <a:t>תיקונים:</a:t>
            </a:r>
          </a:p>
          <a:p>
            <a:pPr marL="0" indent="0">
              <a:buNone/>
            </a:pPr>
            <a:r>
              <a:rPr lang="en" dirty="0"/>
              <a:t>GWAS examines the differences between healthy and sick in the frequency of </a:t>
            </a:r>
            <a:r>
              <a:rPr lang="en" dirty="0" err="1"/>
              <a:t>snps</a:t>
            </a:r>
            <a:endParaRPr lang="he-IL" dirty="0"/>
          </a:p>
          <a:p>
            <a:pPr marL="0" indent="0">
              <a:buNone/>
            </a:pPr>
            <a:r>
              <a:rPr lang="he-IL" dirty="0"/>
              <a:t>לרשום עם כמה מחלות נשארנו</a:t>
            </a:r>
          </a:p>
          <a:p>
            <a:pPr marL="0" indent="0">
              <a:buNone/>
            </a:pPr>
            <a:endParaRPr lang="he-IL" dirty="0"/>
          </a:p>
          <a:p>
            <a:pPr marL="0" indent="0">
              <a:buNone/>
            </a:pPr>
            <a:endParaRPr lang="he-IL" dirty="0"/>
          </a:p>
          <a:p>
            <a:pPr marL="0" indent="0">
              <a:buNone/>
            </a:pPr>
            <a:endParaRPr lang="he-IL" dirty="0"/>
          </a:p>
          <a:p>
            <a:pPr marL="0" indent="0">
              <a:buNone/>
            </a:pPr>
            <a:endParaRPr lang="he-IL" dirty="0"/>
          </a:p>
          <a:p>
            <a:pPr marL="0" indent="0">
              <a:buNone/>
            </a:pPr>
            <a:r>
              <a:rPr lang="en-US" dirty="0"/>
              <a:t>V</a:t>
            </a:r>
            <a:endParaRPr lang="en" dirty="0"/>
          </a:p>
          <a:p>
            <a:pPr marL="0" indent="0">
              <a:buNone/>
            </a:pPr>
            <a:endParaRPr lang="he-IL" dirty="0"/>
          </a:p>
        </p:txBody>
      </p:sp>
      <p:sp>
        <p:nvSpPr>
          <p:cNvPr id="4" name="מציין מיקום של מספר שקופית 3">
            <a:extLst>
              <a:ext uri="{FF2B5EF4-FFF2-40B4-BE49-F238E27FC236}">
                <a16:creationId xmlns:a16="http://schemas.microsoft.com/office/drawing/2014/main" id="{612300FC-5122-2455-0B3F-C63E70B109AF}"/>
              </a:ext>
            </a:extLst>
          </p:cNvPr>
          <p:cNvSpPr>
            <a:spLocks noGrp="1"/>
          </p:cNvSpPr>
          <p:nvPr>
            <p:ph type="sldNum" sz="quarter" idx="5"/>
          </p:nvPr>
        </p:nvSpPr>
        <p:spPr/>
        <p:txBody>
          <a:bodyPr/>
          <a:lstStyle/>
          <a:p>
            <a:fld id="{64F50766-83A2-4A8D-A724-80D60639DE7B}" type="slidenum">
              <a:rPr lang="he-IL" smtClean="0"/>
              <a:t>5</a:t>
            </a:fld>
            <a:endParaRPr lang="he-IL"/>
          </a:p>
        </p:txBody>
      </p:sp>
    </p:spTree>
    <p:extLst>
      <p:ext uri="{BB962C8B-B14F-4D97-AF65-F5344CB8AC3E}">
        <p14:creationId xmlns:p14="http://schemas.microsoft.com/office/powerpoint/2010/main" val="1145725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C99A-0968-7FAB-77AF-3D3EA94B784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4B627FE-A9EF-A12F-5C00-0ACD8EDC6A2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AB6D590-0C8B-9576-090E-6ED2622AD027}"/>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endParaRPr lang="en-US" dirty="0"/>
          </a:p>
          <a:p>
            <a:pPr marL="0" indent="0">
              <a:buNone/>
            </a:pPr>
            <a:endParaRPr lang="en-US" dirty="0"/>
          </a:p>
          <a:p>
            <a:pPr marL="0" indent="0">
              <a:buNone/>
            </a:pPr>
            <a:r>
              <a:rPr lang="he-IL" dirty="0"/>
              <a:t>תיקונים:</a:t>
            </a:r>
          </a:p>
          <a:p>
            <a:pPr marL="0" indent="0">
              <a:buNone/>
            </a:pPr>
            <a:r>
              <a:rPr lang="he-IL" dirty="0"/>
              <a:t>להזכיר את </a:t>
            </a:r>
            <a:r>
              <a:rPr lang="he-IL" dirty="0" err="1"/>
              <a:t>ההטייה</a:t>
            </a:r>
            <a:r>
              <a:rPr lang="he-IL" dirty="0"/>
              <a:t> של מחלות שנחקרות יותר וגם כנראה שיש באמת יותר גנים</a:t>
            </a:r>
          </a:p>
          <a:p>
            <a:pPr marL="0" indent="0">
              <a:buNone/>
            </a:pPr>
            <a:r>
              <a:rPr lang="he-IL" dirty="0"/>
              <a:t>להיות מוכנים לדבר על זה </a:t>
            </a:r>
            <a:r>
              <a:rPr lang="he-IL" dirty="0" err="1"/>
              <a:t>שאלצייהמר</a:t>
            </a:r>
            <a:r>
              <a:rPr lang="he-IL" dirty="0"/>
              <a:t> לא מופיע </a:t>
            </a:r>
            <a:r>
              <a:rPr lang="he-IL" dirty="0" err="1"/>
              <a:t>בשימפנזות</a:t>
            </a:r>
            <a:r>
              <a:rPr lang="he-IL" dirty="0"/>
              <a:t> מבחינה קלינית למרות שהם מגיעים לגיל 70</a:t>
            </a:r>
          </a:p>
          <a:p>
            <a:pPr marL="0" indent="0">
              <a:buNone/>
            </a:pPr>
            <a:r>
              <a:rPr lang="he-IL" dirty="0"/>
              <a:t>גם אם רואים דמנציה אין סימנים </a:t>
            </a:r>
            <a:r>
              <a:rPr lang="he-IL" dirty="0" err="1"/>
              <a:t>קלינים</a:t>
            </a:r>
            <a:r>
              <a:rPr lang="he-IL" dirty="0"/>
              <a:t> </a:t>
            </a:r>
            <a:r>
              <a:rPr lang="he-IL" dirty="0" err="1"/>
              <a:t>ומולקולרים</a:t>
            </a:r>
            <a:endParaRPr lang="he-IL" dirty="0"/>
          </a:p>
          <a:p>
            <a:pPr marL="0" indent="0">
              <a:buNone/>
            </a:pPr>
            <a:r>
              <a:rPr lang="he-IL" dirty="0"/>
              <a:t>גם להיות מוכנים לדבר על תאוריות הסבתא</a:t>
            </a:r>
          </a:p>
          <a:p>
            <a:pPr marL="0" indent="0">
              <a:buNone/>
            </a:pPr>
            <a:endParaRPr lang="he-IL" dirty="0"/>
          </a:p>
          <a:p>
            <a:pPr marL="0" indent="0">
              <a:buNone/>
            </a:pPr>
            <a:r>
              <a:rPr lang="en-US" dirty="0"/>
              <a:t>V</a:t>
            </a:r>
            <a:endParaRPr lang="he-IL" dirty="0"/>
          </a:p>
          <a:p>
            <a:pPr marL="0" indent="0">
              <a:buNone/>
            </a:pPr>
            <a:endParaRPr lang="he-IL" dirty="0"/>
          </a:p>
        </p:txBody>
      </p:sp>
      <p:sp>
        <p:nvSpPr>
          <p:cNvPr id="4" name="מציין מיקום של מספר שקופית 3">
            <a:extLst>
              <a:ext uri="{FF2B5EF4-FFF2-40B4-BE49-F238E27FC236}">
                <a16:creationId xmlns:a16="http://schemas.microsoft.com/office/drawing/2014/main" id="{C20CE61A-119A-4E88-E85D-4007D9866387}"/>
              </a:ext>
            </a:extLst>
          </p:cNvPr>
          <p:cNvSpPr>
            <a:spLocks noGrp="1"/>
          </p:cNvSpPr>
          <p:nvPr>
            <p:ph type="sldNum" sz="quarter" idx="5"/>
          </p:nvPr>
        </p:nvSpPr>
        <p:spPr/>
        <p:txBody>
          <a:bodyPr/>
          <a:lstStyle/>
          <a:p>
            <a:fld id="{64F50766-83A2-4A8D-A724-80D60639DE7B}" type="slidenum">
              <a:rPr lang="he-IL" smtClean="0"/>
              <a:t>6</a:t>
            </a:fld>
            <a:endParaRPr lang="he-IL"/>
          </a:p>
        </p:txBody>
      </p:sp>
    </p:spTree>
    <p:extLst>
      <p:ext uri="{BB962C8B-B14F-4D97-AF65-F5344CB8AC3E}">
        <p14:creationId xmlns:p14="http://schemas.microsoft.com/office/powerpoint/2010/main" val="549857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350E-EF91-DC03-8DF3-1EAE520B307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D72069A-979E-B42B-F595-AF84FC837A4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AE350A4-B2BA-B158-D6EF-9FEEE16566DC}"/>
              </a:ext>
            </a:extLst>
          </p:cNvPr>
          <p:cNvSpPr>
            <a:spLocks noGrp="1"/>
          </p:cNvSpPr>
          <p:nvPr>
            <p:ph type="body" idx="1"/>
          </p:nvPr>
        </p:nvSpPr>
        <p:spPr/>
        <p:txBody>
          <a:bodyPr/>
          <a:lstStyle/>
          <a:p>
            <a:pPr marL="0" indent="0">
              <a:buNone/>
            </a:pPr>
            <a:r>
              <a:rPr lang="he-IL" dirty="0"/>
              <a:t>מה מחפשים? שינויי ביטוי שהם שונים מהטרנד הכללי של כל הדאטה  = מחפשים סיגנלים של עודף שינויים (יותר </a:t>
            </a:r>
            <a:r>
              <a:rPr lang="en-US" dirty="0"/>
              <a:t>ASE</a:t>
            </a:r>
            <a:r>
              <a:rPr lang="he-IL" dirty="0"/>
              <a:t>). יכול להיות </a:t>
            </a:r>
            <a:r>
              <a:rPr lang="he-IL" dirty="0" err="1"/>
              <a:t>שישארלו</a:t>
            </a:r>
            <a:r>
              <a:rPr lang="he-IL" dirty="0"/>
              <a:t> למה מה שגורם את המחלה זה לא הסניפים – להסביר שאנחנו מנסים להבין מה גורם לנו להיות רגישים לשינויים שב</a:t>
            </a:r>
            <a:r>
              <a:rPr lang="en-US" dirty="0"/>
              <a:t>GWAS</a:t>
            </a:r>
            <a:r>
              <a:rPr lang="he-IL" dirty="0"/>
              <a:t>. להשתמש </a:t>
            </a:r>
            <a:r>
              <a:rPr lang="he-IL" dirty="0" err="1"/>
              <a:t>באינפוגרפיקה</a:t>
            </a:r>
            <a:r>
              <a:rPr lang="he-IL" dirty="0"/>
              <a:t> של </a:t>
            </a:r>
            <a:r>
              <a:rPr lang="en-US" dirty="0" err="1"/>
              <a:t>cliffegde</a:t>
            </a:r>
            <a:r>
              <a:rPr lang="he-IL" dirty="0"/>
              <a:t> ובהסבר של </a:t>
            </a:r>
            <a:r>
              <a:rPr lang="en-US" dirty="0"/>
              <a:t>BRCA1</a:t>
            </a:r>
            <a:endParaRPr lang="he-IL" dirty="0"/>
          </a:p>
          <a:p>
            <a:pPr marL="0" indent="0">
              <a:buNone/>
            </a:pPr>
            <a:endParaRPr lang="he-IL" dirty="0"/>
          </a:p>
          <a:p>
            <a:pPr marL="0" indent="0">
              <a:buNone/>
            </a:pPr>
            <a:r>
              <a:rPr lang="he-IL" dirty="0"/>
              <a:t>תיקונים: </a:t>
            </a:r>
          </a:p>
          <a:p>
            <a:pPr marL="0" indent="0">
              <a:buNone/>
            </a:pPr>
            <a:r>
              <a:rPr lang="he-IL" dirty="0"/>
              <a:t>להביא דוגמה שהקוף הוא </a:t>
            </a:r>
            <a:r>
              <a:rPr lang="he-IL" dirty="0" err="1"/>
              <a:t>הבייסלין</a:t>
            </a:r>
            <a:r>
              <a:rPr lang="he-IL" dirty="0"/>
              <a:t> שלנו ולהביא דוגמה לפי הגרף (ביטוי עולה ואתה מתקרב לצוק ויכול ליפול)</a:t>
            </a:r>
          </a:p>
          <a:p>
            <a:pPr marL="0" indent="0">
              <a:buNone/>
            </a:pPr>
            <a:r>
              <a:rPr lang="he-IL" dirty="0"/>
              <a:t>להסביר מה אנחנו מצפים לראות מהמודל הזה</a:t>
            </a:r>
          </a:p>
          <a:p>
            <a:pPr marL="0" indent="0">
              <a:buNone/>
            </a:pPr>
            <a:r>
              <a:rPr lang="he-IL" dirty="0"/>
              <a:t>כמה אופציות:</a:t>
            </a:r>
          </a:p>
          <a:p>
            <a:pPr marL="0" indent="0">
              <a:buNone/>
            </a:pPr>
            <a:r>
              <a:rPr lang="he-IL" dirty="0"/>
              <a:t>יותר שינוים בגנים מאשר סתם</a:t>
            </a:r>
          </a:p>
          <a:p>
            <a:pPr marL="0" indent="0">
              <a:buNone/>
            </a:pPr>
            <a:r>
              <a:rPr lang="he-IL" dirty="0"/>
              <a:t>אולי הבדלים גדולים יותר בשינוים</a:t>
            </a:r>
          </a:p>
          <a:p>
            <a:pPr marL="0" indent="0">
              <a:buNone/>
            </a:pPr>
            <a:endParaRPr lang="he-IL" dirty="0"/>
          </a:p>
          <a:p>
            <a:pPr marL="0" indent="0">
              <a:buNone/>
            </a:pPr>
            <a:r>
              <a:rPr lang="he-IL" dirty="0"/>
              <a:t>להביא דוגמאות למחלות שיש כיווניות (במקרה ששואלים על </a:t>
            </a:r>
            <a:r>
              <a:rPr lang="he-IL" dirty="0" err="1"/>
              <a:t>הבייס</a:t>
            </a:r>
            <a:r>
              <a:rPr lang="he-IL" dirty="0"/>
              <a:t>)</a:t>
            </a:r>
          </a:p>
          <a:p>
            <a:pPr marL="0" indent="0">
              <a:buNone/>
            </a:pPr>
            <a:r>
              <a:rPr lang="he-IL" dirty="0"/>
              <a:t>להוסיף שקופית ל3 האופציות האלה </a:t>
            </a:r>
            <a:r>
              <a:rPr lang="he-IL" dirty="0" err="1"/>
              <a:t>וויזולאיזציה</a:t>
            </a:r>
            <a:endParaRPr lang="he-IL" dirty="0"/>
          </a:p>
          <a:p>
            <a:pPr marL="0" indent="0">
              <a:buNone/>
            </a:pPr>
            <a:r>
              <a:rPr lang="he-IL" dirty="0"/>
              <a:t>להוסיף מלמעלה </a:t>
            </a:r>
            <a:r>
              <a:rPr lang="he-IL" dirty="0" err="1"/>
              <a:t>adptive</a:t>
            </a:r>
            <a:r>
              <a:rPr lang="he-IL" dirty="0"/>
              <a:t> </a:t>
            </a:r>
            <a:r>
              <a:rPr lang="he-IL" dirty="0" err="1"/>
              <a:t>changes</a:t>
            </a:r>
            <a:r>
              <a:rPr lang="he-IL" dirty="0"/>
              <a:t> ו </a:t>
            </a:r>
            <a:r>
              <a:rPr lang="he-IL" dirty="0" err="1"/>
              <a:t>trade</a:t>
            </a:r>
            <a:r>
              <a:rPr lang="he-IL" dirty="0"/>
              <a:t> </a:t>
            </a:r>
            <a:r>
              <a:rPr lang="he-IL" dirty="0" err="1"/>
              <a:t>off</a:t>
            </a:r>
            <a:endParaRPr lang="he-IL" dirty="0"/>
          </a:p>
          <a:p>
            <a:pPr marL="0" indent="0">
              <a:buNone/>
            </a:pPr>
            <a:endParaRPr lang="he-IL" dirty="0"/>
          </a:p>
          <a:p>
            <a:pPr marL="0" indent="0">
              <a:buNone/>
            </a:pPr>
            <a:r>
              <a:rPr lang="en-US" dirty="0"/>
              <a:t>V</a:t>
            </a:r>
            <a:endParaRPr lang="he-IL" dirty="0"/>
          </a:p>
        </p:txBody>
      </p:sp>
      <p:sp>
        <p:nvSpPr>
          <p:cNvPr id="4" name="מציין מיקום של מספר שקופית 3">
            <a:extLst>
              <a:ext uri="{FF2B5EF4-FFF2-40B4-BE49-F238E27FC236}">
                <a16:creationId xmlns:a16="http://schemas.microsoft.com/office/drawing/2014/main" id="{3C4809C4-AD29-B70F-8301-8B463E486C98}"/>
              </a:ext>
            </a:extLst>
          </p:cNvPr>
          <p:cNvSpPr>
            <a:spLocks noGrp="1"/>
          </p:cNvSpPr>
          <p:nvPr>
            <p:ph type="sldNum" sz="quarter" idx="5"/>
          </p:nvPr>
        </p:nvSpPr>
        <p:spPr/>
        <p:txBody>
          <a:bodyPr/>
          <a:lstStyle/>
          <a:p>
            <a:fld id="{64F50766-83A2-4A8D-A724-80D60639DE7B}" type="slidenum">
              <a:rPr lang="he-IL" smtClean="0"/>
              <a:t>7</a:t>
            </a:fld>
            <a:endParaRPr lang="he-IL"/>
          </a:p>
        </p:txBody>
      </p:sp>
    </p:spTree>
    <p:extLst>
      <p:ext uri="{BB962C8B-B14F-4D97-AF65-F5344CB8AC3E}">
        <p14:creationId xmlns:p14="http://schemas.microsoft.com/office/powerpoint/2010/main" val="3949710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1305-8C8C-DEC0-C100-69C12468E4D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77A6EC-A7D0-FE69-1258-265DDC435ED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B7FAE27-3668-21D0-122A-52754CF7C2F7}"/>
              </a:ext>
            </a:extLst>
          </p:cNvPr>
          <p:cNvSpPr>
            <a:spLocks noGrp="1"/>
          </p:cNvSpPr>
          <p:nvPr>
            <p:ph type="body" idx="1"/>
          </p:nvPr>
        </p:nvSpPr>
        <p:spPr/>
        <p:txBody>
          <a:bodyPr/>
          <a:lstStyle/>
          <a:p>
            <a:pPr marL="0" indent="0">
              <a:buNone/>
            </a:pPr>
            <a:r>
              <a:rPr lang="he-IL" dirty="0"/>
              <a:t>להציג את כל הדאטה שלנו (</a:t>
            </a:r>
            <a:r>
              <a:rPr lang="en-US" dirty="0"/>
              <a:t>meta plot</a:t>
            </a:r>
            <a:r>
              <a:rPr lang="he-IL" dirty="0"/>
              <a:t>). להגיד שברוב המקרים האנליזה שלנו לא אומרת כלום, יש טרנד כללי? מבחן בינומי לכל המחלות לראות אם יש העשרה ל</a:t>
            </a:r>
            <a:r>
              <a:rPr lang="en-US" dirty="0"/>
              <a:t>down</a:t>
            </a:r>
            <a:r>
              <a:rPr lang="he-IL" dirty="0"/>
              <a:t>? לתת דוגמה אחת ל</a:t>
            </a:r>
            <a:r>
              <a:rPr lang="en-US" dirty="0"/>
              <a:t>positive selection</a:t>
            </a:r>
            <a:r>
              <a:rPr lang="he-IL" dirty="0"/>
              <a:t> (</a:t>
            </a:r>
            <a:r>
              <a:rPr lang="en-US" dirty="0"/>
              <a:t>scoliosis</a:t>
            </a:r>
            <a:r>
              <a:rPr lang="he-IL" dirty="0"/>
              <a:t>) ואחת ל</a:t>
            </a:r>
            <a:r>
              <a:rPr lang="en-US" dirty="0"/>
              <a:t>negative</a:t>
            </a:r>
            <a:r>
              <a:rPr lang="he-IL" dirty="0"/>
              <a:t>. כשמראים דוגמה ספציפית – להראות </a:t>
            </a:r>
            <a:r>
              <a:rPr lang="en-US" dirty="0" err="1"/>
              <a:t>barplot</a:t>
            </a:r>
            <a:r>
              <a:rPr lang="he-IL" dirty="0"/>
              <a:t> ואז את הקורלציה שמראה את זה יותר טוב. מצאנו חתימות לסלקציה שלילית. להזכיר </a:t>
            </a:r>
            <a:r>
              <a:rPr lang="he-IL" dirty="0" err="1"/>
              <a:t>בסקוליוזיס</a:t>
            </a:r>
            <a:r>
              <a:rPr lang="he-IL" dirty="0"/>
              <a:t> מחלה מעניינת כנראה אבולוציה מואצת. אפשר להכניס כאן את הקורלציות של </a:t>
            </a:r>
            <a:r>
              <a:rPr lang="en-US" dirty="0"/>
              <a:t> counts</a:t>
            </a:r>
            <a:r>
              <a:rPr lang="he-IL" dirty="0"/>
              <a:t>. להכניס גם "קורלציה" של </a:t>
            </a:r>
            <a:r>
              <a:rPr lang="en-US" dirty="0"/>
              <a:t>scoliosis</a:t>
            </a:r>
            <a:r>
              <a:rPr lang="he-IL" dirty="0"/>
              <a:t> ולהגיד שהיה תוצאה מעניינת אז תיארנו את הדאטה ברזולוציה גבוהה יותר (בלי היפותזה מראש, לנסות להסביר מה המסקנה)</a:t>
            </a:r>
          </a:p>
          <a:p>
            <a:pPr marL="0" indent="0">
              <a:buNone/>
            </a:pPr>
            <a:endParaRPr lang="he-IL" dirty="0"/>
          </a:p>
          <a:p>
            <a:pPr marL="0" indent="0">
              <a:buNone/>
            </a:pPr>
            <a:r>
              <a:rPr lang="he-IL" dirty="0"/>
              <a:t>תיקונים:</a:t>
            </a:r>
          </a:p>
          <a:p>
            <a:pPr marL="0" indent="0">
              <a:buNone/>
            </a:pPr>
            <a:r>
              <a:rPr lang="he-IL" dirty="0"/>
              <a:t>להראות דוגמה קודם ואז להגיע לגרף הזה</a:t>
            </a:r>
          </a:p>
          <a:p>
            <a:pPr marL="0" indent="0">
              <a:buNone/>
            </a:pPr>
            <a:r>
              <a:rPr lang="he-IL" dirty="0"/>
              <a:t>לעשות את אותם צבעים כמו הגרף המקורי</a:t>
            </a:r>
          </a:p>
        </p:txBody>
      </p:sp>
      <p:sp>
        <p:nvSpPr>
          <p:cNvPr id="4" name="מציין מיקום של מספר שקופית 3">
            <a:extLst>
              <a:ext uri="{FF2B5EF4-FFF2-40B4-BE49-F238E27FC236}">
                <a16:creationId xmlns:a16="http://schemas.microsoft.com/office/drawing/2014/main" id="{E20D9097-5EF1-AB8B-9282-A80D4260D4FB}"/>
              </a:ext>
            </a:extLst>
          </p:cNvPr>
          <p:cNvSpPr>
            <a:spLocks noGrp="1"/>
          </p:cNvSpPr>
          <p:nvPr>
            <p:ph type="sldNum" sz="quarter" idx="5"/>
          </p:nvPr>
        </p:nvSpPr>
        <p:spPr/>
        <p:txBody>
          <a:bodyPr/>
          <a:lstStyle/>
          <a:p>
            <a:fld id="{64F50766-83A2-4A8D-A724-80D60639DE7B}" type="slidenum">
              <a:rPr lang="he-IL" smtClean="0"/>
              <a:t>8</a:t>
            </a:fld>
            <a:endParaRPr lang="he-IL"/>
          </a:p>
        </p:txBody>
      </p:sp>
    </p:spTree>
    <p:extLst>
      <p:ext uri="{BB962C8B-B14F-4D97-AF65-F5344CB8AC3E}">
        <p14:creationId xmlns:p14="http://schemas.microsoft.com/office/powerpoint/2010/main" val="190819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F0D2-B844-10D9-FE82-D64EBD735AF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F452C1A-0ABD-C9BD-AC84-CA1C12D3FE7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F605128-38F4-A284-587E-81AC4BF19895}"/>
              </a:ext>
            </a:extLst>
          </p:cNvPr>
          <p:cNvSpPr>
            <a:spLocks noGrp="1"/>
          </p:cNvSpPr>
          <p:nvPr>
            <p:ph type="body" idx="1"/>
          </p:nvPr>
        </p:nvSpPr>
        <p:spPr/>
        <p:txBody>
          <a:bodyPr/>
          <a:lstStyle/>
          <a:p>
            <a:pPr marL="0" indent="0">
              <a:buNone/>
            </a:pPr>
            <a:r>
              <a:rPr lang="en-US" dirty="0"/>
              <a:t>Show results of schizophrenia</a:t>
            </a:r>
            <a:endParaRPr lang="he-IL" dirty="0"/>
          </a:p>
          <a:p>
            <a:pPr marL="0" indent="0">
              <a:buNone/>
            </a:pPr>
            <a:endParaRPr lang="he-IL" dirty="0"/>
          </a:p>
          <a:p>
            <a:pPr marL="0" indent="0">
              <a:buNone/>
            </a:pPr>
            <a:r>
              <a:rPr lang="he-IL" dirty="0"/>
              <a:t>תיקונים:</a:t>
            </a:r>
          </a:p>
          <a:p>
            <a:pPr marL="0" indent="0">
              <a:buNone/>
            </a:pPr>
            <a:r>
              <a:rPr lang="en" dirty="0"/>
              <a:t>F</a:t>
            </a:r>
            <a:r>
              <a:rPr lang="he-IL" dirty="0" err="1"/>
              <a:t>dr</a:t>
            </a:r>
            <a:r>
              <a:rPr lang="he-IL" dirty="0"/>
              <a:t> בקטן</a:t>
            </a:r>
          </a:p>
        </p:txBody>
      </p:sp>
      <p:sp>
        <p:nvSpPr>
          <p:cNvPr id="4" name="מציין מיקום של מספר שקופית 3">
            <a:extLst>
              <a:ext uri="{FF2B5EF4-FFF2-40B4-BE49-F238E27FC236}">
                <a16:creationId xmlns:a16="http://schemas.microsoft.com/office/drawing/2014/main" id="{7E8B691E-326C-FF50-5C96-EE87C965F6E6}"/>
              </a:ext>
            </a:extLst>
          </p:cNvPr>
          <p:cNvSpPr>
            <a:spLocks noGrp="1"/>
          </p:cNvSpPr>
          <p:nvPr>
            <p:ph type="sldNum" sz="quarter" idx="5"/>
          </p:nvPr>
        </p:nvSpPr>
        <p:spPr/>
        <p:txBody>
          <a:bodyPr/>
          <a:lstStyle/>
          <a:p>
            <a:fld id="{64F50766-83A2-4A8D-A724-80D60639DE7B}" type="slidenum">
              <a:rPr lang="he-IL" smtClean="0"/>
              <a:t>9</a:t>
            </a:fld>
            <a:endParaRPr lang="he-IL"/>
          </a:p>
        </p:txBody>
      </p:sp>
    </p:spTree>
    <p:extLst>
      <p:ext uri="{BB962C8B-B14F-4D97-AF65-F5344CB8AC3E}">
        <p14:creationId xmlns:p14="http://schemas.microsoft.com/office/powerpoint/2010/main" val="2209548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6212-70A9-A733-1A69-5F7D7816326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059067F-8F15-4E8E-30D6-8A623DF353B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A0F8C39-4129-2451-DFF5-E8C262C380E6}"/>
              </a:ext>
            </a:extLst>
          </p:cNvPr>
          <p:cNvSpPr>
            <a:spLocks noGrp="1"/>
          </p:cNvSpPr>
          <p:nvPr>
            <p:ph type="body" idx="1"/>
          </p:nvPr>
        </p:nvSpPr>
        <p:spPr/>
        <p:txBody>
          <a:bodyPr/>
          <a:lstStyle/>
          <a:p>
            <a:pPr marL="0" indent="0">
              <a:buNone/>
            </a:pPr>
            <a:r>
              <a:rPr lang="en-US" dirty="0"/>
              <a:t>Show results of schizophrenia</a:t>
            </a:r>
            <a:endParaRPr lang="he-IL" dirty="0"/>
          </a:p>
          <a:p>
            <a:pPr marL="0" indent="0">
              <a:buNone/>
            </a:pPr>
            <a:endParaRPr lang="he-IL" dirty="0"/>
          </a:p>
          <a:p>
            <a:pPr marL="0" indent="0">
              <a:buNone/>
            </a:pPr>
            <a:r>
              <a:rPr lang="he-IL" dirty="0"/>
              <a:t>תיקונים:</a:t>
            </a:r>
          </a:p>
          <a:p>
            <a:pPr marL="0" indent="0">
              <a:buNone/>
            </a:pPr>
            <a:r>
              <a:rPr lang="he-IL" dirty="0"/>
              <a:t>תמיד להגיד שינויים בביטוי ולא סתם שינויים</a:t>
            </a:r>
          </a:p>
          <a:p>
            <a:pPr marL="0" indent="0">
              <a:buNone/>
            </a:pPr>
            <a:r>
              <a:rPr lang="he-IL" dirty="0"/>
              <a:t>להוסיף חץ </a:t>
            </a:r>
            <a:r>
              <a:rPr lang="he-IL" dirty="0" err="1"/>
              <a:t>בכייוון</a:t>
            </a:r>
            <a:r>
              <a:rPr lang="he-IL" dirty="0"/>
              <a:t> השינוי הגדול יותר</a:t>
            </a:r>
          </a:p>
          <a:p>
            <a:pPr marL="0" indent="0">
              <a:buNone/>
            </a:pPr>
            <a:r>
              <a:rPr lang="he-IL" dirty="0"/>
              <a:t>להוסיף גם את הגרף עם הלא </a:t>
            </a:r>
            <a:r>
              <a:rPr lang="he-IL" dirty="0" err="1"/>
              <a:t>אבוסלוט</a:t>
            </a:r>
            <a:r>
              <a:rPr lang="he-IL" dirty="0"/>
              <a:t> ולהפריד בין </a:t>
            </a:r>
            <a:r>
              <a:rPr lang="he-IL" dirty="0" err="1"/>
              <a:t>up</a:t>
            </a:r>
            <a:r>
              <a:rPr lang="he-IL" dirty="0"/>
              <a:t> </a:t>
            </a:r>
            <a:r>
              <a:rPr lang="he-IL" dirty="0" err="1"/>
              <a:t>וdown</a:t>
            </a:r>
            <a:endParaRPr lang="en-US" dirty="0"/>
          </a:p>
          <a:p>
            <a:pPr marL="0" indent="0">
              <a:buNone/>
            </a:pPr>
            <a:endParaRPr lang="en-US" dirty="0"/>
          </a:p>
          <a:p>
            <a:pPr marL="0" indent="0">
              <a:buNone/>
            </a:pPr>
            <a:r>
              <a:rPr lang="he-IL" dirty="0"/>
              <a:t>סיכום:</a:t>
            </a:r>
          </a:p>
          <a:p>
            <a:pPr marL="0" indent="0">
              <a:buNone/>
            </a:pPr>
            <a:endParaRPr lang="he-IL" dirty="0"/>
          </a:p>
        </p:txBody>
      </p:sp>
      <p:sp>
        <p:nvSpPr>
          <p:cNvPr id="4" name="מציין מיקום של מספר שקופית 3">
            <a:extLst>
              <a:ext uri="{FF2B5EF4-FFF2-40B4-BE49-F238E27FC236}">
                <a16:creationId xmlns:a16="http://schemas.microsoft.com/office/drawing/2014/main" id="{8A8294CE-0703-035A-BC9C-B5917B284001}"/>
              </a:ext>
            </a:extLst>
          </p:cNvPr>
          <p:cNvSpPr>
            <a:spLocks noGrp="1"/>
          </p:cNvSpPr>
          <p:nvPr>
            <p:ph type="sldNum" sz="quarter" idx="5"/>
          </p:nvPr>
        </p:nvSpPr>
        <p:spPr/>
        <p:txBody>
          <a:bodyPr/>
          <a:lstStyle/>
          <a:p>
            <a:fld id="{64F50766-83A2-4A8D-A724-80D60639DE7B}" type="slidenum">
              <a:rPr lang="he-IL" smtClean="0"/>
              <a:t>10</a:t>
            </a:fld>
            <a:endParaRPr lang="he-IL"/>
          </a:p>
        </p:txBody>
      </p:sp>
    </p:spTree>
    <p:extLst>
      <p:ext uri="{BB962C8B-B14F-4D97-AF65-F5344CB8AC3E}">
        <p14:creationId xmlns:p14="http://schemas.microsoft.com/office/powerpoint/2010/main" val="820952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F39F-7E41-564C-4410-882D6CD27BC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079FB1-DB18-FE37-EBCE-7C3E504DF1E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3387F61-0967-9EEF-BED0-2AF5A618B4D8}"/>
              </a:ext>
            </a:extLst>
          </p:cNvPr>
          <p:cNvSpPr>
            <a:spLocks noGrp="1"/>
          </p:cNvSpPr>
          <p:nvPr>
            <p:ph type="body" idx="1"/>
          </p:nvPr>
        </p:nvSpPr>
        <p:spPr/>
        <p:txBody>
          <a:bodyPr/>
          <a:lstStyle/>
          <a:p>
            <a:pPr marL="0" indent="0">
              <a:buNone/>
            </a:pPr>
            <a:r>
              <a:rPr lang="en-US" dirty="0"/>
              <a:t>CNCC in scoliosis: the closest we had to neural crest cells which are the cells that create the spine</a:t>
            </a:r>
            <a:endParaRPr lang="he-IL" dirty="0"/>
          </a:p>
          <a:p>
            <a:pPr marL="0" indent="0">
              <a:buNone/>
            </a:pPr>
            <a:endParaRPr lang="he-IL" dirty="0"/>
          </a:p>
          <a:p>
            <a:pPr marL="0" indent="0">
              <a:buNone/>
            </a:pPr>
            <a:r>
              <a:rPr lang="he-IL" dirty="0"/>
              <a:t>תיקונים:</a:t>
            </a:r>
          </a:p>
          <a:p>
            <a:pPr marL="0" indent="0">
              <a:buNone/>
            </a:pPr>
            <a:r>
              <a:rPr lang="he-IL" dirty="0"/>
              <a:t>אבולוציה </a:t>
            </a:r>
            <a:r>
              <a:rPr lang="he-IL" dirty="0" err="1"/>
              <a:t>מואוצת</a:t>
            </a:r>
            <a:r>
              <a:rPr lang="he-IL" dirty="0"/>
              <a:t> או פחות סלקציה שלילית</a:t>
            </a:r>
          </a:p>
          <a:p>
            <a:pPr marL="0" indent="0">
              <a:buNone/>
            </a:pPr>
            <a:r>
              <a:rPr lang="he-IL" dirty="0"/>
              <a:t>לשים תמונה של </a:t>
            </a:r>
            <a:r>
              <a:rPr lang="he-IL" dirty="0" err="1"/>
              <a:t>scolirisis</a:t>
            </a:r>
            <a:endParaRPr lang="he-IL" dirty="0"/>
          </a:p>
          <a:p>
            <a:pPr marL="0" indent="0">
              <a:buNone/>
            </a:pPr>
            <a:endParaRPr lang="he-IL" dirty="0"/>
          </a:p>
          <a:p>
            <a:pPr marL="0" indent="0">
              <a:buNone/>
            </a:pPr>
            <a:endParaRPr lang="he-IL" dirty="0"/>
          </a:p>
          <a:p>
            <a:pPr marL="0" indent="0">
              <a:buNone/>
            </a:pPr>
            <a:r>
              <a:rPr lang="en-US" dirty="0"/>
              <a:t>V</a:t>
            </a:r>
            <a:endParaRPr lang="he-IL" dirty="0"/>
          </a:p>
        </p:txBody>
      </p:sp>
      <p:sp>
        <p:nvSpPr>
          <p:cNvPr id="4" name="מציין מיקום של מספר שקופית 3">
            <a:extLst>
              <a:ext uri="{FF2B5EF4-FFF2-40B4-BE49-F238E27FC236}">
                <a16:creationId xmlns:a16="http://schemas.microsoft.com/office/drawing/2014/main" id="{93C2699E-308A-8001-004F-97A0650B89F8}"/>
              </a:ext>
            </a:extLst>
          </p:cNvPr>
          <p:cNvSpPr>
            <a:spLocks noGrp="1"/>
          </p:cNvSpPr>
          <p:nvPr>
            <p:ph type="sldNum" sz="quarter" idx="5"/>
          </p:nvPr>
        </p:nvSpPr>
        <p:spPr/>
        <p:txBody>
          <a:bodyPr/>
          <a:lstStyle/>
          <a:p>
            <a:fld id="{64F50766-83A2-4A8D-A724-80D60639DE7B}" type="slidenum">
              <a:rPr lang="he-IL" smtClean="0"/>
              <a:t>11</a:t>
            </a:fld>
            <a:endParaRPr lang="he-IL"/>
          </a:p>
        </p:txBody>
      </p:sp>
    </p:spTree>
    <p:extLst>
      <p:ext uri="{BB962C8B-B14F-4D97-AF65-F5344CB8AC3E}">
        <p14:creationId xmlns:p14="http://schemas.microsoft.com/office/powerpoint/2010/main" val="1269063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E47F-EFAD-EEBC-E1C5-FB0638A4C56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D6AD4D-CFCA-9376-A1D2-606A651DA24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B508839-3212-2942-9ADE-D27C15AE7ECC}"/>
              </a:ext>
            </a:extLst>
          </p:cNvPr>
          <p:cNvSpPr>
            <a:spLocks noGrp="1"/>
          </p:cNvSpPr>
          <p:nvPr>
            <p:ph type="body" idx="1"/>
          </p:nvPr>
        </p:nvSpPr>
        <p:spPr/>
        <p:txBody>
          <a:bodyPr/>
          <a:lstStyle/>
          <a:p>
            <a:pPr marL="0" indent="0">
              <a:buNone/>
            </a:pPr>
            <a:r>
              <a:rPr lang="he-IL" dirty="0"/>
              <a:t>עכשיו אפשר </a:t>
            </a:r>
            <a:r>
              <a:rPr lang="he-IL" dirty="0" err="1"/>
              <a:t>להסתככל</a:t>
            </a:r>
            <a:r>
              <a:rPr lang="he-IL" dirty="0"/>
              <a:t> על </a:t>
            </a:r>
            <a:r>
              <a:rPr lang="en-US" dirty="0"/>
              <a:t>up/down</a:t>
            </a:r>
            <a:r>
              <a:rPr lang="he-IL" dirty="0"/>
              <a:t> – מעניין כי היינו מצפים שכל השינויים יהיו רנדומליים כלומר בערך חצי חצי (הטלת מטבע). גם כאן להראות את גל המחלות ואז להתמקד בסכיזופרניה (</a:t>
            </a:r>
            <a:r>
              <a:rPr lang="en-US" dirty="0"/>
              <a:t>scoliosis</a:t>
            </a:r>
            <a:r>
              <a:rPr lang="he-IL" dirty="0"/>
              <a:t>?). להראות את ההתפלגויות – רואים כמעט רק </a:t>
            </a:r>
            <a:r>
              <a:rPr lang="en-US" dirty="0"/>
              <a:t>up</a:t>
            </a:r>
            <a:r>
              <a:rPr lang="he-IL" dirty="0"/>
              <a:t> ב-</a:t>
            </a:r>
            <a:r>
              <a:rPr lang="en-US" dirty="0"/>
              <a:t>LFC</a:t>
            </a:r>
            <a:r>
              <a:rPr lang="he-IL" dirty="0"/>
              <a:t> גדול. לשים את השמות של הגנים </a:t>
            </a:r>
            <a:r>
              <a:rPr lang="he-IL" dirty="0" err="1"/>
              <a:t>הרלוונטים</a:t>
            </a:r>
            <a:r>
              <a:rPr lang="he-IL" dirty="0"/>
              <a:t> (לבדוק מה כל אחד מהם עושה)</a:t>
            </a:r>
            <a:r>
              <a:rPr lang="en-US" dirty="0"/>
              <a:t> </a:t>
            </a:r>
            <a:endParaRPr lang="he-IL" dirty="0"/>
          </a:p>
          <a:p>
            <a:pPr marL="0" indent="0">
              <a:buNone/>
            </a:pPr>
            <a:endParaRPr lang="he-IL" dirty="0"/>
          </a:p>
          <a:p>
            <a:pPr marL="0" indent="0">
              <a:buNone/>
            </a:pPr>
            <a:r>
              <a:rPr lang="he-IL" dirty="0"/>
              <a:t>תיקונים:</a:t>
            </a:r>
          </a:p>
          <a:p>
            <a:pPr marL="0" indent="0">
              <a:buNone/>
            </a:pPr>
            <a:r>
              <a:rPr lang="he-IL" dirty="0"/>
              <a:t>להוסיף גוף אדם עם אותם צבעים</a:t>
            </a:r>
          </a:p>
        </p:txBody>
      </p:sp>
      <p:sp>
        <p:nvSpPr>
          <p:cNvPr id="4" name="מציין מיקום של מספר שקופית 3">
            <a:extLst>
              <a:ext uri="{FF2B5EF4-FFF2-40B4-BE49-F238E27FC236}">
                <a16:creationId xmlns:a16="http://schemas.microsoft.com/office/drawing/2014/main" id="{1F28BC86-ECD4-5785-8BDC-8756CC2344C3}"/>
              </a:ext>
            </a:extLst>
          </p:cNvPr>
          <p:cNvSpPr>
            <a:spLocks noGrp="1"/>
          </p:cNvSpPr>
          <p:nvPr>
            <p:ph type="sldNum" sz="quarter" idx="5"/>
          </p:nvPr>
        </p:nvSpPr>
        <p:spPr/>
        <p:txBody>
          <a:bodyPr/>
          <a:lstStyle/>
          <a:p>
            <a:fld id="{64F50766-83A2-4A8D-A724-80D60639DE7B}" type="slidenum">
              <a:rPr lang="he-IL" smtClean="0"/>
              <a:t>12</a:t>
            </a:fld>
            <a:endParaRPr lang="he-IL"/>
          </a:p>
        </p:txBody>
      </p:sp>
    </p:spTree>
    <p:extLst>
      <p:ext uri="{BB962C8B-B14F-4D97-AF65-F5344CB8AC3E}">
        <p14:creationId xmlns:p14="http://schemas.microsoft.com/office/powerpoint/2010/main" val="3020455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CE6E-40E9-64A3-3959-45DFBF6F940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226E3EC-E8C5-9567-8EB2-497A907735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08FBAE3-90D9-9DE3-4496-72A150060896}"/>
              </a:ext>
            </a:extLst>
          </p:cNvPr>
          <p:cNvSpPr>
            <a:spLocks noGrp="1"/>
          </p:cNvSpPr>
          <p:nvPr>
            <p:ph type="body" idx="1"/>
          </p:nvPr>
        </p:nvSpPr>
        <p:spPr/>
        <p:txBody>
          <a:bodyPr/>
          <a:lstStyle/>
          <a:p>
            <a:pPr marL="0" indent="0">
              <a:buNone/>
            </a:pPr>
            <a:r>
              <a:rPr lang="he-IL" dirty="0"/>
              <a:t>עכשיו אפשר להסתכל על </a:t>
            </a:r>
            <a:r>
              <a:rPr lang="en-US" dirty="0"/>
              <a:t>up/down</a:t>
            </a:r>
            <a:r>
              <a:rPr lang="he-IL" dirty="0"/>
              <a:t> – מעניין כי היינו מצפים שכל השינויים יהיו רנדומליים כלומר בערך חצי חצי (הטלת מטבע). גם כאן להראות את גל המחלות ואז להתמקד בסכיזופרניה (</a:t>
            </a:r>
            <a:r>
              <a:rPr lang="en-US" dirty="0"/>
              <a:t>scoliosis</a:t>
            </a:r>
            <a:r>
              <a:rPr lang="he-IL" dirty="0"/>
              <a:t>?). להראות את ההתפלגויות – רואים כמעט רק </a:t>
            </a:r>
            <a:r>
              <a:rPr lang="en-US" dirty="0"/>
              <a:t>up</a:t>
            </a:r>
            <a:r>
              <a:rPr lang="he-IL" dirty="0"/>
              <a:t> ב-</a:t>
            </a:r>
            <a:r>
              <a:rPr lang="en-US" dirty="0"/>
              <a:t>LFC</a:t>
            </a:r>
            <a:r>
              <a:rPr lang="he-IL" dirty="0"/>
              <a:t> גדול. לשים את השמות של הגנים </a:t>
            </a:r>
            <a:r>
              <a:rPr lang="he-IL" dirty="0" err="1"/>
              <a:t>הרלוונטים</a:t>
            </a:r>
            <a:r>
              <a:rPr lang="he-IL" dirty="0"/>
              <a:t> (לבדוק מה כל אחד מהם עושה)</a:t>
            </a:r>
            <a:r>
              <a:rPr lang="en-US" dirty="0"/>
              <a:t> </a:t>
            </a:r>
            <a:endParaRPr lang="he-IL" dirty="0"/>
          </a:p>
          <a:p>
            <a:pPr marL="0" indent="0">
              <a:buNone/>
            </a:pPr>
            <a:endParaRPr lang="he-IL" dirty="0"/>
          </a:p>
          <a:p>
            <a:pPr marL="0" indent="0">
              <a:buNone/>
            </a:pPr>
            <a:r>
              <a:rPr lang="he-IL" dirty="0"/>
              <a:t>תיקונים: </a:t>
            </a:r>
          </a:p>
          <a:p>
            <a:pPr marL="0" indent="0">
              <a:buNone/>
            </a:pPr>
            <a:r>
              <a:rPr lang="he-IL" dirty="0"/>
              <a:t>להוסיף את </a:t>
            </a:r>
            <a:r>
              <a:rPr lang="he-IL" dirty="0" err="1"/>
              <a:t>הp</a:t>
            </a:r>
            <a:r>
              <a:rPr lang="he-IL" dirty="0"/>
              <a:t> המקורי </a:t>
            </a:r>
          </a:p>
          <a:p>
            <a:pPr marL="0" indent="0">
              <a:buNone/>
            </a:pPr>
            <a:r>
              <a:rPr lang="he-IL" dirty="0"/>
              <a:t>ולהזכיר שראינו </a:t>
            </a:r>
            <a:r>
              <a:rPr lang="he-IL" dirty="0" err="1"/>
              <a:t>שינןי</a:t>
            </a:r>
            <a:r>
              <a:rPr lang="he-IL" dirty="0"/>
              <a:t> בכיוון (למרות שלא מובהק) באופן בלתי תלוי</a:t>
            </a:r>
          </a:p>
        </p:txBody>
      </p:sp>
      <p:sp>
        <p:nvSpPr>
          <p:cNvPr id="4" name="מציין מיקום של מספר שקופית 3">
            <a:extLst>
              <a:ext uri="{FF2B5EF4-FFF2-40B4-BE49-F238E27FC236}">
                <a16:creationId xmlns:a16="http://schemas.microsoft.com/office/drawing/2014/main" id="{B5455A0D-80BE-8186-5900-A61BBA5CAC3B}"/>
              </a:ext>
            </a:extLst>
          </p:cNvPr>
          <p:cNvSpPr>
            <a:spLocks noGrp="1"/>
          </p:cNvSpPr>
          <p:nvPr>
            <p:ph type="sldNum" sz="quarter" idx="5"/>
          </p:nvPr>
        </p:nvSpPr>
        <p:spPr/>
        <p:txBody>
          <a:bodyPr/>
          <a:lstStyle/>
          <a:p>
            <a:fld id="{64F50766-83A2-4A8D-A724-80D60639DE7B}" type="slidenum">
              <a:rPr lang="he-IL" smtClean="0"/>
              <a:t>13</a:t>
            </a:fld>
            <a:endParaRPr lang="he-IL"/>
          </a:p>
        </p:txBody>
      </p:sp>
    </p:spTree>
    <p:extLst>
      <p:ext uri="{BB962C8B-B14F-4D97-AF65-F5344CB8AC3E}">
        <p14:creationId xmlns:p14="http://schemas.microsoft.com/office/powerpoint/2010/main" val="59787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9728-450A-36BC-31B5-6C23E9D523D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3EDB38C-F0EF-B15E-B2CC-79785C0943B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C3E10AA-E26B-BD0E-A11F-980EFF6D4105}"/>
              </a:ext>
            </a:extLst>
          </p:cNvPr>
          <p:cNvSpPr>
            <a:spLocks noGrp="1"/>
          </p:cNvSpPr>
          <p:nvPr>
            <p:ph type="body" idx="1"/>
          </p:nvPr>
        </p:nvSpPr>
        <p:spPr/>
        <p:txBody>
          <a:bodyPr/>
          <a:lstStyle/>
          <a:p>
            <a:pPr marL="0" indent="0">
              <a:buNone/>
            </a:pPr>
            <a:r>
              <a:rPr lang="en-US" dirty="0"/>
              <a:t>Skeletal myocytes in scoliosis: undergo changes due to the change in curve, including asymmetry in muscle mass and alteration in fiber type distributions. These muscle imbalance are thought to contribute to the progression or maintenance of the scoliosis curve.</a:t>
            </a:r>
          </a:p>
          <a:p>
            <a:pPr marL="0" indent="0">
              <a:buNone/>
            </a:pPr>
            <a:endParaRPr lang="en-US" dirty="0"/>
          </a:p>
          <a:p>
            <a:pPr marL="0" indent="0">
              <a:buNone/>
            </a:pPr>
            <a:r>
              <a:rPr lang="en-US" dirty="0" err="1"/>
              <a:t>Prechondral</a:t>
            </a:r>
            <a:r>
              <a:rPr lang="en-US" dirty="0"/>
              <a:t> mesenchyme in scoliosis: these are cells surrounding cartilage, that have an effect on bone formation (ossification) and can be implicated in the development of scoliosis.</a:t>
            </a:r>
            <a:endParaRPr lang="he-IL" dirty="0"/>
          </a:p>
          <a:p>
            <a:pPr marL="0" indent="0">
              <a:buNone/>
            </a:pPr>
            <a:endParaRPr lang="he-IL" dirty="0"/>
          </a:p>
          <a:p>
            <a:pPr marL="0" indent="0">
              <a:buNone/>
            </a:pPr>
            <a:r>
              <a:rPr lang="he-IL" dirty="0"/>
              <a:t>תיקונים:</a:t>
            </a:r>
          </a:p>
          <a:p>
            <a:pPr marL="0" indent="0">
              <a:buNone/>
            </a:pPr>
            <a:r>
              <a:rPr lang="he-IL" dirty="0"/>
              <a:t>מבחנים בלתי תלויים יוצאים מבוהקים</a:t>
            </a:r>
          </a:p>
          <a:p>
            <a:pPr marL="0" indent="0">
              <a:buNone/>
            </a:pPr>
            <a:endParaRPr lang="he-IL" dirty="0"/>
          </a:p>
          <a:p>
            <a:pPr marL="0" indent="0">
              <a:buNone/>
            </a:pPr>
            <a:r>
              <a:rPr lang="en-US" dirty="0"/>
              <a:t>V</a:t>
            </a:r>
            <a:endParaRPr lang="he-IL" dirty="0"/>
          </a:p>
          <a:p>
            <a:pPr marL="0" indent="0">
              <a:buNone/>
            </a:pPr>
            <a:endParaRPr lang="he-IL" dirty="0"/>
          </a:p>
        </p:txBody>
      </p:sp>
      <p:sp>
        <p:nvSpPr>
          <p:cNvPr id="4" name="מציין מיקום של מספר שקופית 3">
            <a:extLst>
              <a:ext uri="{FF2B5EF4-FFF2-40B4-BE49-F238E27FC236}">
                <a16:creationId xmlns:a16="http://schemas.microsoft.com/office/drawing/2014/main" id="{B1C3CB56-48BD-2925-614A-3F53F9A05B28}"/>
              </a:ext>
            </a:extLst>
          </p:cNvPr>
          <p:cNvSpPr>
            <a:spLocks noGrp="1"/>
          </p:cNvSpPr>
          <p:nvPr>
            <p:ph type="sldNum" sz="quarter" idx="5"/>
          </p:nvPr>
        </p:nvSpPr>
        <p:spPr/>
        <p:txBody>
          <a:bodyPr/>
          <a:lstStyle/>
          <a:p>
            <a:fld id="{64F50766-83A2-4A8D-A724-80D60639DE7B}" type="slidenum">
              <a:rPr lang="he-IL" smtClean="0"/>
              <a:t>14</a:t>
            </a:fld>
            <a:endParaRPr lang="he-IL"/>
          </a:p>
        </p:txBody>
      </p:sp>
    </p:spTree>
    <p:extLst>
      <p:ext uri="{BB962C8B-B14F-4D97-AF65-F5344CB8AC3E}">
        <p14:creationId xmlns:p14="http://schemas.microsoft.com/office/powerpoint/2010/main" val="3506097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5781-3F90-157D-C897-2881FC453A4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16FC19-9BAF-FEBC-E0B6-8600A987013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7838D89-60F4-8484-2D3E-5DC7D8A304AC}"/>
              </a:ext>
            </a:extLst>
          </p:cNvPr>
          <p:cNvSpPr>
            <a:spLocks noGrp="1"/>
          </p:cNvSpPr>
          <p:nvPr>
            <p:ph type="body" idx="1"/>
          </p:nvPr>
        </p:nvSpPr>
        <p:spPr/>
        <p:txBody>
          <a:bodyPr/>
          <a:lstStyle/>
          <a:p>
            <a:pPr marL="0" indent="0">
              <a:buNone/>
            </a:pPr>
            <a:r>
              <a:rPr lang="en-US" dirty="0"/>
              <a:t>Schizophrenia </a:t>
            </a:r>
            <a:r>
              <a:rPr lang="en-US" dirty="0" err="1"/>
              <a:t>upregulatipn</a:t>
            </a:r>
            <a:r>
              <a:rPr lang="en-US" dirty="0"/>
              <a:t>:</a:t>
            </a:r>
            <a:br>
              <a:rPr lang="en-US" dirty="0"/>
            </a:br>
            <a:br>
              <a:rPr lang="en-US" dirty="0"/>
            </a:br>
            <a:r>
              <a:rPr lang="en-US" dirty="0"/>
              <a:t>https://febs.onlinelibrary.wiley.com/doi/full/10.1111/j.1742-4658.2011.08390.x</a:t>
            </a:r>
            <a:br>
              <a:rPr lang="en-US" dirty="0"/>
            </a:br>
            <a:r>
              <a:rPr lang="en-US" dirty="0"/>
              <a:t>https://www.pnas.org/doi/abs/10.1073/pnas.032069099</a:t>
            </a:r>
            <a:br>
              <a:rPr lang="en-US" dirty="0"/>
            </a:br>
            <a:r>
              <a:rPr lang="en-US" dirty="0"/>
              <a:t>https://www.sciencedirect.com/science/article/pii/S0006899305018433</a:t>
            </a:r>
            <a:br>
              <a:rPr lang="en-US" dirty="0"/>
            </a:br>
            <a:r>
              <a:rPr lang="en-US" dirty="0"/>
              <a:t>https://www.pnas.org/doi/abs/10.1073/pnas.0507666102</a:t>
            </a:r>
            <a:endParaRPr lang="he-IL" dirty="0"/>
          </a:p>
          <a:p>
            <a:pPr marL="0" indent="0">
              <a:buNone/>
            </a:pPr>
            <a:endParaRPr lang="he-IL" dirty="0"/>
          </a:p>
          <a:p>
            <a:pPr marL="0" indent="0">
              <a:buNone/>
            </a:pPr>
            <a:r>
              <a:rPr lang="he-IL" dirty="0"/>
              <a:t>תיקונים:</a:t>
            </a:r>
          </a:p>
          <a:p>
            <a:pPr marL="0" indent="0">
              <a:buNone/>
            </a:pPr>
            <a:r>
              <a:rPr lang="he-IL" dirty="0"/>
              <a:t>לעשות סיכום ואז </a:t>
            </a:r>
            <a:r>
              <a:rPr lang="he-IL" dirty="0" err="1"/>
              <a:t>future</a:t>
            </a:r>
            <a:r>
              <a:rPr lang="he-IL" dirty="0"/>
              <a:t> </a:t>
            </a:r>
            <a:r>
              <a:rPr lang="he-IL" dirty="0" err="1"/>
              <a:t>steps</a:t>
            </a:r>
            <a:r>
              <a:rPr lang="he-IL" dirty="0"/>
              <a:t>/</a:t>
            </a:r>
            <a:r>
              <a:rPr lang="he-IL" dirty="0" err="1"/>
              <a:t>dis</a:t>
            </a:r>
            <a:r>
              <a:rPr lang="en-US" dirty="0"/>
              <a:t>c</a:t>
            </a:r>
            <a:r>
              <a:rPr lang="he-IL" dirty="0" err="1"/>
              <a:t>ussion</a:t>
            </a:r>
            <a:r>
              <a:rPr lang="he-IL" dirty="0"/>
              <a:t> </a:t>
            </a:r>
            <a:r>
              <a:rPr lang="en-US" dirty="0"/>
              <a:t>V</a:t>
            </a:r>
            <a:endParaRPr lang="he-IL" dirty="0"/>
          </a:p>
          <a:p>
            <a:pPr marL="0" indent="0">
              <a:buNone/>
            </a:pPr>
            <a:endParaRPr lang="he-IL" dirty="0"/>
          </a:p>
          <a:p>
            <a:pPr marL="0" indent="0">
              <a:buNone/>
            </a:pPr>
            <a:r>
              <a:rPr lang="en-US"/>
              <a:t>V</a:t>
            </a:r>
            <a:br>
              <a:rPr lang="en-US" dirty="0"/>
            </a:br>
            <a:endParaRPr lang="he-IL" dirty="0"/>
          </a:p>
        </p:txBody>
      </p:sp>
      <p:sp>
        <p:nvSpPr>
          <p:cNvPr id="4" name="מציין מיקום של מספר שקופית 3">
            <a:extLst>
              <a:ext uri="{FF2B5EF4-FFF2-40B4-BE49-F238E27FC236}">
                <a16:creationId xmlns:a16="http://schemas.microsoft.com/office/drawing/2014/main" id="{3A6415D3-4080-29C4-58C0-BDBA108B0739}"/>
              </a:ext>
            </a:extLst>
          </p:cNvPr>
          <p:cNvSpPr>
            <a:spLocks noGrp="1"/>
          </p:cNvSpPr>
          <p:nvPr>
            <p:ph type="sldNum" sz="quarter" idx="5"/>
          </p:nvPr>
        </p:nvSpPr>
        <p:spPr/>
        <p:txBody>
          <a:bodyPr/>
          <a:lstStyle/>
          <a:p>
            <a:fld id="{64F50766-83A2-4A8D-A724-80D60639DE7B}" type="slidenum">
              <a:rPr lang="he-IL" smtClean="0"/>
              <a:t>15</a:t>
            </a:fld>
            <a:endParaRPr lang="he-IL"/>
          </a:p>
        </p:txBody>
      </p:sp>
    </p:spTree>
    <p:extLst>
      <p:ext uri="{BB962C8B-B14F-4D97-AF65-F5344CB8AC3E}">
        <p14:creationId xmlns:p14="http://schemas.microsoft.com/office/powerpoint/2010/main" val="26422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51DB04-3D8C-AEF5-6506-2DED8C7DAC8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CB169B8-304F-A100-92EF-C74FD28A4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8EE4784-A498-4E04-0CED-17266D15E93F}"/>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1A7168D7-178F-CA7D-C494-3F5576980C0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80F866-0628-F184-2FB8-F59315A3611F}"/>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135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AA6AD4-184C-BCF7-AF7C-5060ECC2C3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6B6651-F1B4-DD50-16C2-D19C02F8064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DBFF1AB-2DED-DE4F-7F2B-A07A949044BE}"/>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E2EFEB77-065B-8032-2FC4-E1357C759A1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86E4222-DF67-6F55-8031-9FA8467CD869}"/>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8128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3C1236-869A-6220-C69F-97F1AC63B69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C085C67-4387-23AC-5B77-E51A007827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CE75541-259A-2B25-9257-3F9B227586FB}"/>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756731F9-BDCE-09B6-EA85-8F26448EF4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C95EB39-6079-9D56-C39D-26B9017929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4653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BC4AB2-697E-9548-E2FD-D9E597F3ADA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7355AA3-5AF9-D774-A30E-CB86F3ADCB9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EF799D9-DD49-BD94-E206-E02B38DEA1C0}"/>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9F70553-6CE9-496F-CF6F-E4EC2F8B2D15}"/>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10251B85-008F-9246-E0A6-D44306EE64C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3821373-146F-3CBD-BBC1-659C98717FE1}"/>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7624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BF52F-EFD2-ECD6-6CA3-86DF97ED2FB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BA7F05-20E2-AEA6-E6CF-5A24B1876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53B7E6A-8520-D25A-33AF-6C0BC6E7AE0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C6FDC96-5FC2-E61A-A945-EC5615950D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758174EB-39D9-D2DA-9677-9EB3762C2C75}"/>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045699C-3E63-7FD7-C1F3-1E7497288A45}"/>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8" name="מציין מיקום של כותרת תחתונה 7">
            <a:extLst>
              <a:ext uri="{FF2B5EF4-FFF2-40B4-BE49-F238E27FC236}">
                <a16:creationId xmlns:a16="http://schemas.microsoft.com/office/drawing/2014/main" id="{5BAC47FF-8AAA-40A1-4EFE-2FC353F9FE8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270406A7-E97E-EEBA-040A-9FC31234C03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60995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A86492-0542-A6B8-0410-F1C751499B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711C620-6586-75DC-8BA0-B36C141729A1}"/>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4" name="מציין מיקום של כותרת תחתונה 3">
            <a:extLst>
              <a:ext uri="{FF2B5EF4-FFF2-40B4-BE49-F238E27FC236}">
                <a16:creationId xmlns:a16="http://schemas.microsoft.com/office/drawing/2014/main" id="{83ED5236-5D43-4C88-99B9-FB3BFA1518A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FFB032E-C763-5193-2952-36FB16C27E67}"/>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3199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5447864-07B9-E599-2EAC-FB2ABEE5923C}"/>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3" name="מציין מיקום של כותרת תחתונה 2">
            <a:extLst>
              <a:ext uri="{FF2B5EF4-FFF2-40B4-BE49-F238E27FC236}">
                <a16:creationId xmlns:a16="http://schemas.microsoft.com/office/drawing/2014/main" id="{35DC4AE1-0EE6-9AA2-315A-304095A4350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FD4E024-A722-4112-9748-5B02773AD31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6297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5EFADD-78FE-7CC0-A374-CD0567C014D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CAECB93-48EC-D0E8-51BF-077A511E7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258BB89-1D12-9686-6564-1334F9FA1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88E65D8-48D2-B397-EBD3-E7793F34D307}"/>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DB5DD021-4281-E5CA-49E6-3577F017405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98F8BE1-5B49-CE4B-11C5-A4A449C644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118898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884B11-B311-564C-DBC1-F9FD9BE0FD7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28D561BD-E667-6B5A-994F-CE5A4A78E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DD05131-990D-1D79-54DD-9BA92664B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D6CCBB5-4FA4-8112-064A-66A13B6D30B6}"/>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2A154919-9D99-9619-23A4-941F60FBF64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ECCC28A-15B4-F06F-6EE8-7C90A4332192}"/>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597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7B4721-45A3-8759-6F61-1B6BF1B4EBE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9AEA923-A52A-67C4-5B82-4F6B6EEB054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81F216B-4FBD-31B4-5A50-A706F1478EC2}"/>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FD3836EF-7213-40AE-F3FB-B601F32AF3B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12C3E8-3E2F-2BFC-E576-6957AC2F219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41781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51FC54E-DB5A-DAD1-2434-07B5E27D3CA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68F72F8-9E37-EAAC-D900-530639C66B9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E4EC31-A497-84C6-2667-8555A11CCACD}"/>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F1669A26-57BC-A406-EECE-DF05A15F15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5918E1A-00FE-B950-E1B7-999B61204CA6}"/>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32450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471C646-C5F3-9F1F-0977-22CFFF277D34}"/>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F9031AE-1217-D6AD-0028-CDB31A3BE57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4CFE58-9B1E-ECC6-25BF-E5741DFF452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1BB82D60-7E70-C07F-A095-45FA469B0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C6D2401-1DEC-7695-647B-DAF05A2E4608}"/>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97ACF353-F54E-4338-80C2-CC503C46D57B}" type="slidenum">
              <a:rPr lang="he-IL" smtClean="0"/>
              <a:t>‹#›</a:t>
            </a:fld>
            <a:endParaRPr lang="he-IL"/>
          </a:p>
        </p:txBody>
      </p:sp>
    </p:spTree>
    <p:extLst>
      <p:ext uri="{BB962C8B-B14F-4D97-AF65-F5344CB8AC3E}">
        <p14:creationId xmlns:p14="http://schemas.microsoft.com/office/powerpoint/2010/main" val="2904355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hyperlink" Target="http://www.pngall.com/germs-png/download/38224" TargetMode="External"/><Relationship Id="rId13" Type="http://schemas.microsoft.com/office/2007/relationships/hdphoto" Target="../media/hdphoto3.wdp"/><Relationship Id="rId18" Type="http://schemas.openxmlformats.org/officeDocument/2006/relationships/image" Target="../media/image12.png"/><Relationship Id="rId3" Type="http://schemas.openxmlformats.org/officeDocument/2006/relationships/image" Target="../media/image6.png"/><Relationship Id="rId21" Type="http://schemas.openxmlformats.org/officeDocument/2006/relationships/image" Target="../media/image14.png"/><Relationship Id="rId7" Type="http://schemas.openxmlformats.org/officeDocument/2006/relationships/image" Target="../media/image8.png"/><Relationship Id="rId12" Type="http://schemas.openxmlformats.org/officeDocument/2006/relationships/image" Target="../media/image10.png"/><Relationship Id="rId17" Type="http://schemas.openxmlformats.org/officeDocument/2006/relationships/hyperlink" Target="https://pixabay.com/en/chemical-science-science-icon-1293762/" TargetMode="External"/><Relationship Id="rId25" Type="http://schemas.openxmlformats.org/officeDocument/2006/relationships/image" Target="../media/image17.tiff"/><Relationship Id="rId2" Type="http://schemas.openxmlformats.org/officeDocument/2006/relationships/notesSlide" Target="../notesSlides/notesSlide3.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hyperlink" Target="https://commons.wikimedia.org/wiki/File:Weather_Icons_-_skc.svg" TargetMode="External"/><Relationship Id="rId11" Type="http://schemas.openxmlformats.org/officeDocument/2006/relationships/hyperlink" Target="https://pxhere.com/en/photo/1453897" TargetMode="External"/><Relationship Id="rId24" Type="http://schemas.microsoft.com/office/2007/relationships/hdphoto" Target="../media/hdphoto5.wdp"/><Relationship Id="rId5" Type="http://schemas.openxmlformats.org/officeDocument/2006/relationships/image" Target="../media/image7.png"/><Relationship Id="rId15" Type="http://schemas.microsoft.com/office/2007/relationships/hdphoto" Target="../media/hdphoto4.wdp"/><Relationship Id="rId23" Type="http://schemas.openxmlformats.org/officeDocument/2006/relationships/image" Target="../media/image16.png"/><Relationship Id="rId10" Type="http://schemas.microsoft.com/office/2007/relationships/hdphoto" Target="../media/hdphoto2.wdp"/><Relationship Id="rId19" Type="http://schemas.openxmlformats.org/officeDocument/2006/relationships/hyperlink" Target="https://freesvg.org/petri-dish-vector-illustration" TargetMode="External"/><Relationship Id="rId4" Type="http://schemas.openxmlformats.org/officeDocument/2006/relationships/hyperlink" Target="https://pixabay.com/en/banana-black-banana-banana-vector-2737145/" TargetMode="External"/><Relationship Id="rId9" Type="http://schemas.openxmlformats.org/officeDocument/2006/relationships/image" Target="../media/image9.png"/><Relationship Id="rId14" Type="http://schemas.openxmlformats.org/officeDocument/2006/relationships/hyperlink" Target="https://www.publicdomainpictures.net/es/view-image.php?image=272450&amp;picture=silueta-de-la-celula-nerviosa" TargetMode="External"/><Relationship Id="rId22"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jpe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1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ick Cartoon Images – Browse 133,296 Stock Photos, Vectors, and Video |  Adobe Stock‬‏">
            <a:extLst>
              <a:ext uri="{FF2B5EF4-FFF2-40B4-BE49-F238E27FC236}">
                <a16:creationId xmlns:a16="http://schemas.microsoft.com/office/drawing/2014/main" id="{4BA98EBC-0BFA-B2C3-F708-B57FC4080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155" y="3602038"/>
            <a:ext cx="4380429" cy="314068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ssil find complicates theory of human evolution | Baptist Press‬‏">
            <a:extLst>
              <a:ext uri="{FF2B5EF4-FFF2-40B4-BE49-F238E27FC236}">
                <a16:creationId xmlns:a16="http://schemas.microsoft.com/office/drawing/2014/main" id="{C2427A92-2FF6-AB60-5BF3-4B25638DD01B}"/>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0" y="0"/>
            <a:ext cx="7717155" cy="5344844"/>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784ADA7F-0491-9A37-E1E5-1723398F7329}"/>
              </a:ext>
            </a:extLst>
          </p:cNvPr>
          <p:cNvSpPr>
            <a:spLocks noGrp="1"/>
          </p:cNvSpPr>
          <p:nvPr>
            <p:ph type="ctrTitle"/>
          </p:nvPr>
        </p:nvSpPr>
        <p:spPr/>
        <p:txBody>
          <a:bodyPr>
            <a:normAutofit/>
          </a:bodyPr>
          <a:lstStyle/>
          <a:p>
            <a:r>
              <a:rPr lang="en-US" b="1"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The evolution of human-specific disease</a:t>
            </a:r>
            <a:endParaRPr lang="he-IL" b="1"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endParaRPr>
          </a:p>
        </p:txBody>
      </p:sp>
      <p:sp>
        <p:nvSpPr>
          <p:cNvPr id="3" name="כותרת משנה 2">
            <a:extLst>
              <a:ext uri="{FF2B5EF4-FFF2-40B4-BE49-F238E27FC236}">
                <a16:creationId xmlns:a16="http://schemas.microsoft.com/office/drawing/2014/main" id="{E9401324-7122-D426-4C57-3078A00115D6}"/>
              </a:ext>
            </a:extLst>
          </p:cNvPr>
          <p:cNvSpPr>
            <a:spLocks noGrp="1"/>
          </p:cNvSpPr>
          <p:nvPr>
            <p:ph type="subTitle" idx="1"/>
          </p:nvPr>
        </p:nvSpPr>
        <p:spPr/>
        <p:txBody>
          <a:bodyPr/>
          <a:lstStyle/>
          <a:p>
            <a:r>
              <a:rPr lang="en-US" sz="2800" b="1" i="1" dirty="0"/>
              <a:t>Sarit Moses &amp; Gil Sasson</a:t>
            </a:r>
          </a:p>
          <a:p>
            <a:r>
              <a:rPr lang="en-US" sz="2800" b="1" i="1" dirty="0"/>
              <a:t>Supervised by Dr. David Gokhman</a:t>
            </a:r>
          </a:p>
          <a:p>
            <a:r>
              <a:rPr lang="en-US" sz="2800" b="1" i="1" dirty="0"/>
              <a:t>T.A.: Nachshon </a:t>
            </a:r>
            <a:r>
              <a:rPr lang="en-US" sz="2800" b="1" i="1" dirty="0" err="1"/>
              <a:t>Egyes</a:t>
            </a:r>
            <a:endParaRPr lang="he-IL" sz="2800" b="1" i="1" dirty="0"/>
          </a:p>
        </p:txBody>
      </p:sp>
    </p:spTree>
    <p:extLst>
      <p:ext uri="{BB962C8B-B14F-4D97-AF65-F5344CB8AC3E}">
        <p14:creationId xmlns:p14="http://schemas.microsoft.com/office/powerpoint/2010/main" val="331738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E207B4-A1CE-A891-6B59-82E619E51BED}"/>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The origin of human-specific diseases</a:t>
            </a:r>
            <a:endParaRPr lang="he-IL" dirty="0"/>
          </a:p>
        </p:txBody>
      </p:sp>
      <p:pic>
        <p:nvPicPr>
          <p:cNvPr id="1026" name="Picture 2" descr="‪Chimpanzee 2d cartoon vector illustration on white backgro | Premium  AI-generated image‬‏">
            <a:extLst>
              <a:ext uri="{FF2B5EF4-FFF2-40B4-BE49-F238E27FC236}">
                <a16:creationId xmlns:a16="http://schemas.microsoft.com/office/drawing/2014/main" id="{1BAF5CB9-8E65-02D0-DC68-8518B984B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unny Cute Couple Ancient Human Cartoon. Royalty Free SVG, Cliparts,  Vectors, and Stock Illustration. Image 74301183.‬‏">
            <a:extLst>
              <a:ext uri="{FF2B5EF4-FFF2-40B4-BE49-F238E27FC236}">
                <a16:creationId xmlns:a16="http://schemas.microsoft.com/office/drawing/2014/main" id="{620013B0-8287-E7C4-0281-96C8ABDED2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8EE0F434-47C8-22A8-C56C-5F54229FC649}"/>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Environment</a:t>
            </a:r>
          </a:p>
        </p:txBody>
      </p:sp>
      <p:sp>
        <p:nvSpPr>
          <p:cNvPr id="5" name="מציין מיקום תוכן 2">
            <a:extLst>
              <a:ext uri="{FF2B5EF4-FFF2-40B4-BE49-F238E27FC236}">
                <a16:creationId xmlns:a16="http://schemas.microsoft.com/office/drawing/2014/main" id="{A16C35B3-EB26-6624-9C1E-4A0988750379}"/>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Life span</a:t>
            </a:r>
          </a:p>
        </p:txBody>
      </p:sp>
      <p:sp>
        <p:nvSpPr>
          <p:cNvPr id="6" name="מציין מיקום תוכן 2">
            <a:extLst>
              <a:ext uri="{FF2B5EF4-FFF2-40B4-BE49-F238E27FC236}">
                <a16:creationId xmlns:a16="http://schemas.microsoft.com/office/drawing/2014/main" id="{B8357051-BCEA-DFF1-A77C-3A3D6C752AC7}"/>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Lack of data</a:t>
            </a:r>
          </a:p>
        </p:txBody>
      </p:sp>
      <p:grpSp>
        <p:nvGrpSpPr>
          <p:cNvPr id="9" name="קבוצה 8">
            <a:extLst>
              <a:ext uri="{FF2B5EF4-FFF2-40B4-BE49-F238E27FC236}">
                <a16:creationId xmlns:a16="http://schemas.microsoft.com/office/drawing/2014/main" id="{A23C6293-19F8-0425-5FB8-7A38EC5BCA40}"/>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37AC6E33-2853-CAD2-B09D-66B72DA7523E}"/>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a:extLst>
                <a:ext uri="{FF2B5EF4-FFF2-40B4-BE49-F238E27FC236}">
                  <a16:creationId xmlns:a16="http://schemas.microsoft.com/office/drawing/2014/main" id="{A71C46E7-B79E-AD33-2055-FE58E4BFF842}"/>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1032" name="Picture 8" descr="‪Mascot Thermometer Fever - Stock Illustration [27457006] - PIXTA‬‏">
            <a:extLst>
              <a:ext uri="{FF2B5EF4-FFF2-40B4-BE49-F238E27FC236}">
                <a16:creationId xmlns:a16="http://schemas.microsoft.com/office/drawing/2014/main" id="{869F5A23-5F5F-3245-13FB-35B760F7208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44506" y="2555978"/>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DD042946-67E6-4B22-66D1-E9DCD1E9817F}"/>
              </a:ext>
            </a:extLst>
          </p:cNvPr>
          <p:cNvSpPr txBox="1"/>
          <p:nvPr/>
        </p:nvSpPr>
        <p:spPr>
          <a:xfrm>
            <a:off x="9332668"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3" name="TextBox 13">
            <a:extLst>
              <a:ext uri="{FF2B5EF4-FFF2-40B4-BE49-F238E27FC236}">
                <a16:creationId xmlns:a16="http://schemas.microsoft.com/office/drawing/2014/main" id="{6AE1B2C1-D239-82B5-C18C-F1C517264ABA}"/>
              </a:ext>
            </a:extLst>
          </p:cNvPr>
          <p:cNvSpPr txBox="1"/>
          <p:nvPr/>
        </p:nvSpPr>
        <p:spPr>
          <a:xfrm>
            <a:off x="5691400"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4" name="TextBox 13">
            <a:extLst>
              <a:ext uri="{FF2B5EF4-FFF2-40B4-BE49-F238E27FC236}">
                <a16:creationId xmlns:a16="http://schemas.microsoft.com/office/drawing/2014/main" id="{E37BFAB0-E12F-7939-8671-AB52A9E1C18E}"/>
              </a:ext>
            </a:extLst>
          </p:cNvPr>
          <p:cNvSpPr txBox="1"/>
          <p:nvPr/>
        </p:nvSpPr>
        <p:spPr>
          <a:xfrm>
            <a:off x="2050133" y="5582754"/>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grpSp>
        <p:nvGrpSpPr>
          <p:cNvPr id="15" name="Group 6">
            <a:extLst>
              <a:ext uri="{FF2B5EF4-FFF2-40B4-BE49-F238E27FC236}">
                <a16:creationId xmlns:a16="http://schemas.microsoft.com/office/drawing/2014/main" id="{9752B736-4687-F1C4-8960-30B64F349F71}"/>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66AA5399-CE6E-711F-5C2E-BB43BCBB001F}"/>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p>
          </p:txBody>
        </p:sp>
        <p:sp>
          <p:nvSpPr>
            <p:cNvPr id="17" name="TextBox 21">
              <a:extLst>
                <a:ext uri="{FF2B5EF4-FFF2-40B4-BE49-F238E27FC236}">
                  <a16:creationId xmlns:a16="http://schemas.microsoft.com/office/drawing/2014/main" id="{917511B6-8AB2-D732-A847-C5D4390C6FE8}"/>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Genetic changes </a:t>
              </a: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 human susceptibility</a:t>
              </a:r>
              <a:endParaRPr lang="en-IL"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 name="מציין מיקום תוכן 2">
            <a:extLst>
              <a:ext uri="{FF2B5EF4-FFF2-40B4-BE49-F238E27FC236}">
                <a16:creationId xmlns:a16="http://schemas.microsoft.com/office/drawing/2014/main" id="{CFC22EC2-F170-E7E1-049D-C8653DF4B3CF}"/>
              </a:ext>
            </a:extLst>
          </p:cNvPr>
          <p:cNvSpPr txBox="1">
            <a:spLocks/>
          </p:cNvSpPr>
          <p:nvPr/>
        </p:nvSpPr>
        <p:spPr>
          <a:xfrm>
            <a:off x="424673" y="1211711"/>
            <a:ext cx="2403519" cy="538750"/>
          </a:xfrm>
          <a:prstGeom prst="rect">
            <a:avLst/>
          </a:prstGeom>
        </p:spPr>
        <p:txBody>
          <a:bodyPr vert="horz" lIns="91440" tIns="45720" rIns="91440" bIns="45720" rtlCol="1">
            <a:normAutofit fontScale="925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Adaptive change</a:t>
            </a:r>
          </a:p>
        </p:txBody>
      </p:sp>
    </p:spTree>
    <p:extLst>
      <p:ext uri="{BB962C8B-B14F-4D97-AF65-F5344CB8AC3E}">
        <p14:creationId xmlns:p14="http://schemas.microsoft.com/office/powerpoint/2010/main" val="427652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E5450-700D-57C7-95BE-11BF1839648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28F147E-E97D-CFF9-27C6-4D0F229C80FA}"/>
              </a:ext>
            </a:extLst>
          </p:cNvPr>
          <p:cNvSpPr>
            <a:spLocks noGrp="1"/>
          </p:cNvSpPr>
          <p:nvPr>
            <p:ph type="title"/>
          </p:nvPr>
        </p:nvSpPr>
        <p:spPr>
          <a:xfrm>
            <a:off x="838200" y="63910"/>
            <a:ext cx="10515600" cy="850299"/>
          </a:xfrm>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How to we study regulatory changes?</a:t>
            </a:r>
            <a:endParaRPr lang="he-IL" dirty="0"/>
          </a:p>
        </p:txBody>
      </p:sp>
      <p:grpSp>
        <p:nvGrpSpPr>
          <p:cNvPr id="1080" name="Group 6">
            <a:extLst>
              <a:ext uri="{FF2B5EF4-FFF2-40B4-BE49-F238E27FC236}">
                <a16:creationId xmlns:a16="http://schemas.microsoft.com/office/drawing/2014/main" id="{560064DA-7FED-41EC-1C79-912989C0A3C6}"/>
              </a:ext>
            </a:extLst>
          </p:cNvPr>
          <p:cNvGrpSpPr/>
          <p:nvPr/>
        </p:nvGrpSpPr>
        <p:grpSpPr>
          <a:xfrm>
            <a:off x="3081932" y="3553316"/>
            <a:ext cx="1808925" cy="2962231"/>
            <a:chOff x="3852076" y="2264025"/>
            <a:chExt cx="1719461" cy="2634363"/>
          </a:xfrm>
        </p:grpSpPr>
        <p:sp>
          <p:nvSpPr>
            <p:cNvPr id="1081" name="Rectangle 2">
              <a:extLst>
                <a:ext uri="{FF2B5EF4-FFF2-40B4-BE49-F238E27FC236}">
                  <a16:creationId xmlns:a16="http://schemas.microsoft.com/office/drawing/2014/main" id="{358A258A-553D-AF86-1F3B-55D23F294CD2}"/>
                </a:ext>
              </a:extLst>
            </p:cNvPr>
            <p:cNvSpPr/>
            <p:nvPr/>
          </p:nvSpPr>
          <p:spPr>
            <a:xfrm>
              <a:off x="3933652" y="2264025"/>
              <a:ext cx="1468960" cy="377075"/>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Confounders</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nvGrpSpPr>
            <p:cNvPr id="1082" name="Group 326">
              <a:extLst>
                <a:ext uri="{FF2B5EF4-FFF2-40B4-BE49-F238E27FC236}">
                  <a16:creationId xmlns:a16="http://schemas.microsoft.com/office/drawing/2014/main" id="{87690A9D-0A79-F6EA-F081-EA19EC65D7A3}"/>
                </a:ext>
              </a:extLst>
            </p:cNvPr>
            <p:cNvGrpSpPr/>
            <p:nvPr/>
          </p:nvGrpSpPr>
          <p:grpSpPr>
            <a:xfrm>
              <a:off x="3992114" y="2556112"/>
              <a:ext cx="1356694" cy="828572"/>
              <a:chOff x="4049504" y="734179"/>
              <a:chExt cx="1356694" cy="828572"/>
            </a:xfrm>
          </p:grpSpPr>
          <p:sp>
            <p:nvSpPr>
              <p:cNvPr id="1101" name="Left-Right Arrow 327">
                <a:extLst>
                  <a:ext uri="{FF2B5EF4-FFF2-40B4-BE49-F238E27FC236}">
                    <a16:creationId xmlns:a16="http://schemas.microsoft.com/office/drawing/2014/main" id="{C76CB8E7-8040-74DA-8002-0B2F05CE322A}"/>
                  </a:ext>
                </a:extLst>
              </p:cNvPr>
              <p:cNvSpPr/>
              <p:nvPr/>
            </p:nvSpPr>
            <p:spPr>
              <a:xfrm>
                <a:off x="4049504" y="979495"/>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102" name="Group 328">
                <a:extLst>
                  <a:ext uri="{FF2B5EF4-FFF2-40B4-BE49-F238E27FC236}">
                    <a16:creationId xmlns:a16="http://schemas.microsoft.com/office/drawing/2014/main" id="{8BAE4E49-22A0-0D34-A9F3-8F1146BAEDD2}"/>
                  </a:ext>
                </a:extLst>
              </p:cNvPr>
              <p:cNvGrpSpPr/>
              <p:nvPr/>
            </p:nvGrpSpPr>
            <p:grpSpPr>
              <a:xfrm>
                <a:off x="4229981" y="734179"/>
                <a:ext cx="1001717" cy="793113"/>
                <a:chOff x="4101675" y="1023754"/>
                <a:chExt cx="1329583" cy="1052702"/>
              </a:xfrm>
            </p:grpSpPr>
            <p:grpSp>
              <p:nvGrpSpPr>
                <p:cNvPr id="1103" name="Group 329">
                  <a:extLst>
                    <a:ext uri="{FF2B5EF4-FFF2-40B4-BE49-F238E27FC236}">
                      <a16:creationId xmlns:a16="http://schemas.microsoft.com/office/drawing/2014/main" id="{FE202F6D-899A-A770-0BFD-E1000A67775B}"/>
                    </a:ext>
                  </a:extLst>
                </p:cNvPr>
                <p:cNvGrpSpPr/>
                <p:nvPr/>
              </p:nvGrpSpPr>
              <p:grpSpPr>
                <a:xfrm>
                  <a:off x="4396683" y="1330046"/>
                  <a:ext cx="723841" cy="746410"/>
                  <a:chOff x="4525701" y="844082"/>
                  <a:chExt cx="723841" cy="746410"/>
                </a:xfrm>
              </p:grpSpPr>
              <p:pic>
                <p:nvPicPr>
                  <p:cNvPr id="1105" name="Picture 331">
                    <a:extLst>
                      <a:ext uri="{FF2B5EF4-FFF2-40B4-BE49-F238E27FC236}">
                        <a16:creationId xmlns:a16="http://schemas.microsoft.com/office/drawing/2014/main" id="{550A3B14-53D2-EC2D-1643-321573C8A6B4}"/>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25701" y="915663"/>
                    <a:ext cx="397378" cy="552874"/>
                  </a:xfrm>
                  <a:prstGeom prst="rect">
                    <a:avLst/>
                  </a:prstGeom>
                </p:spPr>
              </p:pic>
              <p:pic>
                <p:nvPicPr>
                  <p:cNvPr id="1106" name="Picture 332">
                    <a:extLst>
                      <a:ext uri="{FF2B5EF4-FFF2-40B4-BE49-F238E27FC236}">
                        <a16:creationId xmlns:a16="http://schemas.microsoft.com/office/drawing/2014/main" id="{9AFFA61A-6610-696C-5A94-F13FA740D375}"/>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52164" y="844082"/>
                    <a:ext cx="397378" cy="397378"/>
                  </a:xfrm>
                  <a:prstGeom prst="rect">
                    <a:avLst/>
                  </a:prstGeom>
                </p:spPr>
              </p:pic>
              <p:pic>
                <p:nvPicPr>
                  <p:cNvPr id="1107" name="Picture 333" descr="Shape&#10;&#10;Description automatically generated">
                    <a:extLst>
                      <a:ext uri="{FF2B5EF4-FFF2-40B4-BE49-F238E27FC236}">
                        <a16:creationId xmlns:a16="http://schemas.microsoft.com/office/drawing/2014/main" id="{28769B9F-A904-44D3-DD80-F14FBAD91559}"/>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950175" y="1274987"/>
                    <a:ext cx="263350" cy="315505"/>
                  </a:xfrm>
                  <a:prstGeom prst="rect">
                    <a:avLst/>
                  </a:prstGeom>
                </p:spPr>
              </p:pic>
            </p:grpSp>
            <p:sp>
              <p:nvSpPr>
                <p:cNvPr id="1104" name="Rectangle 330">
                  <a:extLst>
                    <a:ext uri="{FF2B5EF4-FFF2-40B4-BE49-F238E27FC236}">
                      <a16:creationId xmlns:a16="http://schemas.microsoft.com/office/drawing/2014/main" id="{D9B666DF-DE74-2BC2-F76B-5009A72053DA}"/>
                    </a:ext>
                  </a:extLst>
                </p:cNvPr>
                <p:cNvSpPr/>
                <p:nvPr/>
              </p:nvSpPr>
              <p:spPr>
                <a:xfrm>
                  <a:off x="4101675" y="1023754"/>
                  <a:ext cx="1329583"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Environment</a:t>
                  </a:r>
                  <a:endParaRPr lang="en-US" sz="1600" dirty="0">
                    <a:solidFill>
                      <a:schemeClr val="bg2">
                        <a:lumMod val="25000"/>
                      </a:schemeClr>
                    </a:solidFill>
                  </a:endParaRPr>
                </a:p>
              </p:txBody>
            </p:sp>
          </p:grpSp>
        </p:grpSp>
        <p:grpSp>
          <p:nvGrpSpPr>
            <p:cNvPr id="1083" name="Group 334">
              <a:extLst>
                <a:ext uri="{FF2B5EF4-FFF2-40B4-BE49-F238E27FC236}">
                  <a16:creationId xmlns:a16="http://schemas.microsoft.com/office/drawing/2014/main" id="{2F27D600-282A-6AF2-3628-2E08C3F92A76}"/>
                </a:ext>
              </a:extLst>
            </p:cNvPr>
            <p:cNvGrpSpPr/>
            <p:nvPr/>
          </p:nvGrpSpPr>
          <p:grpSpPr>
            <a:xfrm>
              <a:off x="3852076" y="3344366"/>
              <a:ext cx="1719461" cy="842079"/>
              <a:chOff x="3909466" y="1487369"/>
              <a:chExt cx="1719461" cy="842079"/>
            </a:xfrm>
          </p:grpSpPr>
          <p:sp>
            <p:nvSpPr>
              <p:cNvPr id="1091" name="Left-Right Arrow 335">
                <a:extLst>
                  <a:ext uri="{FF2B5EF4-FFF2-40B4-BE49-F238E27FC236}">
                    <a16:creationId xmlns:a16="http://schemas.microsoft.com/office/drawing/2014/main" id="{3E74BA57-0C11-0109-7697-222BDC8A72C7}"/>
                  </a:ext>
                </a:extLst>
              </p:cNvPr>
              <p:cNvSpPr/>
              <p:nvPr/>
            </p:nvSpPr>
            <p:spPr>
              <a:xfrm>
                <a:off x="4059093" y="1746192"/>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92" name="Group 336">
                <a:extLst>
                  <a:ext uri="{FF2B5EF4-FFF2-40B4-BE49-F238E27FC236}">
                    <a16:creationId xmlns:a16="http://schemas.microsoft.com/office/drawing/2014/main" id="{09B48FA0-86EC-44E4-EABD-56548D502B3B}"/>
                  </a:ext>
                </a:extLst>
              </p:cNvPr>
              <p:cNvGrpSpPr/>
              <p:nvPr/>
            </p:nvGrpSpPr>
            <p:grpSpPr>
              <a:xfrm>
                <a:off x="3909466" y="1487369"/>
                <a:ext cx="1719461" cy="826890"/>
                <a:chOff x="3667513" y="1943110"/>
                <a:chExt cx="2282251" cy="1097532"/>
              </a:xfrm>
            </p:grpSpPr>
            <p:pic>
              <p:nvPicPr>
                <p:cNvPr id="1093" name="Picture 337">
                  <a:extLst>
                    <a:ext uri="{FF2B5EF4-FFF2-40B4-BE49-F238E27FC236}">
                      <a16:creationId xmlns:a16="http://schemas.microsoft.com/office/drawing/2014/main" id="{7D458AB7-9E1A-9BC0-8DC1-E35FE8D99705}"/>
                    </a:ext>
                  </a:extLst>
                </p:cNvPr>
                <p:cNvPicPr>
                  <a:picLocks noChangeAspect="1"/>
                </p:cNvPicPr>
                <p:nvPr/>
              </p:nvPicPr>
              <p:blipFill>
                <a:blip r:embed="rId9">
                  <a:duotone>
                    <a:schemeClr val="accent3">
                      <a:shade val="45000"/>
                      <a:satMod val="135000"/>
                    </a:schemeClr>
                    <a:prstClr val="white"/>
                  </a:duotone>
                  <a:extLst>
                    <a:ext uri="{BEBA8EAE-BF5A-486C-A8C5-ECC9F3942E4B}">
                      <a14:imgProps xmlns:a14="http://schemas.microsoft.com/office/drawing/2010/main">
                        <a14:imgLayer r:embed="rId10">
                          <a14:imgEffect>
                            <a14:backgroundRemoval t="10000" b="90000" l="10000" r="90000">
                              <a14:foregroundMark x1="51583" y1="33197" x2="51583" y2="33197"/>
                              <a14:foregroundMark x1="53250" y1="33197" x2="53250" y2="3319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4497028" y="2210027"/>
                  <a:ext cx="510625" cy="830615"/>
                </a:xfrm>
                <a:prstGeom prst="rect">
                  <a:avLst/>
                </a:prstGeom>
              </p:spPr>
            </p:pic>
            <p:sp>
              <p:nvSpPr>
                <p:cNvPr id="1094" name="Rectangle 338">
                  <a:extLst>
                    <a:ext uri="{FF2B5EF4-FFF2-40B4-BE49-F238E27FC236}">
                      <a16:creationId xmlns:a16="http://schemas.microsoft.com/office/drawing/2014/main" id="{1853D990-1FC5-8CBF-CD1F-397C236A7DA1}"/>
                    </a:ext>
                  </a:extLst>
                </p:cNvPr>
                <p:cNvSpPr/>
                <p:nvPr/>
              </p:nvSpPr>
              <p:spPr>
                <a:xfrm>
                  <a:off x="3667513" y="1943110"/>
                  <a:ext cx="2282251" cy="337022"/>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Cell-type heterogeneity</a:t>
                  </a:r>
                  <a:endParaRPr lang="en-US" sz="1600" dirty="0">
                    <a:solidFill>
                      <a:schemeClr val="bg2">
                        <a:lumMod val="25000"/>
                      </a:schemeClr>
                    </a:solidFill>
                  </a:endParaRPr>
                </a:p>
              </p:txBody>
            </p:sp>
            <p:grpSp>
              <p:nvGrpSpPr>
                <p:cNvPr id="1095" name="Group 339">
                  <a:extLst>
                    <a:ext uri="{FF2B5EF4-FFF2-40B4-BE49-F238E27FC236}">
                      <a16:creationId xmlns:a16="http://schemas.microsoft.com/office/drawing/2014/main" id="{0CFAAFA6-87CD-F83D-9A6F-B29E76151DBB}"/>
                    </a:ext>
                  </a:extLst>
                </p:cNvPr>
                <p:cNvGrpSpPr/>
                <p:nvPr/>
              </p:nvGrpSpPr>
              <p:grpSpPr>
                <a:xfrm rot="2700000">
                  <a:off x="4461921" y="2592425"/>
                  <a:ext cx="328183" cy="331792"/>
                  <a:chOff x="3551743" y="3048534"/>
                  <a:chExt cx="1434724" cy="1450512"/>
                </a:xfrm>
              </p:grpSpPr>
              <p:pic>
                <p:nvPicPr>
                  <p:cNvPr id="1099" name="Picture 343" descr="A picture containing plant&#10;&#10;Description automatically generated">
                    <a:extLst>
                      <a:ext uri="{FF2B5EF4-FFF2-40B4-BE49-F238E27FC236}">
                        <a16:creationId xmlns:a16="http://schemas.microsoft.com/office/drawing/2014/main" id="{9355FE0A-4BE1-453A-BD92-5F76F3E2B32D}"/>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3">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34223" r="13573" b="42349"/>
                  <a:stretch/>
                </p:blipFill>
                <p:spPr>
                  <a:xfrm>
                    <a:off x="3551743" y="3048534"/>
                    <a:ext cx="1434724" cy="1425984"/>
                  </a:xfrm>
                  <a:prstGeom prst="rect">
                    <a:avLst/>
                  </a:prstGeom>
                </p:spPr>
              </p:pic>
              <p:sp>
                <p:nvSpPr>
                  <p:cNvPr id="1100" name="Rectangle 344">
                    <a:extLst>
                      <a:ext uri="{FF2B5EF4-FFF2-40B4-BE49-F238E27FC236}">
                        <a16:creationId xmlns:a16="http://schemas.microsoft.com/office/drawing/2014/main" id="{F740DFF2-C883-CB7C-FD8D-1C1A50BC9837}"/>
                      </a:ext>
                    </a:extLst>
                  </p:cNvPr>
                  <p:cNvSpPr/>
                  <p:nvPr/>
                </p:nvSpPr>
                <p:spPr>
                  <a:xfrm>
                    <a:off x="3577518" y="4220315"/>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nvGrpSpPr>
                <p:cNvPr id="1096" name="Group 340">
                  <a:extLst>
                    <a:ext uri="{FF2B5EF4-FFF2-40B4-BE49-F238E27FC236}">
                      <a16:creationId xmlns:a16="http://schemas.microsoft.com/office/drawing/2014/main" id="{2DF6C313-3042-3720-6543-C9BB25A3B535}"/>
                    </a:ext>
                  </a:extLst>
                </p:cNvPr>
                <p:cNvGrpSpPr/>
                <p:nvPr/>
              </p:nvGrpSpPr>
              <p:grpSpPr>
                <a:xfrm>
                  <a:off x="4871610" y="2541954"/>
                  <a:ext cx="338009" cy="333801"/>
                  <a:chOff x="4941287" y="3751975"/>
                  <a:chExt cx="1314129" cy="1297773"/>
                </a:xfrm>
              </p:grpSpPr>
              <p:pic>
                <p:nvPicPr>
                  <p:cNvPr id="1097" name="Picture 341" descr="A picture containing plant&#10;&#10;Description automatically generated">
                    <a:extLst>
                      <a:ext uri="{FF2B5EF4-FFF2-40B4-BE49-F238E27FC236}">
                        <a16:creationId xmlns:a16="http://schemas.microsoft.com/office/drawing/2014/main" id="{179470FA-34E5-F8DE-837A-5E20C25EABA1}"/>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5">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7644" t="42408" r="44899" b="3047"/>
                  <a:stretch/>
                </p:blipFill>
                <p:spPr>
                  <a:xfrm>
                    <a:off x="4941287" y="3751975"/>
                    <a:ext cx="1254593" cy="1297773"/>
                  </a:xfrm>
                  <a:prstGeom prst="rect">
                    <a:avLst/>
                  </a:prstGeom>
                </p:spPr>
              </p:pic>
              <p:sp>
                <p:nvSpPr>
                  <p:cNvPr id="1098" name="Rectangle 342">
                    <a:extLst>
                      <a:ext uri="{FF2B5EF4-FFF2-40B4-BE49-F238E27FC236}">
                        <a16:creationId xmlns:a16="http://schemas.microsoft.com/office/drawing/2014/main" id="{D211D33C-0406-C339-EE8D-5A2D3EB27A82}"/>
                      </a:ext>
                    </a:extLst>
                  </p:cNvPr>
                  <p:cNvSpPr/>
                  <p:nvPr/>
                </p:nvSpPr>
                <p:spPr>
                  <a:xfrm rot="2700000">
                    <a:off x="6011254" y="3736000"/>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grpSp>
        <p:grpSp>
          <p:nvGrpSpPr>
            <p:cNvPr id="1084" name="Group 345">
              <a:extLst>
                <a:ext uri="{FF2B5EF4-FFF2-40B4-BE49-F238E27FC236}">
                  <a16:creationId xmlns:a16="http://schemas.microsoft.com/office/drawing/2014/main" id="{237520A4-EE8C-8A0C-9810-1614708E50DB}"/>
                </a:ext>
              </a:extLst>
            </p:cNvPr>
            <p:cNvGrpSpPr/>
            <p:nvPr/>
          </p:nvGrpSpPr>
          <p:grpSpPr>
            <a:xfrm>
              <a:off x="3992114" y="4074563"/>
              <a:ext cx="1356694" cy="823825"/>
              <a:chOff x="4049504" y="2232901"/>
              <a:chExt cx="1356694" cy="823825"/>
            </a:xfrm>
          </p:grpSpPr>
          <p:sp>
            <p:nvSpPr>
              <p:cNvPr id="1085" name="Left-Right Arrow 346">
                <a:extLst>
                  <a:ext uri="{FF2B5EF4-FFF2-40B4-BE49-F238E27FC236}">
                    <a16:creationId xmlns:a16="http://schemas.microsoft.com/office/drawing/2014/main" id="{1324091F-8C17-9D35-6ED2-0A0A4CDE4101}"/>
                  </a:ext>
                </a:extLst>
              </p:cNvPr>
              <p:cNvSpPr/>
              <p:nvPr/>
            </p:nvSpPr>
            <p:spPr>
              <a:xfrm>
                <a:off x="4049504" y="2473470"/>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86" name="Group 347">
                <a:extLst>
                  <a:ext uri="{FF2B5EF4-FFF2-40B4-BE49-F238E27FC236}">
                    <a16:creationId xmlns:a16="http://schemas.microsoft.com/office/drawing/2014/main" id="{21C535A2-CAEB-E765-8384-DD79189FFF46}"/>
                  </a:ext>
                </a:extLst>
              </p:cNvPr>
              <p:cNvGrpSpPr/>
              <p:nvPr/>
            </p:nvGrpSpPr>
            <p:grpSpPr>
              <a:xfrm>
                <a:off x="4454018" y="2232901"/>
                <a:ext cx="542699" cy="789975"/>
                <a:chOff x="4459613" y="3109973"/>
                <a:chExt cx="720328" cy="1048538"/>
              </a:xfrm>
            </p:grpSpPr>
            <p:grpSp>
              <p:nvGrpSpPr>
                <p:cNvPr id="1087" name="Group 348">
                  <a:extLst>
                    <a:ext uri="{FF2B5EF4-FFF2-40B4-BE49-F238E27FC236}">
                      <a16:creationId xmlns:a16="http://schemas.microsoft.com/office/drawing/2014/main" id="{DCEA9B84-1566-B420-75A2-9AB0BB5F0960}"/>
                    </a:ext>
                  </a:extLst>
                </p:cNvPr>
                <p:cNvGrpSpPr/>
                <p:nvPr/>
              </p:nvGrpSpPr>
              <p:grpSpPr>
                <a:xfrm>
                  <a:off x="4459613" y="3463413"/>
                  <a:ext cx="717978" cy="695098"/>
                  <a:chOff x="4459613" y="3463413"/>
                  <a:chExt cx="717978" cy="695098"/>
                </a:xfrm>
              </p:grpSpPr>
              <p:pic>
                <p:nvPicPr>
                  <p:cNvPr id="1089" name="Picture 350" descr="Icon&#10;&#10;Description automatically generated">
                    <a:extLst>
                      <a:ext uri="{FF2B5EF4-FFF2-40B4-BE49-F238E27FC236}">
                        <a16:creationId xmlns:a16="http://schemas.microsoft.com/office/drawing/2014/main" id="{85760BBC-72F2-30F9-C20E-1D3DF26004BB}"/>
                      </a:ext>
                    </a:extLst>
                  </p:cNvPr>
                  <p:cNvPicPr>
                    <a:picLocks noChangeAspect="1"/>
                  </p:cNvPicPr>
                  <p:nvPr/>
                </p:nvPicPr>
                <p:blipFill>
                  <a:blip r:embed="rId16">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459613" y="3463413"/>
                    <a:ext cx="411997" cy="504486"/>
                  </a:xfrm>
                  <a:prstGeom prst="rect">
                    <a:avLst/>
                  </a:prstGeom>
                </p:spPr>
              </p:pic>
              <p:pic>
                <p:nvPicPr>
                  <p:cNvPr id="1090" name="Picture 351" descr="A picture containing tableware, dishware, bowl&#10;&#10;Description automatically generated">
                    <a:extLst>
                      <a:ext uri="{FF2B5EF4-FFF2-40B4-BE49-F238E27FC236}">
                        <a16:creationId xmlns:a16="http://schemas.microsoft.com/office/drawing/2014/main" id="{51B76B53-50BA-7AA5-9F13-28A24B9F1CD2}"/>
                      </a:ext>
                    </a:extLst>
                  </p:cNvPr>
                  <p:cNvPicPr>
                    <a:picLocks noChangeAspect="1"/>
                  </p:cNvPicPr>
                  <p:nvPr/>
                </p:nvPicPr>
                <p:blipFill>
                  <a:blip r:embed="rId18">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4693562" y="3674482"/>
                    <a:ext cx="484029" cy="484029"/>
                  </a:xfrm>
                  <a:prstGeom prst="rect">
                    <a:avLst/>
                  </a:prstGeom>
                </p:spPr>
              </p:pic>
            </p:grpSp>
            <p:sp>
              <p:nvSpPr>
                <p:cNvPr id="1088" name="Rectangle 349">
                  <a:extLst>
                    <a:ext uri="{FF2B5EF4-FFF2-40B4-BE49-F238E27FC236}">
                      <a16:creationId xmlns:a16="http://schemas.microsoft.com/office/drawing/2014/main" id="{5EC12882-FB9A-F44A-C6F1-4CB2D395B2BF}"/>
                    </a:ext>
                  </a:extLst>
                </p:cNvPr>
                <p:cNvSpPr/>
                <p:nvPr/>
              </p:nvSpPr>
              <p:spPr>
                <a:xfrm>
                  <a:off x="4474297" y="3109973"/>
                  <a:ext cx="705644"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Batch</a:t>
                  </a:r>
                  <a:endParaRPr lang="en-US" sz="1600" dirty="0">
                    <a:solidFill>
                      <a:schemeClr val="bg2">
                        <a:lumMod val="25000"/>
                      </a:schemeClr>
                    </a:solidFill>
                  </a:endParaRPr>
                </a:p>
              </p:txBody>
            </p:sp>
          </p:grpSp>
        </p:grpSp>
      </p:grpSp>
      <p:grpSp>
        <p:nvGrpSpPr>
          <p:cNvPr id="1108" name="Group 5">
            <a:extLst>
              <a:ext uri="{FF2B5EF4-FFF2-40B4-BE49-F238E27FC236}">
                <a16:creationId xmlns:a16="http://schemas.microsoft.com/office/drawing/2014/main" id="{5C7053C7-7E0E-6FC9-1DD4-F49A696BA9B8}"/>
              </a:ext>
            </a:extLst>
          </p:cNvPr>
          <p:cNvGrpSpPr/>
          <p:nvPr/>
        </p:nvGrpSpPr>
        <p:grpSpPr>
          <a:xfrm>
            <a:off x="550070" y="3553316"/>
            <a:ext cx="1808925" cy="1413155"/>
            <a:chOff x="3962465" y="703975"/>
            <a:chExt cx="1356694" cy="1059866"/>
          </a:xfrm>
        </p:grpSpPr>
        <p:grpSp>
          <p:nvGrpSpPr>
            <p:cNvPr id="1109" name="Group 295">
              <a:extLst>
                <a:ext uri="{FF2B5EF4-FFF2-40B4-BE49-F238E27FC236}">
                  <a16:creationId xmlns:a16="http://schemas.microsoft.com/office/drawing/2014/main" id="{CB849881-E99B-2623-74EC-44182F7D8C24}"/>
                </a:ext>
              </a:extLst>
            </p:cNvPr>
            <p:cNvGrpSpPr/>
            <p:nvPr/>
          </p:nvGrpSpPr>
          <p:grpSpPr>
            <a:xfrm>
              <a:off x="3962465" y="1180585"/>
              <a:ext cx="1356694" cy="583256"/>
              <a:chOff x="3962465" y="1291899"/>
              <a:chExt cx="1356694" cy="583256"/>
            </a:xfrm>
          </p:grpSpPr>
          <p:sp>
            <p:nvSpPr>
              <p:cNvPr id="1111" name="Left-Right Arrow 296">
                <a:extLst>
                  <a:ext uri="{FF2B5EF4-FFF2-40B4-BE49-F238E27FC236}">
                    <a16:creationId xmlns:a16="http://schemas.microsoft.com/office/drawing/2014/main" id="{02B88A17-A216-E358-7FEA-2A2699637320}"/>
                  </a:ext>
                </a:extLst>
              </p:cNvPr>
              <p:cNvSpPr/>
              <p:nvPr/>
            </p:nvSpPr>
            <p:spPr>
              <a:xfrm>
                <a:off x="3962465" y="1291899"/>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pic>
            <p:nvPicPr>
              <p:cNvPr id="1112" name="Picture 4" descr="Silhouette Dna Biology - Free vector graphic on Pixabay">
                <a:extLst>
                  <a:ext uri="{FF2B5EF4-FFF2-40B4-BE49-F238E27FC236}">
                    <a16:creationId xmlns:a16="http://schemas.microsoft.com/office/drawing/2014/main" id="{3C95BE66-FD5C-6205-F492-8A3FBC6195F0}"/>
                  </a:ext>
                </a:extLst>
              </p:cNvPr>
              <p:cNvPicPr>
                <a:picLocks noChangeAspect="1" noChangeArrowheads="1"/>
              </p:cNvPicPr>
              <p:nvPr/>
            </p:nvPicPr>
            <p:blipFill>
              <a:blip r:embed="rId2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4377620">
                <a:off x="4439253" y="1151677"/>
                <a:ext cx="403117" cy="806233"/>
              </a:xfrm>
              <a:prstGeom prst="rect">
                <a:avLst/>
              </a:prstGeom>
              <a:noFill/>
              <a:extLst>
                <a:ext uri="{909E8E84-426E-40DD-AFC4-6F175D3DCCD1}">
                  <a14:hiddenFill xmlns:a14="http://schemas.microsoft.com/office/drawing/2010/main">
                    <a:solidFill>
                      <a:srgbClr val="FFFFFF"/>
                    </a:solidFill>
                  </a14:hiddenFill>
                </a:ext>
              </a:extLst>
            </p:spPr>
          </p:pic>
        </p:grpSp>
        <p:sp>
          <p:nvSpPr>
            <p:cNvPr id="1110" name="Rectangle 1">
              <a:extLst>
                <a:ext uri="{FF2B5EF4-FFF2-40B4-BE49-F238E27FC236}">
                  <a16:creationId xmlns:a16="http://schemas.microsoft.com/office/drawing/2014/main" id="{71715262-D012-E6BF-1DFC-C736581B5B3D}"/>
                </a:ext>
              </a:extLst>
            </p:cNvPr>
            <p:cNvSpPr/>
            <p:nvPr/>
          </p:nvSpPr>
          <p:spPr>
            <a:xfrm>
              <a:off x="4081867" y="703975"/>
              <a:ext cx="1114777" cy="377074"/>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Evolution</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pic>
        <p:nvPicPr>
          <p:cNvPr id="1158" name="תמונה 1157">
            <a:extLst>
              <a:ext uri="{FF2B5EF4-FFF2-40B4-BE49-F238E27FC236}">
                <a16:creationId xmlns:a16="http://schemas.microsoft.com/office/drawing/2014/main" id="{DB9A9E6E-CAED-698E-C5C4-03BB4CA5ACB2}"/>
              </a:ext>
            </a:extLst>
          </p:cNvPr>
          <p:cNvPicPr>
            <a:picLocks noChangeAspect="1"/>
          </p:cNvPicPr>
          <p:nvPr/>
        </p:nvPicPr>
        <p:blipFill>
          <a:blip r:embed="rId21"/>
          <a:stretch>
            <a:fillRect/>
          </a:stretch>
        </p:blipFill>
        <p:spPr>
          <a:xfrm>
            <a:off x="302290" y="867487"/>
            <a:ext cx="2304487" cy="2487383"/>
          </a:xfrm>
          <a:prstGeom prst="rect">
            <a:avLst/>
          </a:prstGeom>
        </p:spPr>
      </p:pic>
      <p:pic>
        <p:nvPicPr>
          <p:cNvPr id="1199" name="תמונה 1198">
            <a:extLst>
              <a:ext uri="{FF2B5EF4-FFF2-40B4-BE49-F238E27FC236}">
                <a16:creationId xmlns:a16="http://schemas.microsoft.com/office/drawing/2014/main" id="{F4951991-A36E-CD7B-726E-36ABB4422509}"/>
              </a:ext>
            </a:extLst>
          </p:cNvPr>
          <p:cNvPicPr>
            <a:picLocks noChangeAspect="1"/>
          </p:cNvPicPr>
          <p:nvPr/>
        </p:nvPicPr>
        <p:blipFill>
          <a:blip r:embed="rId22"/>
          <a:stretch>
            <a:fillRect/>
          </a:stretch>
        </p:blipFill>
        <p:spPr>
          <a:xfrm>
            <a:off x="2914649" y="1066343"/>
            <a:ext cx="2152626" cy="2261215"/>
          </a:xfrm>
          <a:prstGeom prst="rect">
            <a:avLst/>
          </a:prstGeom>
        </p:spPr>
      </p:pic>
      <p:grpSp>
        <p:nvGrpSpPr>
          <p:cNvPr id="1202" name="Group 174">
            <a:extLst>
              <a:ext uri="{FF2B5EF4-FFF2-40B4-BE49-F238E27FC236}">
                <a16:creationId xmlns:a16="http://schemas.microsoft.com/office/drawing/2014/main" id="{38EEC96A-AFFE-CEF6-B7D5-8EB76AC52C20}"/>
              </a:ext>
            </a:extLst>
          </p:cNvPr>
          <p:cNvGrpSpPr/>
          <p:nvPr/>
        </p:nvGrpSpPr>
        <p:grpSpPr>
          <a:xfrm>
            <a:off x="9596483" y="1066344"/>
            <a:ext cx="2152626" cy="1303844"/>
            <a:chOff x="3821596" y="1127900"/>
            <a:chExt cx="2256342" cy="1495867"/>
          </a:xfrm>
        </p:grpSpPr>
        <p:sp>
          <p:nvSpPr>
            <p:cNvPr id="1203" name="Oval 130">
              <a:extLst>
                <a:ext uri="{FF2B5EF4-FFF2-40B4-BE49-F238E27FC236}">
                  <a16:creationId xmlns:a16="http://schemas.microsoft.com/office/drawing/2014/main" id="{5A719AD9-3E74-1786-357A-1F89DF76DBD4}"/>
                </a:ext>
              </a:extLst>
            </p:cNvPr>
            <p:cNvSpPr/>
            <p:nvPr/>
          </p:nvSpPr>
          <p:spPr>
            <a:xfrm rot="5400000">
              <a:off x="3821595" y="1398377"/>
              <a:ext cx="1225391" cy="1225389"/>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04" name="Oval 122">
              <a:extLst>
                <a:ext uri="{FF2B5EF4-FFF2-40B4-BE49-F238E27FC236}">
                  <a16:creationId xmlns:a16="http://schemas.microsoft.com/office/drawing/2014/main" id="{71997877-9BCA-2046-97D9-FDCD356DD5A5}"/>
                </a:ext>
              </a:extLst>
            </p:cNvPr>
            <p:cNvSpPr/>
            <p:nvPr/>
          </p:nvSpPr>
          <p:spPr>
            <a:xfrm rot="5400000">
              <a:off x="4852548" y="1393496"/>
              <a:ext cx="1225391" cy="1225389"/>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grpSp>
          <p:nvGrpSpPr>
            <p:cNvPr id="1205" name="Group 154">
              <a:extLst>
                <a:ext uri="{FF2B5EF4-FFF2-40B4-BE49-F238E27FC236}">
                  <a16:creationId xmlns:a16="http://schemas.microsoft.com/office/drawing/2014/main" id="{0948DA1F-4BC5-623D-0487-F5B4F03F664F}"/>
                </a:ext>
              </a:extLst>
            </p:cNvPr>
            <p:cNvGrpSpPr/>
            <p:nvPr/>
          </p:nvGrpSpPr>
          <p:grpSpPr>
            <a:xfrm rot="5400000">
              <a:off x="4591835" y="1861922"/>
              <a:ext cx="682763" cy="292065"/>
              <a:chOff x="4762197" y="3211507"/>
              <a:chExt cx="764733" cy="327129"/>
            </a:xfrm>
          </p:grpSpPr>
          <p:sp>
            <p:nvSpPr>
              <p:cNvPr id="1270" name="Freeform 142">
                <a:extLst>
                  <a:ext uri="{FF2B5EF4-FFF2-40B4-BE49-F238E27FC236}">
                    <a16:creationId xmlns:a16="http://schemas.microsoft.com/office/drawing/2014/main" id="{D27C61A3-6CFC-4FFB-22A9-2E2179C15DAC}"/>
                  </a:ext>
                </a:extLst>
              </p:cNvPr>
              <p:cNvSpPr/>
              <p:nvPr/>
            </p:nvSpPr>
            <p:spPr>
              <a:xfrm>
                <a:off x="4764930" y="3211507"/>
                <a:ext cx="762000" cy="187811"/>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D5C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1" name="Freeform 144">
                <a:extLst>
                  <a:ext uri="{FF2B5EF4-FFF2-40B4-BE49-F238E27FC236}">
                    <a16:creationId xmlns:a16="http://schemas.microsoft.com/office/drawing/2014/main" id="{EF0EC376-D8E1-02D8-C0D4-C6FE616A35E2}"/>
                  </a:ext>
                </a:extLst>
              </p:cNvPr>
              <p:cNvSpPr/>
              <p:nvPr/>
            </p:nvSpPr>
            <p:spPr>
              <a:xfrm>
                <a:off x="4765814" y="3324381"/>
                <a:ext cx="752833" cy="214255"/>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68C1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2" name="Freeform 143">
                <a:extLst>
                  <a:ext uri="{FF2B5EF4-FFF2-40B4-BE49-F238E27FC236}">
                    <a16:creationId xmlns:a16="http://schemas.microsoft.com/office/drawing/2014/main" id="{745F6BE3-CFB2-9635-9E2A-12A182440565}"/>
                  </a:ext>
                </a:extLst>
              </p:cNvPr>
              <p:cNvSpPr/>
              <p:nvPr/>
            </p:nvSpPr>
            <p:spPr>
              <a:xfrm>
                <a:off x="4768189" y="3324381"/>
                <a:ext cx="752833" cy="129423"/>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5AA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grpSp>
            <p:nvGrpSpPr>
              <p:cNvPr id="1273" name="Group 153">
                <a:extLst>
                  <a:ext uri="{FF2B5EF4-FFF2-40B4-BE49-F238E27FC236}">
                    <a16:creationId xmlns:a16="http://schemas.microsoft.com/office/drawing/2014/main" id="{57DA9767-8D19-4908-C3BC-EDD20291D9B4}"/>
                  </a:ext>
                </a:extLst>
              </p:cNvPr>
              <p:cNvGrpSpPr/>
              <p:nvPr/>
            </p:nvGrpSpPr>
            <p:grpSpPr>
              <a:xfrm>
                <a:off x="4762197" y="3275494"/>
                <a:ext cx="762000" cy="104775"/>
                <a:chOff x="4762197" y="3275494"/>
                <a:chExt cx="762000" cy="104775"/>
              </a:xfrm>
            </p:grpSpPr>
            <p:sp>
              <p:nvSpPr>
                <p:cNvPr id="1275" name="Freeform 141">
                  <a:extLst>
                    <a:ext uri="{FF2B5EF4-FFF2-40B4-BE49-F238E27FC236}">
                      <a16:creationId xmlns:a16="http://schemas.microsoft.com/office/drawing/2014/main" id="{CE84B2FF-95F9-95C6-CC8E-58FEC8E1AD6F}"/>
                    </a:ext>
                  </a:extLst>
                </p:cNvPr>
                <p:cNvSpPr/>
                <p:nvPr/>
              </p:nvSpPr>
              <p:spPr>
                <a:xfrm>
                  <a:off x="4762197" y="3275494"/>
                  <a:ext cx="762000" cy="104775"/>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sp>
              <p:nvSpPr>
                <p:cNvPr id="1276" name="Freeform 152">
                  <a:extLst>
                    <a:ext uri="{FF2B5EF4-FFF2-40B4-BE49-F238E27FC236}">
                      <a16:creationId xmlns:a16="http://schemas.microsoft.com/office/drawing/2014/main" id="{00DE9452-1986-71D6-A8E7-73BAD68536B1}"/>
                    </a:ext>
                  </a:extLst>
                </p:cNvPr>
                <p:cNvSpPr/>
                <p:nvPr/>
              </p:nvSpPr>
              <p:spPr>
                <a:xfrm>
                  <a:off x="4768546" y="3305175"/>
                  <a:ext cx="162229" cy="63500"/>
                </a:xfrm>
                <a:custGeom>
                  <a:avLst/>
                  <a:gdLst>
                    <a:gd name="connsiteX0" fmla="*/ 117779 w 162229"/>
                    <a:gd name="connsiteY0" fmla="*/ 12700 h 63500"/>
                    <a:gd name="connsiteX1" fmla="*/ 117779 w 162229"/>
                    <a:gd name="connsiteY1" fmla="*/ 12700 h 63500"/>
                    <a:gd name="connsiteX2" fmla="*/ 79679 w 162229"/>
                    <a:gd name="connsiteY2" fmla="*/ 12700 h 63500"/>
                    <a:gd name="connsiteX3" fmla="*/ 54279 w 162229"/>
                    <a:gd name="connsiteY3" fmla="*/ 19050 h 63500"/>
                    <a:gd name="connsiteX4" fmla="*/ 35229 w 162229"/>
                    <a:gd name="connsiteY4" fmla="*/ 31750 h 63500"/>
                    <a:gd name="connsiteX5" fmla="*/ 25704 w 162229"/>
                    <a:gd name="connsiteY5" fmla="*/ 38100 h 63500"/>
                    <a:gd name="connsiteX6" fmla="*/ 6654 w 162229"/>
                    <a:gd name="connsiteY6" fmla="*/ 44450 h 63500"/>
                    <a:gd name="connsiteX7" fmla="*/ 304 w 162229"/>
                    <a:gd name="connsiteY7" fmla="*/ 53975 h 63500"/>
                    <a:gd name="connsiteX8" fmla="*/ 13004 w 162229"/>
                    <a:gd name="connsiteY8" fmla="*/ 57150 h 63500"/>
                    <a:gd name="connsiteX9" fmla="*/ 41579 w 162229"/>
                    <a:gd name="connsiteY9" fmla="*/ 50800 h 63500"/>
                    <a:gd name="connsiteX10" fmla="*/ 79679 w 162229"/>
                    <a:gd name="connsiteY10" fmla="*/ 53975 h 63500"/>
                    <a:gd name="connsiteX11" fmla="*/ 89204 w 162229"/>
                    <a:gd name="connsiteY11" fmla="*/ 57150 h 63500"/>
                    <a:gd name="connsiteX12" fmla="*/ 124129 w 162229"/>
                    <a:gd name="connsiteY12" fmla="*/ 63500 h 63500"/>
                    <a:gd name="connsiteX13" fmla="*/ 155879 w 162229"/>
                    <a:gd name="connsiteY13" fmla="*/ 57150 h 63500"/>
                    <a:gd name="connsiteX14" fmla="*/ 162229 w 162229"/>
                    <a:gd name="connsiteY14" fmla="*/ 47625 h 63500"/>
                    <a:gd name="connsiteX15" fmla="*/ 159054 w 162229"/>
                    <a:gd name="connsiteY15" fmla="*/ 19050 h 63500"/>
                    <a:gd name="connsiteX16" fmla="*/ 155879 w 162229"/>
                    <a:gd name="connsiteY16" fmla="*/ 6350 h 63500"/>
                    <a:gd name="connsiteX17" fmla="*/ 146354 w 162229"/>
                    <a:gd name="connsiteY17" fmla="*/ 0 h 63500"/>
                    <a:gd name="connsiteX18" fmla="*/ 133654 w 162229"/>
                    <a:gd name="connsiteY18" fmla="*/ 3175 h 63500"/>
                    <a:gd name="connsiteX19" fmla="*/ 117779 w 162229"/>
                    <a:gd name="connsiteY19" fmla="*/ 1270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2229" h="63500">
                      <a:moveTo>
                        <a:pt x="117779" y="12700"/>
                      </a:moveTo>
                      <a:lnTo>
                        <a:pt x="117779" y="12700"/>
                      </a:lnTo>
                      <a:cubicBezTo>
                        <a:pt x="77460" y="8220"/>
                        <a:pt x="101235" y="6821"/>
                        <a:pt x="79679" y="12700"/>
                      </a:cubicBezTo>
                      <a:cubicBezTo>
                        <a:pt x="71259" y="14996"/>
                        <a:pt x="54279" y="19050"/>
                        <a:pt x="54279" y="19050"/>
                      </a:cubicBezTo>
                      <a:lnTo>
                        <a:pt x="35229" y="31750"/>
                      </a:lnTo>
                      <a:cubicBezTo>
                        <a:pt x="32054" y="33867"/>
                        <a:pt x="29324" y="36893"/>
                        <a:pt x="25704" y="38100"/>
                      </a:cubicBezTo>
                      <a:lnTo>
                        <a:pt x="6654" y="44450"/>
                      </a:lnTo>
                      <a:cubicBezTo>
                        <a:pt x="4537" y="47625"/>
                        <a:pt x="-1403" y="50562"/>
                        <a:pt x="304" y="53975"/>
                      </a:cubicBezTo>
                      <a:cubicBezTo>
                        <a:pt x="2255" y="57878"/>
                        <a:pt x="8640" y="57150"/>
                        <a:pt x="13004" y="57150"/>
                      </a:cubicBezTo>
                      <a:cubicBezTo>
                        <a:pt x="17035" y="57150"/>
                        <a:pt x="36681" y="52025"/>
                        <a:pt x="41579" y="50800"/>
                      </a:cubicBezTo>
                      <a:cubicBezTo>
                        <a:pt x="54279" y="51858"/>
                        <a:pt x="67047" y="52291"/>
                        <a:pt x="79679" y="53975"/>
                      </a:cubicBezTo>
                      <a:cubicBezTo>
                        <a:pt x="82996" y="54417"/>
                        <a:pt x="85957" y="56338"/>
                        <a:pt x="89204" y="57150"/>
                      </a:cubicBezTo>
                      <a:cubicBezTo>
                        <a:pt x="98079" y="59369"/>
                        <a:pt x="115637" y="62085"/>
                        <a:pt x="124129" y="63500"/>
                      </a:cubicBezTo>
                      <a:cubicBezTo>
                        <a:pt x="124192" y="63490"/>
                        <a:pt x="152721" y="59255"/>
                        <a:pt x="155879" y="57150"/>
                      </a:cubicBezTo>
                      <a:cubicBezTo>
                        <a:pt x="159054" y="55033"/>
                        <a:pt x="160112" y="50800"/>
                        <a:pt x="162229" y="47625"/>
                      </a:cubicBezTo>
                      <a:cubicBezTo>
                        <a:pt x="161171" y="38100"/>
                        <a:pt x="160511" y="28522"/>
                        <a:pt x="159054" y="19050"/>
                      </a:cubicBezTo>
                      <a:cubicBezTo>
                        <a:pt x="158390" y="14737"/>
                        <a:pt x="158300" y="9981"/>
                        <a:pt x="155879" y="6350"/>
                      </a:cubicBezTo>
                      <a:cubicBezTo>
                        <a:pt x="153762" y="3175"/>
                        <a:pt x="149529" y="2117"/>
                        <a:pt x="146354" y="0"/>
                      </a:cubicBezTo>
                      <a:cubicBezTo>
                        <a:pt x="142121" y="1058"/>
                        <a:pt x="137665" y="1456"/>
                        <a:pt x="133654" y="3175"/>
                      </a:cubicBezTo>
                      <a:cubicBezTo>
                        <a:pt x="116098" y="10699"/>
                        <a:pt x="120425" y="11112"/>
                        <a:pt x="117779" y="1270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sp>
            <p:nvSpPr>
              <p:cNvPr id="1274" name="Freeform 138">
                <a:extLst>
                  <a:ext uri="{FF2B5EF4-FFF2-40B4-BE49-F238E27FC236}">
                    <a16:creationId xmlns:a16="http://schemas.microsoft.com/office/drawing/2014/main" id="{26EDDD76-A60F-2B9A-FE40-D65160D5153B}"/>
                  </a:ext>
                </a:extLst>
              </p:cNvPr>
              <p:cNvSpPr/>
              <p:nvPr/>
            </p:nvSpPr>
            <p:spPr>
              <a:xfrm>
                <a:off x="4768547" y="3295242"/>
                <a:ext cx="742064" cy="113414"/>
              </a:xfrm>
              <a:custGeom>
                <a:avLst/>
                <a:gdLst>
                  <a:gd name="connsiteX0" fmla="*/ 715926 w 715926"/>
                  <a:gd name="connsiteY0" fmla="*/ 56707 h 113414"/>
                  <a:gd name="connsiteX1" fmla="*/ 715926 w 715926"/>
                  <a:gd name="connsiteY1" fmla="*/ 56707 h 113414"/>
                  <a:gd name="connsiteX2" fmla="*/ 659219 w 715926"/>
                  <a:gd name="connsiteY2" fmla="*/ 28354 h 113414"/>
                  <a:gd name="connsiteX3" fmla="*/ 637954 w 715926"/>
                  <a:gd name="connsiteY3" fmla="*/ 14177 h 113414"/>
                  <a:gd name="connsiteX4" fmla="*/ 595424 w 715926"/>
                  <a:gd name="connsiteY4" fmla="*/ 0 h 113414"/>
                  <a:gd name="connsiteX5" fmla="*/ 517452 w 715926"/>
                  <a:gd name="connsiteY5" fmla="*/ 21265 h 113414"/>
                  <a:gd name="connsiteX6" fmla="*/ 446568 w 715926"/>
                  <a:gd name="connsiteY6" fmla="*/ 42530 h 113414"/>
                  <a:gd name="connsiteX7" fmla="*/ 404038 w 715926"/>
                  <a:gd name="connsiteY7" fmla="*/ 49619 h 113414"/>
                  <a:gd name="connsiteX8" fmla="*/ 361507 w 715926"/>
                  <a:gd name="connsiteY8" fmla="*/ 63795 h 113414"/>
                  <a:gd name="connsiteX9" fmla="*/ 326065 w 715926"/>
                  <a:gd name="connsiteY9" fmla="*/ 70884 h 113414"/>
                  <a:gd name="connsiteX10" fmla="*/ 262270 w 715926"/>
                  <a:gd name="connsiteY10" fmla="*/ 56707 h 113414"/>
                  <a:gd name="connsiteX11" fmla="*/ 226828 w 715926"/>
                  <a:gd name="connsiteY11" fmla="*/ 49619 h 113414"/>
                  <a:gd name="connsiteX12" fmla="*/ 184298 w 715926"/>
                  <a:gd name="connsiteY12" fmla="*/ 35442 h 113414"/>
                  <a:gd name="connsiteX13" fmla="*/ 163033 w 715926"/>
                  <a:gd name="connsiteY13" fmla="*/ 28354 h 113414"/>
                  <a:gd name="connsiteX14" fmla="*/ 85061 w 715926"/>
                  <a:gd name="connsiteY14" fmla="*/ 35442 h 113414"/>
                  <a:gd name="connsiteX15" fmla="*/ 21265 w 715926"/>
                  <a:gd name="connsiteY15" fmla="*/ 49619 h 113414"/>
                  <a:gd name="connsiteX16" fmla="*/ 0 w 715926"/>
                  <a:gd name="connsiteY16" fmla="*/ 63795 h 113414"/>
                  <a:gd name="connsiteX17" fmla="*/ 85061 w 715926"/>
                  <a:gd name="connsiteY17" fmla="*/ 77972 h 113414"/>
                  <a:gd name="connsiteX18" fmla="*/ 141768 w 715926"/>
                  <a:gd name="connsiteY18" fmla="*/ 92149 h 113414"/>
                  <a:gd name="connsiteX19" fmla="*/ 184298 w 715926"/>
                  <a:gd name="connsiteY19" fmla="*/ 106326 h 113414"/>
                  <a:gd name="connsiteX20" fmla="*/ 233917 w 715926"/>
                  <a:gd name="connsiteY20" fmla="*/ 113414 h 113414"/>
                  <a:gd name="connsiteX21" fmla="*/ 368596 w 715926"/>
                  <a:gd name="connsiteY21" fmla="*/ 106326 h 113414"/>
                  <a:gd name="connsiteX22" fmla="*/ 389861 w 715926"/>
                  <a:gd name="connsiteY22" fmla="*/ 99237 h 113414"/>
                  <a:gd name="connsiteX23" fmla="*/ 432391 w 715926"/>
                  <a:gd name="connsiteY23" fmla="*/ 92149 h 113414"/>
                  <a:gd name="connsiteX24" fmla="*/ 652131 w 715926"/>
                  <a:gd name="connsiteY24" fmla="*/ 92149 h 113414"/>
                  <a:gd name="connsiteX25" fmla="*/ 694661 w 715926"/>
                  <a:gd name="connsiteY25" fmla="*/ 77972 h 113414"/>
                  <a:gd name="connsiteX26" fmla="*/ 715926 w 715926"/>
                  <a:gd name="connsiteY26" fmla="*/ 70884 h 113414"/>
                  <a:gd name="connsiteX27" fmla="*/ 715926 w 715926"/>
                  <a:gd name="connsiteY27" fmla="*/ 56707 h 11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5926" h="113414">
                    <a:moveTo>
                      <a:pt x="715926" y="56707"/>
                    </a:moveTo>
                    <a:lnTo>
                      <a:pt x="715926" y="56707"/>
                    </a:lnTo>
                    <a:cubicBezTo>
                      <a:pt x="697024" y="47256"/>
                      <a:pt x="677772" y="38474"/>
                      <a:pt x="659219" y="28354"/>
                    </a:cubicBezTo>
                    <a:cubicBezTo>
                      <a:pt x="651740" y="24275"/>
                      <a:pt x="645739" y="17637"/>
                      <a:pt x="637954" y="14177"/>
                    </a:cubicBezTo>
                    <a:cubicBezTo>
                      <a:pt x="624298" y="8108"/>
                      <a:pt x="595424" y="0"/>
                      <a:pt x="595424" y="0"/>
                    </a:cubicBezTo>
                    <a:cubicBezTo>
                      <a:pt x="466895" y="42843"/>
                      <a:pt x="627663" y="-8792"/>
                      <a:pt x="517452" y="21265"/>
                    </a:cubicBezTo>
                    <a:cubicBezTo>
                      <a:pt x="467712" y="34830"/>
                      <a:pt x="488093" y="34225"/>
                      <a:pt x="446568" y="42530"/>
                    </a:cubicBezTo>
                    <a:cubicBezTo>
                      <a:pt x="432475" y="45349"/>
                      <a:pt x="417981" y="46133"/>
                      <a:pt x="404038" y="49619"/>
                    </a:cubicBezTo>
                    <a:cubicBezTo>
                      <a:pt x="389540" y="53243"/>
                      <a:pt x="376161" y="60864"/>
                      <a:pt x="361507" y="63795"/>
                    </a:cubicBezTo>
                    <a:lnTo>
                      <a:pt x="326065" y="70884"/>
                    </a:lnTo>
                    <a:cubicBezTo>
                      <a:pt x="219080" y="49485"/>
                      <a:pt x="352440" y="76744"/>
                      <a:pt x="262270" y="56707"/>
                    </a:cubicBezTo>
                    <a:cubicBezTo>
                      <a:pt x="250509" y="54094"/>
                      <a:pt x="238451" y="52789"/>
                      <a:pt x="226828" y="49619"/>
                    </a:cubicBezTo>
                    <a:cubicBezTo>
                      <a:pt x="212411" y="45687"/>
                      <a:pt x="198475" y="40168"/>
                      <a:pt x="184298" y="35442"/>
                    </a:cubicBezTo>
                    <a:lnTo>
                      <a:pt x="163033" y="28354"/>
                    </a:lnTo>
                    <a:cubicBezTo>
                      <a:pt x="137042" y="30717"/>
                      <a:pt x="110980" y="32393"/>
                      <a:pt x="85061" y="35442"/>
                    </a:cubicBezTo>
                    <a:cubicBezTo>
                      <a:pt x="70815" y="37118"/>
                      <a:pt x="37629" y="41437"/>
                      <a:pt x="21265" y="49619"/>
                    </a:cubicBezTo>
                    <a:cubicBezTo>
                      <a:pt x="13645" y="53429"/>
                      <a:pt x="7088" y="59070"/>
                      <a:pt x="0" y="63795"/>
                    </a:cubicBezTo>
                    <a:cubicBezTo>
                      <a:pt x="51925" y="81105"/>
                      <a:pt x="-15833" y="60167"/>
                      <a:pt x="85061" y="77972"/>
                    </a:cubicBezTo>
                    <a:cubicBezTo>
                      <a:pt x="104249" y="81358"/>
                      <a:pt x="123284" y="85987"/>
                      <a:pt x="141768" y="92149"/>
                    </a:cubicBezTo>
                    <a:cubicBezTo>
                      <a:pt x="155945" y="96875"/>
                      <a:pt x="169505" y="104213"/>
                      <a:pt x="184298" y="106326"/>
                    </a:cubicBezTo>
                    <a:lnTo>
                      <a:pt x="233917" y="113414"/>
                    </a:lnTo>
                    <a:cubicBezTo>
                      <a:pt x="278810" y="111051"/>
                      <a:pt x="323825" y="110396"/>
                      <a:pt x="368596" y="106326"/>
                    </a:cubicBezTo>
                    <a:cubicBezTo>
                      <a:pt x="376037" y="105650"/>
                      <a:pt x="382567" y="100858"/>
                      <a:pt x="389861" y="99237"/>
                    </a:cubicBezTo>
                    <a:cubicBezTo>
                      <a:pt x="403891" y="96119"/>
                      <a:pt x="418214" y="94512"/>
                      <a:pt x="432391" y="92149"/>
                    </a:cubicBezTo>
                    <a:cubicBezTo>
                      <a:pt x="520875" y="109845"/>
                      <a:pt x="492750" y="107091"/>
                      <a:pt x="652131" y="92149"/>
                    </a:cubicBezTo>
                    <a:cubicBezTo>
                      <a:pt x="667009" y="90754"/>
                      <a:pt x="680484" y="82698"/>
                      <a:pt x="694661" y="77972"/>
                    </a:cubicBezTo>
                    <a:cubicBezTo>
                      <a:pt x="701749" y="75609"/>
                      <a:pt x="715926" y="78356"/>
                      <a:pt x="715926" y="70884"/>
                    </a:cubicBezTo>
                    <a:lnTo>
                      <a:pt x="715926" y="56707"/>
                    </a:lnTo>
                    <a:close/>
                  </a:path>
                </a:pathLst>
              </a:custGeom>
              <a:solidFill>
                <a:srgbClr val="67A6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dirty="0"/>
              </a:p>
            </p:txBody>
          </p:sp>
        </p:grpSp>
        <p:grpSp>
          <p:nvGrpSpPr>
            <p:cNvPr id="1206" name="Group 266">
              <a:extLst>
                <a:ext uri="{FF2B5EF4-FFF2-40B4-BE49-F238E27FC236}">
                  <a16:creationId xmlns:a16="http://schemas.microsoft.com/office/drawing/2014/main" id="{87E8B8EF-E5CE-C6EA-98C9-6C1483F08029}"/>
                </a:ext>
              </a:extLst>
            </p:cNvPr>
            <p:cNvGrpSpPr/>
            <p:nvPr/>
          </p:nvGrpSpPr>
          <p:grpSpPr>
            <a:xfrm flipH="1">
              <a:off x="5540138" y="1733667"/>
              <a:ext cx="109614" cy="648803"/>
              <a:chOff x="1611916" y="2139959"/>
              <a:chExt cx="264177" cy="1453393"/>
            </a:xfrm>
            <a:solidFill>
              <a:srgbClr val="0D0D0D">
                <a:alpha val="29804"/>
              </a:srgbClr>
            </a:solidFill>
          </p:grpSpPr>
          <p:sp>
            <p:nvSpPr>
              <p:cNvPr id="1255" name="Freeform 267">
                <a:extLst>
                  <a:ext uri="{FF2B5EF4-FFF2-40B4-BE49-F238E27FC236}">
                    <a16:creationId xmlns:a16="http://schemas.microsoft.com/office/drawing/2014/main" id="{DD0AE606-07EB-3479-FADF-B7A9A8E3F281}"/>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6" name="Freeform 268">
                <a:extLst>
                  <a:ext uri="{FF2B5EF4-FFF2-40B4-BE49-F238E27FC236}">
                    <a16:creationId xmlns:a16="http://schemas.microsoft.com/office/drawing/2014/main" id="{DBE51549-FA3C-7DEB-9E4C-CA84B9E8900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7" name="Freeform 269">
                <a:extLst>
                  <a:ext uri="{FF2B5EF4-FFF2-40B4-BE49-F238E27FC236}">
                    <a16:creationId xmlns:a16="http://schemas.microsoft.com/office/drawing/2014/main" id="{CB9B7CE9-6A10-9A8E-8F9F-FAFFD2F6CBA8}"/>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8" name="Freeform 270">
                <a:extLst>
                  <a:ext uri="{FF2B5EF4-FFF2-40B4-BE49-F238E27FC236}">
                    <a16:creationId xmlns:a16="http://schemas.microsoft.com/office/drawing/2014/main" id="{D9B8B283-1F47-2ACA-3F99-6BA98FA60785}"/>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9" name="Freeform 271">
                <a:extLst>
                  <a:ext uri="{FF2B5EF4-FFF2-40B4-BE49-F238E27FC236}">
                    <a16:creationId xmlns:a16="http://schemas.microsoft.com/office/drawing/2014/main" id="{D69D10F2-4799-6F3A-46B5-EFAB3666311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0" name="Freeform 272">
                <a:extLst>
                  <a:ext uri="{FF2B5EF4-FFF2-40B4-BE49-F238E27FC236}">
                    <a16:creationId xmlns:a16="http://schemas.microsoft.com/office/drawing/2014/main" id="{2E1E0833-500C-F02E-15F0-BDF8C062918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1" name="Freeform 273">
                <a:extLst>
                  <a:ext uri="{FF2B5EF4-FFF2-40B4-BE49-F238E27FC236}">
                    <a16:creationId xmlns:a16="http://schemas.microsoft.com/office/drawing/2014/main" id="{9CC114DD-AF80-06EF-CD73-14C4A031B349}"/>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2" name="Freeform 274">
                <a:extLst>
                  <a:ext uri="{FF2B5EF4-FFF2-40B4-BE49-F238E27FC236}">
                    <a16:creationId xmlns:a16="http://schemas.microsoft.com/office/drawing/2014/main" id="{FBDD8BBA-E540-68E5-B4AF-D86C19FF73F0}"/>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3" name="Freeform 275">
                <a:extLst>
                  <a:ext uri="{FF2B5EF4-FFF2-40B4-BE49-F238E27FC236}">
                    <a16:creationId xmlns:a16="http://schemas.microsoft.com/office/drawing/2014/main" id="{34786673-A516-3DE1-3DFC-48B1DF45EE02}"/>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4" name="Freeform 276">
                <a:extLst>
                  <a:ext uri="{FF2B5EF4-FFF2-40B4-BE49-F238E27FC236}">
                    <a16:creationId xmlns:a16="http://schemas.microsoft.com/office/drawing/2014/main" id="{C0FE95DE-1E55-8A80-AD22-4E5B7F41F9D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5" name="Freeform 277">
                <a:extLst>
                  <a:ext uri="{FF2B5EF4-FFF2-40B4-BE49-F238E27FC236}">
                    <a16:creationId xmlns:a16="http://schemas.microsoft.com/office/drawing/2014/main" id="{697ACA1E-21BF-243A-537C-DF64EE19934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6" name="Freeform 278">
                <a:extLst>
                  <a:ext uri="{FF2B5EF4-FFF2-40B4-BE49-F238E27FC236}">
                    <a16:creationId xmlns:a16="http://schemas.microsoft.com/office/drawing/2014/main" id="{6500A50C-F705-9857-88E9-F3B7088AB7BD}"/>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7" name="Freeform 279">
                <a:extLst>
                  <a:ext uri="{FF2B5EF4-FFF2-40B4-BE49-F238E27FC236}">
                    <a16:creationId xmlns:a16="http://schemas.microsoft.com/office/drawing/2014/main" id="{CF1A6FC7-FB87-DF33-772F-0DCE8286553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8" name="Freeform 280">
                <a:extLst>
                  <a:ext uri="{FF2B5EF4-FFF2-40B4-BE49-F238E27FC236}">
                    <a16:creationId xmlns:a16="http://schemas.microsoft.com/office/drawing/2014/main" id="{A96C0F22-AE05-C2A1-37DD-96084F448970}"/>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9" name="Freeform 281">
                <a:extLst>
                  <a:ext uri="{FF2B5EF4-FFF2-40B4-BE49-F238E27FC236}">
                    <a16:creationId xmlns:a16="http://schemas.microsoft.com/office/drawing/2014/main" id="{4B8A5F72-74F7-ED0A-A3B6-B96720907529}"/>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7" name="Group 282">
              <a:extLst>
                <a:ext uri="{FF2B5EF4-FFF2-40B4-BE49-F238E27FC236}">
                  <a16:creationId xmlns:a16="http://schemas.microsoft.com/office/drawing/2014/main" id="{8038E742-62F4-D7E1-C00C-B4DA949535B3}"/>
                </a:ext>
              </a:extLst>
            </p:cNvPr>
            <p:cNvGrpSpPr/>
            <p:nvPr/>
          </p:nvGrpSpPr>
          <p:grpSpPr>
            <a:xfrm flipH="1">
              <a:off x="5265725" y="1730687"/>
              <a:ext cx="144260" cy="642926"/>
              <a:chOff x="2073412" y="2165654"/>
              <a:chExt cx="314361" cy="1401954"/>
            </a:xfrm>
            <a:solidFill>
              <a:srgbClr val="0D0D0D">
                <a:alpha val="29804"/>
              </a:srgbClr>
            </a:solidFill>
          </p:grpSpPr>
          <p:sp>
            <p:nvSpPr>
              <p:cNvPr id="1241" name="Freeform 283">
                <a:extLst>
                  <a:ext uri="{FF2B5EF4-FFF2-40B4-BE49-F238E27FC236}">
                    <a16:creationId xmlns:a16="http://schemas.microsoft.com/office/drawing/2014/main" id="{1DF7DACB-0CF4-5E58-E439-A77EBED2C2C9}"/>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42" name="Freeform 284">
                <a:extLst>
                  <a:ext uri="{FF2B5EF4-FFF2-40B4-BE49-F238E27FC236}">
                    <a16:creationId xmlns:a16="http://schemas.microsoft.com/office/drawing/2014/main" id="{9A733AE5-63A7-0A87-B878-EAC448D456D8}"/>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3" name="Freeform 285">
                <a:extLst>
                  <a:ext uri="{FF2B5EF4-FFF2-40B4-BE49-F238E27FC236}">
                    <a16:creationId xmlns:a16="http://schemas.microsoft.com/office/drawing/2014/main" id="{0450335C-4F6E-564F-714B-088F3C8E4C7D}"/>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4" name="Freeform 286">
                <a:extLst>
                  <a:ext uri="{FF2B5EF4-FFF2-40B4-BE49-F238E27FC236}">
                    <a16:creationId xmlns:a16="http://schemas.microsoft.com/office/drawing/2014/main" id="{D4B365BB-6C0C-1E0D-AB36-7F631128A0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5" name="Freeform 287">
                <a:extLst>
                  <a:ext uri="{FF2B5EF4-FFF2-40B4-BE49-F238E27FC236}">
                    <a16:creationId xmlns:a16="http://schemas.microsoft.com/office/drawing/2014/main" id="{BACE909D-3AFD-63FA-38BA-817028BD88F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6" name="Freeform 288">
                <a:extLst>
                  <a:ext uri="{FF2B5EF4-FFF2-40B4-BE49-F238E27FC236}">
                    <a16:creationId xmlns:a16="http://schemas.microsoft.com/office/drawing/2014/main" id="{6EC71D9E-CD2B-8C1D-CBAC-D09C79A6AD8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7" name="Freeform 289">
                <a:extLst>
                  <a:ext uri="{FF2B5EF4-FFF2-40B4-BE49-F238E27FC236}">
                    <a16:creationId xmlns:a16="http://schemas.microsoft.com/office/drawing/2014/main" id="{FE13DE66-F2EB-DAEB-4711-E2A6543BAA9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8" name="Freeform 290">
                <a:extLst>
                  <a:ext uri="{FF2B5EF4-FFF2-40B4-BE49-F238E27FC236}">
                    <a16:creationId xmlns:a16="http://schemas.microsoft.com/office/drawing/2014/main" id="{37177888-3949-D91E-1C64-0E09C2435D2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9" name="Freeform 291">
                <a:extLst>
                  <a:ext uri="{FF2B5EF4-FFF2-40B4-BE49-F238E27FC236}">
                    <a16:creationId xmlns:a16="http://schemas.microsoft.com/office/drawing/2014/main" id="{DCEEC3CA-C57B-8576-812D-CE456D61905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0" name="Freeform 292">
                <a:extLst>
                  <a:ext uri="{FF2B5EF4-FFF2-40B4-BE49-F238E27FC236}">
                    <a16:creationId xmlns:a16="http://schemas.microsoft.com/office/drawing/2014/main" id="{4C96F687-0D6B-F021-5883-5446A83E78AF}"/>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1" name="Freeform 293">
                <a:extLst>
                  <a:ext uri="{FF2B5EF4-FFF2-40B4-BE49-F238E27FC236}">
                    <a16:creationId xmlns:a16="http://schemas.microsoft.com/office/drawing/2014/main" id="{D6F3C29D-51D8-C5CA-7F3D-11E3221FF878}"/>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2" name="Freeform 294">
                <a:extLst>
                  <a:ext uri="{FF2B5EF4-FFF2-40B4-BE49-F238E27FC236}">
                    <a16:creationId xmlns:a16="http://schemas.microsoft.com/office/drawing/2014/main" id="{3EA6E02A-7814-D630-0B69-66B0EE02E1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3" name="Freeform 295">
                <a:extLst>
                  <a:ext uri="{FF2B5EF4-FFF2-40B4-BE49-F238E27FC236}">
                    <a16:creationId xmlns:a16="http://schemas.microsoft.com/office/drawing/2014/main" id="{7013F5DB-C132-7F81-F647-267BDCC4AF37}"/>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4" name="Freeform 296">
                <a:extLst>
                  <a:ext uri="{FF2B5EF4-FFF2-40B4-BE49-F238E27FC236}">
                    <a16:creationId xmlns:a16="http://schemas.microsoft.com/office/drawing/2014/main" id="{31F9199A-4511-FD3E-AA67-A3B044A76509}"/>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8" name="Group 297">
              <a:extLst>
                <a:ext uri="{FF2B5EF4-FFF2-40B4-BE49-F238E27FC236}">
                  <a16:creationId xmlns:a16="http://schemas.microsoft.com/office/drawing/2014/main" id="{8CD89FA2-F2EA-AA7E-45DC-3B9E24CEECC4}"/>
                </a:ext>
              </a:extLst>
            </p:cNvPr>
            <p:cNvGrpSpPr/>
            <p:nvPr/>
          </p:nvGrpSpPr>
          <p:grpSpPr>
            <a:xfrm>
              <a:off x="4242702" y="1720736"/>
              <a:ext cx="117930" cy="648803"/>
              <a:chOff x="1611916" y="2139958"/>
              <a:chExt cx="264177" cy="1453393"/>
            </a:xfrm>
            <a:solidFill>
              <a:srgbClr val="0D0D0D">
                <a:alpha val="29804"/>
              </a:srgbClr>
            </a:solidFill>
          </p:grpSpPr>
          <p:sp>
            <p:nvSpPr>
              <p:cNvPr id="1226" name="Freeform 298">
                <a:extLst>
                  <a:ext uri="{FF2B5EF4-FFF2-40B4-BE49-F238E27FC236}">
                    <a16:creationId xmlns:a16="http://schemas.microsoft.com/office/drawing/2014/main" id="{86E564D2-892E-B373-A8EA-BDA8AA533D70}"/>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7" name="Freeform 299">
                <a:extLst>
                  <a:ext uri="{FF2B5EF4-FFF2-40B4-BE49-F238E27FC236}">
                    <a16:creationId xmlns:a16="http://schemas.microsoft.com/office/drawing/2014/main" id="{894F9C44-0903-7D30-5FD5-485B717BEB12}"/>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8" name="Freeform 300">
                <a:extLst>
                  <a:ext uri="{FF2B5EF4-FFF2-40B4-BE49-F238E27FC236}">
                    <a16:creationId xmlns:a16="http://schemas.microsoft.com/office/drawing/2014/main" id="{1EFE4691-3867-7A07-E08D-300022AA83A1}"/>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9" name="Freeform 301">
                <a:extLst>
                  <a:ext uri="{FF2B5EF4-FFF2-40B4-BE49-F238E27FC236}">
                    <a16:creationId xmlns:a16="http://schemas.microsoft.com/office/drawing/2014/main" id="{8728464E-41FB-CA45-C903-17B445130753}"/>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0" name="Freeform 302">
                <a:extLst>
                  <a:ext uri="{FF2B5EF4-FFF2-40B4-BE49-F238E27FC236}">
                    <a16:creationId xmlns:a16="http://schemas.microsoft.com/office/drawing/2014/main" id="{CB449712-0387-5F71-8BE6-FF1A0CAA698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1" name="Freeform 303">
                <a:extLst>
                  <a:ext uri="{FF2B5EF4-FFF2-40B4-BE49-F238E27FC236}">
                    <a16:creationId xmlns:a16="http://schemas.microsoft.com/office/drawing/2014/main" id="{50E27FB9-A8E6-A665-A463-40A41D953652}"/>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2" name="Freeform 304">
                <a:extLst>
                  <a:ext uri="{FF2B5EF4-FFF2-40B4-BE49-F238E27FC236}">
                    <a16:creationId xmlns:a16="http://schemas.microsoft.com/office/drawing/2014/main" id="{2873C166-4094-B9DC-1F34-509224AD8D1F}"/>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3" name="Freeform 305">
                <a:extLst>
                  <a:ext uri="{FF2B5EF4-FFF2-40B4-BE49-F238E27FC236}">
                    <a16:creationId xmlns:a16="http://schemas.microsoft.com/office/drawing/2014/main" id="{DDDE6C7A-4D4B-13F1-CDBB-77FCD97E6C4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4" name="Freeform 306">
                <a:extLst>
                  <a:ext uri="{FF2B5EF4-FFF2-40B4-BE49-F238E27FC236}">
                    <a16:creationId xmlns:a16="http://schemas.microsoft.com/office/drawing/2014/main" id="{A588BE03-2E5B-47E7-05A5-E76CF2B70F00}"/>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5" name="Freeform 307">
                <a:extLst>
                  <a:ext uri="{FF2B5EF4-FFF2-40B4-BE49-F238E27FC236}">
                    <a16:creationId xmlns:a16="http://schemas.microsoft.com/office/drawing/2014/main" id="{85DD8AD1-C599-6380-5626-F149CCEC7B0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6" name="Freeform 308">
                <a:extLst>
                  <a:ext uri="{FF2B5EF4-FFF2-40B4-BE49-F238E27FC236}">
                    <a16:creationId xmlns:a16="http://schemas.microsoft.com/office/drawing/2014/main" id="{20F1F06E-D02B-B601-87A2-0BA43FF1905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7" name="Freeform 309">
                <a:extLst>
                  <a:ext uri="{FF2B5EF4-FFF2-40B4-BE49-F238E27FC236}">
                    <a16:creationId xmlns:a16="http://schemas.microsoft.com/office/drawing/2014/main" id="{3092FB7B-A085-8827-34D4-E206AAD5E334}"/>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8" name="Freeform 310">
                <a:extLst>
                  <a:ext uri="{FF2B5EF4-FFF2-40B4-BE49-F238E27FC236}">
                    <a16:creationId xmlns:a16="http://schemas.microsoft.com/office/drawing/2014/main" id="{B5656339-DFC8-5CB2-BD79-7500D19DF5DF}"/>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9" name="Freeform 311">
                <a:extLst>
                  <a:ext uri="{FF2B5EF4-FFF2-40B4-BE49-F238E27FC236}">
                    <a16:creationId xmlns:a16="http://schemas.microsoft.com/office/drawing/2014/main" id="{5F7042CF-F23F-853D-8CF6-FBCFF6485409}"/>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0" name="Freeform 312">
                <a:extLst>
                  <a:ext uri="{FF2B5EF4-FFF2-40B4-BE49-F238E27FC236}">
                    <a16:creationId xmlns:a16="http://schemas.microsoft.com/office/drawing/2014/main" id="{F4C78BF5-57A9-96DD-13AA-A12405009AAE}"/>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9" name="Group 313">
              <a:extLst>
                <a:ext uri="{FF2B5EF4-FFF2-40B4-BE49-F238E27FC236}">
                  <a16:creationId xmlns:a16="http://schemas.microsoft.com/office/drawing/2014/main" id="{2765F26A-B9BE-6FD5-9AF2-7E6E3BB05272}"/>
                </a:ext>
              </a:extLst>
            </p:cNvPr>
            <p:cNvGrpSpPr/>
            <p:nvPr/>
          </p:nvGrpSpPr>
          <p:grpSpPr>
            <a:xfrm>
              <a:off x="4461909" y="1726612"/>
              <a:ext cx="144163" cy="642926"/>
              <a:chOff x="2073412" y="2165657"/>
              <a:chExt cx="314361" cy="1401954"/>
            </a:xfrm>
            <a:solidFill>
              <a:srgbClr val="0D0D0D">
                <a:alpha val="29804"/>
              </a:srgbClr>
            </a:solidFill>
          </p:grpSpPr>
          <p:sp>
            <p:nvSpPr>
              <p:cNvPr id="1212" name="Freeform 314">
                <a:extLst>
                  <a:ext uri="{FF2B5EF4-FFF2-40B4-BE49-F238E27FC236}">
                    <a16:creationId xmlns:a16="http://schemas.microsoft.com/office/drawing/2014/main" id="{D9409ECB-9645-359B-1190-FE6EE659ED88}"/>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13" name="Freeform 315">
                <a:extLst>
                  <a:ext uri="{FF2B5EF4-FFF2-40B4-BE49-F238E27FC236}">
                    <a16:creationId xmlns:a16="http://schemas.microsoft.com/office/drawing/2014/main" id="{556827A0-E742-3FC1-7C0F-983C1A13CAE0}"/>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4" name="Freeform 316">
                <a:extLst>
                  <a:ext uri="{FF2B5EF4-FFF2-40B4-BE49-F238E27FC236}">
                    <a16:creationId xmlns:a16="http://schemas.microsoft.com/office/drawing/2014/main" id="{0D9896AA-62A8-9404-125D-345E241554EA}"/>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5" name="Freeform 317">
                <a:extLst>
                  <a:ext uri="{FF2B5EF4-FFF2-40B4-BE49-F238E27FC236}">
                    <a16:creationId xmlns:a16="http://schemas.microsoft.com/office/drawing/2014/main" id="{40786AF4-5697-99EF-B13F-7EA272D28A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6" name="Freeform 318">
                <a:extLst>
                  <a:ext uri="{FF2B5EF4-FFF2-40B4-BE49-F238E27FC236}">
                    <a16:creationId xmlns:a16="http://schemas.microsoft.com/office/drawing/2014/main" id="{47AFAAAB-C707-0322-96E7-CD75942B7CEC}"/>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7" name="Freeform 319">
                <a:extLst>
                  <a:ext uri="{FF2B5EF4-FFF2-40B4-BE49-F238E27FC236}">
                    <a16:creationId xmlns:a16="http://schemas.microsoft.com/office/drawing/2014/main" id="{E162D320-BA8E-2BAC-DABE-19F5ECC01FFF}"/>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8" name="Freeform 320">
                <a:extLst>
                  <a:ext uri="{FF2B5EF4-FFF2-40B4-BE49-F238E27FC236}">
                    <a16:creationId xmlns:a16="http://schemas.microsoft.com/office/drawing/2014/main" id="{DA2582E1-E7C5-003F-F73D-3E5EA708A254}"/>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9" name="Freeform 321">
                <a:extLst>
                  <a:ext uri="{FF2B5EF4-FFF2-40B4-BE49-F238E27FC236}">
                    <a16:creationId xmlns:a16="http://schemas.microsoft.com/office/drawing/2014/main" id="{306CC503-69BD-88D7-80CF-889F58258CE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0" name="Freeform 322">
                <a:extLst>
                  <a:ext uri="{FF2B5EF4-FFF2-40B4-BE49-F238E27FC236}">
                    <a16:creationId xmlns:a16="http://schemas.microsoft.com/office/drawing/2014/main" id="{2C15FFB4-BEE0-A031-6C03-F83551DD9ED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1" name="Freeform 323">
                <a:extLst>
                  <a:ext uri="{FF2B5EF4-FFF2-40B4-BE49-F238E27FC236}">
                    <a16:creationId xmlns:a16="http://schemas.microsoft.com/office/drawing/2014/main" id="{774F4EB7-D51C-2FD6-1135-8CB0CD186A7A}"/>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2" name="Freeform 324">
                <a:extLst>
                  <a:ext uri="{FF2B5EF4-FFF2-40B4-BE49-F238E27FC236}">
                    <a16:creationId xmlns:a16="http://schemas.microsoft.com/office/drawing/2014/main" id="{079DB427-D28A-DD95-DB38-A2E4B72BA3DD}"/>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3" name="Freeform 325">
                <a:extLst>
                  <a:ext uri="{FF2B5EF4-FFF2-40B4-BE49-F238E27FC236}">
                    <a16:creationId xmlns:a16="http://schemas.microsoft.com/office/drawing/2014/main" id="{A58F5F60-BB0F-A699-86D1-80AC210BE890}"/>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4" name="Freeform 326">
                <a:extLst>
                  <a:ext uri="{FF2B5EF4-FFF2-40B4-BE49-F238E27FC236}">
                    <a16:creationId xmlns:a16="http://schemas.microsoft.com/office/drawing/2014/main" id="{E896B62F-C295-B098-B9B8-9D2D037A526B}"/>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5" name="Freeform 327">
                <a:extLst>
                  <a:ext uri="{FF2B5EF4-FFF2-40B4-BE49-F238E27FC236}">
                    <a16:creationId xmlns:a16="http://schemas.microsoft.com/office/drawing/2014/main" id="{1E7C590C-053B-A811-8C52-C1150B1A94E5}"/>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10" name="Picture 422">
              <a:extLst>
                <a:ext uri="{FF2B5EF4-FFF2-40B4-BE49-F238E27FC236}">
                  <a16:creationId xmlns:a16="http://schemas.microsoft.com/office/drawing/2014/main" id="{41EC5AAA-171B-B6CD-51E9-F67BE82C7473}"/>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5237208" y="1179926"/>
              <a:ext cx="495804" cy="429115"/>
            </a:xfrm>
            <a:prstGeom prst="rect">
              <a:avLst/>
            </a:prstGeom>
            <a:effectLst>
              <a:reflection endPos="0" dir="5400000" sy="-100000" algn="bl" rotWithShape="0"/>
            </a:effectLst>
          </p:spPr>
        </p:pic>
        <p:pic>
          <p:nvPicPr>
            <p:cNvPr id="1211" name="Picture 424">
              <a:extLst>
                <a:ext uri="{FF2B5EF4-FFF2-40B4-BE49-F238E27FC236}">
                  <a16:creationId xmlns:a16="http://schemas.microsoft.com/office/drawing/2014/main" id="{80996384-76C1-A9BB-86EA-88E998E9B498}"/>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57340" y="1127900"/>
              <a:ext cx="461093" cy="481142"/>
            </a:xfrm>
            <a:prstGeom prst="rect">
              <a:avLst/>
            </a:prstGeom>
          </p:spPr>
        </p:pic>
      </p:grpSp>
      <p:grpSp>
        <p:nvGrpSpPr>
          <p:cNvPr id="1277" name="Group 55">
            <a:extLst>
              <a:ext uri="{FF2B5EF4-FFF2-40B4-BE49-F238E27FC236}">
                <a16:creationId xmlns:a16="http://schemas.microsoft.com/office/drawing/2014/main" id="{351387B1-5206-6FFB-7251-F5BFD0549E83}"/>
              </a:ext>
            </a:extLst>
          </p:cNvPr>
          <p:cNvGrpSpPr/>
          <p:nvPr/>
        </p:nvGrpSpPr>
        <p:grpSpPr>
          <a:xfrm>
            <a:off x="6074045" y="1057976"/>
            <a:ext cx="2265957" cy="1261886"/>
            <a:chOff x="74248" y="2131496"/>
            <a:chExt cx="2015916" cy="1192681"/>
          </a:xfrm>
        </p:grpSpPr>
        <p:sp>
          <p:nvSpPr>
            <p:cNvPr id="1278" name="Oval 80">
              <a:extLst>
                <a:ext uri="{FF2B5EF4-FFF2-40B4-BE49-F238E27FC236}">
                  <a16:creationId xmlns:a16="http://schemas.microsoft.com/office/drawing/2014/main" id="{EC024927-CA25-9617-46B1-5B1EEC39AC4A}"/>
                </a:ext>
              </a:extLst>
            </p:cNvPr>
            <p:cNvSpPr/>
            <p:nvPr/>
          </p:nvSpPr>
          <p:spPr>
            <a:xfrm rot="16200000">
              <a:off x="74247" y="2352678"/>
              <a:ext cx="971500" cy="971498"/>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79" name="Oval 81">
              <a:extLst>
                <a:ext uri="{FF2B5EF4-FFF2-40B4-BE49-F238E27FC236}">
                  <a16:creationId xmlns:a16="http://schemas.microsoft.com/office/drawing/2014/main" id="{5419663A-9A7E-9674-2021-F3669530279A}"/>
                </a:ext>
              </a:extLst>
            </p:cNvPr>
            <p:cNvSpPr/>
            <p:nvPr/>
          </p:nvSpPr>
          <p:spPr>
            <a:xfrm rot="16200000">
              <a:off x="1118665" y="2352678"/>
              <a:ext cx="971500" cy="971498"/>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1440" dirty="0"/>
            </a:p>
          </p:txBody>
        </p:sp>
        <p:grpSp>
          <p:nvGrpSpPr>
            <p:cNvPr id="1280" name="Group 86">
              <a:extLst>
                <a:ext uri="{FF2B5EF4-FFF2-40B4-BE49-F238E27FC236}">
                  <a16:creationId xmlns:a16="http://schemas.microsoft.com/office/drawing/2014/main" id="{28C3184B-1BF0-FCDE-8937-77B8A373A2F0}"/>
                </a:ext>
              </a:extLst>
            </p:cNvPr>
            <p:cNvGrpSpPr/>
            <p:nvPr/>
          </p:nvGrpSpPr>
          <p:grpSpPr>
            <a:xfrm>
              <a:off x="411319" y="2610509"/>
              <a:ext cx="93496" cy="514376"/>
              <a:chOff x="1611916" y="2139958"/>
              <a:chExt cx="264177" cy="1453393"/>
            </a:xfrm>
            <a:solidFill>
              <a:srgbClr val="0D0D0D">
                <a:alpha val="29804"/>
              </a:srgbClr>
            </a:solidFill>
          </p:grpSpPr>
          <p:sp>
            <p:nvSpPr>
              <p:cNvPr id="1329" name="Freeform 104">
                <a:extLst>
                  <a:ext uri="{FF2B5EF4-FFF2-40B4-BE49-F238E27FC236}">
                    <a16:creationId xmlns:a16="http://schemas.microsoft.com/office/drawing/2014/main" id="{F5740138-7D44-F220-D604-3F8A1F33631E}"/>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30" name="Freeform 105">
                <a:extLst>
                  <a:ext uri="{FF2B5EF4-FFF2-40B4-BE49-F238E27FC236}">
                    <a16:creationId xmlns:a16="http://schemas.microsoft.com/office/drawing/2014/main" id="{471BBFD9-5583-E27D-F045-F60244D86E53}"/>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1" name="Freeform 106">
                <a:extLst>
                  <a:ext uri="{FF2B5EF4-FFF2-40B4-BE49-F238E27FC236}">
                    <a16:creationId xmlns:a16="http://schemas.microsoft.com/office/drawing/2014/main" id="{DE89287B-ED1B-9741-083D-DA4C7A9E4D54}"/>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2" name="Freeform 107">
                <a:extLst>
                  <a:ext uri="{FF2B5EF4-FFF2-40B4-BE49-F238E27FC236}">
                    <a16:creationId xmlns:a16="http://schemas.microsoft.com/office/drawing/2014/main" id="{0D2C1686-A51A-1B6D-D862-BAABE24284F1}"/>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3" name="Freeform 108">
                <a:extLst>
                  <a:ext uri="{FF2B5EF4-FFF2-40B4-BE49-F238E27FC236}">
                    <a16:creationId xmlns:a16="http://schemas.microsoft.com/office/drawing/2014/main" id="{0F515940-91F7-4E45-5BFB-637D63C3DC4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4" name="Freeform 109">
                <a:extLst>
                  <a:ext uri="{FF2B5EF4-FFF2-40B4-BE49-F238E27FC236}">
                    <a16:creationId xmlns:a16="http://schemas.microsoft.com/office/drawing/2014/main" id="{82F388E9-D5D4-FFDB-3D40-C154F6A27F9A}"/>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5" name="Freeform 110">
                <a:extLst>
                  <a:ext uri="{FF2B5EF4-FFF2-40B4-BE49-F238E27FC236}">
                    <a16:creationId xmlns:a16="http://schemas.microsoft.com/office/drawing/2014/main" id="{66B2EF9D-D10C-337C-AF1F-28D274CBF4F1}"/>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6" name="Freeform 111">
                <a:extLst>
                  <a:ext uri="{FF2B5EF4-FFF2-40B4-BE49-F238E27FC236}">
                    <a16:creationId xmlns:a16="http://schemas.microsoft.com/office/drawing/2014/main" id="{7858BF68-B075-ED19-C2A9-A69173CAA6B9}"/>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7" name="Freeform 112">
                <a:extLst>
                  <a:ext uri="{FF2B5EF4-FFF2-40B4-BE49-F238E27FC236}">
                    <a16:creationId xmlns:a16="http://schemas.microsoft.com/office/drawing/2014/main" id="{5D73959F-720F-4607-21F5-03400643762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8" name="Freeform 113">
                <a:extLst>
                  <a:ext uri="{FF2B5EF4-FFF2-40B4-BE49-F238E27FC236}">
                    <a16:creationId xmlns:a16="http://schemas.microsoft.com/office/drawing/2014/main" id="{48876CD6-D289-089E-55B8-B335B975769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9" name="Freeform 114">
                <a:extLst>
                  <a:ext uri="{FF2B5EF4-FFF2-40B4-BE49-F238E27FC236}">
                    <a16:creationId xmlns:a16="http://schemas.microsoft.com/office/drawing/2014/main" id="{286CB99B-7777-864C-3DFD-334BB5F76D5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0" name="Freeform 115">
                <a:extLst>
                  <a:ext uri="{FF2B5EF4-FFF2-40B4-BE49-F238E27FC236}">
                    <a16:creationId xmlns:a16="http://schemas.microsoft.com/office/drawing/2014/main" id="{0959810F-1077-A37E-A035-DB2322D650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1" name="Freeform 116">
                <a:extLst>
                  <a:ext uri="{FF2B5EF4-FFF2-40B4-BE49-F238E27FC236}">
                    <a16:creationId xmlns:a16="http://schemas.microsoft.com/office/drawing/2014/main" id="{81064DC1-7BF6-5E43-5007-CDDBF2CC8A2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2" name="Freeform 117">
                <a:extLst>
                  <a:ext uri="{FF2B5EF4-FFF2-40B4-BE49-F238E27FC236}">
                    <a16:creationId xmlns:a16="http://schemas.microsoft.com/office/drawing/2014/main" id="{8800FA26-36CF-E942-FB6F-56740E2E5E1F}"/>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3" name="Freeform 118">
                <a:extLst>
                  <a:ext uri="{FF2B5EF4-FFF2-40B4-BE49-F238E27FC236}">
                    <a16:creationId xmlns:a16="http://schemas.microsoft.com/office/drawing/2014/main" id="{F89439F2-5A45-D7BF-055E-1CE24B9DD966}"/>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1" name="Group 87">
              <a:extLst>
                <a:ext uri="{FF2B5EF4-FFF2-40B4-BE49-F238E27FC236}">
                  <a16:creationId xmlns:a16="http://schemas.microsoft.com/office/drawing/2014/main" id="{EA945CA3-0A34-C50F-6E3E-128497C8F9AC}"/>
                </a:ext>
              </a:extLst>
            </p:cNvPr>
            <p:cNvGrpSpPr/>
            <p:nvPr/>
          </p:nvGrpSpPr>
          <p:grpSpPr>
            <a:xfrm>
              <a:off x="585108" y="2615167"/>
              <a:ext cx="114294" cy="509717"/>
              <a:chOff x="2073412" y="2165657"/>
              <a:chExt cx="314361" cy="1401954"/>
            </a:xfrm>
            <a:solidFill>
              <a:srgbClr val="0D0D0D">
                <a:alpha val="29804"/>
              </a:srgbClr>
            </a:solidFill>
          </p:grpSpPr>
          <p:sp>
            <p:nvSpPr>
              <p:cNvPr id="1315" name="Freeform 90">
                <a:extLst>
                  <a:ext uri="{FF2B5EF4-FFF2-40B4-BE49-F238E27FC236}">
                    <a16:creationId xmlns:a16="http://schemas.microsoft.com/office/drawing/2014/main" id="{51094081-D277-3455-018A-979029FE9004}"/>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16" name="Freeform 91">
                <a:extLst>
                  <a:ext uri="{FF2B5EF4-FFF2-40B4-BE49-F238E27FC236}">
                    <a16:creationId xmlns:a16="http://schemas.microsoft.com/office/drawing/2014/main" id="{3FFA2CB7-CE93-AE78-DFDB-82AF6B283FB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7" name="Freeform 92">
                <a:extLst>
                  <a:ext uri="{FF2B5EF4-FFF2-40B4-BE49-F238E27FC236}">
                    <a16:creationId xmlns:a16="http://schemas.microsoft.com/office/drawing/2014/main" id="{D1C22F0C-BBD2-C33A-B92F-85E0187FD340}"/>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8" name="Freeform 93">
                <a:extLst>
                  <a:ext uri="{FF2B5EF4-FFF2-40B4-BE49-F238E27FC236}">
                    <a16:creationId xmlns:a16="http://schemas.microsoft.com/office/drawing/2014/main" id="{52A8930E-B391-7CD3-7819-E0A94D6693A9}"/>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9" name="Freeform 94">
                <a:extLst>
                  <a:ext uri="{FF2B5EF4-FFF2-40B4-BE49-F238E27FC236}">
                    <a16:creationId xmlns:a16="http://schemas.microsoft.com/office/drawing/2014/main" id="{59765C5A-0578-BF61-2AB3-8758DA2F7EBD}"/>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0" name="Freeform 95">
                <a:extLst>
                  <a:ext uri="{FF2B5EF4-FFF2-40B4-BE49-F238E27FC236}">
                    <a16:creationId xmlns:a16="http://schemas.microsoft.com/office/drawing/2014/main" id="{D82B1199-5EF1-F799-EC3F-F8EF295A9282}"/>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1" name="Freeform 96">
                <a:extLst>
                  <a:ext uri="{FF2B5EF4-FFF2-40B4-BE49-F238E27FC236}">
                    <a16:creationId xmlns:a16="http://schemas.microsoft.com/office/drawing/2014/main" id="{445AE18D-F1A5-C610-B896-37B93C8DF28E}"/>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2" name="Freeform 97">
                <a:extLst>
                  <a:ext uri="{FF2B5EF4-FFF2-40B4-BE49-F238E27FC236}">
                    <a16:creationId xmlns:a16="http://schemas.microsoft.com/office/drawing/2014/main" id="{FBBEF61D-4DA6-DBD2-EB62-730D9D0A6AEE}"/>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3" name="Freeform 98">
                <a:extLst>
                  <a:ext uri="{FF2B5EF4-FFF2-40B4-BE49-F238E27FC236}">
                    <a16:creationId xmlns:a16="http://schemas.microsoft.com/office/drawing/2014/main" id="{FC097E0B-B1FB-38F5-5F9D-09871677D6C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4" name="Freeform 99">
                <a:extLst>
                  <a:ext uri="{FF2B5EF4-FFF2-40B4-BE49-F238E27FC236}">
                    <a16:creationId xmlns:a16="http://schemas.microsoft.com/office/drawing/2014/main" id="{C25B8B77-2471-F001-344C-77557FDE56C7}"/>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5" name="Freeform 100">
                <a:extLst>
                  <a:ext uri="{FF2B5EF4-FFF2-40B4-BE49-F238E27FC236}">
                    <a16:creationId xmlns:a16="http://schemas.microsoft.com/office/drawing/2014/main" id="{D99F2FD5-D7C0-9BED-2C21-7930FFDD40D3}"/>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6" name="Freeform 101">
                <a:extLst>
                  <a:ext uri="{FF2B5EF4-FFF2-40B4-BE49-F238E27FC236}">
                    <a16:creationId xmlns:a16="http://schemas.microsoft.com/office/drawing/2014/main" id="{7AD8B64E-57C5-EB97-9804-659F8317326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7" name="Freeform 102">
                <a:extLst>
                  <a:ext uri="{FF2B5EF4-FFF2-40B4-BE49-F238E27FC236}">
                    <a16:creationId xmlns:a16="http://schemas.microsoft.com/office/drawing/2014/main" id="{91A19915-1CBD-408C-F969-CD01336999FA}"/>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28" name="Freeform 103">
                <a:extLst>
                  <a:ext uri="{FF2B5EF4-FFF2-40B4-BE49-F238E27FC236}">
                    <a16:creationId xmlns:a16="http://schemas.microsoft.com/office/drawing/2014/main" id="{601FCDEC-9326-458E-CBF5-7A1363B8D790}"/>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82" name="Picture 89">
              <a:extLst>
                <a:ext uri="{FF2B5EF4-FFF2-40B4-BE49-F238E27FC236}">
                  <a16:creationId xmlns:a16="http://schemas.microsoft.com/office/drawing/2014/main" id="{9CEDFB22-16A6-176E-12A9-066067ABE02B}"/>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1394" y="2131496"/>
              <a:ext cx="365558" cy="381453"/>
            </a:xfrm>
            <a:prstGeom prst="rect">
              <a:avLst/>
            </a:prstGeom>
          </p:spPr>
        </p:pic>
        <p:grpSp>
          <p:nvGrpSpPr>
            <p:cNvPr id="1283" name="Group 84">
              <a:extLst>
                <a:ext uri="{FF2B5EF4-FFF2-40B4-BE49-F238E27FC236}">
                  <a16:creationId xmlns:a16="http://schemas.microsoft.com/office/drawing/2014/main" id="{E0EE50EF-D390-8C29-7E5E-3EC9383EEA7C}"/>
                </a:ext>
              </a:extLst>
            </p:cNvPr>
            <p:cNvGrpSpPr/>
            <p:nvPr/>
          </p:nvGrpSpPr>
          <p:grpSpPr>
            <a:xfrm flipH="1">
              <a:off x="1648119" y="2622854"/>
              <a:ext cx="86903" cy="514376"/>
              <a:chOff x="1611916" y="2139959"/>
              <a:chExt cx="264177" cy="1453393"/>
            </a:xfrm>
            <a:solidFill>
              <a:srgbClr val="0D0D0D">
                <a:alpha val="29804"/>
              </a:srgbClr>
            </a:solidFill>
          </p:grpSpPr>
          <p:sp>
            <p:nvSpPr>
              <p:cNvPr id="1300" name="Freeform 135">
                <a:extLst>
                  <a:ext uri="{FF2B5EF4-FFF2-40B4-BE49-F238E27FC236}">
                    <a16:creationId xmlns:a16="http://schemas.microsoft.com/office/drawing/2014/main" id="{973EA77D-F7F0-DE01-4746-A90E9C1B40E8}"/>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01" name="Freeform 136">
                <a:extLst>
                  <a:ext uri="{FF2B5EF4-FFF2-40B4-BE49-F238E27FC236}">
                    <a16:creationId xmlns:a16="http://schemas.microsoft.com/office/drawing/2014/main" id="{FDDE6EEC-7D69-0720-8FE8-426E335B754F}"/>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2" name="Freeform 137">
                <a:extLst>
                  <a:ext uri="{FF2B5EF4-FFF2-40B4-BE49-F238E27FC236}">
                    <a16:creationId xmlns:a16="http://schemas.microsoft.com/office/drawing/2014/main" id="{9D475F17-EB25-74F8-A457-3195C3C34CCD}"/>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3" name="Freeform 139">
                <a:extLst>
                  <a:ext uri="{FF2B5EF4-FFF2-40B4-BE49-F238E27FC236}">
                    <a16:creationId xmlns:a16="http://schemas.microsoft.com/office/drawing/2014/main" id="{80F103AD-DFDC-F3D9-828F-A59C7B27FA5F}"/>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4" name="Freeform 140">
                <a:extLst>
                  <a:ext uri="{FF2B5EF4-FFF2-40B4-BE49-F238E27FC236}">
                    <a16:creationId xmlns:a16="http://schemas.microsoft.com/office/drawing/2014/main" id="{F75C03D9-0A97-D7F9-B888-C48798465311}"/>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5" name="Freeform 145">
                <a:extLst>
                  <a:ext uri="{FF2B5EF4-FFF2-40B4-BE49-F238E27FC236}">
                    <a16:creationId xmlns:a16="http://schemas.microsoft.com/office/drawing/2014/main" id="{87F1FBB8-14AE-554D-DD00-C25D6F47F0D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6" name="Freeform 146">
                <a:extLst>
                  <a:ext uri="{FF2B5EF4-FFF2-40B4-BE49-F238E27FC236}">
                    <a16:creationId xmlns:a16="http://schemas.microsoft.com/office/drawing/2014/main" id="{0E944CF5-F51C-05DD-42E2-2D043D4E0187}"/>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7" name="Freeform 147">
                <a:extLst>
                  <a:ext uri="{FF2B5EF4-FFF2-40B4-BE49-F238E27FC236}">
                    <a16:creationId xmlns:a16="http://schemas.microsoft.com/office/drawing/2014/main" id="{8F01DDF5-13BF-DB29-6830-6A8010AA597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8" name="Freeform 148">
                <a:extLst>
                  <a:ext uri="{FF2B5EF4-FFF2-40B4-BE49-F238E27FC236}">
                    <a16:creationId xmlns:a16="http://schemas.microsoft.com/office/drawing/2014/main" id="{4995810F-06C4-585A-940E-5B91090389FE}"/>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9" name="Freeform 150">
                <a:extLst>
                  <a:ext uri="{FF2B5EF4-FFF2-40B4-BE49-F238E27FC236}">
                    <a16:creationId xmlns:a16="http://schemas.microsoft.com/office/drawing/2014/main" id="{73486C29-45FA-292A-567D-F61D29C88B35}"/>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0" name="Freeform 151">
                <a:extLst>
                  <a:ext uri="{FF2B5EF4-FFF2-40B4-BE49-F238E27FC236}">
                    <a16:creationId xmlns:a16="http://schemas.microsoft.com/office/drawing/2014/main" id="{3EE5FFBF-5B0E-B13A-EE1C-5015DFF699A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1" name="Freeform 155">
                <a:extLst>
                  <a:ext uri="{FF2B5EF4-FFF2-40B4-BE49-F238E27FC236}">
                    <a16:creationId xmlns:a16="http://schemas.microsoft.com/office/drawing/2014/main" id="{DE70B84E-3C70-551E-ACF7-8D283DA60BF2}"/>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2" name="Freeform 156">
                <a:extLst>
                  <a:ext uri="{FF2B5EF4-FFF2-40B4-BE49-F238E27FC236}">
                    <a16:creationId xmlns:a16="http://schemas.microsoft.com/office/drawing/2014/main" id="{AE3FFB84-3EBE-2C85-DD4F-E860F67D6398}"/>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3" name="Freeform 157">
                <a:extLst>
                  <a:ext uri="{FF2B5EF4-FFF2-40B4-BE49-F238E27FC236}">
                    <a16:creationId xmlns:a16="http://schemas.microsoft.com/office/drawing/2014/main" id="{02C678DF-F15A-6578-0120-8373A0EDAF4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4" name="Freeform 158">
                <a:extLst>
                  <a:ext uri="{FF2B5EF4-FFF2-40B4-BE49-F238E27FC236}">
                    <a16:creationId xmlns:a16="http://schemas.microsoft.com/office/drawing/2014/main" id="{31849A23-429D-11BD-8070-AEC5CD82C311}"/>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4" name="Group 85">
              <a:extLst>
                <a:ext uri="{FF2B5EF4-FFF2-40B4-BE49-F238E27FC236}">
                  <a16:creationId xmlns:a16="http://schemas.microsoft.com/office/drawing/2014/main" id="{967D59DF-23A6-4868-4F12-79043E5193AF}"/>
                </a:ext>
              </a:extLst>
            </p:cNvPr>
            <p:cNvGrpSpPr/>
            <p:nvPr/>
          </p:nvGrpSpPr>
          <p:grpSpPr>
            <a:xfrm flipH="1">
              <a:off x="1430562" y="2620492"/>
              <a:ext cx="114370" cy="509717"/>
              <a:chOff x="2073412" y="2165654"/>
              <a:chExt cx="314361" cy="1401954"/>
            </a:xfrm>
            <a:solidFill>
              <a:srgbClr val="0D0D0D">
                <a:alpha val="29804"/>
              </a:srgbClr>
            </a:solidFill>
          </p:grpSpPr>
          <p:sp>
            <p:nvSpPr>
              <p:cNvPr id="1286" name="Freeform 119">
                <a:extLst>
                  <a:ext uri="{FF2B5EF4-FFF2-40B4-BE49-F238E27FC236}">
                    <a16:creationId xmlns:a16="http://schemas.microsoft.com/office/drawing/2014/main" id="{96387112-5280-FA8A-E96C-E7646F93EBC5}"/>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87" name="Freeform 120">
                <a:extLst>
                  <a:ext uri="{FF2B5EF4-FFF2-40B4-BE49-F238E27FC236}">
                    <a16:creationId xmlns:a16="http://schemas.microsoft.com/office/drawing/2014/main" id="{F58BAA71-2A27-682A-372C-1E4EE08FBC76}"/>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8" name="Freeform 121">
                <a:extLst>
                  <a:ext uri="{FF2B5EF4-FFF2-40B4-BE49-F238E27FC236}">
                    <a16:creationId xmlns:a16="http://schemas.microsoft.com/office/drawing/2014/main" id="{1229B99B-80CA-8DF9-C74D-6F59B55F3EA2}"/>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9" name="Freeform 123">
                <a:extLst>
                  <a:ext uri="{FF2B5EF4-FFF2-40B4-BE49-F238E27FC236}">
                    <a16:creationId xmlns:a16="http://schemas.microsoft.com/office/drawing/2014/main" id="{712B9CB6-BBC4-9C6C-4262-E58D68BD111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0" name="Freeform 124">
                <a:extLst>
                  <a:ext uri="{FF2B5EF4-FFF2-40B4-BE49-F238E27FC236}">
                    <a16:creationId xmlns:a16="http://schemas.microsoft.com/office/drawing/2014/main" id="{4C571FF2-2224-A49D-8A78-D3E3C0516191}"/>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1" name="Freeform 125">
                <a:extLst>
                  <a:ext uri="{FF2B5EF4-FFF2-40B4-BE49-F238E27FC236}">
                    <a16:creationId xmlns:a16="http://schemas.microsoft.com/office/drawing/2014/main" id="{F48F56B1-116E-F0B0-B047-724906C26CFE}"/>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2" name="Freeform 126">
                <a:extLst>
                  <a:ext uri="{FF2B5EF4-FFF2-40B4-BE49-F238E27FC236}">
                    <a16:creationId xmlns:a16="http://schemas.microsoft.com/office/drawing/2014/main" id="{0DA83A45-AEF6-3D55-0BC6-87E6BA2015B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3" name="Freeform 127">
                <a:extLst>
                  <a:ext uri="{FF2B5EF4-FFF2-40B4-BE49-F238E27FC236}">
                    <a16:creationId xmlns:a16="http://schemas.microsoft.com/office/drawing/2014/main" id="{8B24B2C5-BE7C-A4AC-A205-16546B501C5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4" name="Freeform 128">
                <a:extLst>
                  <a:ext uri="{FF2B5EF4-FFF2-40B4-BE49-F238E27FC236}">
                    <a16:creationId xmlns:a16="http://schemas.microsoft.com/office/drawing/2014/main" id="{8A365356-E20B-C88A-D4B8-522547A767A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5" name="Freeform 129">
                <a:extLst>
                  <a:ext uri="{FF2B5EF4-FFF2-40B4-BE49-F238E27FC236}">
                    <a16:creationId xmlns:a16="http://schemas.microsoft.com/office/drawing/2014/main" id="{A0132A0E-D085-DF50-D778-310C4EA3FA35}"/>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6" name="Freeform 131">
                <a:extLst>
                  <a:ext uri="{FF2B5EF4-FFF2-40B4-BE49-F238E27FC236}">
                    <a16:creationId xmlns:a16="http://schemas.microsoft.com/office/drawing/2014/main" id="{4BD6D2A1-E01C-56F4-0BD1-A007304D0A3F}"/>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7" name="Freeform 132">
                <a:extLst>
                  <a:ext uri="{FF2B5EF4-FFF2-40B4-BE49-F238E27FC236}">
                    <a16:creationId xmlns:a16="http://schemas.microsoft.com/office/drawing/2014/main" id="{B5FDF354-86E3-8841-DA67-D79A93C0DD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8" name="Freeform 133">
                <a:extLst>
                  <a:ext uri="{FF2B5EF4-FFF2-40B4-BE49-F238E27FC236}">
                    <a16:creationId xmlns:a16="http://schemas.microsoft.com/office/drawing/2014/main" id="{9DCE110B-286D-7BE2-16DA-B43FED3BB775}"/>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99" name="Freeform 134">
                <a:extLst>
                  <a:ext uri="{FF2B5EF4-FFF2-40B4-BE49-F238E27FC236}">
                    <a16:creationId xmlns:a16="http://schemas.microsoft.com/office/drawing/2014/main" id="{0FF76932-AA7C-3272-A472-DDF137C7821D}"/>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grpSp>
        <p:pic>
          <p:nvPicPr>
            <p:cNvPr id="1285" name="Picture 88">
              <a:extLst>
                <a:ext uri="{FF2B5EF4-FFF2-40B4-BE49-F238E27FC236}">
                  <a16:creationId xmlns:a16="http://schemas.microsoft.com/office/drawing/2014/main" id="{1EDBF978-B04F-49C2-0C82-E1E495B7B765}"/>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1410051" y="2172742"/>
              <a:ext cx="393077" cy="340207"/>
            </a:xfrm>
            <a:prstGeom prst="rect">
              <a:avLst/>
            </a:prstGeom>
            <a:effectLst>
              <a:reflection endPos="0" dir="5400000" sy="-100000" algn="bl" rotWithShape="0"/>
            </a:effectLst>
          </p:spPr>
        </p:pic>
      </p:grpSp>
      <p:grpSp>
        <p:nvGrpSpPr>
          <p:cNvPr id="1344" name="Group 175">
            <a:extLst>
              <a:ext uri="{FF2B5EF4-FFF2-40B4-BE49-F238E27FC236}">
                <a16:creationId xmlns:a16="http://schemas.microsoft.com/office/drawing/2014/main" id="{EF97EF15-DD68-53A7-AA29-79C35B4BEDEA}"/>
              </a:ext>
            </a:extLst>
          </p:cNvPr>
          <p:cNvGrpSpPr/>
          <p:nvPr/>
        </p:nvGrpSpPr>
        <p:grpSpPr>
          <a:xfrm>
            <a:off x="8426084" y="1291990"/>
            <a:ext cx="1086115" cy="1078197"/>
            <a:chOff x="2980599" y="1597222"/>
            <a:chExt cx="814586" cy="808648"/>
          </a:xfrm>
        </p:grpSpPr>
        <p:sp>
          <p:nvSpPr>
            <p:cNvPr id="1345" name="Striped Right Arrow 169">
              <a:extLst>
                <a:ext uri="{FF2B5EF4-FFF2-40B4-BE49-F238E27FC236}">
                  <a16:creationId xmlns:a16="http://schemas.microsoft.com/office/drawing/2014/main" id="{1FC4277D-934C-C98D-1590-D93BBCDD6A6A}"/>
                </a:ext>
              </a:extLst>
            </p:cNvPr>
            <p:cNvSpPr/>
            <p:nvPr/>
          </p:nvSpPr>
          <p:spPr>
            <a:xfrm>
              <a:off x="2980599" y="1597222"/>
              <a:ext cx="761602" cy="808648"/>
            </a:xfrm>
            <a:prstGeom prst="striped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880" dirty="0"/>
            </a:p>
          </p:txBody>
        </p:sp>
        <p:sp>
          <p:nvSpPr>
            <p:cNvPr id="1346" name="TextBox 171">
              <a:extLst>
                <a:ext uri="{FF2B5EF4-FFF2-40B4-BE49-F238E27FC236}">
                  <a16:creationId xmlns:a16="http://schemas.microsoft.com/office/drawing/2014/main" id="{E1FC4374-B2A3-0A6B-8113-3DE895C7FD98}"/>
                </a:ext>
              </a:extLst>
            </p:cNvPr>
            <p:cNvSpPr txBox="1"/>
            <p:nvPr/>
          </p:nvSpPr>
          <p:spPr>
            <a:xfrm>
              <a:off x="3025571" y="1841010"/>
              <a:ext cx="769614" cy="284742"/>
            </a:xfrm>
            <a:prstGeom prst="rect">
              <a:avLst/>
            </a:prstGeom>
            <a:noFill/>
          </p:spPr>
          <p:txBody>
            <a:bodyPr wrap="square">
              <a:spAutoFit/>
            </a:bodyPr>
            <a:lstStyle/>
            <a:p>
              <a:r>
                <a:rPr lang="en-US" sz="1867"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Fusion</a:t>
              </a:r>
              <a:endParaRPr lang="en-IL" sz="2133"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350" name="Title 20">
            <a:extLst>
              <a:ext uri="{FF2B5EF4-FFF2-40B4-BE49-F238E27FC236}">
                <a16:creationId xmlns:a16="http://schemas.microsoft.com/office/drawing/2014/main" id="{FE72AE43-4D76-1266-6FFB-50D20CBDE4DA}"/>
              </a:ext>
            </a:extLst>
          </p:cNvPr>
          <p:cNvSpPr txBox="1">
            <a:spLocks/>
          </p:cNvSpPr>
          <p:nvPr/>
        </p:nvSpPr>
        <p:spPr>
          <a:xfrm>
            <a:off x="12787" y="8394699"/>
            <a:ext cx="3608236" cy="675725"/>
          </a:xfrm>
          <a:prstGeom prst="rect">
            <a:avLst/>
          </a:prstGeom>
        </p:spPr>
        <p:txBody>
          <a:bodyPr vert="horz" lIns="121920" tIns="60960" rIns="121920" bIns="60960" rtlCol="1" anchor="b">
            <a:noAutofit/>
          </a:bodyPr>
          <a:lstStyle/>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Gokhman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 Genetics</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Agoglia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p:txBody>
      </p:sp>
      <p:grpSp>
        <p:nvGrpSpPr>
          <p:cNvPr id="1351" name="Group 4">
            <a:extLst>
              <a:ext uri="{FF2B5EF4-FFF2-40B4-BE49-F238E27FC236}">
                <a16:creationId xmlns:a16="http://schemas.microsoft.com/office/drawing/2014/main" id="{B8EAED6C-E4EF-61F6-D561-6963DECC46CB}"/>
              </a:ext>
            </a:extLst>
          </p:cNvPr>
          <p:cNvGrpSpPr/>
          <p:nvPr/>
        </p:nvGrpSpPr>
        <p:grpSpPr>
          <a:xfrm>
            <a:off x="6938528" y="2495257"/>
            <a:ext cx="4245003" cy="4327997"/>
            <a:chOff x="7047754" y="1893462"/>
            <a:chExt cx="1481271" cy="1510231"/>
          </a:xfrm>
        </p:grpSpPr>
        <p:sp>
          <p:nvSpPr>
            <p:cNvPr id="1352" name="Oval 83">
              <a:extLst>
                <a:ext uri="{FF2B5EF4-FFF2-40B4-BE49-F238E27FC236}">
                  <a16:creationId xmlns:a16="http://schemas.microsoft.com/office/drawing/2014/main" id="{A378CD4E-0E08-E9BE-0320-231DFA8A400E}"/>
                </a:ext>
              </a:extLst>
            </p:cNvPr>
            <p:cNvSpPr/>
            <p:nvPr/>
          </p:nvSpPr>
          <p:spPr>
            <a:xfrm>
              <a:off x="7047754" y="1922423"/>
              <a:ext cx="1481271" cy="1481270"/>
            </a:xfrm>
            <a:prstGeom prst="ellipse">
              <a:avLst/>
            </a:prstGeom>
            <a:solidFill>
              <a:srgbClr val="A3D1A8"/>
            </a:solidFill>
            <a:ln>
              <a:solidFill>
                <a:srgbClr val="4E8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1440" dirty="0"/>
            </a:p>
          </p:txBody>
        </p:sp>
        <p:grpSp>
          <p:nvGrpSpPr>
            <p:cNvPr id="1353" name="Group 328">
              <a:extLst>
                <a:ext uri="{FF2B5EF4-FFF2-40B4-BE49-F238E27FC236}">
                  <a16:creationId xmlns:a16="http://schemas.microsoft.com/office/drawing/2014/main" id="{B77A29C2-6E75-B674-7C03-C4D0D0CE2642}"/>
                </a:ext>
              </a:extLst>
            </p:cNvPr>
            <p:cNvGrpSpPr/>
            <p:nvPr/>
          </p:nvGrpSpPr>
          <p:grpSpPr>
            <a:xfrm>
              <a:off x="8131638" y="2424371"/>
              <a:ext cx="135223" cy="743943"/>
              <a:chOff x="1611916" y="2139960"/>
              <a:chExt cx="264177" cy="1453392"/>
            </a:xfrm>
            <a:solidFill>
              <a:srgbClr val="0D0D0D">
                <a:alpha val="29804"/>
              </a:srgbClr>
            </a:solidFill>
          </p:grpSpPr>
          <p:sp>
            <p:nvSpPr>
              <p:cNvPr id="1402" name="Freeform 329">
                <a:extLst>
                  <a:ext uri="{FF2B5EF4-FFF2-40B4-BE49-F238E27FC236}">
                    <a16:creationId xmlns:a16="http://schemas.microsoft.com/office/drawing/2014/main" id="{48CE2282-D626-0A85-2FA3-2EA72D53AEDE}"/>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3" name="Freeform 330">
                <a:extLst>
                  <a:ext uri="{FF2B5EF4-FFF2-40B4-BE49-F238E27FC236}">
                    <a16:creationId xmlns:a16="http://schemas.microsoft.com/office/drawing/2014/main" id="{5A078A1B-E893-E44A-2287-CC65CDA598D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4" name="Freeform 331">
                <a:extLst>
                  <a:ext uri="{FF2B5EF4-FFF2-40B4-BE49-F238E27FC236}">
                    <a16:creationId xmlns:a16="http://schemas.microsoft.com/office/drawing/2014/main" id="{56F560D4-262C-B26A-087D-1DB209B6D88B}"/>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5" name="Freeform 332">
                <a:extLst>
                  <a:ext uri="{FF2B5EF4-FFF2-40B4-BE49-F238E27FC236}">
                    <a16:creationId xmlns:a16="http://schemas.microsoft.com/office/drawing/2014/main" id="{A248AB36-7C4F-7D28-4490-C769CBA07C0E}"/>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6" name="Freeform 333">
                <a:extLst>
                  <a:ext uri="{FF2B5EF4-FFF2-40B4-BE49-F238E27FC236}">
                    <a16:creationId xmlns:a16="http://schemas.microsoft.com/office/drawing/2014/main" id="{65E9BBAA-07E0-2DA5-709F-AB2612D6B62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7" name="Freeform 334">
                <a:extLst>
                  <a:ext uri="{FF2B5EF4-FFF2-40B4-BE49-F238E27FC236}">
                    <a16:creationId xmlns:a16="http://schemas.microsoft.com/office/drawing/2014/main" id="{3F3EFFD2-70B9-9052-79F4-95FCB2468D31}"/>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8" name="Freeform 335">
                <a:extLst>
                  <a:ext uri="{FF2B5EF4-FFF2-40B4-BE49-F238E27FC236}">
                    <a16:creationId xmlns:a16="http://schemas.microsoft.com/office/drawing/2014/main" id="{DBB086BA-81BB-50EE-6BE3-6733DB29CFC8}"/>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9" name="Freeform 336">
                <a:extLst>
                  <a:ext uri="{FF2B5EF4-FFF2-40B4-BE49-F238E27FC236}">
                    <a16:creationId xmlns:a16="http://schemas.microsoft.com/office/drawing/2014/main" id="{A5AAB2A9-0453-0D01-FDB6-B8FC3D9177E6}"/>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0" name="Freeform 337">
                <a:extLst>
                  <a:ext uri="{FF2B5EF4-FFF2-40B4-BE49-F238E27FC236}">
                    <a16:creationId xmlns:a16="http://schemas.microsoft.com/office/drawing/2014/main" id="{8546569C-BAFE-8143-F4FC-A1985577078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1" name="Freeform 338">
                <a:extLst>
                  <a:ext uri="{FF2B5EF4-FFF2-40B4-BE49-F238E27FC236}">
                    <a16:creationId xmlns:a16="http://schemas.microsoft.com/office/drawing/2014/main" id="{0C515C63-1B59-E312-BA1D-491E5A5C1CE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2" name="Freeform 339">
                <a:extLst>
                  <a:ext uri="{FF2B5EF4-FFF2-40B4-BE49-F238E27FC236}">
                    <a16:creationId xmlns:a16="http://schemas.microsoft.com/office/drawing/2014/main" id="{0E8771FF-AB84-9B06-C98A-3872D5BE6100}"/>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3" name="Freeform 340">
                <a:extLst>
                  <a:ext uri="{FF2B5EF4-FFF2-40B4-BE49-F238E27FC236}">
                    <a16:creationId xmlns:a16="http://schemas.microsoft.com/office/drawing/2014/main" id="{CEFBE015-317D-2F90-9CA0-0355443E1CF6}"/>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4" name="Freeform 341">
                <a:extLst>
                  <a:ext uri="{FF2B5EF4-FFF2-40B4-BE49-F238E27FC236}">
                    <a16:creationId xmlns:a16="http://schemas.microsoft.com/office/drawing/2014/main" id="{E7626AF2-546B-FC08-E29A-258E728C424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5" name="Freeform 342">
                <a:extLst>
                  <a:ext uri="{FF2B5EF4-FFF2-40B4-BE49-F238E27FC236}">
                    <a16:creationId xmlns:a16="http://schemas.microsoft.com/office/drawing/2014/main" id="{36D76443-D1CE-86A0-8E08-9CD65E8F94C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6" name="Freeform 343">
                <a:extLst>
                  <a:ext uri="{FF2B5EF4-FFF2-40B4-BE49-F238E27FC236}">
                    <a16:creationId xmlns:a16="http://schemas.microsoft.com/office/drawing/2014/main" id="{2423B773-EC17-C836-8B0C-7503C602520C}"/>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4" name="Group 344">
              <a:extLst>
                <a:ext uri="{FF2B5EF4-FFF2-40B4-BE49-F238E27FC236}">
                  <a16:creationId xmlns:a16="http://schemas.microsoft.com/office/drawing/2014/main" id="{67B506DD-B006-7913-939D-A7287059945A}"/>
                </a:ext>
              </a:extLst>
            </p:cNvPr>
            <p:cNvGrpSpPr/>
            <p:nvPr/>
          </p:nvGrpSpPr>
          <p:grpSpPr>
            <a:xfrm>
              <a:off x="7903084" y="2431109"/>
              <a:ext cx="165303" cy="737204"/>
              <a:chOff x="2073412" y="2165656"/>
              <a:chExt cx="314361" cy="1401953"/>
            </a:xfrm>
            <a:solidFill>
              <a:srgbClr val="0D0D0D">
                <a:alpha val="29804"/>
              </a:srgbClr>
            </a:solidFill>
          </p:grpSpPr>
          <p:sp>
            <p:nvSpPr>
              <p:cNvPr id="1388" name="Freeform 345">
                <a:extLst>
                  <a:ext uri="{FF2B5EF4-FFF2-40B4-BE49-F238E27FC236}">
                    <a16:creationId xmlns:a16="http://schemas.microsoft.com/office/drawing/2014/main" id="{5E81A7B5-660A-BAE3-0562-4172D90CA617}"/>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89" name="Freeform 346">
                <a:extLst>
                  <a:ext uri="{FF2B5EF4-FFF2-40B4-BE49-F238E27FC236}">
                    <a16:creationId xmlns:a16="http://schemas.microsoft.com/office/drawing/2014/main" id="{EA993097-22A7-D5EC-B3EB-ACFFD59464F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0" name="Freeform 347">
                <a:extLst>
                  <a:ext uri="{FF2B5EF4-FFF2-40B4-BE49-F238E27FC236}">
                    <a16:creationId xmlns:a16="http://schemas.microsoft.com/office/drawing/2014/main" id="{84B3C1FE-9477-A8BC-BB80-0A98245AA34B}"/>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1" name="Freeform 348">
                <a:extLst>
                  <a:ext uri="{FF2B5EF4-FFF2-40B4-BE49-F238E27FC236}">
                    <a16:creationId xmlns:a16="http://schemas.microsoft.com/office/drawing/2014/main" id="{E4CBDA0C-B52C-375A-AA52-DA04B07080DC}"/>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2" name="Freeform 349">
                <a:extLst>
                  <a:ext uri="{FF2B5EF4-FFF2-40B4-BE49-F238E27FC236}">
                    <a16:creationId xmlns:a16="http://schemas.microsoft.com/office/drawing/2014/main" id="{19A70CBD-C527-1862-375D-5706BBD7817B}"/>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3" name="Freeform 350">
                <a:extLst>
                  <a:ext uri="{FF2B5EF4-FFF2-40B4-BE49-F238E27FC236}">
                    <a16:creationId xmlns:a16="http://schemas.microsoft.com/office/drawing/2014/main" id="{A131E514-C347-2E1E-747A-6F55F2D6ADB8}"/>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4" name="Freeform 351">
                <a:extLst>
                  <a:ext uri="{FF2B5EF4-FFF2-40B4-BE49-F238E27FC236}">
                    <a16:creationId xmlns:a16="http://schemas.microsoft.com/office/drawing/2014/main" id="{2C026A4B-4AAB-F0F8-E8FF-2E0E1FCE955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5" name="Freeform 352">
                <a:extLst>
                  <a:ext uri="{FF2B5EF4-FFF2-40B4-BE49-F238E27FC236}">
                    <a16:creationId xmlns:a16="http://schemas.microsoft.com/office/drawing/2014/main" id="{F5EAF31C-5B9F-812C-A4DF-329A6BCA18A9}"/>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6" name="Freeform 353">
                <a:extLst>
                  <a:ext uri="{FF2B5EF4-FFF2-40B4-BE49-F238E27FC236}">
                    <a16:creationId xmlns:a16="http://schemas.microsoft.com/office/drawing/2014/main" id="{3C078E89-EE65-94F2-3400-FF3F6FB85B2C}"/>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7" name="Freeform 354">
                <a:extLst>
                  <a:ext uri="{FF2B5EF4-FFF2-40B4-BE49-F238E27FC236}">
                    <a16:creationId xmlns:a16="http://schemas.microsoft.com/office/drawing/2014/main" id="{3615B0A1-C1C6-6931-ECE7-B156AFBAE2E2}"/>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8" name="Freeform 355">
                <a:extLst>
                  <a:ext uri="{FF2B5EF4-FFF2-40B4-BE49-F238E27FC236}">
                    <a16:creationId xmlns:a16="http://schemas.microsoft.com/office/drawing/2014/main" id="{0F5F7BD3-D81E-D867-51AD-E023DC40ECEA}"/>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9" name="Freeform 356">
                <a:extLst>
                  <a:ext uri="{FF2B5EF4-FFF2-40B4-BE49-F238E27FC236}">
                    <a16:creationId xmlns:a16="http://schemas.microsoft.com/office/drawing/2014/main" id="{400E0183-B73D-57CB-9500-285C3E5C5D9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0" name="Freeform 357">
                <a:extLst>
                  <a:ext uri="{FF2B5EF4-FFF2-40B4-BE49-F238E27FC236}">
                    <a16:creationId xmlns:a16="http://schemas.microsoft.com/office/drawing/2014/main" id="{B2645A9C-5A3D-3622-0814-50FE06F93581}"/>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1" name="Freeform 358">
                <a:extLst>
                  <a:ext uri="{FF2B5EF4-FFF2-40B4-BE49-F238E27FC236}">
                    <a16:creationId xmlns:a16="http://schemas.microsoft.com/office/drawing/2014/main" id="{1331C891-6618-E546-6D3B-0F630BFB5D1C}"/>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5" name="Group 359">
              <a:extLst>
                <a:ext uri="{FF2B5EF4-FFF2-40B4-BE49-F238E27FC236}">
                  <a16:creationId xmlns:a16="http://schemas.microsoft.com/office/drawing/2014/main" id="{6DA7372D-DC2A-ED26-1F72-77BD5C6EF20F}"/>
                </a:ext>
              </a:extLst>
            </p:cNvPr>
            <p:cNvGrpSpPr/>
            <p:nvPr/>
          </p:nvGrpSpPr>
          <p:grpSpPr>
            <a:xfrm flipH="1">
              <a:off x="7527307" y="2424371"/>
              <a:ext cx="125688" cy="743943"/>
              <a:chOff x="1611916" y="2139960"/>
              <a:chExt cx="264177" cy="1453392"/>
            </a:xfrm>
            <a:solidFill>
              <a:srgbClr val="0D0D0D">
                <a:alpha val="29804"/>
              </a:srgbClr>
            </a:solidFill>
          </p:grpSpPr>
          <p:sp>
            <p:nvSpPr>
              <p:cNvPr id="1373" name="Freeform 360">
                <a:extLst>
                  <a:ext uri="{FF2B5EF4-FFF2-40B4-BE49-F238E27FC236}">
                    <a16:creationId xmlns:a16="http://schemas.microsoft.com/office/drawing/2014/main" id="{CCCACAC1-C526-FF30-F147-15E34809E7A0}"/>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dirty="0"/>
              </a:p>
            </p:txBody>
          </p:sp>
          <p:sp>
            <p:nvSpPr>
              <p:cNvPr id="1374" name="Freeform 361">
                <a:extLst>
                  <a:ext uri="{FF2B5EF4-FFF2-40B4-BE49-F238E27FC236}">
                    <a16:creationId xmlns:a16="http://schemas.microsoft.com/office/drawing/2014/main" id="{891B98B1-CA2D-8884-7584-AA679F5C111A}"/>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5" name="Freeform 362">
                <a:extLst>
                  <a:ext uri="{FF2B5EF4-FFF2-40B4-BE49-F238E27FC236}">
                    <a16:creationId xmlns:a16="http://schemas.microsoft.com/office/drawing/2014/main" id="{29641A9A-9DAB-553A-9308-6A8D49B0E010}"/>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6" name="Freeform 363">
                <a:extLst>
                  <a:ext uri="{FF2B5EF4-FFF2-40B4-BE49-F238E27FC236}">
                    <a16:creationId xmlns:a16="http://schemas.microsoft.com/office/drawing/2014/main" id="{E5D06FCB-B43B-14AF-A1AB-438D9CD9723A}"/>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7" name="Freeform 364">
                <a:extLst>
                  <a:ext uri="{FF2B5EF4-FFF2-40B4-BE49-F238E27FC236}">
                    <a16:creationId xmlns:a16="http://schemas.microsoft.com/office/drawing/2014/main" id="{3ADADAE4-B917-E9B4-0C3A-EE2E2692B712}"/>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8" name="Freeform 365">
                <a:extLst>
                  <a:ext uri="{FF2B5EF4-FFF2-40B4-BE49-F238E27FC236}">
                    <a16:creationId xmlns:a16="http://schemas.microsoft.com/office/drawing/2014/main" id="{C7B8B71A-5B69-A94F-A349-3CCFBC7B62F7}"/>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9" name="Freeform 366">
                <a:extLst>
                  <a:ext uri="{FF2B5EF4-FFF2-40B4-BE49-F238E27FC236}">
                    <a16:creationId xmlns:a16="http://schemas.microsoft.com/office/drawing/2014/main" id="{C038A0FD-26D0-0BF4-779B-0293189063DA}"/>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0" name="Freeform 367">
                <a:extLst>
                  <a:ext uri="{FF2B5EF4-FFF2-40B4-BE49-F238E27FC236}">
                    <a16:creationId xmlns:a16="http://schemas.microsoft.com/office/drawing/2014/main" id="{21D7238C-410D-274E-8273-05783EBEF3D4}"/>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1" name="Freeform 368">
                <a:extLst>
                  <a:ext uri="{FF2B5EF4-FFF2-40B4-BE49-F238E27FC236}">
                    <a16:creationId xmlns:a16="http://schemas.microsoft.com/office/drawing/2014/main" id="{82A34AF9-56CA-60E0-D19A-04D525DADD76}"/>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2" name="Freeform 369">
                <a:extLst>
                  <a:ext uri="{FF2B5EF4-FFF2-40B4-BE49-F238E27FC236}">
                    <a16:creationId xmlns:a16="http://schemas.microsoft.com/office/drawing/2014/main" id="{3AD851DB-0978-166E-B04C-EFA33381650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3" name="Freeform 370">
                <a:extLst>
                  <a:ext uri="{FF2B5EF4-FFF2-40B4-BE49-F238E27FC236}">
                    <a16:creationId xmlns:a16="http://schemas.microsoft.com/office/drawing/2014/main" id="{663CEEB6-0217-FE8E-5170-B59BB3AD0BCD}"/>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4" name="Freeform 371">
                <a:extLst>
                  <a:ext uri="{FF2B5EF4-FFF2-40B4-BE49-F238E27FC236}">
                    <a16:creationId xmlns:a16="http://schemas.microsoft.com/office/drawing/2014/main" id="{CA12FD1A-5D77-03E9-5A28-259F44EB49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5" name="Freeform 372">
                <a:extLst>
                  <a:ext uri="{FF2B5EF4-FFF2-40B4-BE49-F238E27FC236}">
                    <a16:creationId xmlns:a16="http://schemas.microsoft.com/office/drawing/2014/main" id="{07F38551-2DB8-E65D-F3C0-7CCED135425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6" name="Freeform 373">
                <a:extLst>
                  <a:ext uri="{FF2B5EF4-FFF2-40B4-BE49-F238E27FC236}">
                    <a16:creationId xmlns:a16="http://schemas.microsoft.com/office/drawing/2014/main" id="{522DA525-F22C-BB2E-1D98-4973A3333D11}"/>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7" name="Freeform 374">
                <a:extLst>
                  <a:ext uri="{FF2B5EF4-FFF2-40B4-BE49-F238E27FC236}">
                    <a16:creationId xmlns:a16="http://schemas.microsoft.com/office/drawing/2014/main" id="{A8A2412C-073E-FD17-D061-A7D12762A9FB}"/>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6" name="Group 375">
              <a:extLst>
                <a:ext uri="{FF2B5EF4-FFF2-40B4-BE49-F238E27FC236}">
                  <a16:creationId xmlns:a16="http://schemas.microsoft.com/office/drawing/2014/main" id="{17760D7B-CB17-EBBD-9B14-950435356438}"/>
                </a:ext>
              </a:extLst>
            </p:cNvPr>
            <p:cNvGrpSpPr/>
            <p:nvPr/>
          </p:nvGrpSpPr>
          <p:grpSpPr>
            <a:xfrm flipH="1">
              <a:off x="7287457" y="2431109"/>
              <a:ext cx="165414" cy="737204"/>
              <a:chOff x="2073412" y="2165656"/>
              <a:chExt cx="314361" cy="1401953"/>
            </a:xfrm>
            <a:solidFill>
              <a:srgbClr val="0D0D0D">
                <a:alpha val="29804"/>
              </a:srgbClr>
            </a:solidFill>
          </p:grpSpPr>
          <p:sp>
            <p:nvSpPr>
              <p:cNvPr id="1359" name="Freeform 376">
                <a:extLst>
                  <a:ext uri="{FF2B5EF4-FFF2-40B4-BE49-F238E27FC236}">
                    <a16:creationId xmlns:a16="http://schemas.microsoft.com/office/drawing/2014/main" id="{ACE710DA-B012-1E1A-8B37-CBBB531BB7DE}"/>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60" name="Freeform 377">
                <a:extLst>
                  <a:ext uri="{FF2B5EF4-FFF2-40B4-BE49-F238E27FC236}">
                    <a16:creationId xmlns:a16="http://schemas.microsoft.com/office/drawing/2014/main" id="{6559BD76-EE49-2070-0E30-0E7ED22197C7}"/>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1" name="Freeform 378">
                <a:extLst>
                  <a:ext uri="{FF2B5EF4-FFF2-40B4-BE49-F238E27FC236}">
                    <a16:creationId xmlns:a16="http://schemas.microsoft.com/office/drawing/2014/main" id="{F37D7EF4-1008-CAF3-D7E5-80F9E973AA27}"/>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2" name="Freeform 379">
                <a:extLst>
                  <a:ext uri="{FF2B5EF4-FFF2-40B4-BE49-F238E27FC236}">
                    <a16:creationId xmlns:a16="http://schemas.microsoft.com/office/drawing/2014/main" id="{8FD1DDEF-AA07-0CC1-46FE-D48CE7C0C78F}"/>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3" name="Freeform 380">
                <a:extLst>
                  <a:ext uri="{FF2B5EF4-FFF2-40B4-BE49-F238E27FC236}">
                    <a16:creationId xmlns:a16="http://schemas.microsoft.com/office/drawing/2014/main" id="{1B599911-AB2C-0061-45D9-E9098565ECE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4" name="Freeform 381">
                <a:extLst>
                  <a:ext uri="{FF2B5EF4-FFF2-40B4-BE49-F238E27FC236}">
                    <a16:creationId xmlns:a16="http://schemas.microsoft.com/office/drawing/2014/main" id="{7E63BF8B-BB75-DB40-197F-3648A042713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5" name="Freeform 382">
                <a:extLst>
                  <a:ext uri="{FF2B5EF4-FFF2-40B4-BE49-F238E27FC236}">
                    <a16:creationId xmlns:a16="http://schemas.microsoft.com/office/drawing/2014/main" id="{9DEE0A3B-F791-E171-2183-A508372CE47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6" name="Freeform 383">
                <a:extLst>
                  <a:ext uri="{FF2B5EF4-FFF2-40B4-BE49-F238E27FC236}">
                    <a16:creationId xmlns:a16="http://schemas.microsoft.com/office/drawing/2014/main" id="{660DD138-2BD9-4768-FC95-78BA1C3D200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7" name="Freeform 384">
                <a:extLst>
                  <a:ext uri="{FF2B5EF4-FFF2-40B4-BE49-F238E27FC236}">
                    <a16:creationId xmlns:a16="http://schemas.microsoft.com/office/drawing/2014/main" id="{4FE6C163-0408-6831-497D-83681F858F14}"/>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sp>
            <p:nvSpPr>
              <p:cNvPr id="1368" name="Freeform 385">
                <a:extLst>
                  <a:ext uri="{FF2B5EF4-FFF2-40B4-BE49-F238E27FC236}">
                    <a16:creationId xmlns:a16="http://schemas.microsoft.com/office/drawing/2014/main" id="{C48DD43E-3150-0BA0-3B7D-2C01BF523010}"/>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9" name="Freeform 386">
                <a:extLst>
                  <a:ext uri="{FF2B5EF4-FFF2-40B4-BE49-F238E27FC236}">
                    <a16:creationId xmlns:a16="http://schemas.microsoft.com/office/drawing/2014/main" id="{9C762927-6882-548C-0ABA-8D3490C6C0A6}"/>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0" name="Freeform 387">
                <a:extLst>
                  <a:ext uri="{FF2B5EF4-FFF2-40B4-BE49-F238E27FC236}">
                    <a16:creationId xmlns:a16="http://schemas.microsoft.com/office/drawing/2014/main" id="{62E78EEE-9323-BB17-5725-5F6900BF53F5}"/>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1" name="Freeform 388">
                <a:extLst>
                  <a:ext uri="{FF2B5EF4-FFF2-40B4-BE49-F238E27FC236}">
                    <a16:creationId xmlns:a16="http://schemas.microsoft.com/office/drawing/2014/main" id="{3B1386EA-E551-34B5-3827-2BA068A9FB00}"/>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72" name="Freeform 389">
                <a:extLst>
                  <a:ext uri="{FF2B5EF4-FFF2-40B4-BE49-F238E27FC236}">
                    <a16:creationId xmlns:a16="http://schemas.microsoft.com/office/drawing/2014/main" id="{415A8B48-D7E4-468E-D045-1C092EC3090E}"/>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rtl="0"/>
                <a:endParaRPr lang="en-US" sz="2880"/>
              </a:p>
            </p:txBody>
          </p:sp>
        </p:grpSp>
        <p:pic>
          <p:nvPicPr>
            <p:cNvPr id="1357" name="Picture 390">
              <a:extLst>
                <a:ext uri="{FF2B5EF4-FFF2-40B4-BE49-F238E27FC236}">
                  <a16:creationId xmlns:a16="http://schemas.microsoft.com/office/drawing/2014/main" id="{3F71B508-9ECC-3BC9-7ED9-AB169DA0BFDF}"/>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7284255" y="1893462"/>
              <a:ext cx="421980" cy="440328"/>
            </a:xfrm>
            <a:prstGeom prst="rect">
              <a:avLst/>
            </a:prstGeom>
          </p:spPr>
        </p:pic>
        <p:pic>
          <p:nvPicPr>
            <p:cNvPr id="1358" name="Picture 392">
              <a:extLst>
                <a:ext uri="{FF2B5EF4-FFF2-40B4-BE49-F238E27FC236}">
                  <a16:creationId xmlns:a16="http://schemas.microsoft.com/office/drawing/2014/main" id="{630618BA-8ACC-975F-41A8-9F4B07BFA1D1}"/>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7848885" y="1929777"/>
              <a:ext cx="475867" cy="411861"/>
            </a:xfrm>
            <a:prstGeom prst="rect">
              <a:avLst/>
            </a:prstGeom>
            <a:effectLst>
              <a:reflection endPos="0" dir="5400000" sy="-100000" algn="bl" rotWithShape="0"/>
            </a:effectLst>
          </p:spPr>
        </p:pic>
      </p:grpSp>
      <p:grpSp>
        <p:nvGrpSpPr>
          <p:cNvPr id="1417" name="Group 5">
            <a:extLst>
              <a:ext uri="{FF2B5EF4-FFF2-40B4-BE49-F238E27FC236}">
                <a16:creationId xmlns:a16="http://schemas.microsoft.com/office/drawing/2014/main" id="{80652D1E-512F-21A9-9007-49DCBC22F8F1}"/>
              </a:ext>
            </a:extLst>
          </p:cNvPr>
          <p:cNvGrpSpPr/>
          <p:nvPr/>
        </p:nvGrpSpPr>
        <p:grpSpPr>
          <a:xfrm>
            <a:off x="7474382" y="4621486"/>
            <a:ext cx="633409" cy="591601"/>
            <a:chOff x="964222" y="1913482"/>
            <a:chExt cx="2041451" cy="1396429"/>
          </a:xfrm>
        </p:grpSpPr>
        <p:sp>
          <p:nvSpPr>
            <p:cNvPr id="1418" name="Freeform 24">
              <a:extLst>
                <a:ext uri="{FF2B5EF4-FFF2-40B4-BE49-F238E27FC236}">
                  <a16:creationId xmlns:a16="http://schemas.microsoft.com/office/drawing/2014/main" id="{914C5666-35FA-1B9B-FDE0-8716984BDC8E}"/>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19" name="Freeform 25">
              <a:extLst>
                <a:ext uri="{FF2B5EF4-FFF2-40B4-BE49-F238E27FC236}">
                  <a16:creationId xmlns:a16="http://schemas.microsoft.com/office/drawing/2014/main" id="{81813CE2-333E-430F-826D-7BB47E82C68D}"/>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0" name="Freeform 26">
              <a:extLst>
                <a:ext uri="{FF2B5EF4-FFF2-40B4-BE49-F238E27FC236}">
                  <a16:creationId xmlns:a16="http://schemas.microsoft.com/office/drawing/2014/main" id="{019E7360-FA37-86EB-BE5E-6214D13F5D12}"/>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1" name="Freeform 27">
              <a:extLst>
                <a:ext uri="{FF2B5EF4-FFF2-40B4-BE49-F238E27FC236}">
                  <a16:creationId xmlns:a16="http://schemas.microsoft.com/office/drawing/2014/main" id="{20BE431E-A404-4EA0-2222-E4997A9A26B3}"/>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2" name="Freeform 28">
              <a:extLst>
                <a:ext uri="{FF2B5EF4-FFF2-40B4-BE49-F238E27FC236}">
                  <a16:creationId xmlns:a16="http://schemas.microsoft.com/office/drawing/2014/main" id="{FC23C34E-B7F2-66A3-72E7-DD464CBB4A9D}"/>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23" name="Group 29">
            <a:extLst>
              <a:ext uri="{FF2B5EF4-FFF2-40B4-BE49-F238E27FC236}">
                <a16:creationId xmlns:a16="http://schemas.microsoft.com/office/drawing/2014/main" id="{0DDB0BEB-2B83-1ADF-B20C-D0F0A2DDE205}"/>
              </a:ext>
            </a:extLst>
          </p:cNvPr>
          <p:cNvGrpSpPr/>
          <p:nvPr/>
        </p:nvGrpSpPr>
        <p:grpSpPr>
          <a:xfrm>
            <a:off x="9126258" y="4849041"/>
            <a:ext cx="633409" cy="289793"/>
            <a:chOff x="964222" y="2625878"/>
            <a:chExt cx="2041451" cy="684033"/>
          </a:xfrm>
        </p:grpSpPr>
        <p:sp>
          <p:nvSpPr>
            <p:cNvPr id="1424" name="Freeform 30">
              <a:extLst>
                <a:ext uri="{FF2B5EF4-FFF2-40B4-BE49-F238E27FC236}">
                  <a16:creationId xmlns:a16="http://schemas.microsoft.com/office/drawing/2014/main" id="{A50F91FA-179A-2D67-7D55-464BBB4964D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5" name="Freeform 31">
              <a:extLst>
                <a:ext uri="{FF2B5EF4-FFF2-40B4-BE49-F238E27FC236}">
                  <a16:creationId xmlns:a16="http://schemas.microsoft.com/office/drawing/2014/main" id="{3707D268-7DD1-5884-3C59-1BAD9FEB57CA}"/>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grpSp>
        <p:nvGrpSpPr>
          <p:cNvPr id="1426" name="Group 38">
            <a:extLst>
              <a:ext uri="{FF2B5EF4-FFF2-40B4-BE49-F238E27FC236}">
                <a16:creationId xmlns:a16="http://schemas.microsoft.com/office/drawing/2014/main" id="{5D4E3491-25D6-CCFB-9FA4-3281839411B3}"/>
              </a:ext>
            </a:extLst>
          </p:cNvPr>
          <p:cNvGrpSpPr/>
          <p:nvPr/>
        </p:nvGrpSpPr>
        <p:grpSpPr>
          <a:xfrm>
            <a:off x="8184607" y="4621486"/>
            <a:ext cx="633409" cy="591601"/>
            <a:chOff x="964222" y="1913482"/>
            <a:chExt cx="2041451" cy="1396429"/>
          </a:xfrm>
        </p:grpSpPr>
        <p:sp>
          <p:nvSpPr>
            <p:cNvPr id="1427" name="Freeform 39">
              <a:extLst>
                <a:ext uri="{FF2B5EF4-FFF2-40B4-BE49-F238E27FC236}">
                  <a16:creationId xmlns:a16="http://schemas.microsoft.com/office/drawing/2014/main" id="{A9A1532B-E46C-2725-8080-7A597A2C2977}"/>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8" name="Freeform 40">
              <a:extLst>
                <a:ext uri="{FF2B5EF4-FFF2-40B4-BE49-F238E27FC236}">
                  <a16:creationId xmlns:a16="http://schemas.microsoft.com/office/drawing/2014/main" id="{F4D3CA74-3F51-0778-5D62-FC3614C83CCB}"/>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9" name="Freeform 41">
              <a:extLst>
                <a:ext uri="{FF2B5EF4-FFF2-40B4-BE49-F238E27FC236}">
                  <a16:creationId xmlns:a16="http://schemas.microsoft.com/office/drawing/2014/main" id="{C2DD8035-1315-6366-D8D3-250A09E06DC3}"/>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0" name="Freeform 42">
              <a:extLst>
                <a:ext uri="{FF2B5EF4-FFF2-40B4-BE49-F238E27FC236}">
                  <a16:creationId xmlns:a16="http://schemas.microsoft.com/office/drawing/2014/main" id="{12A09078-71E3-AF60-81E0-DB4DB1A92804}"/>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1" name="Freeform 43">
              <a:extLst>
                <a:ext uri="{FF2B5EF4-FFF2-40B4-BE49-F238E27FC236}">
                  <a16:creationId xmlns:a16="http://schemas.microsoft.com/office/drawing/2014/main" id="{539821EF-B27E-9CD3-0EC8-A179A465C283}"/>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32" name="Group 44">
            <a:extLst>
              <a:ext uri="{FF2B5EF4-FFF2-40B4-BE49-F238E27FC236}">
                <a16:creationId xmlns:a16="http://schemas.microsoft.com/office/drawing/2014/main" id="{92011886-1271-1931-EC42-B33DB1C339F6}"/>
              </a:ext>
            </a:extLst>
          </p:cNvPr>
          <p:cNvGrpSpPr/>
          <p:nvPr/>
        </p:nvGrpSpPr>
        <p:grpSpPr>
          <a:xfrm>
            <a:off x="9866983" y="4851128"/>
            <a:ext cx="633409" cy="289793"/>
            <a:chOff x="964222" y="2625878"/>
            <a:chExt cx="2041451" cy="684033"/>
          </a:xfrm>
        </p:grpSpPr>
        <p:sp>
          <p:nvSpPr>
            <p:cNvPr id="1433" name="Freeform 45">
              <a:extLst>
                <a:ext uri="{FF2B5EF4-FFF2-40B4-BE49-F238E27FC236}">
                  <a16:creationId xmlns:a16="http://schemas.microsoft.com/office/drawing/2014/main" id="{D4D2D47B-7655-2F06-3D68-0BE2AEAD412A}"/>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4" name="Freeform 46">
              <a:extLst>
                <a:ext uri="{FF2B5EF4-FFF2-40B4-BE49-F238E27FC236}">
                  <a16:creationId xmlns:a16="http://schemas.microsoft.com/office/drawing/2014/main" id="{1919521E-FA9C-5919-B8D0-EDC00E22886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sp>
        <p:nvSpPr>
          <p:cNvPr id="3" name="מציין מיקום תוכן 2">
            <a:extLst>
              <a:ext uri="{FF2B5EF4-FFF2-40B4-BE49-F238E27FC236}">
                <a16:creationId xmlns:a16="http://schemas.microsoft.com/office/drawing/2014/main" id="{ED9996A1-CA0D-D14D-E52A-BFB7819F4096}"/>
              </a:ext>
            </a:extLst>
          </p:cNvPr>
          <p:cNvSpPr txBox="1">
            <a:spLocks/>
          </p:cNvSpPr>
          <p:nvPr/>
        </p:nvSpPr>
        <p:spPr>
          <a:xfrm>
            <a:off x="424673" y="1211711"/>
            <a:ext cx="2403519" cy="538750"/>
          </a:xfrm>
          <a:prstGeom prst="rect">
            <a:avLst/>
          </a:prstGeom>
        </p:spPr>
        <p:txBody>
          <a:bodyPr vert="horz" lIns="91440" tIns="45720" rIns="91440" bIns="45720" rtlCol="1">
            <a:normAutofit fontScale="925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Adaptive change</a:t>
            </a:r>
          </a:p>
        </p:txBody>
      </p:sp>
    </p:spTree>
    <p:extLst>
      <p:ext uri="{BB962C8B-B14F-4D97-AF65-F5344CB8AC3E}">
        <p14:creationId xmlns:p14="http://schemas.microsoft.com/office/powerpoint/2010/main" val="229915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DB8A-F329-066D-DECD-9917AF05851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F9BD07F-9669-457A-D5D7-523BF791B40A}"/>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Filter disease list based on our available data</a:t>
            </a:r>
            <a:endParaRPr lang="he-IL" dirty="0"/>
          </a:p>
        </p:txBody>
      </p:sp>
      <p:pic>
        <p:nvPicPr>
          <p:cNvPr id="4" name="Picture 6" descr="‪How to search for literature? – JEPS Bulletin‬‏">
            <a:extLst>
              <a:ext uri="{FF2B5EF4-FFF2-40B4-BE49-F238E27FC236}">
                <a16:creationId xmlns:a16="http://schemas.microsoft.com/office/drawing/2014/main" id="{5813BF8E-8145-29F4-BB85-BF402C068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141" y="1880787"/>
            <a:ext cx="3999694" cy="4612088"/>
          </a:xfrm>
          <a:prstGeom prst="rect">
            <a:avLst/>
          </a:prstGeom>
          <a:noFill/>
          <a:extLst>
            <a:ext uri="{909E8E84-426E-40DD-AFC4-6F175D3DCCD1}">
              <a14:hiddenFill xmlns:a14="http://schemas.microsoft.com/office/drawing/2010/main">
                <a:solidFill>
                  <a:srgbClr val="FFFFFF"/>
                </a:solidFill>
              </a14:hiddenFill>
            </a:ext>
          </a:extLst>
        </p:spPr>
      </p:pic>
      <p:sp>
        <p:nvSpPr>
          <p:cNvPr id="5" name="מציין מיקום תוכן 2">
            <a:extLst>
              <a:ext uri="{FF2B5EF4-FFF2-40B4-BE49-F238E27FC236}">
                <a16:creationId xmlns:a16="http://schemas.microsoft.com/office/drawing/2014/main" id="{F430CEE6-B8B5-9F49-48E1-198B4749B9F4}"/>
              </a:ext>
            </a:extLst>
          </p:cNvPr>
          <p:cNvSpPr>
            <a:spLocks noGrp="1"/>
          </p:cNvSpPr>
          <p:nvPr>
            <p:ph idx="1"/>
          </p:nvPr>
        </p:nvSpPr>
        <p:spPr>
          <a:xfrm>
            <a:off x="838200" y="1825625"/>
            <a:ext cx="6530788" cy="4351338"/>
          </a:xfrm>
        </p:spPr>
        <p:txBody>
          <a:bodyPr>
            <a:normAutofit/>
          </a:bodyPr>
          <a:lstStyle/>
          <a:p>
            <a:pPr marL="514350" indent="-514350" algn="l" rtl="0">
              <a:buFont typeface="+mj-lt"/>
              <a:buAutoNum type="arabicPeriod"/>
            </a:pPr>
            <a:r>
              <a:rPr lang="en-US" b="1" i="1" dirty="0"/>
              <a:t>Get list of human-specific diseases</a:t>
            </a:r>
          </a:p>
          <a:p>
            <a:pPr marL="514350" indent="-514350" algn="l" rtl="0">
              <a:buFont typeface="+mj-lt"/>
              <a:buAutoNum type="arabicPeriod"/>
            </a:pPr>
            <a:endParaRPr lang="en-US" b="1" i="1" dirty="0"/>
          </a:p>
          <a:p>
            <a:pPr marL="514350" indent="-514350" algn="l" rtl="0">
              <a:buFont typeface="+mj-lt"/>
              <a:buAutoNum type="arabicPeriod"/>
            </a:pPr>
            <a:r>
              <a:rPr lang="en-US" b="1" i="1" dirty="0"/>
              <a:t>Search literature to detect related </a:t>
            </a:r>
            <a:r>
              <a:rPr lang="en-US" b="1" i="1" dirty="0" err="1"/>
              <a:t>celltypes</a:t>
            </a:r>
            <a:endParaRPr lang="en-US" b="1" i="1" dirty="0"/>
          </a:p>
          <a:p>
            <a:pPr marL="514350" indent="-514350" algn="l" rtl="0">
              <a:buFont typeface="+mj-lt"/>
              <a:buAutoNum type="arabicPeriod"/>
            </a:pPr>
            <a:endParaRPr lang="en-US" b="1" i="1" dirty="0"/>
          </a:p>
          <a:p>
            <a:pPr marL="514350" indent="-514350" algn="l" rtl="0">
              <a:buFont typeface="+mj-lt"/>
              <a:buAutoNum type="arabicPeriod"/>
            </a:pPr>
            <a:r>
              <a:rPr lang="en-US" b="1" i="1" dirty="0"/>
              <a:t>Check if we have relevant hybrid data</a:t>
            </a:r>
          </a:p>
          <a:p>
            <a:pPr marL="514350" indent="-514350" algn="l" rtl="0">
              <a:buFont typeface="+mj-lt"/>
              <a:buAutoNum type="arabicPeriod"/>
            </a:pPr>
            <a:endParaRPr lang="en-US" b="1" i="1" dirty="0"/>
          </a:p>
        </p:txBody>
      </p:sp>
    </p:spTree>
    <p:extLst>
      <p:ext uri="{BB962C8B-B14F-4D97-AF65-F5344CB8AC3E}">
        <p14:creationId xmlns:p14="http://schemas.microsoft.com/office/powerpoint/2010/main" val="137006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D6A5-41CD-AADA-7203-AD5479CA2A3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3C9B698-C5F6-8A97-D823-25339146FA2F}"/>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Identifying disease-associated genes</a:t>
            </a:r>
            <a:endParaRPr lang="he-IL" dirty="0"/>
          </a:p>
        </p:txBody>
      </p:sp>
      <p:sp>
        <p:nvSpPr>
          <p:cNvPr id="3" name="מציין מיקום תוכן 2">
            <a:extLst>
              <a:ext uri="{FF2B5EF4-FFF2-40B4-BE49-F238E27FC236}">
                <a16:creationId xmlns:a16="http://schemas.microsoft.com/office/drawing/2014/main" id="{CA974644-EF9E-737F-9A7E-A2A7F80752E9}"/>
              </a:ext>
            </a:extLst>
          </p:cNvPr>
          <p:cNvSpPr>
            <a:spLocks noGrp="1"/>
          </p:cNvSpPr>
          <p:nvPr>
            <p:ph idx="1"/>
          </p:nvPr>
        </p:nvSpPr>
        <p:spPr/>
        <p:txBody>
          <a:bodyPr/>
          <a:lstStyle/>
          <a:p>
            <a:endParaRPr lang="he-IL" dirty="0"/>
          </a:p>
        </p:txBody>
      </p:sp>
      <p:pic>
        <p:nvPicPr>
          <p:cNvPr id="5" name="תמונה 4">
            <a:extLst>
              <a:ext uri="{FF2B5EF4-FFF2-40B4-BE49-F238E27FC236}">
                <a16:creationId xmlns:a16="http://schemas.microsoft.com/office/drawing/2014/main" id="{DA094304-FBA3-E879-A9F9-656DAE608373}"/>
              </a:ext>
            </a:extLst>
          </p:cNvPr>
          <p:cNvPicPr>
            <a:picLocks noChangeAspect="1"/>
          </p:cNvPicPr>
          <p:nvPr/>
        </p:nvPicPr>
        <p:blipFill>
          <a:blip r:embed="rId3"/>
          <a:stretch>
            <a:fillRect/>
          </a:stretch>
        </p:blipFill>
        <p:spPr>
          <a:xfrm>
            <a:off x="389788" y="2680352"/>
            <a:ext cx="6140103" cy="3692750"/>
          </a:xfrm>
          <a:prstGeom prst="rect">
            <a:avLst/>
          </a:prstGeom>
        </p:spPr>
      </p:pic>
      <p:pic>
        <p:nvPicPr>
          <p:cNvPr id="7" name="תמונה 6">
            <a:extLst>
              <a:ext uri="{FF2B5EF4-FFF2-40B4-BE49-F238E27FC236}">
                <a16:creationId xmlns:a16="http://schemas.microsoft.com/office/drawing/2014/main" id="{00868834-05B1-1473-0B4C-AF8EEC41275F}"/>
              </a:ext>
            </a:extLst>
          </p:cNvPr>
          <p:cNvPicPr>
            <a:picLocks noChangeAspect="1"/>
          </p:cNvPicPr>
          <p:nvPr/>
        </p:nvPicPr>
        <p:blipFill>
          <a:blip r:embed="rId4"/>
          <a:stretch>
            <a:fillRect/>
          </a:stretch>
        </p:blipFill>
        <p:spPr>
          <a:xfrm>
            <a:off x="822986" y="2680352"/>
            <a:ext cx="5273705" cy="3971897"/>
          </a:xfrm>
          <a:prstGeom prst="rect">
            <a:avLst/>
          </a:prstGeom>
        </p:spPr>
      </p:pic>
      <p:pic>
        <p:nvPicPr>
          <p:cNvPr id="8" name="Picture 4" descr="‪How to use ClinVar - A Tutorial for Beginners [JULY 2020]‬‏">
            <a:extLst>
              <a:ext uri="{FF2B5EF4-FFF2-40B4-BE49-F238E27FC236}">
                <a16:creationId xmlns:a16="http://schemas.microsoft.com/office/drawing/2014/main" id="{4350742F-32F6-EE05-35F3-09E9965869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2280" y="1509713"/>
            <a:ext cx="3895725" cy="1171575"/>
          </a:xfrm>
          <a:prstGeom prst="rect">
            <a:avLst/>
          </a:prstGeom>
          <a:noFill/>
          <a:extLst>
            <a:ext uri="{909E8E84-426E-40DD-AFC4-6F175D3DCCD1}">
              <a14:hiddenFill xmlns:a14="http://schemas.microsoft.com/office/drawing/2010/main">
                <a:solidFill>
                  <a:srgbClr val="FFFFFF"/>
                </a:solidFill>
              </a14:hiddenFill>
            </a:ext>
          </a:extLst>
        </p:spPr>
      </p:pic>
      <p:pic>
        <p:nvPicPr>
          <p:cNvPr id="10" name="תמונה 9">
            <a:extLst>
              <a:ext uri="{FF2B5EF4-FFF2-40B4-BE49-F238E27FC236}">
                <a16:creationId xmlns:a16="http://schemas.microsoft.com/office/drawing/2014/main" id="{7F96DAC9-BC3B-F697-285A-73DA85353508}"/>
              </a:ext>
            </a:extLst>
          </p:cNvPr>
          <p:cNvPicPr>
            <a:picLocks noChangeAspect="1"/>
          </p:cNvPicPr>
          <p:nvPr/>
        </p:nvPicPr>
        <p:blipFill>
          <a:blip r:embed="rId6"/>
          <a:stretch>
            <a:fillRect/>
          </a:stretch>
        </p:blipFill>
        <p:spPr>
          <a:xfrm>
            <a:off x="389789" y="1509713"/>
            <a:ext cx="6428258" cy="1035702"/>
          </a:xfrm>
          <a:prstGeom prst="rect">
            <a:avLst/>
          </a:prstGeom>
        </p:spPr>
      </p:pic>
      <p:pic>
        <p:nvPicPr>
          <p:cNvPr id="2050" name="Picture 2" descr="‪Taking and drawing a family history - Genomics Education Programme‬‏">
            <a:extLst>
              <a:ext uri="{FF2B5EF4-FFF2-40B4-BE49-F238E27FC236}">
                <a16:creationId xmlns:a16="http://schemas.microsoft.com/office/drawing/2014/main" id="{44393EA4-1339-CB9D-DD5D-0ED9C611FF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69129" y="3118587"/>
            <a:ext cx="4533082" cy="3533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49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635C-6F98-330D-ACED-0F9A765EF36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595AEBC-1143-177C-76B9-5DFAE366B8C5}"/>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Identifying disease-associated genes</a:t>
            </a:r>
            <a:endParaRPr lang="he-IL" dirty="0"/>
          </a:p>
        </p:txBody>
      </p:sp>
      <p:pic>
        <p:nvPicPr>
          <p:cNvPr id="7" name="מציין מיקום תוכן 6" descr="תמונה שמכילה טקסט, צילום מסך, עלילה, תרשים&#10;&#10;תוכן שנוצר על-ידי בינה מלאכותית עשוי להיות שגוי.">
            <a:extLst>
              <a:ext uri="{FF2B5EF4-FFF2-40B4-BE49-F238E27FC236}">
                <a16:creationId xmlns:a16="http://schemas.microsoft.com/office/drawing/2014/main" id="{E1036967-F43A-2288-7E4F-800F469F6B3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90920" y="1690688"/>
            <a:ext cx="6010160" cy="4861673"/>
          </a:xfrm>
        </p:spPr>
      </p:pic>
      <p:sp>
        <p:nvSpPr>
          <p:cNvPr id="8" name="כותרת משנה 2">
            <a:extLst>
              <a:ext uri="{FF2B5EF4-FFF2-40B4-BE49-F238E27FC236}">
                <a16:creationId xmlns:a16="http://schemas.microsoft.com/office/drawing/2014/main" id="{590EB39A-A8C7-5D36-4E98-37FD12A74CA5}"/>
              </a:ext>
            </a:extLst>
          </p:cNvPr>
          <p:cNvSpPr txBox="1">
            <a:spLocks/>
          </p:cNvSpPr>
          <p:nvPr/>
        </p:nvSpPr>
        <p:spPr>
          <a:xfrm>
            <a:off x="3415865" y="1352925"/>
            <a:ext cx="568521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Total number of genes per disease</a:t>
            </a:r>
            <a:endParaRPr lang="he-IL" sz="2000" b="1" i="1" dirty="0"/>
          </a:p>
        </p:txBody>
      </p:sp>
      <p:sp>
        <p:nvSpPr>
          <p:cNvPr id="9" name="תיבת טקסט 8">
            <a:extLst>
              <a:ext uri="{FF2B5EF4-FFF2-40B4-BE49-F238E27FC236}">
                <a16:creationId xmlns:a16="http://schemas.microsoft.com/office/drawing/2014/main" id="{3C8DD660-2C8E-211E-B5C5-C665A775C7BD}"/>
              </a:ext>
            </a:extLst>
          </p:cNvPr>
          <p:cNvSpPr txBox="1"/>
          <p:nvPr/>
        </p:nvSpPr>
        <p:spPr>
          <a:xfrm rot="16200000">
            <a:off x="2220316" y="3477613"/>
            <a:ext cx="2018207" cy="276999"/>
          </a:xfrm>
          <a:prstGeom prst="rect">
            <a:avLst/>
          </a:prstGeom>
          <a:solidFill>
            <a:schemeClr val="bg1"/>
          </a:solidFill>
        </p:spPr>
        <p:txBody>
          <a:bodyPr wrap="square" rtlCol="1">
            <a:spAutoFit/>
          </a:bodyPr>
          <a:lstStyle/>
          <a:p>
            <a:pPr algn="ctr"/>
            <a:endParaRPr lang="he-IL" sz="1200" dirty="0"/>
          </a:p>
        </p:txBody>
      </p:sp>
    </p:spTree>
    <p:extLst>
      <p:ext uri="{BB962C8B-B14F-4D97-AF65-F5344CB8AC3E}">
        <p14:creationId xmlns:p14="http://schemas.microsoft.com/office/powerpoint/2010/main" val="23204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FA2C-6DCA-D08C-D8CA-65EAC5213D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0A95015-B2EC-6BFE-7958-2E23654922E3}"/>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What are we looking for?</a:t>
            </a:r>
            <a:endParaRPr lang="he-IL" dirty="0"/>
          </a:p>
        </p:txBody>
      </p:sp>
      <p:pic>
        <p:nvPicPr>
          <p:cNvPr id="4" name="Picture 44" descr="brain_sketch_by_pcek-d53270v.png">
            <a:extLst>
              <a:ext uri="{FF2B5EF4-FFF2-40B4-BE49-F238E27FC236}">
                <a16:creationId xmlns:a16="http://schemas.microsoft.com/office/drawing/2014/main" id="{EC806614-A13F-4A46-0F93-245AE7839F0B}"/>
              </a:ext>
            </a:extLst>
          </p:cNvPr>
          <p:cNvPicPr>
            <a:picLocks noChangeAspect="1"/>
          </p:cNvPicPr>
          <p:nvPr/>
        </p:nvPicPr>
        <p:blipFill>
          <a:blip r:embed="rId3" cstate="print">
            <a:duotone>
              <a:schemeClr val="accent5">
                <a:shade val="45000"/>
                <a:satMod val="135000"/>
              </a:schemeClr>
              <a:prstClr val="white"/>
            </a:duotone>
          </a:blip>
          <a:stretch>
            <a:fillRect/>
          </a:stretch>
        </p:blipFill>
        <p:spPr>
          <a:xfrm>
            <a:off x="1276238" y="1662794"/>
            <a:ext cx="1526951" cy="1111744"/>
          </a:xfrm>
          <a:prstGeom prst="rect">
            <a:avLst/>
          </a:prstGeom>
        </p:spPr>
      </p:pic>
      <p:pic>
        <p:nvPicPr>
          <p:cNvPr id="5" name="Picture 43" descr="human_heart_pencil_drawing.jpg">
            <a:extLst>
              <a:ext uri="{FF2B5EF4-FFF2-40B4-BE49-F238E27FC236}">
                <a16:creationId xmlns:a16="http://schemas.microsoft.com/office/drawing/2014/main" id="{42558F64-7915-E386-6196-193E16DDE670}"/>
              </a:ext>
            </a:extLst>
          </p:cNvPr>
          <p:cNvPicPr>
            <a:picLocks noChangeAspect="1"/>
          </p:cNvPicPr>
          <p:nvPr/>
        </p:nvPicPr>
        <p:blipFill rotWithShape="1">
          <a:blip r:embed="rId4" cstate="print">
            <a:duotone>
              <a:schemeClr val="accent5">
                <a:shade val="45000"/>
                <a:satMod val="135000"/>
              </a:schemeClr>
              <a:prstClr val="white"/>
            </a:duotone>
          </a:blip>
          <a:srcRect l="8093"/>
          <a:stretch/>
        </p:blipFill>
        <p:spPr>
          <a:xfrm>
            <a:off x="1340791" y="5263590"/>
            <a:ext cx="1048969" cy="1543056"/>
          </a:xfrm>
          <a:prstGeom prst="rect">
            <a:avLst/>
          </a:prstGeom>
        </p:spPr>
      </p:pic>
      <p:grpSp>
        <p:nvGrpSpPr>
          <p:cNvPr id="6" name="Group 62">
            <a:extLst>
              <a:ext uri="{FF2B5EF4-FFF2-40B4-BE49-F238E27FC236}">
                <a16:creationId xmlns:a16="http://schemas.microsoft.com/office/drawing/2014/main" id="{FAD67D56-23AB-3A03-7952-7D2C2B8E3126}"/>
              </a:ext>
            </a:extLst>
          </p:cNvPr>
          <p:cNvGrpSpPr/>
          <p:nvPr/>
        </p:nvGrpSpPr>
        <p:grpSpPr>
          <a:xfrm>
            <a:off x="1569201" y="2882162"/>
            <a:ext cx="820559" cy="2433043"/>
            <a:chOff x="4369354" y="616282"/>
            <a:chExt cx="615419" cy="1824782"/>
          </a:xfrm>
        </p:grpSpPr>
        <p:sp>
          <p:nvSpPr>
            <p:cNvPr id="7" name="Rectangle 60">
              <a:extLst>
                <a:ext uri="{FF2B5EF4-FFF2-40B4-BE49-F238E27FC236}">
                  <a16:creationId xmlns:a16="http://schemas.microsoft.com/office/drawing/2014/main" id="{A411B253-3DC1-2C5B-EBF5-C63DAA274624}"/>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nvGrpSpPr>
            <p:cNvPr id="8" name="Group 50">
              <a:extLst>
                <a:ext uri="{FF2B5EF4-FFF2-40B4-BE49-F238E27FC236}">
                  <a16:creationId xmlns:a16="http://schemas.microsoft.com/office/drawing/2014/main" id="{8C64076B-5032-B807-64FA-AB6D944798FD}"/>
                </a:ext>
              </a:extLst>
            </p:cNvPr>
            <p:cNvGrpSpPr/>
            <p:nvPr/>
          </p:nvGrpSpPr>
          <p:grpSpPr>
            <a:xfrm>
              <a:off x="4482472" y="622186"/>
              <a:ext cx="373391" cy="1818878"/>
              <a:chOff x="7430624" y="36225"/>
              <a:chExt cx="1013108" cy="4935102"/>
            </a:xfrm>
          </p:grpSpPr>
          <p:pic>
            <p:nvPicPr>
              <p:cNvPr id="9" name="Picture 2" descr="Anterior and Posterior Views of Spine">
                <a:extLst>
                  <a:ext uri="{FF2B5EF4-FFF2-40B4-BE49-F238E27FC236}">
                    <a16:creationId xmlns:a16="http://schemas.microsoft.com/office/drawing/2014/main" id="{587C814A-1F28-D194-0DFD-813B42C5456A}"/>
                  </a:ext>
                </a:extLst>
              </p:cNvPr>
              <p:cNvPicPr>
                <a:picLocks noChangeAspect="1" noChangeArrowheads="1"/>
              </p:cNvPicPr>
              <p:nvPr/>
            </p:nvPicPr>
            <p:blipFill rotWithShape="1">
              <a:blip r:embed="rId5">
                <a:duotone>
                  <a:schemeClr val="accent5">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9">
                <a:extLst>
                  <a:ext uri="{FF2B5EF4-FFF2-40B4-BE49-F238E27FC236}">
                    <a16:creationId xmlns:a16="http://schemas.microsoft.com/office/drawing/2014/main" id="{9725C1B5-E8E6-16B1-906C-AC681A6F5A0A}"/>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1" name="Rectangle 52">
                <a:extLst>
                  <a:ext uri="{FF2B5EF4-FFF2-40B4-BE49-F238E27FC236}">
                    <a16:creationId xmlns:a16="http://schemas.microsoft.com/office/drawing/2014/main" id="{B9988192-E530-38DC-0CC4-8A616ADCC255}"/>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2" name="Rectangle 53">
                <a:extLst>
                  <a:ext uri="{FF2B5EF4-FFF2-40B4-BE49-F238E27FC236}">
                    <a16:creationId xmlns:a16="http://schemas.microsoft.com/office/drawing/2014/main" id="{380A4870-0999-13ED-50F1-416001FCCAF4}"/>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3" name="Rectangle 54">
                <a:extLst>
                  <a:ext uri="{FF2B5EF4-FFF2-40B4-BE49-F238E27FC236}">
                    <a16:creationId xmlns:a16="http://schemas.microsoft.com/office/drawing/2014/main" id="{24B436D1-187A-2E70-0CE4-07C8EBE4219E}"/>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4" name="Rectangle 55">
                <a:extLst>
                  <a:ext uri="{FF2B5EF4-FFF2-40B4-BE49-F238E27FC236}">
                    <a16:creationId xmlns:a16="http://schemas.microsoft.com/office/drawing/2014/main" id="{D1A07799-CF71-6905-60FF-336649519653}"/>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5" name="Rectangle 56">
                <a:extLst>
                  <a:ext uri="{FF2B5EF4-FFF2-40B4-BE49-F238E27FC236}">
                    <a16:creationId xmlns:a16="http://schemas.microsoft.com/office/drawing/2014/main" id="{F6840572-9743-C2F0-7121-12DF562F1420}"/>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6" name="Rectangle 57">
                <a:extLst>
                  <a:ext uri="{FF2B5EF4-FFF2-40B4-BE49-F238E27FC236}">
                    <a16:creationId xmlns:a16="http://schemas.microsoft.com/office/drawing/2014/main" id="{4003A8F1-F80E-6200-414F-9D7FC64B476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grpSp>
      <p:sp>
        <p:nvSpPr>
          <p:cNvPr id="17" name="Rectangle 4">
            <a:extLst>
              <a:ext uri="{FF2B5EF4-FFF2-40B4-BE49-F238E27FC236}">
                <a16:creationId xmlns:a16="http://schemas.microsoft.com/office/drawing/2014/main" id="{036DF4CD-4EC1-C833-6CD8-8A331A89FDBA}"/>
              </a:ext>
            </a:extLst>
          </p:cNvPr>
          <p:cNvSpPr/>
          <p:nvPr/>
        </p:nvSpPr>
        <p:spPr>
          <a:xfrm>
            <a:off x="12751" y="1943712"/>
            <a:ext cx="1263487" cy="420115"/>
          </a:xfrm>
          <a:prstGeom prst="rect">
            <a:avLst/>
          </a:prstGeom>
        </p:spPr>
        <p:txBody>
          <a:bodyPr wrap="none">
            <a:spAutoFit/>
          </a:bodyPr>
          <a:lstStyle/>
          <a:p>
            <a:pPr algn="ctr" rtl="0"/>
            <a:r>
              <a:rPr lang="en-US" sz="2130" dirty="0">
                <a:solidFill>
                  <a:srgbClr val="4D799D"/>
                </a:solidFill>
                <a:latin typeface="Helvetica Neue Medium" panose="02000503000000020004" pitchFamily="2" charset="0"/>
                <a:ea typeface="Helvetica Neue Medium" panose="02000503000000020004" pitchFamily="2" charset="0"/>
                <a:cs typeface="Helvetica Neue Medium" panose="02000503000000020004" pitchFamily="2" charset="0"/>
              </a:rPr>
              <a:t>3x</a:t>
            </a:r>
            <a:r>
              <a:rPr lang="en-US" sz="2130" dirty="0">
                <a:solidFill>
                  <a:srgbClr val="4D799D"/>
                </a:solidFill>
                <a:latin typeface="Helvetica Neue Thin" panose="020B0403020202020204" pitchFamily="34" charset="0"/>
                <a:ea typeface="Helvetica Neue Thin" panose="020B0403020202020204" pitchFamily="34" charset="0"/>
              </a:rPr>
              <a:t>  Brain</a:t>
            </a:r>
          </a:p>
        </p:txBody>
      </p:sp>
      <p:sp>
        <p:nvSpPr>
          <p:cNvPr id="18" name="Rectangle 15">
            <a:extLst>
              <a:ext uri="{FF2B5EF4-FFF2-40B4-BE49-F238E27FC236}">
                <a16:creationId xmlns:a16="http://schemas.microsoft.com/office/drawing/2014/main" id="{378BB348-F9E0-E7B6-1897-078819DA6EC8}"/>
              </a:ext>
            </a:extLst>
          </p:cNvPr>
          <p:cNvSpPr/>
          <p:nvPr/>
        </p:nvSpPr>
        <p:spPr>
          <a:xfrm>
            <a:off x="267369" y="3744741"/>
            <a:ext cx="1141659" cy="748795"/>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Upright </a:t>
            </a:r>
          </a:p>
          <a:p>
            <a:pPr algn="ctr" rtl="0"/>
            <a:r>
              <a:rPr lang="en-US" sz="2133" dirty="0">
                <a:solidFill>
                  <a:srgbClr val="4D799D"/>
                </a:solidFill>
                <a:latin typeface="Helvetica Neue Thin" panose="020B0403020202020204" pitchFamily="34" charset="0"/>
                <a:ea typeface="Helvetica Neue Thin" panose="020B0403020202020204" pitchFamily="34" charset="0"/>
              </a:rPr>
              <a:t>walking</a:t>
            </a:r>
          </a:p>
        </p:txBody>
      </p:sp>
      <p:grpSp>
        <p:nvGrpSpPr>
          <p:cNvPr id="19" name="Group 28">
            <a:extLst>
              <a:ext uri="{FF2B5EF4-FFF2-40B4-BE49-F238E27FC236}">
                <a16:creationId xmlns:a16="http://schemas.microsoft.com/office/drawing/2014/main" id="{8803A503-4A2E-487A-41BC-13DBA2AA96E4}"/>
              </a:ext>
            </a:extLst>
          </p:cNvPr>
          <p:cNvGrpSpPr/>
          <p:nvPr/>
        </p:nvGrpSpPr>
        <p:grpSpPr>
          <a:xfrm>
            <a:off x="-27690" y="5692838"/>
            <a:ext cx="1508746" cy="753420"/>
            <a:chOff x="331755" y="2724841"/>
            <a:chExt cx="1131560" cy="565065"/>
          </a:xfrm>
        </p:grpSpPr>
        <p:sp>
          <p:nvSpPr>
            <p:cNvPr id="20" name="Rectangle 16">
              <a:extLst>
                <a:ext uri="{FF2B5EF4-FFF2-40B4-BE49-F238E27FC236}">
                  <a16:creationId xmlns:a16="http://schemas.microsoft.com/office/drawing/2014/main" id="{39BF4CF7-B725-04BD-7396-D60146DCF9E2}"/>
                </a:ext>
              </a:extLst>
            </p:cNvPr>
            <p:cNvSpPr/>
            <p:nvPr/>
          </p:nvSpPr>
          <p:spPr>
            <a:xfrm>
              <a:off x="331755" y="2724841"/>
              <a:ext cx="1131560" cy="315423"/>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Endurance</a:t>
              </a:r>
            </a:p>
          </p:txBody>
        </p:sp>
        <p:sp>
          <p:nvSpPr>
            <p:cNvPr id="21" name="TextBox 27">
              <a:extLst>
                <a:ext uri="{FF2B5EF4-FFF2-40B4-BE49-F238E27FC236}">
                  <a16:creationId xmlns:a16="http://schemas.microsoft.com/office/drawing/2014/main" id="{CE81BC29-2A24-37AC-A6F5-04E8D22ADCBF}"/>
                </a:ext>
              </a:extLst>
            </p:cNvPr>
            <p:cNvSpPr txBox="1"/>
            <p:nvPr/>
          </p:nvSpPr>
          <p:spPr>
            <a:xfrm>
              <a:off x="460847" y="2974483"/>
              <a:ext cx="873375" cy="315423"/>
            </a:xfrm>
            <a:prstGeom prst="rect">
              <a:avLst/>
            </a:prstGeom>
            <a:noFill/>
          </p:spPr>
          <p:txBody>
            <a:bodyPr wrap="square">
              <a:spAutoFit/>
            </a:bodyPr>
            <a:lstStyle/>
            <a:p>
              <a:pPr algn="ctr"/>
              <a:r>
                <a:rPr lang="en-US" sz="2133" i="1" dirty="0">
                  <a:solidFill>
                    <a:srgbClr val="4D799D"/>
                  </a:solidFill>
                  <a:latin typeface="Helvetica Neue Thin" panose="020B0403020202020204" pitchFamily="34" charset="0"/>
                  <a:ea typeface="Helvetica Neue Thin" panose="020B0403020202020204" pitchFamily="34" charset="0"/>
                </a:rPr>
                <a:t>running</a:t>
              </a:r>
              <a:endParaRPr lang="en-IL" sz="2133" i="1" dirty="0"/>
            </a:p>
          </p:txBody>
        </p:sp>
      </p:grpSp>
      <p:sp>
        <p:nvSpPr>
          <p:cNvPr id="23" name="Rectangle 18">
            <a:extLst>
              <a:ext uri="{FF2B5EF4-FFF2-40B4-BE49-F238E27FC236}">
                <a16:creationId xmlns:a16="http://schemas.microsoft.com/office/drawing/2014/main" id="{9CB6CE95-BCA1-5E02-E5FB-9A8D0ABEB092}"/>
              </a:ext>
            </a:extLst>
          </p:cNvPr>
          <p:cNvSpPr/>
          <p:nvPr/>
        </p:nvSpPr>
        <p:spPr>
          <a:xfrm>
            <a:off x="2828192" y="1858889"/>
            <a:ext cx="2230098" cy="707886"/>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Alzheimer's disease</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Schizophrenia</a:t>
            </a:r>
          </a:p>
        </p:txBody>
      </p:sp>
      <p:sp>
        <p:nvSpPr>
          <p:cNvPr id="24" name="Rectangle 19">
            <a:extLst>
              <a:ext uri="{FF2B5EF4-FFF2-40B4-BE49-F238E27FC236}">
                <a16:creationId xmlns:a16="http://schemas.microsoft.com/office/drawing/2014/main" id="{551361D0-81EA-439E-B4CC-6A80AA682A59}"/>
              </a:ext>
            </a:extLst>
          </p:cNvPr>
          <p:cNvSpPr/>
          <p:nvPr/>
        </p:nvSpPr>
        <p:spPr>
          <a:xfrm>
            <a:off x="2744935" y="5635008"/>
            <a:ext cx="2401940" cy="400110"/>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Myocardial infarction</a:t>
            </a:r>
          </a:p>
        </p:txBody>
      </p:sp>
      <p:sp>
        <p:nvSpPr>
          <p:cNvPr id="25" name="Rectangle 20">
            <a:extLst>
              <a:ext uri="{FF2B5EF4-FFF2-40B4-BE49-F238E27FC236}">
                <a16:creationId xmlns:a16="http://schemas.microsoft.com/office/drawing/2014/main" id="{C41D6282-BA3C-3BF5-60E0-2D14E4E8A494}"/>
              </a:ext>
            </a:extLst>
          </p:cNvPr>
          <p:cNvSpPr/>
          <p:nvPr/>
        </p:nvSpPr>
        <p:spPr>
          <a:xfrm>
            <a:off x="2759788" y="3583340"/>
            <a:ext cx="2331724" cy="707886"/>
          </a:xfrm>
          <a:prstGeom prst="rect">
            <a:avLst/>
          </a:prstGeom>
        </p:spPr>
        <p:txBody>
          <a:bodyPr wrap="squar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Chronic back pain</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scoliosis</a:t>
            </a:r>
          </a:p>
        </p:txBody>
      </p:sp>
      <p:pic>
        <p:nvPicPr>
          <p:cNvPr id="27" name="תמונה 26">
            <a:extLst>
              <a:ext uri="{FF2B5EF4-FFF2-40B4-BE49-F238E27FC236}">
                <a16:creationId xmlns:a16="http://schemas.microsoft.com/office/drawing/2014/main" id="{72BD2FF3-5CC3-9790-2BE8-80968D8836CF}"/>
              </a:ext>
            </a:extLst>
          </p:cNvPr>
          <p:cNvPicPr>
            <a:picLocks noChangeAspect="1"/>
          </p:cNvPicPr>
          <p:nvPr/>
        </p:nvPicPr>
        <p:blipFill>
          <a:blip r:embed="rId6"/>
          <a:stretch>
            <a:fillRect/>
          </a:stretch>
        </p:blipFill>
        <p:spPr>
          <a:xfrm>
            <a:off x="5887145" y="1690688"/>
            <a:ext cx="5658640" cy="4658375"/>
          </a:xfrm>
          <a:prstGeom prst="rect">
            <a:avLst/>
          </a:prstGeom>
        </p:spPr>
      </p:pic>
      <p:sp>
        <p:nvSpPr>
          <p:cNvPr id="22" name="מציין מיקום תוכן 2">
            <a:extLst>
              <a:ext uri="{FF2B5EF4-FFF2-40B4-BE49-F238E27FC236}">
                <a16:creationId xmlns:a16="http://schemas.microsoft.com/office/drawing/2014/main" id="{AF016F97-61AA-886E-CBC6-E2070AC0D513}"/>
              </a:ext>
            </a:extLst>
          </p:cNvPr>
          <p:cNvSpPr txBox="1">
            <a:spLocks/>
          </p:cNvSpPr>
          <p:nvPr/>
        </p:nvSpPr>
        <p:spPr>
          <a:xfrm>
            <a:off x="0" y="0"/>
            <a:ext cx="12192000" cy="6870056"/>
          </a:xfrm>
          <a:prstGeom prst="rect">
            <a:avLst/>
          </a:prstGeom>
          <a:solidFill>
            <a:srgbClr val="E8E8E8">
              <a:alpha val="50196"/>
            </a:srgbClr>
          </a:solidFill>
        </p:spPr>
        <p:txBody>
          <a:bodyPr vert="horz" lIns="91440" tIns="45720" rIns="91440" bIns="45720" rtlCol="1" anchor="ct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4000" b="1" i="1" dirty="0"/>
              <a:t>Did the disease-associated genes undergo rapid regulatory changes in human evolution?</a:t>
            </a:r>
          </a:p>
        </p:txBody>
      </p:sp>
    </p:spTree>
    <p:extLst>
      <p:ext uri="{BB962C8B-B14F-4D97-AF65-F5344CB8AC3E}">
        <p14:creationId xmlns:p14="http://schemas.microsoft.com/office/powerpoint/2010/main" val="399279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3" grpId="0"/>
      <p:bldP spid="24" grpId="0"/>
      <p:bldP spid="25" grpId="0"/>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F422-7A25-8760-B7AE-789998A77C3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997AA8-45B9-CEF8-371D-CF57477B02DB}"/>
              </a:ext>
            </a:extLst>
          </p:cNvPr>
          <p:cNvSpPr>
            <a:spLocks noGrp="1"/>
          </p:cNvSpPr>
          <p:nvPr>
            <p:ph type="title"/>
          </p:nvPr>
        </p:nvSpPr>
        <p:spPr/>
        <p:txBody>
          <a:bodyPr>
            <a:normAutofit/>
          </a:bodyPr>
          <a:lstStyle/>
          <a:p>
            <a:pPr algn="ctr" rtl="0"/>
            <a:r>
              <a:rPr lang="en-US">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Percentage of differentially expressed genes</a:t>
            </a:r>
            <a:endParaRPr lang="he-IL" dirty="0"/>
          </a:p>
        </p:txBody>
      </p:sp>
      <p:pic>
        <p:nvPicPr>
          <p:cNvPr id="5" name="מציין מיקום תוכן 4">
            <a:extLst>
              <a:ext uri="{FF2B5EF4-FFF2-40B4-BE49-F238E27FC236}">
                <a16:creationId xmlns:a16="http://schemas.microsoft.com/office/drawing/2014/main" id="{5C7F1D2F-6A9E-96A5-2F68-0E6372CD98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4843" r="40717"/>
          <a:stretch/>
        </p:blipFill>
        <p:spPr>
          <a:xfrm>
            <a:off x="1239889" y="1817914"/>
            <a:ext cx="9324698" cy="2499366"/>
          </a:xfrm>
        </p:spPr>
      </p:pic>
      <p:pic>
        <p:nvPicPr>
          <p:cNvPr id="8" name="מציין מיקום תוכן 4">
            <a:extLst>
              <a:ext uri="{FF2B5EF4-FFF2-40B4-BE49-F238E27FC236}">
                <a16:creationId xmlns:a16="http://schemas.microsoft.com/office/drawing/2014/main" id="{A47BDE06-AEBA-5C85-4FB3-3120126407A5}"/>
              </a:ext>
            </a:extLst>
          </p:cNvPr>
          <p:cNvPicPr>
            <a:picLocks noChangeAspect="1"/>
          </p:cNvPicPr>
          <p:nvPr/>
        </p:nvPicPr>
        <p:blipFill>
          <a:blip r:embed="rId3">
            <a:extLst>
              <a:ext uri="{28A0092B-C50C-407E-A947-70E740481C1C}">
                <a14:useLocalDpi xmlns:a14="http://schemas.microsoft.com/office/drawing/2010/main" val="0"/>
              </a:ext>
            </a:extLst>
          </a:blip>
          <a:srcRect r="97294"/>
          <a:stretch/>
        </p:blipFill>
        <p:spPr>
          <a:xfrm>
            <a:off x="2654325" y="4231408"/>
            <a:ext cx="425625" cy="2626592"/>
          </a:xfrm>
          <a:prstGeom prst="rect">
            <a:avLst/>
          </a:prstGeom>
        </p:spPr>
      </p:pic>
      <p:pic>
        <p:nvPicPr>
          <p:cNvPr id="7" name="מציין מיקום תוכן 4">
            <a:extLst>
              <a:ext uri="{FF2B5EF4-FFF2-40B4-BE49-F238E27FC236}">
                <a16:creationId xmlns:a16="http://schemas.microsoft.com/office/drawing/2014/main" id="{13D80F3C-C0E2-BCD0-E512-8EFD74E68492}"/>
              </a:ext>
            </a:extLst>
          </p:cNvPr>
          <p:cNvPicPr>
            <a:picLocks noChangeAspect="1"/>
          </p:cNvPicPr>
          <p:nvPr/>
        </p:nvPicPr>
        <p:blipFill>
          <a:blip r:embed="rId3">
            <a:extLst>
              <a:ext uri="{28A0092B-C50C-407E-A947-70E740481C1C}">
                <a14:useLocalDpi xmlns:a14="http://schemas.microsoft.com/office/drawing/2010/main" val="0"/>
              </a:ext>
            </a:extLst>
          </a:blip>
          <a:srcRect l="59823"/>
          <a:stretch/>
        </p:blipFill>
        <p:spPr>
          <a:xfrm>
            <a:off x="3079950" y="4231408"/>
            <a:ext cx="6319488" cy="2626592"/>
          </a:xfrm>
          <a:prstGeom prst="rect">
            <a:avLst/>
          </a:prstGeom>
        </p:spPr>
      </p:pic>
      <p:sp>
        <p:nvSpPr>
          <p:cNvPr id="13" name="תיבת טקסט 12">
            <a:extLst>
              <a:ext uri="{FF2B5EF4-FFF2-40B4-BE49-F238E27FC236}">
                <a16:creationId xmlns:a16="http://schemas.microsoft.com/office/drawing/2014/main" id="{54BE5315-6E73-6C17-E872-8C6CF299DC3C}"/>
              </a:ext>
            </a:extLst>
          </p:cNvPr>
          <p:cNvSpPr txBox="1"/>
          <p:nvPr/>
        </p:nvSpPr>
        <p:spPr>
          <a:xfrm rot="16200000">
            <a:off x="1565795" y="5187882"/>
            <a:ext cx="2018207" cy="276999"/>
          </a:xfrm>
          <a:prstGeom prst="rect">
            <a:avLst/>
          </a:prstGeom>
          <a:solidFill>
            <a:schemeClr val="bg1"/>
          </a:solidFill>
        </p:spPr>
        <p:txBody>
          <a:bodyPr wrap="square" rtlCol="1">
            <a:spAutoFit/>
          </a:bodyPr>
          <a:lstStyle/>
          <a:p>
            <a:pPr algn="ctr"/>
            <a:r>
              <a:rPr lang="en-US" sz="1200" dirty="0"/>
              <a:t>Frequency</a:t>
            </a:r>
            <a:endParaRPr lang="he-IL" sz="1200" dirty="0"/>
          </a:p>
        </p:txBody>
      </p:sp>
      <p:sp>
        <p:nvSpPr>
          <p:cNvPr id="15" name="תיבת טקסט 14">
            <a:extLst>
              <a:ext uri="{FF2B5EF4-FFF2-40B4-BE49-F238E27FC236}">
                <a16:creationId xmlns:a16="http://schemas.microsoft.com/office/drawing/2014/main" id="{A9D984AC-CEAD-4EC8-5218-077F0A2AF4BB}"/>
              </a:ext>
            </a:extLst>
          </p:cNvPr>
          <p:cNvSpPr txBox="1"/>
          <p:nvPr/>
        </p:nvSpPr>
        <p:spPr>
          <a:xfrm rot="16200000">
            <a:off x="150281" y="2724578"/>
            <a:ext cx="2018207" cy="276999"/>
          </a:xfrm>
          <a:prstGeom prst="rect">
            <a:avLst/>
          </a:prstGeom>
          <a:solidFill>
            <a:schemeClr val="bg1"/>
          </a:solidFill>
        </p:spPr>
        <p:txBody>
          <a:bodyPr wrap="square" rtlCol="1">
            <a:spAutoFit/>
          </a:bodyPr>
          <a:lstStyle/>
          <a:p>
            <a:pPr algn="ctr"/>
            <a:r>
              <a:rPr lang="en-US" sz="1200" dirty="0"/>
              <a:t>Frequency</a:t>
            </a:r>
            <a:endParaRPr lang="he-IL" sz="1200" dirty="0"/>
          </a:p>
        </p:txBody>
      </p:sp>
    </p:spTree>
    <p:extLst>
      <p:ext uri="{BB962C8B-B14F-4D97-AF65-F5344CB8AC3E}">
        <p14:creationId xmlns:p14="http://schemas.microsoft.com/office/powerpoint/2010/main" val="1669711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A770-E34D-C638-6454-970B09A2FEF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0BBFBBC-C1BD-351D-6106-6670334E95E5}"/>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Schizophrenia: less differentially expressed genes</a:t>
            </a:r>
            <a:endParaRPr lang="he-IL" dirty="0"/>
          </a:p>
        </p:txBody>
      </p:sp>
      <p:pic>
        <p:nvPicPr>
          <p:cNvPr id="5" name="תמונה 4">
            <a:extLst>
              <a:ext uri="{FF2B5EF4-FFF2-40B4-BE49-F238E27FC236}">
                <a16:creationId xmlns:a16="http://schemas.microsoft.com/office/drawing/2014/main" id="{3BEB5E5B-D317-3B6A-EB02-E7A913EEA6E5}"/>
              </a:ext>
            </a:extLst>
          </p:cNvPr>
          <p:cNvPicPr>
            <a:picLocks noChangeAspect="1"/>
          </p:cNvPicPr>
          <p:nvPr/>
        </p:nvPicPr>
        <p:blipFill>
          <a:blip r:embed="rId3">
            <a:extLst>
              <a:ext uri="{28A0092B-C50C-407E-A947-70E740481C1C}">
                <a14:useLocalDpi xmlns:a14="http://schemas.microsoft.com/office/drawing/2010/main" val="0"/>
              </a:ext>
            </a:extLst>
          </a:blip>
          <a:srcRect t="11307"/>
          <a:stretch/>
        </p:blipFill>
        <p:spPr>
          <a:xfrm>
            <a:off x="1020528" y="2313317"/>
            <a:ext cx="5955748" cy="3961753"/>
          </a:xfrm>
          <a:prstGeom prst="rect">
            <a:avLst/>
          </a:prstGeom>
        </p:spPr>
      </p:pic>
      <p:pic>
        <p:nvPicPr>
          <p:cNvPr id="7" name="תמונה 6"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004252C9-488B-FE3C-3B2D-F77505C83E81}"/>
              </a:ext>
            </a:extLst>
          </p:cNvPr>
          <p:cNvPicPr>
            <a:picLocks noChangeAspect="1"/>
          </p:cNvPicPr>
          <p:nvPr/>
        </p:nvPicPr>
        <p:blipFill>
          <a:blip r:embed="rId4">
            <a:extLst>
              <a:ext uri="{28A0092B-C50C-407E-A947-70E740481C1C}">
                <a14:useLocalDpi xmlns:a14="http://schemas.microsoft.com/office/drawing/2010/main" val="0"/>
              </a:ext>
            </a:extLst>
          </a:blip>
          <a:srcRect t="11307"/>
          <a:stretch/>
        </p:blipFill>
        <p:spPr>
          <a:xfrm>
            <a:off x="5215724" y="2313316"/>
            <a:ext cx="5955749" cy="3961754"/>
          </a:xfrm>
          <a:prstGeom prst="rect">
            <a:avLst/>
          </a:prstGeom>
        </p:spPr>
      </p:pic>
      <p:sp>
        <p:nvSpPr>
          <p:cNvPr id="11" name="כותרת משנה 2">
            <a:extLst>
              <a:ext uri="{FF2B5EF4-FFF2-40B4-BE49-F238E27FC236}">
                <a16:creationId xmlns:a16="http://schemas.microsoft.com/office/drawing/2014/main" id="{45CE8F93-661A-1508-66D4-1957A984F1E2}"/>
              </a:ext>
            </a:extLst>
          </p:cNvPr>
          <p:cNvSpPr txBox="1">
            <a:spLocks/>
          </p:cNvSpPr>
          <p:nvPr/>
        </p:nvSpPr>
        <p:spPr>
          <a:xfrm>
            <a:off x="1802629" y="1671128"/>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sp>
        <p:nvSpPr>
          <p:cNvPr id="12" name="כותרת משנה 2">
            <a:extLst>
              <a:ext uri="{FF2B5EF4-FFF2-40B4-BE49-F238E27FC236}">
                <a16:creationId xmlns:a16="http://schemas.microsoft.com/office/drawing/2014/main" id="{27F417EB-C7EF-633E-35A7-27F38DEED0A6}"/>
              </a:ext>
            </a:extLst>
          </p:cNvPr>
          <p:cNvSpPr txBox="1">
            <a:spLocks/>
          </p:cNvSpPr>
          <p:nvPr/>
        </p:nvSpPr>
        <p:spPr>
          <a:xfrm>
            <a:off x="5957959" y="1637790"/>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spTree>
    <p:extLst>
      <p:ext uri="{BB962C8B-B14F-4D97-AF65-F5344CB8AC3E}">
        <p14:creationId xmlns:p14="http://schemas.microsoft.com/office/powerpoint/2010/main" val="143880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02B8-0C79-E4A8-14B0-D577B1EFE17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2E8F72A-F438-179C-D5C9-D844C936730E}"/>
              </a:ext>
            </a:extLst>
          </p:cNvPr>
          <p:cNvSpPr>
            <a:spLocks noGrp="1"/>
          </p:cNvSpPr>
          <p:nvPr>
            <p:ph type="title"/>
          </p:nvPr>
        </p:nvSpPr>
        <p:spPr/>
        <p:txBody>
          <a:bodyPr>
            <a:normAutofit fontScale="90000"/>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Schizophrenia: Chance of Differentially expressed genes to be disease-related</a:t>
            </a:r>
            <a:endParaRPr lang="he-IL" dirty="0"/>
          </a:p>
        </p:txBody>
      </p:sp>
      <p:sp>
        <p:nvSpPr>
          <p:cNvPr id="11" name="כותרת משנה 2">
            <a:extLst>
              <a:ext uri="{FF2B5EF4-FFF2-40B4-BE49-F238E27FC236}">
                <a16:creationId xmlns:a16="http://schemas.microsoft.com/office/drawing/2014/main" id="{B865B05A-3116-F8E9-0B61-506DE4A205F5}"/>
              </a:ext>
            </a:extLst>
          </p:cNvPr>
          <p:cNvSpPr txBox="1">
            <a:spLocks/>
          </p:cNvSpPr>
          <p:nvPr/>
        </p:nvSpPr>
        <p:spPr>
          <a:xfrm>
            <a:off x="605790" y="2068830"/>
            <a:ext cx="5217035" cy="1017270"/>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The chance to be disease-related decrease for more negative changes (cortical organoids day 100)</a:t>
            </a:r>
            <a:endParaRPr lang="he-IL" sz="2000" b="1" i="1" dirty="0"/>
          </a:p>
        </p:txBody>
      </p:sp>
      <p:sp>
        <p:nvSpPr>
          <p:cNvPr id="12" name="כותרת משנה 2">
            <a:extLst>
              <a:ext uri="{FF2B5EF4-FFF2-40B4-BE49-F238E27FC236}">
                <a16:creationId xmlns:a16="http://schemas.microsoft.com/office/drawing/2014/main" id="{69E7ABBA-43DA-55E4-7CF9-3A9B6D9A9C23}"/>
              </a:ext>
            </a:extLst>
          </p:cNvPr>
          <p:cNvSpPr txBox="1">
            <a:spLocks/>
          </p:cNvSpPr>
          <p:nvPr/>
        </p:nvSpPr>
        <p:spPr>
          <a:xfrm>
            <a:off x="6412161" y="2136457"/>
            <a:ext cx="5174049" cy="949639"/>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The chance to be disease-related decreases with larger change in expression</a:t>
            </a:r>
            <a:endParaRPr lang="he-IL" sz="2000" b="1" i="1" dirty="0"/>
          </a:p>
        </p:txBody>
      </p:sp>
      <p:pic>
        <p:nvPicPr>
          <p:cNvPr id="4" name="תמונה 3">
            <a:extLst>
              <a:ext uri="{FF2B5EF4-FFF2-40B4-BE49-F238E27FC236}">
                <a16:creationId xmlns:a16="http://schemas.microsoft.com/office/drawing/2014/main" id="{661E0150-953D-79D9-AD79-891140B10C6C}"/>
              </a:ext>
            </a:extLst>
          </p:cNvPr>
          <p:cNvPicPr>
            <a:picLocks noChangeAspect="1"/>
          </p:cNvPicPr>
          <p:nvPr/>
        </p:nvPicPr>
        <p:blipFill>
          <a:blip r:embed="rId3">
            <a:extLst>
              <a:ext uri="{28A0092B-C50C-407E-A947-70E740481C1C}">
                <a14:useLocalDpi xmlns:a14="http://schemas.microsoft.com/office/drawing/2010/main" val="0"/>
              </a:ext>
            </a:extLst>
          </a:blip>
          <a:srcRect t="18049"/>
          <a:stretch/>
        </p:blipFill>
        <p:spPr>
          <a:xfrm>
            <a:off x="16454" y="3086100"/>
            <a:ext cx="5938644" cy="3406774"/>
          </a:xfrm>
          <a:prstGeom prst="rect">
            <a:avLst/>
          </a:prstGeom>
        </p:spPr>
      </p:pic>
      <p:pic>
        <p:nvPicPr>
          <p:cNvPr id="8" name="תמונה 7">
            <a:extLst>
              <a:ext uri="{FF2B5EF4-FFF2-40B4-BE49-F238E27FC236}">
                <a16:creationId xmlns:a16="http://schemas.microsoft.com/office/drawing/2014/main" id="{EC259289-E440-46B4-AE96-2B43B5311203}"/>
              </a:ext>
            </a:extLst>
          </p:cNvPr>
          <p:cNvPicPr>
            <a:picLocks noChangeAspect="1"/>
          </p:cNvPicPr>
          <p:nvPr/>
        </p:nvPicPr>
        <p:blipFill>
          <a:blip r:embed="rId4">
            <a:extLst>
              <a:ext uri="{28A0092B-C50C-407E-A947-70E740481C1C}">
                <a14:useLocalDpi xmlns:a14="http://schemas.microsoft.com/office/drawing/2010/main" val="0"/>
              </a:ext>
            </a:extLst>
          </a:blip>
          <a:srcRect t="18049"/>
          <a:stretch/>
        </p:blipFill>
        <p:spPr>
          <a:xfrm>
            <a:off x="5822826" y="3086098"/>
            <a:ext cx="5938644" cy="3406775"/>
          </a:xfrm>
          <a:prstGeom prst="rect">
            <a:avLst/>
          </a:prstGeom>
        </p:spPr>
      </p:pic>
    </p:spTree>
    <p:extLst>
      <p:ext uri="{BB962C8B-B14F-4D97-AF65-F5344CB8AC3E}">
        <p14:creationId xmlns:p14="http://schemas.microsoft.com/office/powerpoint/2010/main" val="11233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FF46-D2AF-29D9-A613-F00FCE8864A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717386-446C-FCA1-3D55-AB8AAD20CBB4}"/>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Scoliosis: Accelerated evolution?</a:t>
            </a:r>
            <a:endParaRPr lang="he-IL" dirty="0"/>
          </a:p>
        </p:txBody>
      </p:sp>
      <p:pic>
        <p:nvPicPr>
          <p:cNvPr id="11" name="מציין מיקום תוכן 8">
            <a:extLst>
              <a:ext uri="{FF2B5EF4-FFF2-40B4-BE49-F238E27FC236}">
                <a16:creationId xmlns:a16="http://schemas.microsoft.com/office/drawing/2014/main" id="{D264A3DC-43E6-B6CC-778E-98C29C7C55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4828" y="1690688"/>
            <a:ext cx="6681572" cy="5011179"/>
          </a:xfrm>
        </p:spPr>
      </p:pic>
      <p:pic>
        <p:nvPicPr>
          <p:cNvPr id="3"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48586490-F305-ACF7-DB2D-F08F694B19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8" y="3016251"/>
            <a:ext cx="893433" cy="893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63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EF37-7CEB-E59E-7A1C-18986A96F9D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A655CAB-BDE6-9FEA-7505-EA7ADCEF9F88}"/>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Is the direction of regulation change important?</a:t>
            </a:r>
            <a:endParaRPr lang="he-IL" dirty="0"/>
          </a:p>
        </p:txBody>
      </p:sp>
      <p:pic>
        <p:nvPicPr>
          <p:cNvPr id="5" name="מציין מיקום תוכן 4" descr="תמונה שמכילה טקסט, צילום מסך, קו, עלילה&#10;&#10;תוכן שנוצר על-ידי בינה מלאכותית עשוי להיות שגוי.">
            <a:extLst>
              <a:ext uri="{FF2B5EF4-FFF2-40B4-BE49-F238E27FC236}">
                <a16:creationId xmlns:a16="http://schemas.microsoft.com/office/drawing/2014/main" id="{0F4CF428-47FA-57FE-C87B-BE5584A194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49" y="1690688"/>
            <a:ext cx="12176952" cy="4451928"/>
          </a:xfrm>
        </p:spPr>
      </p:pic>
    </p:spTree>
    <p:extLst>
      <p:ext uri="{BB962C8B-B14F-4D97-AF65-F5344CB8AC3E}">
        <p14:creationId xmlns:p14="http://schemas.microsoft.com/office/powerpoint/2010/main" val="1878991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9404-CC3A-C2A0-EFDF-0857846B8B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756E622-2003-6092-A9E7-0344199F0E21}"/>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Schizophrenia: positive selection for upregulation of genes</a:t>
            </a:r>
            <a:endParaRPr lang="he-IL" dirty="0"/>
          </a:p>
        </p:txBody>
      </p:sp>
      <p:pic>
        <p:nvPicPr>
          <p:cNvPr id="10" name="מציין מיקום תוכן 9"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BFE3A806-53EE-2B3D-A176-7E5A8939A51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780"/>
          <a:stretch/>
        </p:blipFill>
        <p:spPr>
          <a:xfrm>
            <a:off x="1" y="2516840"/>
            <a:ext cx="6661610" cy="4300316"/>
          </a:xfrm>
        </p:spPr>
      </p:pic>
      <p:sp>
        <p:nvSpPr>
          <p:cNvPr id="7" name="כותרת משנה 2">
            <a:extLst>
              <a:ext uri="{FF2B5EF4-FFF2-40B4-BE49-F238E27FC236}">
                <a16:creationId xmlns:a16="http://schemas.microsoft.com/office/drawing/2014/main" id="{02A998A9-7860-F5F5-953D-658BCAD6CE49}"/>
              </a:ext>
            </a:extLst>
          </p:cNvPr>
          <p:cNvSpPr txBox="1">
            <a:spLocks/>
          </p:cNvSpPr>
          <p:nvPr/>
        </p:nvSpPr>
        <p:spPr>
          <a:xfrm>
            <a:off x="1214294" y="1697284"/>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sp>
        <p:nvSpPr>
          <p:cNvPr id="8" name="כותרת משנה 2">
            <a:extLst>
              <a:ext uri="{FF2B5EF4-FFF2-40B4-BE49-F238E27FC236}">
                <a16:creationId xmlns:a16="http://schemas.microsoft.com/office/drawing/2014/main" id="{DC977DCC-457B-BA9F-19AE-4A565F34A2F0}"/>
              </a:ext>
            </a:extLst>
          </p:cNvPr>
          <p:cNvSpPr txBox="1">
            <a:spLocks/>
          </p:cNvSpPr>
          <p:nvPr/>
        </p:nvSpPr>
        <p:spPr>
          <a:xfrm>
            <a:off x="6589331" y="1766001"/>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pic>
        <p:nvPicPr>
          <p:cNvPr id="12" name="תמונה 11"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B1BC4439-73F2-BBF8-3B1E-494E9BB4BFF3}"/>
              </a:ext>
            </a:extLst>
          </p:cNvPr>
          <p:cNvPicPr>
            <a:picLocks noChangeAspect="1"/>
          </p:cNvPicPr>
          <p:nvPr/>
        </p:nvPicPr>
        <p:blipFill>
          <a:blip r:embed="rId4">
            <a:extLst>
              <a:ext uri="{28A0092B-C50C-407E-A947-70E740481C1C}">
                <a14:useLocalDpi xmlns:a14="http://schemas.microsoft.com/office/drawing/2010/main" val="0"/>
              </a:ext>
            </a:extLst>
          </a:blip>
          <a:srcRect t="7713"/>
          <a:stretch/>
        </p:blipFill>
        <p:spPr>
          <a:xfrm>
            <a:off x="5358605" y="2516840"/>
            <a:ext cx="6719959" cy="4341159"/>
          </a:xfrm>
          <a:prstGeom prst="rect">
            <a:avLst/>
          </a:prstGeom>
        </p:spPr>
      </p:pic>
    </p:spTree>
    <p:extLst>
      <p:ext uri="{BB962C8B-B14F-4D97-AF65-F5344CB8AC3E}">
        <p14:creationId xmlns:p14="http://schemas.microsoft.com/office/powerpoint/2010/main" val="19974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0774-958C-1F4B-316E-65FA188FA7F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27FFC82-E50A-6ECE-894E-D8D547428F6A}"/>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Scoliosis: size of regulation change is differently distributed</a:t>
            </a:r>
            <a:endParaRPr lang="he-IL" dirty="0"/>
          </a:p>
        </p:txBody>
      </p:sp>
      <p:sp>
        <p:nvSpPr>
          <p:cNvPr id="7" name="כותרת משנה 2">
            <a:extLst>
              <a:ext uri="{FF2B5EF4-FFF2-40B4-BE49-F238E27FC236}">
                <a16:creationId xmlns:a16="http://schemas.microsoft.com/office/drawing/2014/main" id="{C49D33BB-DD25-F2B9-0399-6204262C0290}"/>
              </a:ext>
            </a:extLst>
          </p:cNvPr>
          <p:cNvSpPr txBox="1">
            <a:spLocks/>
          </p:cNvSpPr>
          <p:nvPr/>
        </p:nvSpPr>
        <p:spPr>
          <a:xfrm>
            <a:off x="1614250"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Skeletal myocytes</a:t>
            </a:r>
            <a:endParaRPr lang="he-IL" sz="2000" b="1" i="1" dirty="0"/>
          </a:p>
        </p:txBody>
      </p:sp>
      <p:sp>
        <p:nvSpPr>
          <p:cNvPr id="8" name="כותרת משנה 2">
            <a:extLst>
              <a:ext uri="{FF2B5EF4-FFF2-40B4-BE49-F238E27FC236}">
                <a16:creationId xmlns:a16="http://schemas.microsoft.com/office/drawing/2014/main" id="{79CC4FB9-2B51-D82B-FFE6-14485DD79110}"/>
              </a:ext>
            </a:extLst>
          </p:cNvPr>
          <p:cNvSpPr txBox="1">
            <a:spLocks/>
          </p:cNvSpPr>
          <p:nvPr/>
        </p:nvSpPr>
        <p:spPr>
          <a:xfrm>
            <a:off x="7715472"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Perichondral </a:t>
            </a:r>
            <a:r>
              <a:rPr lang="en-US" sz="2000" b="1" i="1" dirty="0" err="1"/>
              <a:t>mezenchyme</a:t>
            </a:r>
            <a:endParaRPr lang="he-IL" sz="2000" b="1" i="1" dirty="0"/>
          </a:p>
        </p:txBody>
      </p:sp>
      <p:pic>
        <p:nvPicPr>
          <p:cNvPr id="6" name="מציין מיקום תוכן 5" descr="תמונה שמכילה טקסט, צילום מסך, תרשים, עלילה&#10;&#10;תוכן שנוצר על-ידי בינה מלאכותית עשוי להיות שגוי.">
            <a:extLst>
              <a:ext uri="{FF2B5EF4-FFF2-40B4-BE49-F238E27FC236}">
                <a16:creationId xmlns:a16="http://schemas.microsoft.com/office/drawing/2014/main" id="{3B0B7B1D-0424-F145-78EA-39DAD980477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428" b="6519"/>
          <a:stretch/>
        </p:blipFill>
        <p:spPr>
          <a:xfrm>
            <a:off x="6258495" y="2686050"/>
            <a:ext cx="5933506" cy="3063586"/>
          </a:xfrm>
        </p:spPr>
      </p:pic>
      <p:pic>
        <p:nvPicPr>
          <p:cNvPr id="11" name="תמונה 10" descr="תמונה שמכילה טקסט, צילום מסך, תרשים, עלילה&#10;&#10;תוכן שנוצר על-ידי בינה מלאכותית עשוי להיות שגוי.">
            <a:extLst>
              <a:ext uri="{FF2B5EF4-FFF2-40B4-BE49-F238E27FC236}">
                <a16:creationId xmlns:a16="http://schemas.microsoft.com/office/drawing/2014/main" id="{C0386F8C-7B5F-B306-4BD0-DB28D1321DF4}"/>
              </a:ext>
            </a:extLst>
          </p:cNvPr>
          <p:cNvPicPr>
            <a:picLocks noChangeAspect="1"/>
          </p:cNvPicPr>
          <p:nvPr/>
        </p:nvPicPr>
        <p:blipFill>
          <a:blip r:embed="rId4">
            <a:extLst>
              <a:ext uri="{28A0092B-C50C-407E-A947-70E740481C1C}">
                <a14:useLocalDpi xmlns:a14="http://schemas.microsoft.com/office/drawing/2010/main" val="0"/>
              </a:ext>
            </a:extLst>
          </a:blip>
          <a:srcRect t="7199" b="6969"/>
          <a:stretch/>
        </p:blipFill>
        <p:spPr>
          <a:xfrm>
            <a:off x="342891" y="2686051"/>
            <a:ext cx="5948822" cy="3063586"/>
          </a:xfrm>
          <a:prstGeom prst="rect">
            <a:avLst/>
          </a:prstGeom>
        </p:spPr>
      </p:pic>
      <p:sp>
        <p:nvSpPr>
          <p:cNvPr id="13" name="תיבת טקסט 12">
            <a:extLst>
              <a:ext uri="{FF2B5EF4-FFF2-40B4-BE49-F238E27FC236}">
                <a16:creationId xmlns:a16="http://schemas.microsoft.com/office/drawing/2014/main" id="{BEB96380-8876-FD08-9026-B89324C18158}"/>
              </a:ext>
            </a:extLst>
          </p:cNvPr>
          <p:cNvSpPr txBox="1"/>
          <p:nvPr/>
        </p:nvSpPr>
        <p:spPr>
          <a:xfrm>
            <a:off x="2382981" y="5749636"/>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4" name="תיבת טקסט 13">
            <a:extLst>
              <a:ext uri="{FF2B5EF4-FFF2-40B4-BE49-F238E27FC236}">
                <a16:creationId xmlns:a16="http://schemas.microsoft.com/office/drawing/2014/main" id="{D18E0E9C-149C-6A21-968C-8E62927BB9B1}"/>
              </a:ext>
            </a:extLst>
          </p:cNvPr>
          <p:cNvSpPr txBox="1"/>
          <p:nvPr/>
        </p:nvSpPr>
        <p:spPr>
          <a:xfrm>
            <a:off x="8178241" y="5749635"/>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5" name="תיבת טקסט 14">
            <a:extLst>
              <a:ext uri="{FF2B5EF4-FFF2-40B4-BE49-F238E27FC236}">
                <a16:creationId xmlns:a16="http://schemas.microsoft.com/office/drawing/2014/main" id="{D6987DFF-D395-6B19-C9FA-3C5AD44586C3}"/>
              </a:ext>
            </a:extLst>
          </p:cNvPr>
          <p:cNvSpPr txBox="1"/>
          <p:nvPr/>
        </p:nvSpPr>
        <p:spPr>
          <a:xfrm rot="16200000">
            <a:off x="-899612" y="3973419"/>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
        <p:nvSpPr>
          <p:cNvPr id="16" name="תיבת טקסט 15">
            <a:extLst>
              <a:ext uri="{FF2B5EF4-FFF2-40B4-BE49-F238E27FC236}">
                <a16:creationId xmlns:a16="http://schemas.microsoft.com/office/drawing/2014/main" id="{A87AA886-DFCC-64C8-7D58-6CDAD41F5131}"/>
              </a:ext>
            </a:extLst>
          </p:cNvPr>
          <p:cNvSpPr txBox="1"/>
          <p:nvPr/>
        </p:nvSpPr>
        <p:spPr>
          <a:xfrm rot="16200000">
            <a:off x="5026879" y="3973420"/>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Tree>
    <p:extLst>
      <p:ext uri="{BB962C8B-B14F-4D97-AF65-F5344CB8AC3E}">
        <p14:creationId xmlns:p14="http://schemas.microsoft.com/office/powerpoint/2010/main" val="23122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0E00-D0CB-3646-D4D1-B04A475B808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3D3F8F5-186A-6761-13BA-335951760D01}"/>
              </a:ext>
            </a:extLst>
          </p:cNvPr>
          <p:cNvSpPr>
            <a:spLocks noGrp="1"/>
          </p:cNvSpPr>
          <p:nvPr>
            <p:ph type="title"/>
          </p:nvPr>
        </p:nvSpPr>
        <p:spPr/>
        <p:txBody>
          <a:bodyPr>
            <a:normAutofit/>
          </a:bodyPr>
          <a:lstStyle/>
          <a:p>
            <a:pPr algn="ctr" rtl="0"/>
            <a:r>
              <a:rPr lang="en-US" dirty="0">
                <a:solidFill>
                  <a:srgbClr val="0070C0"/>
                </a:solidFill>
                <a:effectLst>
                  <a:outerShdw blurRad="38100" dist="38100" dir="2700000" algn="tl">
                    <a:srgbClr val="000000">
                      <a:alpha val="43137"/>
                    </a:srgbClr>
                  </a:outerShdw>
                </a:effectLst>
                <a:latin typeface="Comic Sans MS" panose="030F0702030302020204" pitchFamily="66" charset="0"/>
                <a:ea typeface="+mn-ea"/>
                <a:cs typeface="+mn-cs"/>
              </a:rPr>
              <a:t>Discussion</a:t>
            </a:r>
            <a:endParaRPr lang="he-IL" dirty="0"/>
          </a:p>
        </p:txBody>
      </p:sp>
      <p:sp>
        <p:nvSpPr>
          <p:cNvPr id="3" name="מציין מיקום תוכן 2">
            <a:extLst>
              <a:ext uri="{FF2B5EF4-FFF2-40B4-BE49-F238E27FC236}">
                <a16:creationId xmlns:a16="http://schemas.microsoft.com/office/drawing/2014/main" id="{2D61D755-77FD-0759-367F-85909AF35B28}"/>
              </a:ext>
            </a:extLst>
          </p:cNvPr>
          <p:cNvSpPr>
            <a:spLocks noGrp="1"/>
          </p:cNvSpPr>
          <p:nvPr>
            <p:ph idx="1"/>
          </p:nvPr>
        </p:nvSpPr>
        <p:spPr>
          <a:xfrm>
            <a:off x="630241" y="1720272"/>
            <a:ext cx="5465759" cy="4351338"/>
          </a:xfrm>
        </p:spPr>
        <p:txBody>
          <a:bodyPr>
            <a:normAutofit fontScale="85000" lnSpcReduction="20000"/>
          </a:bodyPr>
          <a:lstStyle/>
          <a:p>
            <a:pPr algn="l" rtl="0"/>
            <a:r>
              <a:rPr lang="en-US" b="1" i="1" dirty="0"/>
              <a:t>General selection against changes in disease-related genes</a:t>
            </a:r>
          </a:p>
          <a:p>
            <a:pPr algn="l" rtl="0"/>
            <a:endParaRPr lang="en-US" b="1" i="1" dirty="0"/>
          </a:p>
          <a:p>
            <a:pPr algn="l" rtl="0"/>
            <a:r>
              <a:rPr lang="en-US" b="1" i="1" dirty="0"/>
              <a:t>Enrichment for upregulated genes in schizophrenia: schizophrenia is characterized by gene upregulation</a:t>
            </a:r>
          </a:p>
          <a:p>
            <a:pPr algn="l" rtl="0"/>
            <a:endParaRPr lang="en-US" b="1" i="1" dirty="0"/>
          </a:p>
          <a:p>
            <a:pPr algn="l" rtl="0"/>
            <a:r>
              <a:rPr lang="en-US" b="1" i="1" dirty="0"/>
              <a:t>Accelerated evolution in scoliosis, specifically in downregulated genes</a:t>
            </a:r>
          </a:p>
          <a:p>
            <a:pPr algn="l" rtl="0"/>
            <a:endParaRPr lang="en-US" b="1" i="1" dirty="0"/>
          </a:p>
          <a:p>
            <a:pPr algn="l" rtl="0"/>
            <a:r>
              <a:rPr lang="en-US" b="1" i="1" dirty="0"/>
              <a:t>To be continued:</a:t>
            </a:r>
          </a:p>
          <a:p>
            <a:pPr lvl="1" algn="l" rtl="0"/>
            <a:r>
              <a:rPr lang="en-US" b="1" i="1" dirty="0"/>
              <a:t>Test for different developmental stages</a:t>
            </a:r>
          </a:p>
          <a:p>
            <a:pPr lvl="1" algn="l" rtl="0"/>
            <a:r>
              <a:rPr lang="en-US" b="1" i="1" dirty="0"/>
              <a:t>Pathway enrichment analysis</a:t>
            </a:r>
          </a:p>
        </p:txBody>
      </p:sp>
      <p:pic>
        <p:nvPicPr>
          <p:cNvPr id="4" name="תמונה 3">
            <a:extLst>
              <a:ext uri="{FF2B5EF4-FFF2-40B4-BE49-F238E27FC236}">
                <a16:creationId xmlns:a16="http://schemas.microsoft.com/office/drawing/2014/main" id="{1FFD4B25-8701-A89C-9104-2BEB5473F74B}"/>
              </a:ext>
            </a:extLst>
          </p:cNvPr>
          <p:cNvPicPr>
            <a:picLocks noChangeAspect="1"/>
          </p:cNvPicPr>
          <p:nvPr/>
        </p:nvPicPr>
        <p:blipFill>
          <a:blip r:embed="rId3"/>
          <a:stretch>
            <a:fillRect/>
          </a:stretch>
        </p:blipFill>
        <p:spPr>
          <a:xfrm>
            <a:off x="6317451" y="1720272"/>
            <a:ext cx="5658640" cy="4658375"/>
          </a:xfrm>
          <a:prstGeom prst="rect">
            <a:avLst/>
          </a:prstGeom>
        </p:spPr>
      </p:pic>
      <p:pic>
        <p:nvPicPr>
          <p:cNvPr id="1026" name="Picture 2" descr="‪10+ Thousand Chimpanzee Silhouette Royalty-Free Images, Stock Photos &amp;  Pictures | Shutterstock‬‏">
            <a:extLst>
              <a:ext uri="{FF2B5EF4-FFF2-40B4-BE49-F238E27FC236}">
                <a16:creationId xmlns:a16="http://schemas.microsoft.com/office/drawing/2014/main" id="{CFDAB0D0-93A3-A866-6699-F2C39909AF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1690688"/>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 Thousand Chimpanzee Silhouette Royalty-Free Images, Stock Photos &amp;  Pictures | Shutterstock‬‏">
            <a:extLst>
              <a:ext uri="{FF2B5EF4-FFF2-40B4-BE49-F238E27FC236}">
                <a16:creationId xmlns:a16="http://schemas.microsoft.com/office/drawing/2014/main" id="{ACCD0585-9204-6F23-3EDE-141C1DB2A0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2747309"/>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10+ Thousand Chimpanzee Silhouette Royalty-Free Images, Stock Photos &amp;  Pictures | Shutterstock‬‏">
            <a:extLst>
              <a:ext uri="{FF2B5EF4-FFF2-40B4-BE49-F238E27FC236}">
                <a16:creationId xmlns:a16="http://schemas.microsoft.com/office/drawing/2014/main" id="{05E90EE8-C350-B85D-DC1F-393A99ED96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3895941"/>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10+ Thousand Chimpanzee Silhouette Royalty-Free Images, Stock Photos &amp;  Pictures | Shutterstock‬‏">
            <a:extLst>
              <a:ext uri="{FF2B5EF4-FFF2-40B4-BE49-F238E27FC236}">
                <a16:creationId xmlns:a16="http://schemas.microsoft.com/office/drawing/2014/main" id="{7C161114-7C2D-E497-B4B2-0DC580109A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5003215"/>
            <a:ext cx="685800" cy="537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6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לבן 2">
            <a:extLst>
              <a:ext uri="{FF2B5EF4-FFF2-40B4-BE49-F238E27FC236}">
                <a16:creationId xmlns:a16="http://schemas.microsoft.com/office/drawing/2014/main" id="{54E37224-50DC-881A-EA88-5598FAB839C4}"/>
              </a:ext>
            </a:extLst>
          </p:cNvPr>
          <p:cNvSpPr/>
          <p:nvPr/>
        </p:nvSpPr>
        <p:spPr>
          <a:xfrm>
            <a:off x="838199" y="1174819"/>
            <a:ext cx="4826795" cy="2858363"/>
          </a:xfrm>
          <a:prstGeom prst="rect">
            <a:avLst/>
          </a:prstGeom>
        </p:spPr>
        <p:txBody>
          <a:bodyPr lIns="91440" tIns="45720" rIns="91440" bIns="45720">
            <a:normAutofit/>
          </a:bodyPr>
          <a:lstStyle/>
          <a:p>
            <a:pPr algn="l">
              <a:spcAft>
                <a:spcPts val="600"/>
              </a:spcAft>
            </a:pPr>
            <a:r>
              <a:rPr lang="en-US" sz="7200" b="1" cap="none" spc="50">
                <a:ln w="9525" cmpd="sng">
                  <a:solidFill>
                    <a:schemeClr val="accent1"/>
                  </a:solidFill>
                  <a:prstDash val="solid"/>
                </a:ln>
                <a:solidFill>
                  <a:schemeClr val="bg1"/>
                </a:solidFill>
                <a:effectLst>
                  <a:glow rad="38100">
                    <a:schemeClr val="accent1">
                      <a:alpha val="40000"/>
                    </a:schemeClr>
                  </a:glow>
                </a:effectLst>
              </a:rPr>
              <a:t>Thanks for listening!</a:t>
            </a:r>
            <a:endParaRPr lang="he-IL" sz="7200" b="1" cap="none" spc="50">
              <a:ln w="9525" cmpd="sng">
                <a:solidFill>
                  <a:schemeClr val="accent1"/>
                </a:solidFill>
                <a:prstDash val="solid"/>
              </a:ln>
              <a:solidFill>
                <a:schemeClr val="bg1"/>
              </a:solidFill>
              <a:effectLst>
                <a:glow rad="38100">
                  <a:schemeClr val="accent1">
                    <a:alpha val="40000"/>
                  </a:schemeClr>
                </a:glow>
              </a:effectLst>
            </a:endParaRPr>
          </a:p>
        </p:txBody>
      </p:sp>
      <p:pic>
        <p:nvPicPr>
          <p:cNvPr id="3074" name="Picture 2" descr="‪The chimpanzee who sees sounds | Nature‬‏">
            <a:extLst>
              <a:ext uri="{FF2B5EF4-FFF2-40B4-BE49-F238E27FC236}">
                <a16:creationId xmlns:a16="http://schemas.microsoft.com/office/drawing/2014/main" id="{EDDD4C1D-1687-CB09-3260-61A9674BF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079" r="10555" b="2"/>
          <a:stretch>
            <a:fillRect/>
          </a:stretch>
        </p:blipFill>
        <p:spPr bwMode="auto">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effectLst>
            <a:outerShdw blurRad="381000" dist="152400" dir="5400000" algn="t"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3081" name="Freeform: Shape 3080">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83" name="Freeform: Shape 3082">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456930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5270</TotalTime>
  <Words>1512</Words>
  <Application>Microsoft Office PowerPoint</Application>
  <PresentationFormat>מסך רחב</PresentationFormat>
  <Paragraphs>204</Paragraphs>
  <Slides>16</Slides>
  <Notes>15</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16</vt:i4>
      </vt:variant>
    </vt:vector>
  </HeadingPairs>
  <TitlesOfParts>
    <vt:vector size="26" baseType="lpstr">
      <vt:lpstr>Aptos</vt:lpstr>
      <vt:lpstr>Aptos Display</vt:lpstr>
      <vt:lpstr>Arial</vt:lpstr>
      <vt:lpstr>Avenir Next Condensed</vt:lpstr>
      <vt:lpstr>Comic Sans MS</vt:lpstr>
      <vt:lpstr>Helvetica Neue</vt:lpstr>
      <vt:lpstr>Helvetica Neue Light</vt:lpstr>
      <vt:lpstr>Helvetica Neue Medium</vt:lpstr>
      <vt:lpstr>Helvetica Neue Thin</vt:lpstr>
      <vt:lpstr>ערכת נושא Office</vt:lpstr>
      <vt:lpstr>The evolution of human-specific disease</vt:lpstr>
      <vt:lpstr>The origin of human-specific diseases</vt:lpstr>
      <vt:lpstr>How to we study regulatory changes?</vt:lpstr>
      <vt:lpstr>Filter disease list based on our available data</vt:lpstr>
      <vt:lpstr>Identifying disease-associated genes</vt:lpstr>
      <vt:lpstr>Identifying disease-associated genes</vt:lpstr>
      <vt:lpstr>What are we looking for?</vt:lpstr>
      <vt:lpstr>Percentage of differentially expressed genes</vt:lpstr>
      <vt:lpstr>Schizophrenia: less differentially expressed genes</vt:lpstr>
      <vt:lpstr>Schizophrenia: Chance of Differentially expressed genes to be disease-related</vt:lpstr>
      <vt:lpstr>Scoliosis: Accelerated evolution?</vt:lpstr>
      <vt:lpstr>Is the direction of regulation change important?</vt:lpstr>
      <vt:lpstr>Schizophrenia: positive selection for upregulation of genes</vt:lpstr>
      <vt:lpstr>Scoliosis: size of regulation change is differently distributed</vt:lpstr>
      <vt:lpstr>Discussion</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 Moses</dc:creator>
  <cp:lastModifiedBy>Sarit Moses</cp:lastModifiedBy>
  <cp:revision>19</cp:revision>
  <dcterms:created xsi:type="dcterms:W3CDTF">2025-06-29T11:13:21Z</dcterms:created>
  <dcterms:modified xsi:type="dcterms:W3CDTF">2025-07-10T19:36:49Z</dcterms:modified>
</cp:coreProperties>
</file>