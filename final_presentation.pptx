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2"/>
  </p:notesMasterIdLst>
  <p:sldIdLst>
    <p:sldId id="256" r:id="rId2"/>
    <p:sldId id="992" r:id="rId3"/>
    <p:sldId id="993" r:id="rId4"/>
    <p:sldId id="1006" r:id="rId5"/>
    <p:sldId id="994" r:id="rId6"/>
    <p:sldId id="995" r:id="rId7"/>
    <p:sldId id="1003" r:id="rId8"/>
    <p:sldId id="996" r:id="rId9"/>
    <p:sldId id="997" r:id="rId10"/>
    <p:sldId id="1008" r:id="rId11"/>
    <p:sldId id="1000" r:id="rId12"/>
    <p:sldId id="1002" r:id="rId13"/>
    <p:sldId id="1001" r:id="rId14"/>
    <p:sldId id="998" r:id="rId15"/>
    <p:sldId id="1004" r:id="rId16"/>
    <p:sldId id="1009" r:id="rId17"/>
    <p:sldId id="1005" r:id="rId18"/>
    <p:sldId id="999" r:id="rId19"/>
    <p:sldId id="1010" r:id="rId20"/>
    <p:sldId id="267" r:id="rId21"/>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2CFEE"/>
    <a:srgbClr val="25D5D5"/>
    <a:srgbClr val="CCF6EC"/>
    <a:srgbClr val="F8F7CB"/>
    <a:srgbClr val="CAEEFB"/>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26"/>
    <p:restoredTop sz="95033" autoAdjust="0"/>
  </p:normalViewPr>
  <p:slideViewPr>
    <p:cSldViewPr snapToGrid="0">
      <p:cViewPr varScale="1">
        <p:scale>
          <a:sx n="112" d="100"/>
          <a:sy n="112" d="100"/>
        </p:scale>
        <p:origin x="336" y="176"/>
      </p:cViewPr>
      <p:guideLst/>
    </p:cSldViewPr>
  </p:slideViewPr>
  <p:notesTextViewPr>
    <p:cViewPr>
      <p:scale>
        <a:sx n="110" d="100"/>
        <a:sy n="11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1E00752A-24CB-480C-96D7-C9C8B079CBDF}" type="datetimeFigureOut">
              <a:rPr lang="he-IL" smtClean="0"/>
              <a:t>כ"ט.תמוז.תשפ"ה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64F50766-83A2-4A8D-A724-80D60639DE7B}" type="slidenum">
              <a:rPr lang="he-IL" smtClean="0"/>
              <a:t>‹#›</a:t>
            </a:fld>
            <a:endParaRPr lang="he-IL"/>
          </a:p>
        </p:txBody>
      </p:sp>
    </p:spTree>
    <p:extLst>
      <p:ext uri="{BB962C8B-B14F-4D97-AF65-F5344CB8AC3E}">
        <p14:creationId xmlns:p14="http://schemas.microsoft.com/office/powerpoint/2010/main" val="341029991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228600" indent="-228600">
              <a:buAutoNum type="arabicPeriod"/>
            </a:pPr>
            <a:endParaRPr lang="he-IL" dirty="0"/>
          </a:p>
        </p:txBody>
      </p:sp>
      <p:sp>
        <p:nvSpPr>
          <p:cNvPr id="4" name="מציין מיקום של מספר שקופית 3"/>
          <p:cNvSpPr>
            <a:spLocks noGrp="1"/>
          </p:cNvSpPr>
          <p:nvPr>
            <p:ph type="sldNum" sz="quarter" idx="5"/>
          </p:nvPr>
        </p:nvSpPr>
        <p:spPr/>
        <p:txBody>
          <a:bodyPr/>
          <a:lstStyle/>
          <a:p>
            <a:fld id="{64F50766-83A2-4A8D-A724-80D60639DE7B}" type="slidenum">
              <a:rPr lang="he-IL" smtClean="0"/>
              <a:t>1</a:t>
            </a:fld>
            <a:endParaRPr lang="he-IL"/>
          </a:p>
        </p:txBody>
      </p:sp>
    </p:spTree>
    <p:extLst>
      <p:ext uri="{BB962C8B-B14F-4D97-AF65-F5344CB8AC3E}">
        <p14:creationId xmlns:p14="http://schemas.microsoft.com/office/powerpoint/2010/main" val="307724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l" rtl="0"/>
            <a:r>
              <a:rPr lang="en" sz="1200" b="0" i="0" u="none" strike="noStrike" kern="1200" dirty="0" err="1">
                <a:solidFill>
                  <a:schemeClr val="tx1"/>
                </a:solidFill>
                <a:effectLst/>
                <a:latin typeface="+mn-lt"/>
                <a:ea typeface="+mn-ea"/>
                <a:cs typeface="+mn-cs"/>
              </a:rPr>
              <a:t>Chimpa</a:t>
            </a:r>
            <a:r>
              <a:rPr lang="en-US" sz="1200" b="0" i="0" u="none" strike="noStrike" kern="1200" dirty="0" err="1">
                <a:solidFill>
                  <a:schemeClr val="tx1"/>
                </a:solidFill>
                <a:effectLst/>
                <a:latin typeface="+mn-lt"/>
                <a:ea typeface="+mn-ea"/>
                <a:cs typeface="+mn-cs"/>
              </a:rPr>
              <a:t>nzees</a:t>
            </a:r>
            <a:r>
              <a:rPr lang="en" sz="1200" b="0" i="0" u="none" strike="noStrike" kern="1200" dirty="0">
                <a:solidFill>
                  <a:schemeClr val="tx1"/>
                </a:solidFill>
                <a:effectLst/>
                <a:latin typeface="+mn-lt"/>
                <a:ea typeface="+mn-ea"/>
                <a:cs typeface="+mn-cs"/>
              </a:rPr>
              <a:t> are one of our closet relatives, as a result we share many traits, yet we also have numerous characteristics unique to our species.</a:t>
            </a:r>
          </a:p>
          <a:p>
            <a:pPr algn="l" rtl="0"/>
            <a:r>
              <a:rPr lang="en" sz="1200" b="0" i="0" u="none" strike="noStrike" kern="1200" dirty="0">
                <a:solidFill>
                  <a:schemeClr val="tx1"/>
                </a:solidFill>
                <a:effectLst/>
                <a:latin typeface="+mn-lt"/>
                <a:ea typeface="+mn-ea"/>
                <a:cs typeface="+mn-cs"/>
              </a:rPr>
              <a:t>Among these unique characteristics are diseases that specifically affect humans.</a:t>
            </a:r>
          </a:p>
          <a:p>
            <a:pPr algn="l" rtl="0"/>
            <a:r>
              <a:rPr lang="en" sz="1200" b="0" i="0" u="none" strike="noStrike" kern="1200" dirty="0">
                <a:solidFill>
                  <a:schemeClr val="tx1"/>
                </a:solidFill>
                <a:effectLst/>
                <a:latin typeface="+mn-lt"/>
                <a:ea typeface="+mn-ea"/>
                <a:cs typeface="+mn-cs"/>
              </a:rPr>
              <a:t>The primary goal of our research is to better understand how evolutionar have shaped these human-diseases.</a:t>
            </a:r>
          </a:p>
          <a:p>
            <a:pPr algn="l" rtl="0"/>
            <a:endParaRPr lang="en" sz="1200" b="0" i="0" u="none" strike="noStrike" kern="1200" dirty="0">
              <a:solidFill>
                <a:schemeClr val="tx1"/>
              </a:solidFill>
              <a:effectLst/>
              <a:latin typeface="+mn-lt"/>
              <a:ea typeface="+mn-ea"/>
              <a:cs typeface="+mn-cs"/>
            </a:endParaRPr>
          </a:p>
          <a:p>
            <a:pPr algn="l" rtl="0"/>
            <a:r>
              <a:rPr lang="en" sz="1200" b="0" i="0" u="none" strike="noStrike" kern="1200" dirty="0">
                <a:solidFill>
                  <a:schemeClr val="tx1"/>
                </a:solidFill>
                <a:effectLst/>
                <a:latin typeface="+mn-lt"/>
                <a:ea typeface="+mn-ea"/>
                <a:cs typeface="+mn-cs"/>
              </a:rPr>
              <a:t>These differences can be attributed to several factors, such as distinct environmental exposures, longer lifespans in humans, and limited available data on diseases in great apes.</a:t>
            </a:r>
          </a:p>
          <a:p>
            <a:pPr algn="l" rtl="0"/>
            <a:r>
              <a:rPr lang="en" sz="1200" b="0" i="0" u="none" strike="noStrike" kern="1200" dirty="0">
                <a:solidFill>
                  <a:schemeClr val="tx1"/>
                </a:solidFill>
                <a:effectLst/>
                <a:latin typeface="+mn-lt"/>
                <a:ea typeface="+mn-ea"/>
                <a:cs typeface="+mn-cs"/>
              </a:rPr>
              <a:t>For example, diabetes is a human unique disease. However, evidence show that apes exposed to human-like diets can develop diabetes.</a:t>
            </a:r>
          </a:p>
          <a:p>
            <a:pPr algn="l" rtl="0"/>
            <a:r>
              <a:rPr lang="en" sz="1200" b="0" i="0" u="none" strike="noStrike" kern="1200" dirty="0">
                <a:solidFill>
                  <a:schemeClr val="tx1"/>
                </a:solidFill>
                <a:effectLst/>
                <a:latin typeface="+mn-lt"/>
                <a:ea typeface="+mn-ea"/>
                <a:cs typeface="+mn-cs"/>
              </a:rPr>
              <a:t>Nevertheless, numerous other diseases remain unexplained by environmental or lifestyle factors alone, indicating that genetic differences play a crucial role in these diseases.</a:t>
            </a:r>
          </a:p>
        </p:txBody>
      </p:sp>
      <p:sp>
        <p:nvSpPr>
          <p:cNvPr id="4" name="מציין מיקום של מספר שקופית 3"/>
          <p:cNvSpPr>
            <a:spLocks noGrp="1"/>
          </p:cNvSpPr>
          <p:nvPr>
            <p:ph type="sldNum" sz="quarter" idx="5"/>
          </p:nvPr>
        </p:nvSpPr>
        <p:spPr/>
        <p:txBody>
          <a:bodyPr/>
          <a:lstStyle/>
          <a:p>
            <a:fld id="{64F50766-83A2-4A8D-A724-80D60639DE7B}" type="slidenum">
              <a:rPr lang="he-IL" smtClean="0"/>
              <a:t>2</a:t>
            </a:fld>
            <a:endParaRPr lang="he-IL"/>
          </a:p>
        </p:txBody>
      </p:sp>
    </p:spTree>
    <p:extLst>
      <p:ext uri="{BB962C8B-B14F-4D97-AF65-F5344CB8AC3E}">
        <p14:creationId xmlns:p14="http://schemas.microsoft.com/office/powerpoint/2010/main" val="274177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F08DC-1294-CCC9-866C-45177556EB6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57E18FD-4F65-1D1D-F6BD-1F8C0D10726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2B6F243-6A15-3D33-0C4E-03DE3C19E4EA}"/>
              </a:ext>
            </a:extLst>
          </p:cNvPr>
          <p:cNvSpPr>
            <a:spLocks noGrp="1"/>
          </p:cNvSpPr>
          <p:nvPr>
            <p:ph type="body" idx="1"/>
          </p:nvPr>
        </p:nvSpPr>
        <p:spPr/>
        <p:txBody>
          <a:bodyPr/>
          <a:lstStyle/>
          <a:p>
            <a:pPr algn="l" rtl="0"/>
            <a:r>
              <a:rPr lang="en" dirty="0"/>
              <a:t>Typically, phenotypic differences between closely related species, such as humans and chimps, can be attributed to regulatory changes rather than differences in the coding regions.</a:t>
            </a:r>
          </a:p>
          <a:p>
            <a:pPr algn="l" rtl="0"/>
            <a:r>
              <a:rPr lang="en" dirty="0"/>
              <a:t>Regulatory changes are differences in gene expression levels.</a:t>
            </a:r>
          </a:p>
          <a:p>
            <a:pPr algn="l" rtl="0"/>
            <a:r>
              <a:rPr lang="en" dirty="0"/>
              <a:t>But can we study these regulatory differences?</a:t>
            </a:r>
          </a:p>
          <a:p>
            <a:pPr algn="l" rtl="0"/>
            <a:r>
              <a:rPr lang="en" dirty="0"/>
              <a:t>Observed differences in gene expression could also result from confounding factors, such as environmental variation or technical biases in lab conditions.</a:t>
            </a:r>
          </a:p>
          <a:p>
            <a:pPr algn="l" rtl="0"/>
            <a:r>
              <a:rPr lang="en" dirty="0"/>
              <a:t>To control for these confounders, David’s Lab took pluripotent stem cells derived from humans and chimpanzees and fuse them together, creating hybrid cells containing both genomes.</a:t>
            </a:r>
          </a:p>
          <a:p>
            <a:pPr algn="l" rtl="0"/>
            <a:r>
              <a:rPr lang="en" dirty="0"/>
              <a:t>In these hybrid cells, both genomes share an identical cellular environment. Therefore, any observed difference in gene expression must reflect genetic (rather than environmental) differences.</a:t>
            </a:r>
          </a:p>
          <a:p>
            <a:pPr algn="l" rtl="0"/>
            <a:r>
              <a:rPr lang="en" dirty="0"/>
              <a:t>Because these hybrid cells are pluripotent, they can be differentiated into virtually any cell type, enabling us to study and compare regulatory changes across diverse cell types and developmental stages.</a:t>
            </a:r>
          </a:p>
          <a:p>
            <a:pPr marL="0" indent="0" algn="l" rtl="0">
              <a:buNone/>
            </a:pPr>
            <a:endParaRPr lang="he-IL" dirty="0"/>
          </a:p>
        </p:txBody>
      </p:sp>
      <p:sp>
        <p:nvSpPr>
          <p:cNvPr id="4" name="מציין מיקום של מספר שקופית 3">
            <a:extLst>
              <a:ext uri="{FF2B5EF4-FFF2-40B4-BE49-F238E27FC236}">
                <a16:creationId xmlns:a16="http://schemas.microsoft.com/office/drawing/2014/main" id="{7690E324-8C62-A196-6BF5-76CC49915D35}"/>
              </a:ext>
            </a:extLst>
          </p:cNvPr>
          <p:cNvSpPr>
            <a:spLocks noGrp="1"/>
          </p:cNvSpPr>
          <p:nvPr>
            <p:ph type="sldNum" sz="quarter" idx="5"/>
          </p:nvPr>
        </p:nvSpPr>
        <p:spPr/>
        <p:txBody>
          <a:bodyPr/>
          <a:lstStyle/>
          <a:p>
            <a:fld id="{64F50766-83A2-4A8D-A724-80D60639DE7B}" type="slidenum">
              <a:rPr lang="he-IL" smtClean="0"/>
              <a:t>3</a:t>
            </a:fld>
            <a:endParaRPr lang="he-IL"/>
          </a:p>
        </p:txBody>
      </p:sp>
    </p:spTree>
    <p:extLst>
      <p:ext uri="{BB962C8B-B14F-4D97-AF65-F5344CB8AC3E}">
        <p14:creationId xmlns:p14="http://schemas.microsoft.com/office/powerpoint/2010/main" val="664541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AE648-ABC1-F4FA-80E1-6F230A2CFA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60D9E0BE-F888-4CFC-6EEC-257BDD5073EB}"/>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836E03F-B737-3BA2-F0BE-E92D08DB62A7}"/>
              </a:ext>
            </a:extLst>
          </p:cNvPr>
          <p:cNvSpPr>
            <a:spLocks noGrp="1"/>
          </p:cNvSpPr>
          <p:nvPr>
            <p:ph type="body" idx="1"/>
          </p:nvPr>
        </p:nvSpPr>
        <p:spPr/>
        <p:txBody>
          <a:bodyPr/>
          <a:lstStyle/>
          <a:p>
            <a:pPr algn="l" rtl="0"/>
            <a:r>
              <a:rPr lang="en" dirty="0"/>
              <a:t>Having said that, we can examine the phenotypic component effected by these expression alterations.</a:t>
            </a:r>
          </a:p>
        </p:txBody>
      </p:sp>
      <p:sp>
        <p:nvSpPr>
          <p:cNvPr id="4" name="מציין מיקום של מספר שקופית 3">
            <a:extLst>
              <a:ext uri="{FF2B5EF4-FFF2-40B4-BE49-F238E27FC236}">
                <a16:creationId xmlns:a16="http://schemas.microsoft.com/office/drawing/2014/main" id="{9116230F-3663-7CF2-C7C7-0CCC58BB248F}"/>
              </a:ext>
            </a:extLst>
          </p:cNvPr>
          <p:cNvSpPr>
            <a:spLocks noGrp="1"/>
          </p:cNvSpPr>
          <p:nvPr>
            <p:ph type="sldNum" sz="quarter" idx="5"/>
          </p:nvPr>
        </p:nvSpPr>
        <p:spPr/>
        <p:txBody>
          <a:bodyPr/>
          <a:lstStyle/>
          <a:p>
            <a:fld id="{64F50766-83A2-4A8D-A724-80D60639DE7B}" type="slidenum">
              <a:rPr lang="he-IL" smtClean="0"/>
              <a:t>4</a:t>
            </a:fld>
            <a:endParaRPr lang="he-IL"/>
          </a:p>
        </p:txBody>
      </p:sp>
    </p:spTree>
    <p:extLst>
      <p:ext uri="{BB962C8B-B14F-4D97-AF65-F5344CB8AC3E}">
        <p14:creationId xmlns:p14="http://schemas.microsoft.com/office/powerpoint/2010/main" val="2718513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762AD-F519-5B92-7793-2921EDC16AD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FECD773-7F43-EC4A-0A1B-06D84D9D0D69}"/>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C3EB6192-7BE6-C2D4-CF4D-970EC21A8B18}"/>
              </a:ext>
            </a:extLst>
          </p:cNvPr>
          <p:cNvSpPr>
            <a:spLocks noGrp="1"/>
          </p:cNvSpPr>
          <p:nvPr>
            <p:ph type="body" idx="1"/>
          </p:nvPr>
        </p:nvSpPr>
        <p:spPr/>
        <p:txBody>
          <a:bodyPr/>
          <a:lstStyle/>
          <a:p>
            <a:pPr algn="l" rtl="0"/>
            <a:r>
              <a:rPr lang="en" dirty="0"/>
              <a:t>Using our hybrids system, we sought to investigate the genetic basis of human-specific diseases.</a:t>
            </a:r>
          </a:p>
          <a:p>
            <a:pPr algn="l" rtl="0"/>
            <a:r>
              <a:rPr lang="en" dirty="0"/>
              <a:t>To start, we curated a comprehensive list of human-specific diseases, primarily relying on reviews and the existing literature.</a:t>
            </a:r>
          </a:p>
          <a:p>
            <a:pPr algn="l" rtl="0"/>
            <a:r>
              <a:rPr lang="en" dirty="0"/>
              <a:t>we reviewed scientific literature to identify the relevant cell types implicated in each disease.</a:t>
            </a:r>
          </a:p>
          <a:p>
            <a:pPr algn="l" rtl="0"/>
            <a:r>
              <a:rPr lang="en" dirty="0"/>
              <a:t>We then compared these identified cell types against the cell types available in our hybrid cell database.</a:t>
            </a:r>
          </a:p>
          <a:p>
            <a:pPr algn="l" rtl="0"/>
            <a:r>
              <a:rPr lang="en" dirty="0"/>
              <a:t>Following this intersection </a:t>
            </a:r>
            <a:r>
              <a:rPr lang="en" b="1" dirty="0"/>
              <a:t>32 diseases</a:t>
            </a:r>
            <a:r>
              <a:rPr lang="en" dirty="0"/>
              <a:t> with matched hybrid cell types. These diseases became our primary candidates for further analysis.</a:t>
            </a:r>
          </a:p>
          <a:p>
            <a:pPr marL="0" indent="0" algn="l" rtl="0">
              <a:buNone/>
            </a:pPr>
            <a:endParaRPr lang="en-US" dirty="0"/>
          </a:p>
        </p:txBody>
      </p:sp>
      <p:sp>
        <p:nvSpPr>
          <p:cNvPr id="4" name="מציין מיקום של מספר שקופית 3">
            <a:extLst>
              <a:ext uri="{FF2B5EF4-FFF2-40B4-BE49-F238E27FC236}">
                <a16:creationId xmlns:a16="http://schemas.microsoft.com/office/drawing/2014/main" id="{4CDAEDA8-FEA9-9093-459E-06512690C80A}"/>
              </a:ext>
            </a:extLst>
          </p:cNvPr>
          <p:cNvSpPr>
            <a:spLocks noGrp="1"/>
          </p:cNvSpPr>
          <p:nvPr>
            <p:ph type="sldNum" sz="quarter" idx="5"/>
          </p:nvPr>
        </p:nvSpPr>
        <p:spPr/>
        <p:txBody>
          <a:bodyPr/>
          <a:lstStyle/>
          <a:p>
            <a:fld id="{64F50766-83A2-4A8D-A724-80D60639DE7B}" type="slidenum">
              <a:rPr lang="he-IL" smtClean="0"/>
              <a:t>5</a:t>
            </a:fld>
            <a:endParaRPr lang="he-IL"/>
          </a:p>
        </p:txBody>
      </p:sp>
    </p:spTree>
    <p:extLst>
      <p:ext uri="{BB962C8B-B14F-4D97-AF65-F5344CB8AC3E}">
        <p14:creationId xmlns:p14="http://schemas.microsoft.com/office/powerpoint/2010/main" val="848543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63559-4227-19AC-5F63-E91FC8B40B2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76D79D57-74DA-7BC7-BB7E-2F9088D697A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E6C3545-C6D3-DA72-25DD-A943BF473B4D}"/>
              </a:ext>
            </a:extLst>
          </p:cNvPr>
          <p:cNvSpPr>
            <a:spLocks noGrp="1"/>
          </p:cNvSpPr>
          <p:nvPr>
            <p:ph type="body" idx="1"/>
          </p:nvPr>
        </p:nvSpPr>
        <p:spPr/>
        <p:txBody>
          <a:bodyPr/>
          <a:lstStyle/>
          <a:p>
            <a:pPr algn="l" rtl="0"/>
            <a:r>
              <a:rPr lang="en" dirty="0"/>
              <a:t>After narrowing down our disease list, the next step is identifying the specific genes involved in each disease.</a:t>
            </a:r>
          </a:p>
          <a:p>
            <a:pPr algn="l" rtl="0"/>
            <a:r>
              <a:rPr lang="en" dirty="0"/>
              <a:t>For this task, we utilized the </a:t>
            </a:r>
            <a:r>
              <a:rPr lang="en" b="1" dirty="0"/>
              <a:t>GWAS (Genome-Wide Association Studies) catalog.</a:t>
            </a:r>
          </a:p>
          <a:p>
            <a:pPr algn="l" rtl="0"/>
            <a:r>
              <a:rPr lang="en" dirty="0"/>
              <a:t>GWAS studies identify single nucleotide polymorphisms (SNPs) associated with particular phenotype</a:t>
            </a:r>
            <a:r>
              <a:rPr lang="he-IL" dirty="0" err="1"/>
              <a:t>s</a:t>
            </a:r>
            <a:r>
              <a:rPr lang="he-IL" dirty="0"/>
              <a:t>.</a:t>
            </a:r>
          </a:p>
          <a:p>
            <a:pPr algn="l" rtl="0"/>
            <a:r>
              <a:rPr lang="en" dirty="0"/>
              <a:t>Each SNP identified through GWAS can be linked to nearby genes, providing a direct association between genetic variants and specific genes relevant to the disease.</a:t>
            </a:r>
          </a:p>
          <a:p>
            <a:pPr algn="l" rtl="0"/>
            <a:r>
              <a:rPr lang="en" dirty="0"/>
              <a:t>By leveraging this catalog, we obtained comprehensive gene lists associated with each of our selected diseases, enabling us to further explore their role in human susceptibility.</a:t>
            </a:r>
          </a:p>
          <a:p>
            <a:pPr marL="0" indent="0" algn="l" rtl="0">
              <a:buNone/>
            </a:pPr>
            <a:endParaRPr lang="he-IL" dirty="0"/>
          </a:p>
        </p:txBody>
      </p:sp>
      <p:sp>
        <p:nvSpPr>
          <p:cNvPr id="4" name="מציין מיקום של מספר שקופית 3">
            <a:extLst>
              <a:ext uri="{FF2B5EF4-FFF2-40B4-BE49-F238E27FC236}">
                <a16:creationId xmlns:a16="http://schemas.microsoft.com/office/drawing/2014/main" id="{612300FC-5122-2455-0B3F-C63E70B109AF}"/>
              </a:ext>
            </a:extLst>
          </p:cNvPr>
          <p:cNvSpPr>
            <a:spLocks noGrp="1"/>
          </p:cNvSpPr>
          <p:nvPr>
            <p:ph type="sldNum" sz="quarter" idx="5"/>
          </p:nvPr>
        </p:nvSpPr>
        <p:spPr/>
        <p:txBody>
          <a:bodyPr/>
          <a:lstStyle/>
          <a:p>
            <a:fld id="{64F50766-83A2-4A8D-A724-80D60639DE7B}" type="slidenum">
              <a:rPr lang="he-IL" smtClean="0"/>
              <a:t>6</a:t>
            </a:fld>
            <a:endParaRPr lang="he-IL"/>
          </a:p>
        </p:txBody>
      </p:sp>
    </p:spTree>
    <p:extLst>
      <p:ext uri="{BB962C8B-B14F-4D97-AF65-F5344CB8AC3E}">
        <p14:creationId xmlns:p14="http://schemas.microsoft.com/office/powerpoint/2010/main" val="1145725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EC99A-0968-7FAB-77AF-3D3EA94B784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4B627FE-A9EF-A12F-5C00-0ACD8EDC6A2F}"/>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6AB6D590-0C8B-9576-090E-6ED2622AD027}"/>
              </a:ext>
            </a:extLst>
          </p:cNvPr>
          <p:cNvSpPr>
            <a:spLocks noGrp="1"/>
          </p:cNvSpPr>
          <p:nvPr>
            <p:ph type="body" idx="1"/>
          </p:nvPr>
        </p:nvSpPr>
        <p:spPr/>
        <p:txBody>
          <a:bodyPr/>
          <a:lstStyle/>
          <a:p>
            <a:pPr algn="l" rtl="0"/>
            <a:r>
              <a:rPr lang="en" dirty="0"/>
              <a:t>In total, our analysis identified around </a:t>
            </a:r>
            <a:r>
              <a:rPr lang="en" b="1" dirty="0"/>
              <a:t>14,000 unique disease-associated genes</a:t>
            </a:r>
            <a:r>
              <a:rPr lang="en" dirty="0"/>
              <a:t> across all diseases examined.</a:t>
            </a:r>
          </a:p>
          <a:p>
            <a:pPr algn="l" rtl="0"/>
            <a:r>
              <a:rPr lang="en" dirty="0"/>
              <a:t>However, we observed substantial variability in the number of genes associated with each individual disease.</a:t>
            </a:r>
          </a:p>
          <a:p>
            <a:pPr algn="l" rtl="0"/>
            <a:r>
              <a:rPr lang="en" dirty="0"/>
              <a:t>Some diseases have a lot more associated genes, potentially due to their polygenic nature—meaning multiple genes contribute to the disease.</a:t>
            </a:r>
          </a:p>
          <a:p>
            <a:pPr algn="l" rtl="0"/>
            <a:r>
              <a:rPr lang="en" dirty="0"/>
              <a:t>Another important factor influencing gene counts is research bias: certain diseases, particularly well-known or high-profile conditions such as Alzheimer’s disease, attract more research effort and consequently yield a greater number of associated genes.</a:t>
            </a:r>
          </a:p>
        </p:txBody>
      </p:sp>
      <p:sp>
        <p:nvSpPr>
          <p:cNvPr id="4" name="מציין מיקום של מספר שקופית 3">
            <a:extLst>
              <a:ext uri="{FF2B5EF4-FFF2-40B4-BE49-F238E27FC236}">
                <a16:creationId xmlns:a16="http://schemas.microsoft.com/office/drawing/2014/main" id="{C20CE61A-119A-4E88-E85D-4007D9866387}"/>
              </a:ext>
            </a:extLst>
          </p:cNvPr>
          <p:cNvSpPr>
            <a:spLocks noGrp="1"/>
          </p:cNvSpPr>
          <p:nvPr>
            <p:ph type="sldNum" sz="quarter" idx="5"/>
          </p:nvPr>
        </p:nvSpPr>
        <p:spPr/>
        <p:txBody>
          <a:bodyPr/>
          <a:lstStyle/>
          <a:p>
            <a:fld id="{64F50766-83A2-4A8D-A724-80D60639DE7B}" type="slidenum">
              <a:rPr lang="he-IL" smtClean="0"/>
              <a:t>7</a:t>
            </a:fld>
            <a:endParaRPr lang="he-IL"/>
          </a:p>
        </p:txBody>
      </p:sp>
    </p:spTree>
    <p:extLst>
      <p:ext uri="{BB962C8B-B14F-4D97-AF65-F5344CB8AC3E}">
        <p14:creationId xmlns:p14="http://schemas.microsoft.com/office/powerpoint/2010/main" val="549857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4350E-EF91-DC03-8DF3-1EAE520B307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D72069A-979E-B42B-F595-AF84FC837A4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AE350A4-B2BA-B158-D6EF-9FEEE16566DC}"/>
              </a:ext>
            </a:extLst>
          </p:cNvPr>
          <p:cNvSpPr>
            <a:spLocks noGrp="1"/>
          </p:cNvSpPr>
          <p:nvPr>
            <p:ph type="body" idx="1"/>
          </p:nvPr>
        </p:nvSpPr>
        <p:spPr/>
        <p:txBody>
          <a:bodyPr/>
          <a:lstStyle/>
          <a:p>
            <a:pPr algn="l" rtl="0"/>
            <a:r>
              <a:rPr lang="en" dirty="0"/>
              <a:t>Evolution has granted humans with beneficial adaptations such as larger brains, upright posture, and enhanced endurance. However, these advantages also came with trade-offs, including vulnerabilities to diseases such as Alzheimer's, scoliosis, and heart attacks.</a:t>
            </a:r>
          </a:p>
          <a:p>
            <a:pPr algn="l" rtl="0"/>
            <a:r>
              <a:rPr lang="en" dirty="0"/>
              <a:t>One theory  proposes that human evolution began from a baseline of gene expression. Over evolutionary time, gene expression shifted in specific directions—potentially moving us closer to a critical point.</a:t>
            </a:r>
          </a:p>
          <a:p>
            <a:pPr algn="l" rtl="0"/>
            <a:r>
              <a:rPr lang="en" dirty="0"/>
              <a:t>Being near these point means even small changes could push us over the edge, making us susceptible to various diseases.</a:t>
            </a:r>
          </a:p>
          <a:p>
            <a:pPr algn="l" rtl="0"/>
            <a:r>
              <a:rPr lang="en" dirty="0"/>
              <a:t>Based on this theory, we would expect 3 possible patterns:</a:t>
            </a:r>
          </a:p>
          <a:p>
            <a:pPr algn="l" rtl="0"/>
            <a:r>
              <a:rPr lang="en" b="1" dirty="0"/>
              <a:t>More expression changes</a:t>
            </a:r>
            <a:r>
              <a:rPr lang="en" dirty="0"/>
              <a:t>:</a:t>
            </a:r>
          </a:p>
          <a:p>
            <a:pPr algn="l" rtl="0"/>
            <a:r>
              <a:rPr lang="en" b="1" dirty="0"/>
              <a:t>Larger magnitude changes</a:t>
            </a:r>
            <a:r>
              <a:rPr lang="en" dirty="0"/>
              <a:t>: </a:t>
            </a:r>
          </a:p>
          <a:p>
            <a:pPr algn="l" rtl="0"/>
            <a:r>
              <a:rPr lang="en" b="1" dirty="0"/>
              <a:t>Biased changes- meaning that most of the changes are in the same direction</a:t>
            </a:r>
            <a:endParaRPr lang="en-US" dirty="0"/>
          </a:p>
        </p:txBody>
      </p:sp>
      <p:sp>
        <p:nvSpPr>
          <p:cNvPr id="4" name="מציין מיקום של מספר שקופית 3">
            <a:extLst>
              <a:ext uri="{FF2B5EF4-FFF2-40B4-BE49-F238E27FC236}">
                <a16:creationId xmlns:a16="http://schemas.microsoft.com/office/drawing/2014/main" id="{3C4809C4-AD29-B70F-8301-8B463E486C98}"/>
              </a:ext>
            </a:extLst>
          </p:cNvPr>
          <p:cNvSpPr>
            <a:spLocks noGrp="1"/>
          </p:cNvSpPr>
          <p:nvPr>
            <p:ph type="sldNum" sz="quarter" idx="5"/>
          </p:nvPr>
        </p:nvSpPr>
        <p:spPr/>
        <p:txBody>
          <a:bodyPr/>
          <a:lstStyle/>
          <a:p>
            <a:fld id="{64F50766-83A2-4A8D-A724-80D60639DE7B}" type="slidenum">
              <a:rPr lang="he-IL" smtClean="0"/>
              <a:t>8</a:t>
            </a:fld>
            <a:endParaRPr lang="he-IL"/>
          </a:p>
        </p:txBody>
      </p:sp>
    </p:spTree>
    <p:extLst>
      <p:ext uri="{BB962C8B-B14F-4D97-AF65-F5344CB8AC3E}">
        <p14:creationId xmlns:p14="http://schemas.microsoft.com/office/powerpoint/2010/main" val="3949710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21305-8C8C-DEC0-C100-69C12468E4D0}"/>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177A6EC-A7D0-FE69-1258-265DDC435ED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B7FAE27-3668-21D0-122A-52754CF7C2F7}"/>
              </a:ext>
            </a:extLst>
          </p:cNvPr>
          <p:cNvSpPr>
            <a:spLocks noGrp="1"/>
          </p:cNvSpPr>
          <p:nvPr>
            <p:ph type="body" idx="1"/>
          </p:nvPr>
        </p:nvSpPr>
        <p:spPr/>
        <p:txBody>
          <a:bodyPr/>
          <a:lstStyle/>
          <a:p>
            <a:pPr marL="0" indent="0" algn="l" rtl="0">
              <a:buNone/>
            </a:pPr>
            <a:r>
              <a:rPr lang="en-US" dirty="0"/>
              <a:t>So the first thing we want to do is see if disease-associated genes have more changes. Changed genes (differentially expressed genes) are colored in blue, and in this example of ovarian polycystic syndrome we can see a lower fraction of DE genes in the disease-related group. </a:t>
            </a:r>
          </a:p>
          <a:p>
            <a:pPr marL="0" indent="0" algn="l" rtl="0">
              <a:buNone/>
            </a:pPr>
            <a:r>
              <a:rPr lang="en-US" dirty="0"/>
              <a:t>We can do the same comparison for all </a:t>
            </a:r>
            <a:r>
              <a:rPr lang="en-US" dirty="0" err="1"/>
              <a:t>celltypes</a:t>
            </a:r>
            <a:r>
              <a:rPr lang="en-US" dirty="0"/>
              <a:t> in the same disease, and also for all diseases that we  have. </a:t>
            </a:r>
            <a:endParaRPr lang="he-IL" dirty="0"/>
          </a:p>
        </p:txBody>
      </p:sp>
      <p:sp>
        <p:nvSpPr>
          <p:cNvPr id="4" name="מציין מיקום של מספר שקופית 3">
            <a:extLst>
              <a:ext uri="{FF2B5EF4-FFF2-40B4-BE49-F238E27FC236}">
                <a16:creationId xmlns:a16="http://schemas.microsoft.com/office/drawing/2014/main" id="{E20D9097-5EF1-AB8B-9282-A80D4260D4FB}"/>
              </a:ext>
            </a:extLst>
          </p:cNvPr>
          <p:cNvSpPr>
            <a:spLocks noGrp="1"/>
          </p:cNvSpPr>
          <p:nvPr>
            <p:ph type="sldNum" sz="quarter" idx="5"/>
          </p:nvPr>
        </p:nvSpPr>
        <p:spPr/>
        <p:txBody>
          <a:bodyPr/>
          <a:lstStyle/>
          <a:p>
            <a:fld id="{64F50766-83A2-4A8D-A724-80D60639DE7B}" type="slidenum">
              <a:rPr lang="he-IL" smtClean="0"/>
              <a:t>9</a:t>
            </a:fld>
            <a:endParaRPr lang="he-IL"/>
          </a:p>
        </p:txBody>
      </p:sp>
    </p:spTree>
    <p:extLst>
      <p:ext uri="{BB962C8B-B14F-4D97-AF65-F5344CB8AC3E}">
        <p14:creationId xmlns:p14="http://schemas.microsoft.com/office/powerpoint/2010/main" val="190819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4C609-5F35-EFC8-F5DA-43D313A664CF}"/>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7711375-D670-66BA-2B68-D2A364F38D6C}"/>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5AC9255F-12E6-EF4E-4E24-B381532F3358}"/>
              </a:ext>
            </a:extLst>
          </p:cNvPr>
          <p:cNvSpPr>
            <a:spLocks noGrp="1"/>
          </p:cNvSpPr>
          <p:nvPr>
            <p:ph type="body" idx="1"/>
          </p:nvPr>
        </p:nvSpPr>
        <p:spPr/>
        <p:txBody>
          <a:bodyPr/>
          <a:lstStyle/>
          <a:p>
            <a:pPr marL="0" indent="0" algn="l" rtl="0">
              <a:buNone/>
            </a:pPr>
            <a:r>
              <a:rPr lang="en-US" dirty="0"/>
              <a:t>We can see here all the different comparisons we conducted for all different disease-</a:t>
            </a:r>
            <a:r>
              <a:rPr lang="en-US" dirty="0" err="1"/>
              <a:t>celltype</a:t>
            </a:r>
            <a:r>
              <a:rPr lang="en-US" dirty="0"/>
              <a:t> combinations. (no need to look into the details here) </a:t>
            </a:r>
          </a:p>
          <a:p>
            <a:pPr marL="0" indent="0" algn="l" rtl="0">
              <a:buNone/>
            </a:pPr>
            <a:r>
              <a:rPr lang="en-US" dirty="0"/>
              <a:t>Every comparison was done against all genes that are not related to that specific disease. </a:t>
            </a:r>
          </a:p>
          <a:p>
            <a:pPr marL="0" indent="0" algn="l" rtl="0">
              <a:buNone/>
            </a:pPr>
            <a:r>
              <a:rPr lang="en-US" dirty="0"/>
              <a:t> We used fisher exact test to see if the fractions of the DE genes are significantly different (obviously also FDR) and I want to show you here some of the significant results we got. </a:t>
            </a:r>
            <a:br>
              <a:rPr lang="en-US" dirty="0"/>
            </a:br>
            <a:endParaRPr lang="he-IL" dirty="0"/>
          </a:p>
        </p:txBody>
      </p:sp>
      <p:sp>
        <p:nvSpPr>
          <p:cNvPr id="4" name="מציין מיקום של מספר שקופית 3">
            <a:extLst>
              <a:ext uri="{FF2B5EF4-FFF2-40B4-BE49-F238E27FC236}">
                <a16:creationId xmlns:a16="http://schemas.microsoft.com/office/drawing/2014/main" id="{354331F0-76D1-F6CD-9BB0-41AEFCC4ED42}"/>
              </a:ext>
            </a:extLst>
          </p:cNvPr>
          <p:cNvSpPr>
            <a:spLocks noGrp="1"/>
          </p:cNvSpPr>
          <p:nvPr>
            <p:ph type="sldNum" sz="quarter" idx="5"/>
          </p:nvPr>
        </p:nvSpPr>
        <p:spPr/>
        <p:txBody>
          <a:bodyPr/>
          <a:lstStyle/>
          <a:p>
            <a:fld id="{64F50766-83A2-4A8D-A724-80D60639DE7B}" type="slidenum">
              <a:rPr lang="he-IL" smtClean="0"/>
              <a:t>10</a:t>
            </a:fld>
            <a:endParaRPr lang="he-IL"/>
          </a:p>
        </p:txBody>
      </p:sp>
    </p:spTree>
    <p:extLst>
      <p:ext uri="{BB962C8B-B14F-4D97-AF65-F5344CB8AC3E}">
        <p14:creationId xmlns:p14="http://schemas.microsoft.com/office/powerpoint/2010/main" val="4161430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AF0D2-B844-10D9-FE82-D64EBD735AF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F452C1A-0ABD-C9BD-AC84-CA1C12D3FE7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F605128-38F4-A284-587E-81AC4BF19895}"/>
              </a:ext>
            </a:extLst>
          </p:cNvPr>
          <p:cNvSpPr>
            <a:spLocks noGrp="1"/>
          </p:cNvSpPr>
          <p:nvPr>
            <p:ph type="body" idx="1"/>
          </p:nvPr>
        </p:nvSpPr>
        <p:spPr/>
        <p:txBody>
          <a:bodyPr/>
          <a:lstStyle/>
          <a:p>
            <a:pPr marL="0" indent="0" algn="l" rtl="0">
              <a:buNone/>
            </a:pPr>
            <a:r>
              <a:rPr lang="en-US" dirty="0"/>
              <a:t>Schizophrenia is a mental disease with changes in brain function.</a:t>
            </a:r>
          </a:p>
          <a:p>
            <a:pPr marL="0" indent="0" algn="l" rtl="0">
              <a:buNone/>
            </a:pPr>
            <a:r>
              <a:rPr lang="en-US" dirty="0"/>
              <a:t>When looking at brain organoids, we see significantly less changes in schizophrenia related genes which means there is selection against changes in these genes. We see that also later in the development of the same brain organoids. This makes sense since schizophrenia has a very high effect on fitness.</a:t>
            </a:r>
            <a:endParaRPr lang="he-IL" dirty="0"/>
          </a:p>
        </p:txBody>
      </p:sp>
      <p:sp>
        <p:nvSpPr>
          <p:cNvPr id="4" name="מציין מיקום של מספר שקופית 3">
            <a:extLst>
              <a:ext uri="{FF2B5EF4-FFF2-40B4-BE49-F238E27FC236}">
                <a16:creationId xmlns:a16="http://schemas.microsoft.com/office/drawing/2014/main" id="{7E8B691E-326C-FF50-5C96-EE87C965F6E6}"/>
              </a:ext>
            </a:extLst>
          </p:cNvPr>
          <p:cNvSpPr>
            <a:spLocks noGrp="1"/>
          </p:cNvSpPr>
          <p:nvPr>
            <p:ph type="sldNum" sz="quarter" idx="5"/>
          </p:nvPr>
        </p:nvSpPr>
        <p:spPr/>
        <p:txBody>
          <a:bodyPr/>
          <a:lstStyle/>
          <a:p>
            <a:fld id="{64F50766-83A2-4A8D-A724-80D60639DE7B}" type="slidenum">
              <a:rPr lang="he-IL" smtClean="0"/>
              <a:t>11</a:t>
            </a:fld>
            <a:endParaRPr lang="he-IL"/>
          </a:p>
        </p:txBody>
      </p:sp>
    </p:spTree>
    <p:extLst>
      <p:ext uri="{BB962C8B-B14F-4D97-AF65-F5344CB8AC3E}">
        <p14:creationId xmlns:p14="http://schemas.microsoft.com/office/powerpoint/2010/main" val="2209548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26212-70A9-A733-1A69-5F7D7816326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9059067F-8F15-4E8E-30D6-8A623DF353BB}"/>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A0F8C39-4129-2451-DFF5-E8C262C380E6}"/>
              </a:ext>
            </a:extLst>
          </p:cNvPr>
          <p:cNvSpPr>
            <a:spLocks noGrp="1"/>
          </p:cNvSpPr>
          <p:nvPr>
            <p:ph type="body" idx="1"/>
          </p:nvPr>
        </p:nvSpPr>
        <p:spPr/>
        <p:txBody>
          <a:bodyPr/>
          <a:lstStyle/>
          <a:p>
            <a:pPr marL="0" indent="0" algn="l" rtl="0">
              <a:buNone/>
            </a:pPr>
            <a:r>
              <a:rPr lang="en-US" dirty="0"/>
              <a:t>Wo don’t only see less changes in schizophrenia, but the size of the changes is smaller. On the x axis here we have percentiles of absolute size of expression </a:t>
            </a:r>
            <a:r>
              <a:rPr lang="en-US" dirty="0" err="1"/>
              <a:t>chage</a:t>
            </a:r>
            <a:r>
              <a:rPr lang="en-US" dirty="0"/>
              <a:t>, and each point is a comparison of the fraction of disease genes between DE genes in this size of expression change and the background which is all non-changed genes. In each point we measure the OR which is the chance to get this size of expression change in disease-related genes: OR above 0 means higher chance to get this DE genes in comparison to no change, and OR below 0 means lower chance to get it in comparison to non-changed genes. </a:t>
            </a:r>
          </a:p>
          <a:p>
            <a:pPr marL="0" indent="0" algn="l" rtl="0">
              <a:buNone/>
            </a:pPr>
            <a:r>
              <a:rPr lang="en-US" dirty="0"/>
              <a:t>We can see lower OR when the size of change is higher, which means schizophrenia is depleted from large expression changes. </a:t>
            </a:r>
            <a:endParaRPr lang="he-IL" dirty="0"/>
          </a:p>
        </p:txBody>
      </p:sp>
      <p:sp>
        <p:nvSpPr>
          <p:cNvPr id="4" name="מציין מיקום של מספר שקופית 3">
            <a:extLst>
              <a:ext uri="{FF2B5EF4-FFF2-40B4-BE49-F238E27FC236}">
                <a16:creationId xmlns:a16="http://schemas.microsoft.com/office/drawing/2014/main" id="{8A8294CE-0703-035A-BC9C-B5917B284001}"/>
              </a:ext>
            </a:extLst>
          </p:cNvPr>
          <p:cNvSpPr>
            <a:spLocks noGrp="1"/>
          </p:cNvSpPr>
          <p:nvPr>
            <p:ph type="sldNum" sz="quarter" idx="5"/>
          </p:nvPr>
        </p:nvSpPr>
        <p:spPr/>
        <p:txBody>
          <a:bodyPr/>
          <a:lstStyle/>
          <a:p>
            <a:fld id="{64F50766-83A2-4A8D-A724-80D60639DE7B}" type="slidenum">
              <a:rPr lang="he-IL" smtClean="0"/>
              <a:t>12</a:t>
            </a:fld>
            <a:endParaRPr lang="he-IL"/>
          </a:p>
        </p:txBody>
      </p:sp>
    </p:spTree>
    <p:extLst>
      <p:ext uri="{BB962C8B-B14F-4D97-AF65-F5344CB8AC3E}">
        <p14:creationId xmlns:p14="http://schemas.microsoft.com/office/powerpoint/2010/main" val="820952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F39F-7E41-564C-4410-882D6CD27BC6}"/>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1079FB1-DB18-FE37-EBCE-7C3E504DF1E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73387F61-0967-9EEF-BED0-2AF5A618B4D8}"/>
              </a:ext>
            </a:extLst>
          </p:cNvPr>
          <p:cNvSpPr>
            <a:spLocks noGrp="1"/>
          </p:cNvSpPr>
          <p:nvPr>
            <p:ph type="body" idx="1"/>
          </p:nvPr>
        </p:nvSpPr>
        <p:spPr/>
        <p:txBody>
          <a:bodyPr/>
          <a:lstStyle/>
          <a:p>
            <a:pPr marL="0" indent="0" algn="l" rtl="0">
              <a:buNone/>
            </a:pPr>
            <a:r>
              <a:rPr lang="en-US" dirty="0"/>
              <a:t>Another interesting disease was scoliosis. We see significantly more changes in scoliosis-related genes, which can come from two explanations:</a:t>
            </a:r>
          </a:p>
          <a:p>
            <a:pPr marL="228600" indent="-228600" algn="l" rtl="0">
              <a:buAutoNum type="arabicPeriod"/>
            </a:pPr>
            <a:r>
              <a:rPr lang="en-US" dirty="0"/>
              <a:t>We have accelerated intentional changes in these genes because there is some adaptive change that these changes promote, and this aligns with our hypothesis</a:t>
            </a:r>
          </a:p>
          <a:p>
            <a:pPr marL="228600" indent="-228600" algn="l" rtl="0">
              <a:buAutoNum type="arabicPeriod"/>
            </a:pPr>
            <a:r>
              <a:rPr lang="en-US" dirty="0"/>
              <a:t>These changes have a low fitness cost so we see a relaxation of the negative selection against changes in disease-related genes.</a:t>
            </a:r>
            <a:endParaRPr lang="he-IL" dirty="0"/>
          </a:p>
        </p:txBody>
      </p:sp>
      <p:sp>
        <p:nvSpPr>
          <p:cNvPr id="4" name="מציין מיקום של מספר שקופית 3">
            <a:extLst>
              <a:ext uri="{FF2B5EF4-FFF2-40B4-BE49-F238E27FC236}">
                <a16:creationId xmlns:a16="http://schemas.microsoft.com/office/drawing/2014/main" id="{93C2699E-308A-8001-004F-97A0650B89F8}"/>
              </a:ext>
            </a:extLst>
          </p:cNvPr>
          <p:cNvSpPr>
            <a:spLocks noGrp="1"/>
          </p:cNvSpPr>
          <p:nvPr>
            <p:ph type="sldNum" sz="quarter" idx="5"/>
          </p:nvPr>
        </p:nvSpPr>
        <p:spPr/>
        <p:txBody>
          <a:bodyPr/>
          <a:lstStyle/>
          <a:p>
            <a:fld id="{64F50766-83A2-4A8D-A724-80D60639DE7B}" type="slidenum">
              <a:rPr lang="he-IL" smtClean="0"/>
              <a:t>13</a:t>
            </a:fld>
            <a:endParaRPr lang="he-IL"/>
          </a:p>
        </p:txBody>
      </p:sp>
    </p:spTree>
    <p:extLst>
      <p:ext uri="{BB962C8B-B14F-4D97-AF65-F5344CB8AC3E}">
        <p14:creationId xmlns:p14="http://schemas.microsoft.com/office/powerpoint/2010/main" val="1269063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CE47F-EFAD-EEBC-E1C5-FB0638A4C56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5D6AD4D-CFCA-9376-A1D2-606A651DA247}"/>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B508839-3212-2942-9ADE-D27C15AE7ECC}"/>
              </a:ext>
            </a:extLst>
          </p:cNvPr>
          <p:cNvSpPr>
            <a:spLocks noGrp="1"/>
          </p:cNvSpPr>
          <p:nvPr>
            <p:ph type="body" idx="1"/>
          </p:nvPr>
        </p:nvSpPr>
        <p:spPr/>
        <p:txBody>
          <a:bodyPr/>
          <a:lstStyle/>
          <a:p>
            <a:pPr marL="0" indent="0" algn="l" rtl="0">
              <a:buNone/>
            </a:pPr>
            <a:r>
              <a:rPr lang="en-US" dirty="0"/>
              <a:t>Now we want to check the directionality of changes. We checked the fraction of up and down regulated genes out of the total number of DE genes, in each of the </a:t>
            </a:r>
            <a:r>
              <a:rPr lang="en-US" dirty="0" err="1"/>
              <a:t>celltypes</a:t>
            </a:r>
            <a:r>
              <a:rPr lang="en-US" dirty="0"/>
              <a:t> of each of the diseases, and compared them to the fractions of up/down regulated genes in the DE genes that are not related to that disease. Also here we did fisher exact test and FDR, we had some significant results before FDR but nothing significant after FDR.</a:t>
            </a:r>
            <a:endParaRPr lang="he-IL" dirty="0"/>
          </a:p>
        </p:txBody>
      </p:sp>
      <p:sp>
        <p:nvSpPr>
          <p:cNvPr id="4" name="מציין מיקום של מספר שקופית 3">
            <a:extLst>
              <a:ext uri="{FF2B5EF4-FFF2-40B4-BE49-F238E27FC236}">
                <a16:creationId xmlns:a16="http://schemas.microsoft.com/office/drawing/2014/main" id="{1F28BC86-ECD4-5785-8BDC-8756CC2344C3}"/>
              </a:ext>
            </a:extLst>
          </p:cNvPr>
          <p:cNvSpPr>
            <a:spLocks noGrp="1"/>
          </p:cNvSpPr>
          <p:nvPr>
            <p:ph type="sldNum" sz="quarter" idx="5"/>
          </p:nvPr>
        </p:nvSpPr>
        <p:spPr/>
        <p:txBody>
          <a:bodyPr/>
          <a:lstStyle/>
          <a:p>
            <a:fld id="{64F50766-83A2-4A8D-A724-80D60639DE7B}" type="slidenum">
              <a:rPr lang="he-IL" smtClean="0"/>
              <a:t>14</a:t>
            </a:fld>
            <a:endParaRPr lang="he-IL"/>
          </a:p>
        </p:txBody>
      </p:sp>
    </p:spTree>
    <p:extLst>
      <p:ext uri="{BB962C8B-B14F-4D97-AF65-F5344CB8AC3E}">
        <p14:creationId xmlns:p14="http://schemas.microsoft.com/office/powerpoint/2010/main" val="3020455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7CE6E-40E9-64A3-3959-45DFBF6F940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226E3EC-E8C5-9567-8EB2-497A90773563}"/>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B08FBAE3-90D9-9DE3-4496-72A150060896}"/>
              </a:ext>
            </a:extLst>
          </p:cNvPr>
          <p:cNvSpPr>
            <a:spLocks noGrp="1"/>
          </p:cNvSpPr>
          <p:nvPr>
            <p:ph type="body" idx="1"/>
          </p:nvPr>
        </p:nvSpPr>
        <p:spPr/>
        <p:txBody>
          <a:bodyPr/>
          <a:lstStyle/>
          <a:p>
            <a:pPr marL="0" indent="0" algn="l" rtl="0">
              <a:buNone/>
            </a:pPr>
            <a:r>
              <a:rPr lang="en-US" dirty="0"/>
              <a:t>Although nothing was significant after FDR, we do see some of the more extreme changes in schizophrenia again. We see that schizophrenia-associated genes are more upregulated which may hint towards positive selection for upregulation of genes. </a:t>
            </a:r>
            <a:endParaRPr lang="he-IL" dirty="0"/>
          </a:p>
        </p:txBody>
      </p:sp>
      <p:sp>
        <p:nvSpPr>
          <p:cNvPr id="4" name="מציין מיקום של מספר שקופית 3">
            <a:extLst>
              <a:ext uri="{FF2B5EF4-FFF2-40B4-BE49-F238E27FC236}">
                <a16:creationId xmlns:a16="http://schemas.microsoft.com/office/drawing/2014/main" id="{B5455A0D-80BE-8186-5900-A61BBA5CAC3B}"/>
              </a:ext>
            </a:extLst>
          </p:cNvPr>
          <p:cNvSpPr>
            <a:spLocks noGrp="1"/>
          </p:cNvSpPr>
          <p:nvPr>
            <p:ph type="sldNum" sz="quarter" idx="5"/>
          </p:nvPr>
        </p:nvSpPr>
        <p:spPr/>
        <p:txBody>
          <a:bodyPr/>
          <a:lstStyle/>
          <a:p>
            <a:fld id="{64F50766-83A2-4A8D-A724-80D60639DE7B}" type="slidenum">
              <a:rPr lang="he-IL" smtClean="0"/>
              <a:t>15</a:t>
            </a:fld>
            <a:endParaRPr lang="he-IL"/>
          </a:p>
        </p:txBody>
      </p:sp>
    </p:spTree>
    <p:extLst>
      <p:ext uri="{BB962C8B-B14F-4D97-AF65-F5344CB8AC3E}">
        <p14:creationId xmlns:p14="http://schemas.microsoft.com/office/powerpoint/2010/main" val="59787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67DD1-EF69-EAE6-9D6F-1364E4BDAFF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68DAA1BC-22D7-98A6-2F4F-A0212F2FFD2B}"/>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725578EE-1B7D-49ED-F4D5-FE330AABBACC}"/>
              </a:ext>
            </a:extLst>
          </p:cNvPr>
          <p:cNvSpPr>
            <a:spLocks noGrp="1"/>
          </p:cNvSpPr>
          <p:nvPr>
            <p:ph type="body" idx="1"/>
          </p:nvPr>
        </p:nvSpPr>
        <p:spPr/>
        <p:txBody>
          <a:bodyPr/>
          <a:lstStyle/>
          <a:p>
            <a:pPr marL="0" indent="0" algn="l" rtl="0">
              <a:buNone/>
            </a:pPr>
            <a:r>
              <a:rPr lang="en-US" dirty="0"/>
              <a:t>When looking at the same percentile plot we saw earlier but this time with non-absolute size of expression change, we can see that the depletion of large regulatory changes is stronger at the negative expression changes, so there is less selection against extreme upregulation of genes.</a:t>
            </a:r>
          </a:p>
          <a:p>
            <a:pPr marL="0" indent="0" algn="l" rtl="0">
              <a:buNone/>
            </a:pPr>
            <a:r>
              <a:rPr lang="en-US" dirty="0"/>
              <a:t>these two results together suggest that there is positive selection towards upregulation of schizophrenia-related genes. </a:t>
            </a:r>
            <a:endParaRPr lang="he-IL" dirty="0"/>
          </a:p>
        </p:txBody>
      </p:sp>
      <p:sp>
        <p:nvSpPr>
          <p:cNvPr id="4" name="מציין מיקום של מספר שקופית 3">
            <a:extLst>
              <a:ext uri="{FF2B5EF4-FFF2-40B4-BE49-F238E27FC236}">
                <a16:creationId xmlns:a16="http://schemas.microsoft.com/office/drawing/2014/main" id="{D632D3E3-6815-C588-66F3-6CC326624A29}"/>
              </a:ext>
            </a:extLst>
          </p:cNvPr>
          <p:cNvSpPr>
            <a:spLocks noGrp="1"/>
          </p:cNvSpPr>
          <p:nvPr>
            <p:ph type="sldNum" sz="quarter" idx="5"/>
          </p:nvPr>
        </p:nvSpPr>
        <p:spPr/>
        <p:txBody>
          <a:bodyPr/>
          <a:lstStyle/>
          <a:p>
            <a:fld id="{64F50766-83A2-4A8D-A724-80D60639DE7B}" type="slidenum">
              <a:rPr lang="he-IL" smtClean="0"/>
              <a:t>16</a:t>
            </a:fld>
            <a:endParaRPr lang="he-IL"/>
          </a:p>
        </p:txBody>
      </p:sp>
    </p:spTree>
    <p:extLst>
      <p:ext uri="{BB962C8B-B14F-4D97-AF65-F5344CB8AC3E}">
        <p14:creationId xmlns:p14="http://schemas.microsoft.com/office/powerpoint/2010/main" val="37152301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9728-450A-36BC-31B5-6C23E9D523D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73EDB38C-F0EF-B15E-B2CC-79785C0943B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C3E10AA-E26B-BD0E-A11F-980EFF6D4105}"/>
              </a:ext>
            </a:extLst>
          </p:cNvPr>
          <p:cNvSpPr>
            <a:spLocks noGrp="1"/>
          </p:cNvSpPr>
          <p:nvPr>
            <p:ph type="body" idx="1"/>
          </p:nvPr>
        </p:nvSpPr>
        <p:spPr/>
        <p:txBody>
          <a:bodyPr/>
          <a:lstStyle/>
          <a:p>
            <a:pPr marL="0" indent="0" algn="l" rtl="0">
              <a:buNone/>
            </a:pPr>
            <a:r>
              <a:rPr lang="en-US" dirty="0"/>
              <a:t>In scoliosis we do not see a significant difference in the frequencies of up and down regulated genes, but we do see a difference in the size of changes in each of these. In this plot we see the density histogram of absolute expression changes of up and down regulated genes, and we can see that although the number of genes in each group is roughly the same, the size of change is downregulated genes is much larger. </a:t>
            </a:r>
            <a:endParaRPr lang="he-IL" dirty="0"/>
          </a:p>
        </p:txBody>
      </p:sp>
      <p:sp>
        <p:nvSpPr>
          <p:cNvPr id="4" name="מציין מיקום של מספר שקופית 3">
            <a:extLst>
              <a:ext uri="{FF2B5EF4-FFF2-40B4-BE49-F238E27FC236}">
                <a16:creationId xmlns:a16="http://schemas.microsoft.com/office/drawing/2014/main" id="{B1C3CB56-48BD-2925-614A-3F53F9A05B28}"/>
              </a:ext>
            </a:extLst>
          </p:cNvPr>
          <p:cNvSpPr>
            <a:spLocks noGrp="1"/>
          </p:cNvSpPr>
          <p:nvPr>
            <p:ph type="sldNum" sz="quarter" idx="5"/>
          </p:nvPr>
        </p:nvSpPr>
        <p:spPr/>
        <p:txBody>
          <a:bodyPr/>
          <a:lstStyle/>
          <a:p>
            <a:fld id="{64F50766-83A2-4A8D-A724-80D60639DE7B}" type="slidenum">
              <a:rPr lang="he-IL" smtClean="0"/>
              <a:t>17</a:t>
            </a:fld>
            <a:endParaRPr lang="he-IL"/>
          </a:p>
        </p:txBody>
      </p:sp>
    </p:spTree>
    <p:extLst>
      <p:ext uri="{BB962C8B-B14F-4D97-AF65-F5344CB8AC3E}">
        <p14:creationId xmlns:p14="http://schemas.microsoft.com/office/powerpoint/2010/main" val="3506097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65781-3F90-157D-C897-2881FC453A4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316FC19-9BAF-FEBC-E0B6-8600A987013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97838D89-60F4-8484-2D3E-5DC7D8A304AC}"/>
              </a:ext>
            </a:extLst>
          </p:cNvPr>
          <p:cNvSpPr>
            <a:spLocks noGrp="1"/>
          </p:cNvSpPr>
          <p:nvPr>
            <p:ph type="body" idx="1"/>
          </p:nvPr>
        </p:nvSpPr>
        <p:spPr/>
        <p:txBody>
          <a:bodyPr/>
          <a:lstStyle/>
          <a:p>
            <a:pPr marL="0" indent="0" algn="l" rtl="0">
              <a:buNone/>
            </a:pPr>
            <a:r>
              <a:rPr lang="en-US" dirty="0"/>
              <a:t>So what can we interpret from our analysis?</a:t>
            </a:r>
          </a:p>
          <a:p>
            <a:pPr marL="0" indent="0" algn="l" rtl="0">
              <a:buNone/>
            </a:pPr>
            <a:r>
              <a:rPr lang="en-US" dirty="0"/>
              <a:t>When looking at scoliosis, the “cliff” part of this plot would be downregulation of genes (compared to the human </a:t>
            </a:r>
            <a:r>
              <a:rPr lang="en-US" dirty="0" err="1"/>
              <a:t>baseling</a:t>
            </a:r>
            <a:r>
              <a:rPr lang="en-US" dirty="0"/>
              <a:t>). We can see that our evolution shows many changes that are larger in downregulation of scoliosis-related genes, suggesting that our evolutionary course shows downregulation of these genes to acquire some adaptive trait, which then results in us being closer the </a:t>
            </a:r>
            <a:r>
              <a:rPr lang="en-US" dirty="0" err="1"/>
              <a:t>the</a:t>
            </a:r>
            <a:r>
              <a:rPr lang="en-US" dirty="0"/>
              <a:t> cliff. </a:t>
            </a:r>
          </a:p>
          <a:p>
            <a:pPr marL="0" indent="0" algn="l" rtl="0">
              <a:buNone/>
            </a:pPr>
            <a:r>
              <a:rPr lang="en-US" dirty="0"/>
              <a:t>In schizophrenia the story is different but shows the same trend – schizophrenia is characterized by upregulation of genes in comparison to the human baseline, which may explain why we see hints to selection towards upregulation of schizophrenia genes in humans in comparison to chimps.</a:t>
            </a:r>
            <a:endParaRPr lang="he-IL" dirty="0"/>
          </a:p>
        </p:txBody>
      </p:sp>
      <p:sp>
        <p:nvSpPr>
          <p:cNvPr id="4" name="מציין מיקום של מספר שקופית 3">
            <a:extLst>
              <a:ext uri="{FF2B5EF4-FFF2-40B4-BE49-F238E27FC236}">
                <a16:creationId xmlns:a16="http://schemas.microsoft.com/office/drawing/2014/main" id="{3A6415D3-4080-29C4-58C0-BDBA108B0739}"/>
              </a:ext>
            </a:extLst>
          </p:cNvPr>
          <p:cNvSpPr>
            <a:spLocks noGrp="1"/>
          </p:cNvSpPr>
          <p:nvPr>
            <p:ph type="sldNum" sz="quarter" idx="5"/>
          </p:nvPr>
        </p:nvSpPr>
        <p:spPr/>
        <p:txBody>
          <a:bodyPr/>
          <a:lstStyle/>
          <a:p>
            <a:fld id="{64F50766-83A2-4A8D-A724-80D60639DE7B}" type="slidenum">
              <a:rPr lang="he-IL" smtClean="0"/>
              <a:t>18</a:t>
            </a:fld>
            <a:endParaRPr lang="he-IL"/>
          </a:p>
        </p:txBody>
      </p:sp>
    </p:spTree>
    <p:extLst>
      <p:ext uri="{BB962C8B-B14F-4D97-AF65-F5344CB8AC3E}">
        <p14:creationId xmlns:p14="http://schemas.microsoft.com/office/powerpoint/2010/main" val="2642290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2CCEA-4E87-CF49-3D55-C48645EEBD89}"/>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FE4C8D0-FEF8-2219-6784-F9BB3F2C975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4E5D8BDE-F97F-265D-D3BD-B14736A2AFC3}"/>
              </a:ext>
            </a:extLst>
          </p:cNvPr>
          <p:cNvSpPr>
            <a:spLocks noGrp="1"/>
          </p:cNvSpPr>
          <p:nvPr>
            <p:ph type="body" idx="1"/>
          </p:nvPr>
        </p:nvSpPr>
        <p:spPr/>
        <p:txBody>
          <a:bodyPr/>
          <a:lstStyle/>
          <a:p>
            <a:pPr marL="0" indent="0" algn="l" rtl="0">
              <a:buNone/>
            </a:pPr>
            <a:r>
              <a:rPr lang="en-US" dirty="0"/>
              <a:t>This project can lead to 3 future directions:</a:t>
            </a:r>
          </a:p>
          <a:p>
            <a:pPr marL="228600" indent="-228600" algn="l" rtl="0">
              <a:buAutoNum type="arabicPeriod"/>
            </a:pPr>
            <a:r>
              <a:rPr lang="en-US" dirty="0"/>
              <a:t>We have now a list of all disease-related genes that have changed in evolution. This allows us to look into their function and try to understand the mechanisms of disease, </a:t>
            </a:r>
          </a:p>
          <a:p>
            <a:pPr marL="228600" indent="-228600" algn="l" rtl="0">
              <a:buAutoNum type="arabicPeriod"/>
            </a:pPr>
            <a:r>
              <a:rPr lang="en-US" dirty="0"/>
              <a:t>But also allows us to try and look for the adaptive trait that caused their appearance – find the tradeoff. </a:t>
            </a:r>
          </a:p>
          <a:p>
            <a:pPr marL="228600" indent="-228600" algn="l" rtl="0">
              <a:buAutoNum type="arabicPeriod"/>
            </a:pPr>
            <a:r>
              <a:rPr lang="en-US" dirty="0"/>
              <a:t>Another approach is to try and see if this </a:t>
            </a:r>
            <a:r>
              <a:rPr lang="en-US" dirty="0" err="1"/>
              <a:t>ecolutionary</a:t>
            </a:r>
            <a:r>
              <a:rPr lang="en-US" dirty="0"/>
              <a:t> trend is conserved, by looking into the same kind of comparisons in other species, for example look into mouse-specific disease and so on. </a:t>
            </a:r>
            <a:endParaRPr lang="he-IL" dirty="0"/>
          </a:p>
        </p:txBody>
      </p:sp>
      <p:sp>
        <p:nvSpPr>
          <p:cNvPr id="4" name="מציין מיקום של מספר שקופית 3">
            <a:extLst>
              <a:ext uri="{FF2B5EF4-FFF2-40B4-BE49-F238E27FC236}">
                <a16:creationId xmlns:a16="http://schemas.microsoft.com/office/drawing/2014/main" id="{5769CCD9-CD86-B381-478D-A8380A5E3D28}"/>
              </a:ext>
            </a:extLst>
          </p:cNvPr>
          <p:cNvSpPr>
            <a:spLocks noGrp="1"/>
          </p:cNvSpPr>
          <p:nvPr>
            <p:ph type="sldNum" sz="quarter" idx="5"/>
          </p:nvPr>
        </p:nvSpPr>
        <p:spPr/>
        <p:txBody>
          <a:bodyPr/>
          <a:lstStyle/>
          <a:p>
            <a:fld id="{64F50766-83A2-4A8D-A724-80D60639DE7B}" type="slidenum">
              <a:rPr lang="he-IL" smtClean="0"/>
              <a:t>19</a:t>
            </a:fld>
            <a:endParaRPr lang="he-IL"/>
          </a:p>
        </p:txBody>
      </p:sp>
    </p:spTree>
    <p:extLst>
      <p:ext uri="{BB962C8B-B14F-4D97-AF65-F5344CB8AC3E}">
        <p14:creationId xmlns:p14="http://schemas.microsoft.com/office/powerpoint/2010/main" val="894379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51DB04-3D8C-AEF5-6506-2DED8C7DAC89}"/>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BCB169B8-304F-A100-92EF-C74FD28A4B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88EE4784-A498-4E04-0CED-17266D15E93F}"/>
              </a:ext>
            </a:extLst>
          </p:cNvPr>
          <p:cNvSpPr>
            <a:spLocks noGrp="1"/>
          </p:cNvSpPr>
          <p:nvPr>
            <p:ph type="dt" sz="half" idx="10"/>
          </p:nvPr>
        </p:nvSpPr>
        <p:spPr/>
        <p:txBody>
          <a:bodyPr/>
          <a:lstStyle/>
          <a:p>
            <a:fld id="{6DE0D5A3-2E05-4112-9EB1-5EAD16F63788}" type="datetimeFigureOut">
              <a:rPr lang="he-IL" smtClean="0"/>
              <a:t>כ"ט.תמוז.תשפ"ה</a:t>
            </a:fld>
            <a:endParaRPr lang="he-IL"/>
          </a:p>
        </p:txBody>
      </p:sp>
      <p:sp>
        <p:nvSpPr>
          <p:cNvPr id="5" name="מציין מיקום של כותרת תחתונה 4">
            <a:extLst>
              <a:ext uri="{FF2B5EF4-FFF2-40B4-BE49-F238E27FC236}">
                <a16:creationId xmlns:a16="http://schemas.microsoft.com/office/drawing/2014/main" id="{1A7168D7-178F-CA7D-C494-3F5576980C0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E80F866-0628-F184-2FB8-F59315A3611F}"/>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281354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5AA6AD4-184C-BCF7-AF7C-5060ECC2C39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B36B6651-F1B4-DD50-16C2-D19C02F8064B}"/>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DBFF1AB-2DED-DE4F-7F2B-A07A949044BE}"/>
              </a:ext>
            </a:extLst>
          </p:cNvPr>
          <p:cNvSpPr>
            <a:spLocks noGrp="1"/>
          </p:cNvSpPr>
          <p:nvPr>
            <p:ph type="dt" sz="half" idx="10"/>
          </p:nvPr>
        </p:nvSpPr>
        <p:spPr/>
        <p:txBody>
          <a:bodyPr/>
          <a:lstStyle/>
          <a:p>
            <a:fld id="{6DE0D5A3-2E05-4112-9EB1-5EAD16F63788}" type="datetimeFigureOut">
              <a:rPr lang="he-IL" smtClean="0"/>
              <a:t>כ"ט.תמוז.תשפ"ה</a:t>
            </a:fld>
            <a:endParaRPr lang="he-IL"/>
          </a:p>
        </p:txBody>
      </p:sp>
      <p:sp>
        <p:nvSpPr>
          <p:cNvPr id="5" name="מציין מיקום של כותרת תחתונה 4">
            <a:extLst>
              <a:ext uri="{FF2B5EF4-FFF2-40B4-BE49-F238E27FC236}">
                <a16:creationId xmlns:a16="http://schemas.microsoft.com/office/drawing/2014/main" id="{E2EFEB77-065B-8032-2FC4-E1357C759A1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86E4222-DF67-6F55-8031-9FA8467CD869}"/>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081282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63C1236-869A-6220-C69F-97F1AC63B69E}"/>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EC085C67-4387-23AC-5B77-E51A007827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DCE75541-259A-2B25-9257-3F9B227586FB}"/>
              </a:ext>
            </a:extLst>
          </p:cNvPr>
          <p:cNvSpPr>
            <a:spLocks noGrp="1"/>
          </p:cNvSpPr>
          <p:nvPr>
            <p:ph type="dt" sz="half" idx="10"/>
          </p:nvPr>
        </p:nvSpPr>
        <p:spPr/>
        <p:txBody>
          <a:bodyPr/>
          <a:lstStyle/>
          <a:p>
            <a:fld id="{6DE0D5A3-2E05-4112-9EB1-5EAD16F63788}" type="datetimeFigureOut">
              <a:rPr lang="he-IL" smtClean="0"/>
              <a:t>כ"ט.תמוז.תשפ"ה</a:t>
            </a:fld>
            <a:endParaRPr lang="he-IL"/>
          </a:p>
        </p:txBody>
      </p:sp>
      <p:sp>
        <p:nvSpPr>
          <p:cNvPr id="5" name="מציין מיקום של כותרת תחתונה 4">
            <a:extLst>
              <a:ext uri="{FF2B5EF4-FFF2-40B4-BE49-F238E27FC236}">
                <a16:creationId xmlns:a16="http://schemas.microsoft.com/office/drawing/2014/main" id="{756731F9-BDCE-09B6-EA85-8F26448EF42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C95EB39-6079-9D56-C39D-26B90179290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2846534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BC4AB2-697E-9548-E2FD-D9E597F3ADA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7355AA3-5AF9-D774-A30E-CB86F3ADCB9C}"/>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4EF799D9-DD49-BD94-E206-E02B38DEA1C0}"/>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F9F70553-6CE9-496F-CF6F-E4EC2F8B2D15}"/>
              </a:ext>
            </a:extLst>
          </p:cNvPr>
          <p:cNvSpPr>
            <a:spLocks noGrp="1"/>
          </p:cNvSpPr>
          <p:nvPr>
            <p:ph type="dt" sz="half" idx="10"/>
          </p:nvPr>
        </p:nvSpPr>
        <p:spPr/>
        <p:txBody>
          <a:bodyPr/>
          <a:lstStyle/>
          <a:p>
            <a:fld id="{6DE0D5A3-2E05-4112-9EB1-5EAD16F63788}" type="datetimeFigureOut">
              <a:rPr lang="he-IL" smtClean="0"/>
              <a:t>כ"ט.תמוז.תשפ"ה</a:t>
            </a:fld>
            <a:endParaRPr lang="he-IL"/>
          </a:p>
        </p:txBody>
      </p:sp>
      <p:sp>
        <p:nvSpPr>
          <p:cNvPr id="6" name="מציין מיקום של כותרת תחתונה 5">
            <a:extLst>
              <a:ext uri="{FF2B5EF4-FFF2-40B4-BE49-F238E27FC236}">
                <a16:creationId xmlns:a16="http://schemas.microsoft.com/office/drawing/2014/main" id="{10251B85-008F-9246-E0A6-D44306EE64C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3821373-146F-3CBD-BBC1-659C98717FE1}"/>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76241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D7BF52F-EFD2-ECD6-6CA3-86DF97ED2FBB}"/>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7BA7F05-20E2-AEA6-E6CF-5A24B18766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553B7E6A-8520-D25A-33AF-6C0BC6E7AE0D}"/>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2C6FDC96-5FC2-E61A-A945-EC5615950D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758174EB-39D9-D2DA-9677-9EB3762C2C75}"/>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C045699C-3E63-7FD7-C1F3-1E7497288A45}"/>
              </a:ext>
            </a:extLst>
          </p:cNvPr>
          <p:cNvSpPr>
            <a:spLocks noGrp="1"/>
          </p:cNvSpPr>
          <p:nvPr>
            <p:ph type="dt" sz="half" idx="10"/>
          </p:nvPr>
        </p:nvSpPr>
        <p:spPr/>
        <p:txBody>
          <a:bodyPr/>
          <a:lstStyle/>
          <a:p>
            <a:fld id="{6DE0D5A3-2E05-4112-9EB1-5EAD16F63788}" type="datetimeFigureOut">
              <a:rPr lang="he-IL" smtClean="0"/>
              <a:t>כ"ט.תמוז.תשפ"ה</a:t>
            </a:fld>
            <a:endParaRPr lang="he-IL"/>
          </a:p>
        </p:txBody>
      </p:sp>
      <p:sp>
        <p:nvSpPr>
          <p:cNvPr id="8" name="מציין מיקום של כותרת תחתונה 7">
            <a:extLst>
              <a:ext uri="{FF2B5EF4-FFF2-40B4-BE49-F238E27FC236}">
                <a16:creationId xmlns:a16="http://schemas.microsoft.com/office/drawing/2014/main" id="{5BAC47FF-8AAA-40A1-4EFE-2FC353F9FE8C}"/>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270406A7-E97E-EEBA-040A-9FC31234C038}"/>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609959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3A86492-0542-A6B8-0410-F1C751499BD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4711C620-6586-75DC-8BA0-B36C141729A1}"/>
              </a:ext>
            </a:extLst>
          </p:cNvPr>
          <p:cNvSpPr>
            <a:spLocks noGrp="1"/>
          </p:cNvSpPr>
          <p:nvPr>
            <p:ph type="dt" sz="half" idx="10"/>
          </p:nvPr>
        </p:nvSpPr>
        <p:spPr/>
        <p:txBody>
          <a:bodyPr/>
          <a:lstStyle/>
          <a:p>
            <a:fld id="{6DE0D5A3-2E05-4112-9EB1-5EAD16F63788}" type="datetimeFigureOut">
              <a:rPr lang="he-IL" smtClean="0"/>
              <a:t>כ"ט.תמוז.תשפ"ה</a:t>
            </a:fld>
            <a:endParaRPr lang="he-IL"/>
          </a:p>
        </p:txBody>
      </p:sp>
      <p:sp>
        <p:nvSpPr>
          <p:cNvPr id="4" name="מציין מיקום של כותרת תחתונה 3">
            <a:extLst>
              <a:ext uri="{FF2B5EF4-FFF2-40B4-BE49-F238E27FC236}">
                <a16:creationId xmlns:a16="http://schemas.microsoft.com/office/drawing/2014/main" id="{83ED5236-5D43-4C88-99B9-FB3BFA1518A6}"/>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2FFB032E-C763-5193-2952-36FB16C27E67}"/>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031992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65447864-07B9-E599-2EAC-FB2ABEE5923C}"/>
              </a:ext>
            </a:extLst>
          </p:cNvPr>
          <p:cNvSpPr>
            <a:spLocks noGrp="1"/>
          </p:cNvSpPr>
          <p:nvPr>
            <p:ph type="dt" sz="half" idx="10"/>
          </p:nvPr>
        </p:nvSpPr>
        <p:spPr/>
        <p:txBody>
          <a:bodyPr/>
          <a:lstStyle/>
          <a:p>
            <a:fld id="{6DE0D5A3-2E05-4112-9EB1-5EAD16F63788}" type="datetimeFigureOut">
              <a:rPr lang="he-IL" smtClean="0"/>
              <a:t>כ"ט.תמוז.תשפ"ה</a:t>
            </a:fld>
            <a:endParaRPr lang="he-IL"/>
          </a:p>
        </p:txBody>
      </p:sp>
      <p:sp>
        <p:nvSpPr>
          <p:cNvPr id="3" name="מציין מיקום של כותרת תחתונה 2">
            <a:extLst>
              <a:ext uri="{FF2B5EF4-FFF2-40B4-BE49-F238E27FC236}">
                <a16:creationId xmlns:a16="http://schemas.microsoft.com/office/drawing/2014/main" id="{35DC4AE1-0EE6-9AA2-315A-304095A4350D}"/>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1FD4E024-A722-4112-9748-5B02773AD31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62972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5EFADD-78FE-7CC0-A374-CD0567C014D8}"/>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ECAECB93-48EC-D0E8-51BF-077A511E71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7258BB89-1D12-9686-6564-1334F9FA17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488E65D8-48D2-B397-EBD3-E7793F34D307}"/>
              </a:ext>
            </a:extLst>
          </p:cNvPr>
          <p:cNvSpPr>
            <a:spLocks noGrp="1"/>
          </p:cNvSpPr>
          <p:nvPr>
            <p:ph type="dt" sz="half" idx="10"/>
          </p:nvPr>
        </p:nvSpPr>
        <p:spPr/>
        <p:txBody>
          <a:bodyPr/>
          <a:lstStyle/>
          <a:p>
            <a:fld id="{6DE0D5A3-2E05-4112-9EB1-5EAD16F63788}" type="datetimeFigureOut">
              <a:rPr lang="he-IL" smtClean="0"/>
              <a:t>כ"ט.תמוז.תשפ"ה</a:t>
            </a:fld>
            <a:endParaRPr lang="he-IL"/>
          </a:p>
        </p:txBody>
      </p:sp>
      <p:sp>
        <p:nvSpPr>
          <p:cNvPr id="6" name="מציין מיקום של כותרת תחתונה 5">
            <a:extLst>
              <a:ext uri="{FF2B5EF4-FFF2-40B4-BE49-F238E27FC236}">
                <a16:creationId xmlns:a16="http://schemas.microsoft.com/office/drawing/2014/main" id="{DB5DD021-4281-E5CA-49E6-3577F0174059}"/>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698F8BE1-5B49-CE4B-11C5-A4A449C6440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118898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3884B11-B311-564C-DBC1-F9FD9BE0FD7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28D561BD-E667-6B5A-994F-CE5A4A78EC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8DD05131-990D-1D79-54DD-9BA92664B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D6CCBB5-4FA4-8112-064A-66A13B6D30B6}"/>
              </a:ext>
            </a:extLst>
          </p:cNvPr>
          <p:cNvSpPr>
            <a:spLocks noGrp="1"/>
          </p:cNvSpPr>
          <p:nvPr>
            <p:ph type="dt" sz="half" idx="10"/>
          </p:nvPr>
        </p:nvSpPr>
        <p:spPr/>
        <p:txBody>
          <a:bodyPr/>
          <a:lstStyle/>
          <a:p>
            <a:fld id="{6DE0D5A3-2E05-4112-9EB1-5EAD16F63788}" type="datetimeFigureOut">
              <a:rPr lang="he-IL" smtClean="0"/>
              <a:t>כ"ט.תמוז.תשפ"ה</a:t>
            </a:fld>
            <a:endParaRPr lang="he-IL"/>
          </a:p>
        </p:txBody>
      </p:sp>
      <p:sp>
        <p:nvSpPr>
          <p:cNvPr id="6" name="מציין מיקום של כותרת תחתונה 5">
            <a:extLst>
              <a:ext uri="{FF2B5EF4-FFF2-40B4-BE49-F238E27FC236}">
                <a16:creationId xmlns:a16="http://schemas.microsoft.com/office/drawing/2014/main" id="{2A154919-9D99-9619-23A4-941F60FBF64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CECCC28A-15B4-F06F-6EE8-7C90A4332192}"/>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35971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E7B4721-45A3-8759-6F61-1B6BF1B4EBE3}"/>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9AEA923-A52A-67C4-5B82-4F6B6EEB0542}"/>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F81F216B-4FBD-31B4-5A50-A706F1478EC2}"/>
              </a:ext>
            </a:extLst>
          </p:cNvPr>
          <p:cNvSpPr>
            <a:spLocks noGrp="1"/>
          </p:cNvSpPr>
          <p:nvPr>
            <p:ph type="dt" sz="half" idx="10"/>
          </p:nvPr>
        </p:nvSpPr>
        <p:spPr/>
        <p:txBody>
          <a:bodyPr/>
          <a:lstStyle/>
          <a:p>
            <a:fld id="{6DE0D5A3-2E05-4112-9EB1-5EAD16F63788}" type="datetimeFigureOut">
              <a:rPr lang="he-IL" smtClean="0"/>
              <a:t>כ"ט.תמוז.תשפ"ה</a:t>
            </a:fld>
            <a:endParaRPr lang="he-IL"/>
          </a:p>
        </p:txBody>
      </p:sp>
      <p:sp>
        <p:nvSpPr>
          <p:cNvPr id="5" name="מציין מיקום של כותרת תחתונה 4">
            <a:extLst>
              <a:ext uri="{FF2B5EF4-FFF2-40B4-BE49-F238E27FC236}">
                <a16:creationId xmlns:a16="http://schemas.microsoft.com/office/drawing/2014/main" id="{FD3836EF-7213-40AE-F3FB-B601F32AF3B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412C3E8-3E2F-2BFC-E576-6957AC2F2198}"/>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3417816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51FC54E-DB5A-DAD1-2434-07B5E27D3CAF}"/>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268F72F8-9E37-EAAC-D900-530639C66B9E}"/>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EE4EC31-A497-84C6-2667-8555A11CCACD}"/>
              </a:ext>
            </a:extLst>
          </p:cNvPr>
          <p:cNvSpPr>
            <a:spLocks noGrp="1"/>
          </p:cNvSpPr>
          <p:nvPr>
            <p:ph type="dt" sz="half" idx="10"/>
          </p:nvPr>
        </p:nvSpPr>
        <p:spPr/>
        <p:txBody>
          <a:bodyPr/>
          <a:lstStyle/>
          <a:p>
            <a:fld id="{6DE0D5A3-2E05-4112-9EB1-5EAD16F63788}" type="datetimeFigureOut">
              <a:rPr lang="he-IL" smtClean="0"/>
              <a:t>כ"ט.תמוז.תשפ"ה</a:t>
            </a:fld>
            <a:endParaRPr lang="he-IL"/>
          </a:p>
        </p:txBody>
      </p:sp>
      <p:sp>
        <p:nvSpPr>
          <p:cNvPr id="5" name="מציין מיקום של כותרת תחתונה 4">
            <a:extLst>
              <a:ext uri="{FF2B5EF4-FFF2-40B4-BE49-F238E27FC236}">
                <a16:creationId xmlns:a16="http://schemas.microsoft.com/office/drawing/2014/main" id="{F1669A26-57BC-A406-EECE-DF05A15F158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5918E1A-00FE-B950-E1B7-999B61204CA6}"/>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324501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9471C646-C5F3-9F1F-0977-22CFFF277D34}"/>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F9031AE-1217-D6AD-0028-CDB31A3BE574}"/>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74CFE58-9B1E-ECC6-25BF-E5741DFF4527}"/>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6DE0D5A3-2E05-4112-9EB1-5EAD16F63788}" type="datetimeFigureOut">
              <a:rPr lang="he-IL" smtClean="0"/>
              <a:t>כ"ט.תמוז.תשפ"ה</a:t>
            </a:fld>
            <a:endParaRPr lang="he-IL"/>
          </a:p>
        </p:txBody>
      </p:sp>
      <p:sp>
        <p:nvSpPr>
          <p:cNvPr id="5" name="מציין מיקום של כותרת תחתונה 4">
            <a:extLst>
              <a:ext uri="{FF2B5EF4-FFF2-40B4-BE49-F238E27FC236}">
                <a16:creationId xmlns:a16="http://schemas.microsoft.com/office/drawing/2014/main" id="{1BB82D60-7E70-C07F-A095-45FA469B0C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2C6D2401-1DEC-7695-647B-DAF05A2E4608}"/>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97ACF353-F54E-4338-80C2-CC503C46D57B}" type="slidenum">
              <a:rPr lang="he-IL" smtClean="0"/>
              <a:t>‹#›</a:t>
            </a:fld>
            <a:endParaRPr lang="he-IL"/>
          </a:p>
        </p:txBody>
      </p:sp>
    </p:spTree>
    <p:extLst>
      <p:ext uri="{BB962C8B-B14F-4D97-AF65-F5344CB8AC3E}">
        <p14:creationId xmlns:p14="http://schemas.microsoft.com/office/powerpoint/2010/main" val="2904355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hyperlink" Target="http://www.pngall.com/germs-png/download/38224" TargetMode="External"/><Relationship Id="rId13" Type="http://schemas.microsoft.com/office/2007/relationships/hdphoto" Target="../media/hdphoto3.wdp"/><Relationship Id="rId18" Type="http://schemas.openxmlformats.org/officeDocument/2006/relationships/image" Target="../media/image12.png"/><Relationship Id="rId26" Type="http://schemas.openxmlformats.org/officeDocument/2006/relationships/image" Target="../media/image18.png"/><Relationship Id="rId3" Type="http://schemas.openxmlformats.org/officeDocument/2006/relationships/image" Target="../media/image6.png"/><Relationship Id="rId21" Type="http://schemas.openxmlformats.org/officeDocument/2006/relationships/image" Target="../media/image14.png"/><Relationship Id="rId7" Type="http://schemas.openxmlformats.org/officeDocument/2006/relationships/image" Target="../media/image8.png"/><Relationship Id="rId12" Type="http://schemas.openxmlformats.org/officeDocument/2006/relationships/image" Target="../media/image10.png"/><Relationship Id="rId17" Type="http://schemas.openxmlformats.org/officeDocument/2006/relationships/hyperlink" Target="https://pixabay.com/en/chemical-science-science-icon-1293762/" TargetMode="External"/><Relationship Id="rId25" Type="http://schemas.openxmlformats.org/officeDocument/2006/relationships/image" Target="../media/image17.tiff"/><Relationship Id="rId2" Type="http://schemas.openxmlformats.org/officeDocument/2006/relationships/notesSlide" Target="../notesSlides/notesSlide3.xml"/><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hyperlink" Target="https://commons.wikimedia.org/wiki/File:Weather_Icons_-_skc.svg" TargetMode="External"/><Relationship Id="rId11" Type="http://schemas.openxmlformats.org/officeDocument/2006/relationships/hyperlink" Target="https://pxhere.com/en/photo/1453897" TargetMode="External"/><Relationship Id="rId24" Type="http://schemas.microsoft.com/office/2007/relationships/hdphoto" Target="../media/hdphoto5.wdp"/><Relationship Id="rId5" Type="http://schemas.openxmlformats.org/officeDocument/2006/relationships/image" Target="../media/image7.png"/><Relationship Id="rId15" Type="http://schemas.microsoft.com/office/2007/relationships/hdphoto" Target="../media/hdphoto4.wdp"/><Relationship Id="rId23" Type="http://schemas.openxmlformats.org/officeDocument/2006/relationships/image" Target="../media/image16.png"/><Relationship Id="rId10" Type="http://schemas.microsoft.com/office/2007/relationships/hdphoto" Target="../media/hdphoto2.wdp"/><Relationship Id="rId19" Type="http://schemas.openxmlformats.org/officeDocument/2006/relationships/hyperlink" Target="https://freesvg.org/petri-dish-vector-illustration" TargetMode="External"/><Relationship Id="rId4" Type="http://schemas.openxmlformats.org/officeDocument/2006/relationships/hyperlink" Target="https://pixabay.com/en/banana-black-banana-banana-vector-2737145/" TargetMode="External"/><Relationship Id="rId9" Type="http://schemas.openxmlformats.org/officeDocument/2006/relationships/image" Target="../media/image9.png"/><Relationship Id="rId14" Type="http://schemas.openxmlformats.org/officeDocument/2006/relationships/hyperlink" Target="https://www.publicdomainpictures.net/es/view-image.php?image=272450&amp;picture=silueta-de-la-celula-nerviosa" TargetMode="External"/><Relationship Id="rId22"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 Id="rId9" Type="http://schemas.microsoft.com/office/2007/relationships/hdphoto" Target="../media/hdphoto6.wdp"/></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0.jpeg"/><Relationship Id="rId4" Type="http://schemas.openxmlformats.org/officeDocument/2006/relationships/image" Target="../media/image28.jpe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7.png"/><Relationship Id="rId4" Type="http://schemas.openxmlformats.org/officeDocument/2006/relationships/image" Target="../media/image46.emf"/></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ick Cartoon Images – Browse 133,296 Stock Photos, Vectors, and Video |  Adobe Stock‬‏">
            <a:extLst>
              <a:ext uri="{FF2B5EF4-FFF2-40B4-BE49-F238E27FC236}">
                <a16:creationId xmlns:a16="http://schemas.microsoft.com/office/drawing/2014/main" id="{4BA98EBC-0BFA-B2C3-F708-B57FC40802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7155" y="3602038"/>
            <a:ext cx="4380429" cy="314068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ssil find complicates theory of human evolution | Baptist Press‬‏">
            <a:extLst>
              <a:ext uri="{FF2B5EF4-FFF2-40B4-BE49-F238E27FC236}">
                <a16:creationId xmlns:a16="http://schemas.microsoft.com/office/drawing/2014/main" id="{C2427A92-2FF6-AB60-5BF3-4B25638DD01B}"/>
              </a:ext>
            </a:extLst>
          </p:cNvPr>
          <p:cNvPicPr>
            <a:picLocks noChangeAspect="1" noChangeArrowheads="1"/>
          </p:cNvPicPr>
          <p:nvPr/>
        </p:nvPicPr>
        <p:blipFill>
          <a:blip r:embed="rId4">
            <a:alphaModFix amt="35000"/>
            <a:extLst>
              <a:ext uri="{28A0092B-C50C-407E-A947-70E740481C1C}">
                <a14:useLocalDpi xmlns:a14="http://schemas.microsoft.com/office/drawing/2010/main" val="0"/>
              </a:ext>
            </a:extLst>
          </a:blip>
          <a:srcRect/>
          <a:stretch>
            <a:fillRect/>
          </a:stretch>
        </p:blipFill>
        <p:spPr bwMode="auto">
          <a:xfrm>
            <a:off x="0" y="0"/>
            <a:ext cx="7717155" cy="5344844"/>
          </a:xfrm>
          <a:prstGeom prst="rect">
            <a:avLst/>
          </a:prstGeom>
          <a:noFill/>
          <a:extLst>
            <a:ext uri="{909E8E84-426E-40DD-AFC4-6F175D3DCCD1}">
              <a14:hiddenFill xmlns:a14="http://schemas.microsoft.com/office/drawing/2010/main">
                <a:solidFill>
                  <a:srgbClr val="FFFFFF"/>
                </a:solidFill>
              </a14:hiddenFill>
            </a:ext>
          </a:extLst>
        </p:spPr>
      </p:pic>
      <p:sp>
        <p:nvSpPr>
          <p:cNvPr id="2" name="כותרת 1">
            <a:extLst>
              <a:ext uri="{FF2B5EF4-FFF2-40B4-BE49-F238E27FC236}">
                <a16:creationId xmlns:a16="http://schemas.microsoft.com/office/drawing/2014/main" id="{784ADA7F-0491-9A37-E1E5-1723398F7329}"/>
              </a:ext>
            </a:extLst>
          </p:cNvPr>
          <p:cNvSpPr>
            <a:spLocks noGrp="1"/>
          </p:cNvSpPr>
          <p:nvPr>
            <p:ph type="ctrTitle"/>
          </p:nvPr>
        </p:nvSpPr>
        <p:spPr/>
        <p:txBody>
          <a:bodyPr>
            <a:normAutofit/>
          </a:bodyPr>
          <a:lstStyle/>
          <a:p>
            <a:r>
              <a:rPr lang="en-US" b="1" dirty="0">
                <a:solidFill>
                  <a:srgbClr val="0070C0"/>
                </a:solidFill>
                <a:latin typeface="Calibri" panose="020F0502020204030204" pitchFamily="34" charset="0"/>
                <a:ea typeface="+mn-ea"/>
                <a:cs typeface="Calibri" panose="020F0502020204030204" pitchFamily="34" charset="0"/>
              </a:rPr>
              <a:t>The evolution of human-specific diseases</a:t>
            </a:r>
            <a:endParaRPr lang="he-IL" b="1" dirty="0">
              <a:solidFill>
                <a:srgbClr val="0070C0"/>
              </a:solidFill>
              <a:latin typeface="Calibri" panose="020F0502020204030204" pitchFamily="34" charset="0"/>
              <a:ea typeface="+mn-ea"/>
              <a:cs typeface="Calibri" panose="020F0502020204030204" pitchFamily="34" charset="0"/>
            </a:endParaRPr>
          </a:p>
        </p:txBody>
      </p:sp>
      <p:sp>
        <p:nvSpPr>
          <p:cNvPr id="3" name="כותרת משנה 2">
            <a:extLst>
              <a:ext uri="{FF2B5EF4-FFF2-40B4-BE49-F238E27FC236}">
                <a16:creationId xmlns:a16="http://schemas.microsoft.com/office/drawing/2014/main" id="{E9401324-7122-D426-4C57-3078A00115D6}"/>
              </a:ext>
            </a:extLst>
          </p:cNvPr>
          <p:cNvSpPr>
            <a:spLocks noGrp="1"/>
          </p:cNvSpPr>
          <p:nvPr>
            <p:ph type="subTitle" idx="1"/>
          </p:nvPr>
        </p:nvSpPr>
        <p:spPr/>
        <p:txBody>
          <a:bodyPr/>
          <a:lstStyle/>
          <a:p>
            <a:r>
              <a:rPr lang="en-US" sz="2800" dirty="0">
                <a:latin typeface="Calibri" panose="020F0502020204030204" pitchFamily="34" charset="0"/>
                <a:cs typeface="Calibri" panose="020F0502020204030204" pitchFamily="34" charset="0"/>
              </a:rPr>
              <a:t>Sarit Moses &amp; Gil Sasson</a:t>
            </a:r>
          </a:p>
          <a:p>
            <a:r>
              <a:rPr lang="en-US" sz="2800" dirty="0">
                <a:latin typeface="Calibri" panose="020F0502020204030204" pitchFamily="34" charset="0"/>
                <a:cs typeface="Calibri" panose="020F0502020204030204" pitchFamily="34" charset="0"/>
              </a:rPr>
              <a:t>Supervised by Dr. David Gokhman</a:t>
            </a:r>
          </a:p>
          <a:p>
            <a:r>
              <a:rPr lang="en-US" sz="2800" dirty="0">
                <a:latin typeface="Calibri" panose="020F0502020204030204" pitchFamily="34" charset="0"/>
                <a:cs typeface="Calibri" panose="020F0502020204030204" pitchFamily="34" charset="0"/>
              </a:rPr>
              <a:t>T.A.: Nachshon </a:t>
            </a:r>
            <a:r>
              <a:rPr lang="en-US" sz="2800" dirty="0" err="1">
                <a:latin typeface="Calibri" panose="020F0502020204030204" pitchFamily="34" charset="0"/>
                <a:cs typeface="Calibri" panose="020F0502020204030204" pitchFamily="34" charset="0"/>
              </a:rPr>
              <a:t>Egyes</a:t>
            </a:r>
            <a:endParaRPr lang="he-IL"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17387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E207B4-A1CE-A891-6B59-82E619E51BED}"/>
              </a:ext>
            </a:extLst>
          </p:cNvPr>
          <p:cNvSpPr>
            <a:spLocks noGrp="1"/>
          </p:cNvSpPr>
          <p:nvPr>
            <p:ph type="title"/>
          </p:nvPr>
        </p:nvSpPr>
        <p:spPr>
          <a:xfrm>
            <a:off x="838198" y="143845"/>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The origin of human-specific diseases</a:t>
            </a:r>
            <a:endParaRPr lang="he-IL" b="1" dirty="0">
              <a:latin typeface="Calibri" panose="020F0502020204030204" pitchFamily="34" charset="0"/>
              <a:cs typeface="Calibri" panose="020F0502020204030204" pitchFamily="34" charset="0"/>
            </a:endParaRPr>
          </a:p>
        </p:txBody>
      </p:sp>
      <p:pic>
        <p:nvPicPr>
          <p:cNvPr id="1026" name="Picture 2" descr="‪Chimpanzee 2d cartoon vector illustration on white backgro | Premium  AI-generated image‬‏">
            <a:extLst>
              <a:ext uri="{FF2B5EF4-FFF2-40B4-BE49-F238E27FC236}">
                <a16:creationId xmlns:a16="http://schemas.microsoft.com/office/drawing/2014/main" id="{1BAF5CB9-8E65-02D0-DC68-8518B984B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78" y="1434559"/>
            <a:ext cx="3474104" cy="3474104"/>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קבוצה 17">
            <a:extLst>
              <a:ext uri="{FF2B5EF4-FFF2-40B4-BE49-F238E27FC236}">
                <a16:creationId xmlns:a16="http://schemas.microsoft.com/office/drawing/2014/main" id="{19FEEFAC-8404-26C2-FAC1-255421447C8D}"/>
              </a:ext>
            </a:extLst>
          </p:cNvPr>
          <p:cNvGrpSpPr/>
          <p:nvPr/>
        </p:nvGrpSpPr>
        <p:grpSpPr>
          <a:xfrm>
            <a:off x="2859332" y="1378566"/>
            <a:ext cx="6502382" cy="4044875"/>
            <a:chOff x="2859332" y="1378566"/>
            <a:chExt cx="6502382" cy="4044875"/>
          </a:xfrm>
        </p:grpSpPr>
        <p:grpSp>
          <p:nvGrpSpPr>
            <p:cNvPr id="9" name="קבוצה 8">
              <a:extLst>
                <a:ext uri="{FF2B5EF4-FFF2-40B4-BE49-F238E27FC236}">
                  <a16:creationId xmlns:a16="http://schemas.microsoft.com/office/drawing/2014/main" id="{A23C6293-19F8-0425-5FB8-7A38EC5BCA40}"/>
                </a:ext>
              </a:extLst>
            </p:cNvPr>
            <p:cNvGrpSpPr/>
            <p:nvPr/>
          </p:nvGrpSpPr>
          <p:grpSpPr>
            <a:xfrm>
              <a:off x="3413656" y="1378566"/>
              <a:ext cx="5364687" cy="4044875"/>
              <a:chOff x="3494702" y="1592132"/>
              <a:chExt cx="4498639" cy="3158958"/>
            </a:xfrm>
          </p:grpSpPr>
          <p:sp>
            <p:nvSpPr>
              <p:cNvPr id="7" name="אליפסה 6">
                <a:extLst>
                  <a:ext uri="{FF2B5EF4-FFF2-40B4-BE49-F238E27FC236}">
                    <a16:creationId xmlns:a16="http://schemas.microsoft.com/office/drawing/2014/main" id="{37AC6E33-2853-CAD2-B09D-66B72DA7523E}"/>
                  </a:ext>
                </a:extLst>
              </p:cNvPr>
              <p:cNvSpPr/>
              <p:nvPr/>
            </p:nvSpPr>
            <p:spPr>
              <a:xfrm>
                <a:off x="3494702" y="1592132"/>
                <a:ext cx="3520977" cy="3158958"/>
              </a:xfrm>
              <a:prstGeom prst="ellipse">
                <a:avLst/>
              </a:prstGeom>
              <a:solidFill>
                <a:srgbClr val="F8F7CB">
                  <a:alpha val="49804"/>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8" name="אליפסה 7">
                <a:extLst>
                  <a:ext uri="{FF2B5EF4-FFF2-40B4-BE49-F238E27FC236}">
                    <a16:creationId xmlns:a16="http://schemas.microsoft.com/office/drawing/2014/main" id="{A71C46E7-B79E-AD33-2055-FE58E4BFF842}"/>
                  </a:ext>
                </a:extLst>
              </p:cNvPr>
              <p:cNvSpPr/>
              <p:nvPr/>
            </p:nvSpPr>
            <p:spPr>
              <a:xfrm>
                <a:off x="4472364" y="1592132"/>
                <a:ext cx="3520977" cy="3158958"/>
              </a:xfrm>
              <a:prstGeom prst="ellipse">
                <a:avLst/>
              </a:prstGeom>
              <a:solidFill>
                <a:srgbClr val="CAEEFB">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
          <p:nvSpPr>
            <p:cNvPr id="3" name="מציין מיקום תוכן 2">
              <a:extLst>
                <a:ext uri="{FF2B5EF4-FFF2-40B4-BE49-F238E27FC236}">
                  <a16:creationId xmlns:a16="http://schemas.microsoft.com/office/drawing/2014/main" id="{38073D80-D545-981A-7210-F377B3747DFB}"/>
                </a:ext>
              </a:extLst>
            </p:cNvPr>
            <p:cNvSpPr txBox="1">
              <a:spLocks/>
            </p:cNvSpPr>
            <p:nvPr/>
          </p:nvSpPr>
          <p:spPr>
            <a:xfrm>
              <a:off x="4894239" y="2688137"/>
              <a:ext cx="2403519" cy="1129443"/>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Shared </a:t>
              </a:r>
            </a:p>
            <a:p>
              <a:pPr marL="0" indent="0" algn="ctr" rtl="0">
                <a:buNone/>
              </a:pPr>
              <a:r>
                <a:rPr lang="en-US" sz="2400" dirty="0">
                  <a:latin typeface="Calibri" panose="020F0502020204030204" pitchFamily="34" charset="0"/>
                  <a:cs typeface="Calibri" panose="020F0502020204030204" pitchFamily="34" charset="0"/>
                </a:rPr>
                <a:t>traits</a:t>
              </a:r>
            </a:p>
          </p:txBody>
        </p:sp>
        <p:sp>
          <p:nvSpPr>
            <p:cNvPr id="10" name="מציין מיקום תוכן 2">
              <a:extLst>
                <a:ext uri="{FF2B5EF4-FFF2-40B4-BE49-F238E27FC236}">
                  <a16:creationId xmlns:a16="http://schemas.microsoft.com/office/drawing/2014/main" id="{A22FA729-D0C8-038E-DE6F-93835A5E68D3}"/>
                </a:ext>
              </a:extLst>
            </p:cNvPr>
            <p:cNvSpPr txBox="1">
              <a:spLocks/>
            </p:cNvSpPr>
            <p:nvPr/>
          </p:nvSpPr>
          <p:spPr>
            <a:xfrm>
              <a:off x="2859332" y="2622141"/>
              <a:ext cx="2403519" cy="1129443"/>
            </a:xfrm>
            <a:prstGeom prst="rect">
              <a:avLst/>
            </a:prstGeom>
          </p:spPr>
          <p:txBody>
            <a:bodyPr vert="horz" lIns="91440" tIns="45720" rIns="91440" bIns="45720" rtlCol="1">
              <a:normAutofit fontScale="92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Chimp-</a:t>
              </a:r>
            </a:p>
            <a:p>
              <a:pPr marL="0" indent="0" algn="ctr" rtl="0">
                <a:buNone/>
              </a:pPr>
              <a:r>
                <a:rPr lang="en-US" sz="2400" dirty="0">
                  <a:latin typeface="Calibri" panose="020F0502020204030204" pitchFamily="34" charset="0"/>
                  <a:cs typeface="Calibri" panose="020F0502020204030204" pitchFamily="34" charset="0"/>
                </a:rPr>
                <a:t>specific </a:t>
              </a:r>
            </a:p>
            <a:p>
              <a:pPr marL="0" indent="0" algn="ctr" rtl="0">
                <a:buNone/>
              </a:pPr>
              <a:r>
                <a:rPr lang="en-US" sz="2400" dirty="0">
                  <a:latin typeface="Calibri" panose="020F0502020204030204" pitchFamily="34" charset="0"/>
                  <a:cs typeface="Calibri" panose="020F0502020204030204" pitchFamily="34" charset="0"/>
                </a:rPr>
                <a:t>traits</a:t>
              </a:r>
            </a:p>
          </p:txBody>
        </p:sp>
        <p:sp>
          <p:nvSpPr>
            <p:cNvPr id="11" name="מציין מיקום תוכן 2">
              <a:extLst>
                <a:ext uri="{FF2B5EF4-FFF2-40B4-BE49-F238E27FC236}">
                  <a16:creationId xmlns:a16="http://schemas.microsoft.com/office/drawing/2014/main" id="{41842961-FAD6-0D61-B881-0C3E088A750E}"/>
                </a:ext>
              </a:extLst>
            </p:cNvPr>
            <p:cNvSpPr txBox="1">
              <a:spLocks/>
            </p:cNvSpPr>
            <p:nvPr/>
          </p:nvSpPr>
          <p:spPr>
            <a:xfrm>
              <a:off x="6958195" y="2622141"/>
              <a:ext cx="2403519" cy="1129443"/>
            </a:xfrm>
            <a:prstGeom prst="rect">
              <a:avLst/>
            </a:prstGeom>
          </p:spPr>
          <p:txBody>
            <a:bodyPr vert="horz" lIns="91440" tIns="45720" rIns="91440" bIns="45720" rtlCol="1">
              <a:normAutofit fontScale="92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Human-</a:t>
              </a:r>
            </a:p>
            <a:p>
              <a:pPr marL="0" indent="0" algn="ctr" rtl="0">
                <a:buNone/>
              </a:pPr>
              <a:r>
                <a:rPr lang="en-US" sz="2400" dirty="0">
                  <a:latin typeface="Calibri" panose="020F0502020204030204" pitchFamily="34" charset="0"/>
                  <a:cs typeface="Calibri" panose="020F0502020204030204" pitchFamily="34" charset="0"/>
                </a:rPr>
                <a:t>specific </a:t>
              </a:r>
            </a:p>
            <a:p>
              <a:pPr marL="0" indent="0" algn="ctr" rtl="0">
                <a:buNone/>
              </a:pPr>
              <a:r>
                <a:rPr lang="en-US" sz="2400" dirty="0">
                  <a:latin typeface="Calibri" panose="020F0502020204030204" pitchFamily="34" charset="0"/>
                  <a:cs typeface="Calibri" panose="020F0502020204030204" pitchFamily="34" charset="0"/>
                </a:rPr>
                <a:t>traits</a:t>
              </a:r>
            </a:p>
          </p:txBody>
        </p:sp>
      </p:grpSp>
      <p:pic>
        <p:nvPicPr>
          <p:cNvPr id="1028" name="Picture 4" descr="‪Funny Cute Couple Ancient Human Cartoon. Royalty Free SVG, Cliparts,  Vectors, and Stock Illustration. Image 74301183.‬‏">
            <a:extLst>
              <a:ext uri="{FF2B5EF4-FFF2-40B4-BE49-F238E27FC236}">
                <a16:creationId xmlns:a16="http://schemas.microsoft.com/office/drawing/2014/main" id="{620013B0-8287-E7C4-0281-96C8ABDED2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0382" y="1690688"/>
            <a:ext cx="3179278" cy="2757133"/>
          </a:xfrm>
          <a:prstGeom prst="rect">
            <a:avLst/>
          </a:prstGeom>
          <a:noFill/>
          <a:extLst>
            <a:ext uri="{909E8E84-426E-40DD-AFC4-6F175D3DCCD1}">
              <a14:hiddenFill xmlns:a14="http://schemas.microsoft.com/office/drawing/2010/main">
                <a:solidFill>
                  <a:srgbClr val="FFFFFF"/>
                </a:solidFill>
              </a14:hiddenFill>
            </a:ext>
          </a:extLst>
        </p:spPr>
      </p:pic>
      <p:sp>
        <p:nvSpPr>
          <p:cNvPr id="4" name="מציין מיקום תוכן 2">
            <a:extLst>
              <a:ext uri="{FF2B5EF4-FFF2-40B4-BE49-F238E27FC236}">
                <a16:creationId xmlns:a16="http://schemas.microsoft.com/office/drawing/2014/main" id="{8EE0F434-47C8-22A8-C56C-5F54229FC649}"/>
              </a:ext>
            </a:extLst>
          </p:cNvPr>
          <p:cNvSpPr txBox="1">
            <a:spLocks/>
          </p:cNvSpPr>
          <p:nvPr/>
        </p:nvSpPr>
        <p:spPr>
          <a:xfrm>
            <a:off x="1252974"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dirty="0">
                <a:latin typeface="Calibri" panose="020F0502020204030204" pitchFamily="34" charset="0"/>
                <a:cs typeface="Calibri" panose="020F0502020204030204" pitchFamily="34" charset="0"/>
              </a:rPr>
              <a:t>Environment</a:t>
            </a:r>
          </a:p>
        </p:txBody>
      </p:sp>
      <p:sp>
        <p:nvSpPr>
          <p:cNvPr id="5" name="מציין מיקום תוכן 2">
            <a:extLst>
              <a:ext uri="{FF2B5EF4-FFF2-40B4-BE49-F238E27FC236}">
                <a16:creationId xmlns:a16="http://schemas.microsoft.com/office/drawing/2014/main" id="{A16C35B3-EB26-6624-9C1E-4A0988750379}"/>
              </a:ext>
            </a:extLst>
          </p:cNvPr>
          <p:cNvSpPr txBox="1">
            <a:spLocks/>
          </p:cNvSpPr>
          <p:nvPr/>
        </p:nvSpPr>
        <p:spPr>
          <a:xfrm>
            <a:off x="4894241"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dirty="0">
                <a:latin typeface="Calibri" panose="020F0502020204030204" pitchFamily="34" charset="0"/>
                <a:cs typeface="Calibri" panose="020F0502020204030204" pitchFamily="34" charset="0"/>
              </a:rPr>
              <a:t>Life span</a:t>
            </a:r>
          </a:p>
        </p:txBody>
      </p:sp>
      <p:sp>
        <p:nvSpPr>
          <p:cNvPr id="6" name="מציין מיקום תוכן 2">
            <a:extLst>
              <a:ext uri="{FF2B5EF4-FFF2-40B4-BE49-F238E27FC236}">
                <a16:creationId xmlns:a16="http://schemas.microsoft.com/office/drawing/2014/main" id="{B8357051-BCEA-DFF1-A77C-3A3D6C752AC7}"/>
              </a:ext>
            </a:extLst>
          </p:cNvPr>
          <p:cNvSpPr txBox="1">
            <a:spLocks/>
          </p:cNvSpPr>
          <p:nvPr/>
        </p:nvSpPr>
        <p:spPr>
          <a:xfrm>
            <a:off x="8535508"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dirty="0">
                <a:latin typeface="Calibri" panose="020F0502020204030204" pitchFamily="34" charset="0"/>
                <a:cs typeface="Calibri" panose="020F0502020204030204" pitchFamily="34" charset="0"/>
              </a:rPr>
              <a:t>Lack of data</a:t>
            </a:r>
          </a:p>
        </p:txBody>
      </p:sp>
      <p:pic>
        <p:nvPicPr>
          <p:cNvPr id="1032" name="Picture 8" descr="‪Mascot Thermometer Fever - Stock Illustration [27457006] - PIXTA‬‏">
            <a:extLst>
              <a:ext uri="{FF2B5EF4-FFF2-40B4-BE49-F238E27FC236}">
                <a16:creationId xmlns:a16="http://schemas.microsoft.com/office/drawing/2014/main" id="{869F5A23-5F5F-3245-13FB-35B760F7208D}"/>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151722" y="1378566"/>
            <a:ext cx="921488" cy="132556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3">
            <a:extLst>
              <a:ext uri="{FF2B5EF4-FFF2-40B4-BE49-F238E27FC236}">
                <a16:creationId xmlns:a16="http://schemas.microsoft.com/office/drawing/2014/main" id="{DD042946-67E6-4B22-66D1-E9DCD1E9817F}"/>
              </a:ext>
            </a:extLst>
          </p:cNvPr>
          <p:cNvSpPr txBox="1"/>
          <p:nvPr/>
        </p:nvSpPr>
        <p:spPr>
          <a:xfrm>
            <a:off x="9332668" y="5579631"/>
            <a:ext cx="809199" cy="748988"/>
          </a:xfrm>
          <a:prstGeom prst="rect">
            <a:avLst/>
          </a:prstGeom>
          <a:noFill/>
        </p:spPr>
        <p:txBody>
          <a:bodyPr wrap="square">
            <a:spAutoFit/>
          </a:bodyPr>
          <a:lstStyle/>
          <a:p>
            <a:pPr algn="ctr"/>
            <a:r>
              <a:rPr lang="en-US" sz="4267" dirty="0">
                <a:solidFill>
                  <a:srgbClr val="B12E31"/>
                </a:solidFill>
                <a:latin typeface="Calibri" panose="020F0502020204030204" pitchFamily="34" charset="0"/>
                <a:ea typeface="Helvetica Neue Thin" panose="020B0403020202020204" pitchFamily="34" charset="0"/>
                <a:cs typeface="Calibri" panose="020F0502020204030204" pitchFamily="34" charset="0"/>
              </a:rPr>
              <a:t>X</a:t>
            </a:r>
            <a:endParaRPr lang="en-IL" sz="2400" dirty="0">
              <a:solidFill>
                <a:srgbClr val="B12E31"/>
              </a:solidFill>
              <a:latin typeface="Calibri" panose="020F0502020204030204" pitchFamily="34" charset="0"/>
              <a:cs typeface="Calibri" panose="020F0502020204030204" pitchFamily="34" charset="0"/>
            </a:endParaRPr>
          </a:p>
        </p:txBody>
      </p:sp>
      <p:sp>
        <p:nvSpPr>
          <p:cNvPr id="13" name="TextBox 13">
            <a:extLst>
              <a:ext uri="{FF2B5EF4-FFF2-40B4-BE49-F238E27FC236}">
                <a16:creationId xmlns:a16="http://schemas.microsoft.com/office/drawing/2014/main" id="{6AE1B2C1-D239-82B5-C18C-F1C517264ABA}"/>
              </a:ext>
            </a:extLst>
          </p:cNvPr>
          <p:cNvSpPr txBox="1"/>
          <p:nvPr/>
        </p:nvSpPr>
        <p:spPr>
          <a:xfrm>
            <a:off x="5691400" y="5579631"/>
            <a:ext cx="809199" cy="748988"/>
          </a:xfrm>
          <a:prstGeom prst="rect">
            <a:avLst/>
          </a:prstGeom>
          <a:noFill/>
        </p:spPr>
        <p:txBody>
          <a:bodyPr wrap="square">
            <a:spAutoFit/>
          </a:bodyPr>
          <a:lstStyle/>
          <a:p>
            <a:pPr algn="ctr"/>
            <a:r>
              <a:rPr lang="en-US" sz="4267" dirty="0">
                <a:solidFill>
                  <a:srgbClr val="B12E31"/>
                </a:solidFill>
                <a:latin typeface="Calibri" panose="020F0502020204030204" pitchFamily="34" charset="0"/>
                <a:ea typeface="Helvetica Neue Thin" panose="020B0403020202020204" pitchFamily="34" charset="0"/>
                <a:cs typeface="Calibri" panose="020F0502020204030204" pitchFamily="34" charset="0"/>
              </a:rPr>
              <a:t>X</a:t>
            </a:r>
            <a:endParaRPr lang="en-IL" sz="2400" dirty="0">
              <a:solidFill>
                <a:srgbClr val="B12E3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E37BFAB0-E12F-7939-8671-AB52A9E1C18E}"/>
              </a:ext>
            </a:extLst>
          </p:cNvPr>
          <p:cNvSpPr txBox="1"/>
          <p:nvPr/>
        </p:nvSpPr>
        <p:spPr>
          <a:xfrm>
            <a:off x="2050133" y="5582754"/>
            <a:ext cx="809199" cy="748988"/>
          </a:xfrm>
          <a:prstGeom prst="rect">
            <a:avLst/>
          </a:prstGeom>
          <a:noFill/>
        </p:spPr>
        <p:txBody>
          <a:bodyPr wrap="square">
            <a:spAutoFit/>
          </a:bodyPr>
          <a:lstStyle/>
          <a:p>
            <a:pPr algn="ctr"/>
            <a:r>
              <a:rPr lang="en-US" sz="4267" dirty="0">
                <a:solidFill>
                  <a:srgbClr val="B12E31"/>
                </a:solidFill>
                <a:latin typeface="Calibri" panose="020F0502020204030204" pitchFamily="34" charset="0"/>
                <a:ea typeface="Helvetica Neue Thin" panose="020B0403020202020204" pitchFamily="34" charset="0"/>
                <a:cs typeface="Calibri" panose="020F0502020204030204" pitchFamily="34" charset="0"/>
              </a:rPr>
              <a:t>X</a:t>
            </a:r>
            <a:endParaRPr lang="en-IL" sz="2400" dirty="0">
              <a:solidFill>
                <a:srgbClr val="B12E31"/>
              </a:solidFill>
              <a:latin typeface="Calibri" panose="020F0502020204030204" pitchFamily="34" charset="0"/>
              <a:cs typeface="Calibri" panose="020F0502020204030204" pitchFamily="34" charset="0"/>
            </a:endParaRPr>
          </a:p>
        </p:txBody>
      </p:sp>
      <p:grpSp>
        <p:nvGrpSpPr>
          <p:cNvPr id="15" name="Group 6">
            <a:extLst>
              <a:ext uri="{FF2B5EF4-FFF2-40B4-BE49-F238E27FC236}">
                <a16:creationId xmlns:a16="http://schemas.microsoft.com/office/drawing/2014/main" id="{9752B736-4687-F1C4-8960-30B64F349F71}"/>
              </a:ext>
            </a:extLst>
          </p:cNvPr>
          <p:cNvGrpSpPr/>
          <p:nvPr/>
        </p:nvGrpSpPr>
        <p:grpSpPr>
          <a:xfrm>
            <a:off x="-295174" y="4815030"/>
            <a:ext cx="12930163" cy="768028"/>
            <a:chOff x="-221380" y="3418765"/>
            <a:chExt cx="9697622" cy="576021"/>
          </a:xfrm>
        </p:grpSpPr>
        <p:sp>
          <p:nvSpPr>
            <p:cNvPr id="16" name="Rectangle 4">
              <a:extLst>
                <a:ext uri="{FF2B5EF4-FFF2-40B4-BE49-F238E27FC236}">
                  <a16:creationId xmlns:a16="http://schemas.microsoft.com/office/drawing/2014/main" id="{66AA5399-CE6E-711F-5C2E-BB43BCBB001F}"/>
                </a:ext>
              </a:extLst>
            </p:cNvPr>
            <p:cNvSpPr/>
            <p:nvPr/>
          </p:nvSpPr>
          <p:spPr>
            <a:xfrm>
              <a:off x="-221380" y="3418765"/>
              <a:ext cx="9697622" cy="576021"/>
            </a:xfrm>
            <a:prstGeom prst="rect">
              <a:avLst/>
            </a:prstGeom>
            <a:solidFill>
              <a:srgbClr val="5EBB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sz="2400" dirty="0">
                <a:latin typeface="Calibri" panose="020F0502020204030204" pitchFamily="34" charset="0"/>
                <a:cs typeface="Calibri" panose="020F0502020204030204" pitchFamily="34" charset="0"/>
              </a:endParaRPr>
            </a:p>
          </p:txBody>
        </p:sp>
        <p:sp>
          <p:nvSpPr>
            <p:cNvPr id="17" name="TextBox 21">
              <a:extLst>
                <a:ext uri="{FF2B5EF4-FFF2-40B4-BE49-F238E27FC236}">
                  <a16:creationId xmlns:a16="http://schemas.microsoft.com/office/drawing/2014/main" id="{917511B6-8AB2-D732-A847-C5D4390C6FE8}"/>
                </a:ext>
              </a:extLst>
            </p:cNvPr>
            <p:cNvSpPr txBox="1"/>
            <p:nvPr/>
          </p:nvSpPr>
          <p:spPr>
            <a:xfrm>
              <a:off x="-221380" y="3501759"/>
              <a:ext cx="9697621" cy="377075"/>
            </a:xfrm>
            <a:prstGeom prst="rect">
              <a:avLst/>
            </a:prstGeom>
            <a:noFill/>
          </p:spPr>
          <p:txBody>
            <a:bodyPr wrap="square">
              <a:spAutoFit/>
            </a:bodyPr>
            <a:lstStyle/>
            <a:p>
              <a:pPr algn="ctr"/>
              <a:r>
                <a:rPr lang="en-US" sz="2667" dirty="0">
                  <a:solidFill>
                    <a:schemeClr val="bg1"/>
                  </a:solidFill>
                  <a:latin typeface="Calibri" panose="020F0502020204030204" pitchFamily="34" charset="0"/>
                  <a:ea typeface="Helvetica Neue" panose="02000503000000020004" pitchFamily="2" charset="0"/>
                  <a:cs typeface="Calibri" panose="020F0502020204030204" pitchFamily="34" charset="0"/>
                </a:rPr>
                <a:t>Genetic changes </a:t>
              </a:r>
              <a:r>
                <a:rPr lang="en-US" sz="2667" dirty="0">
                  <a:solidFill>
                    <a:schemeClr val="bg1"/>
                  </a:solidFill>
                  <a:latin typeface="Calibri" panose="020F0502020204030204" pitchFamily="34" charset="0"/>
                  <a:ea typeface="Helvetica Neue" panose="02000503000000020004" pitchFamily="2" charset="0"/>
                  <a:cs typeface="Calibri" panose="020F0502020204030204" pitchFamily="34" charset="0"/>
                  <a:sym typeface="Wingdings" pitchFamily="2" charset="2"/>
                </a:rPr>
                <a:t> human susceptibility</a:t>
              </a:r>
              <a:endParaRPr lang="en-IL" sz="2667" dirty="0">
                <a:solidFill>
                  <a:schemeClr val="bg1"/>
                </a:solidFill>
                <a:latin typeface="Calibri" panose="020F0502020204030204" pitchFamily="34" charset="0"/>
                <a:ea typeface="Helvetica Neue" panose="02000503000000020004" pitchFamily="2" charset="0"/>
                <a:cs typeface="Calibri" panose="020F0502020204030204" pitchFamily="34" charset="0"/>
              </a:endParaRPr>
            </a:p>
          </p:txBody>
        </p:sp>
      </p:grpSp>
      <p:sp>
        <p:nvSpPr>
          <p:cNvPr id="19" name="אליפסה 18">
            <a:extLst>
              <a:ext uri="{FF2B5EF4-FFF2-40B4-BE49-F238E27FC236}">
                <a16:creationId xmlns:a16="http://schemas.microsoft.com/office/drawing/2014/main" id="{44C932CA-7D70-28B7-2CB7-FA91EE6132E1}"/>
              </a:ext>
            </a:extLst>
          </p:cNvPr>
          <p:cNvSpPr/>
          <p:nvPr/>
        </p:nvSpPr>
        <p:spPr>
          <a:xfrm>
            <a:off x="2859332" y="4731488"/>
            <a:ext cx="3100719" cy="11086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7652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2" grpId="0"/>
      <p:bldP spid="13" grpId="0"/>
      <p:bldP spid="14" grpId="0"/>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E5450-700D-57C7-95BE-11BF18396487}"/>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28F147E-E97D-CFF9-27C6-4D0F229C80FA}"/>
              </a:ext>
            </a:extLst>
          </p:cNvPr>
          <p:cNvSpPr>
            <a:spLocks noGrp="1"/>
          </p:cNvSpPr>
          <p:nvPr>
            <p:ph type="title"/>
          </p:nvPr>
        </p:nvSpPr>
        <p:spPr>
          <a:xfrm>
            <a:off x="838200" y="63910"/>
            <a:ext cx="10515600" cy="850299"/>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Regulatory changes: the immediate suspect</a:t>
            </a:r>
            <a:endParaRPr lang="he-IL" b="1" dirty="0">
              <a:latin typeface="Calibri" panose="020F0502020204030204" pitchFamily="34" charset="0"/>
              <a:cs typeface="Calibri" panose="020F0502020204030204" pitchFamily="34" charset="0"/>
            </a:endParaRPr>
          </a:p>
        </p:txBody>
      </p:sp>
      <p:grpSp>
        <p:nvGrpSpPr>
          <p:cNvPr id="1080" name="Group 6">
            <a:extLst>
              <a:ext uri="{FF2B5EF4-FFF2-40B4-BE49-F238E27FC236}">
                <a16:creationId xmlns:a16="http://schemas.microsoft.com/office/drawing/2014/main" id="{560064DA-7FED-41EC-1C79-912989C0A3C6}"/>
              </a:ext>
            </a:extLst>
          </p:cNvPr>
          <p:cNvGrpSpPr/>
          <p:nvPr/>
        </p:nvGrpSpPr>
        <p:grpSpPr>
          <a:xfrm>
            <a:off x="2167320" y="3234964"/>
            <a:ext cx="1808925" cy="2962231"/>
            <a:chOff x="3852076" y="2264025"/>
            <a:chExt cx="1719461" cy="2634363"/>
          </a:xfrm>
        </p:grpSpPr>
        <p:sp>
          <p:nvSpPr>
            <p:cNvPr id="1081" name="Rectangle 2">
              <a:extLst>
                <a:ext uri="{FF2B5EF4-FFF2-40B4-BE49-F238E27FC236}">
                  <a16:creationId xmlns:a16="http://schemas.microsoft.com/office/drawing/2014/main" id="{358A258A-553D-AF86-1F3B-55D23F294CD2}"/>
                </a:ext>
              </a:extLst>
            </p:cNvPr>
            <p:cNvSpPr/>
            <p:nvPr/>
          </p:nvSpPr>
          <p:spPr>
            <a:xfrm>
              <a:off x="3933652" y="2264025"/>
              <a:ext cx="1468960" cy="377075"/>
            </a:xfrm>
            <a:prstGeom prst="rect">
              <a:avLst/>
            </a:prstGeom>
          </p:spPr>
          <p:txBody>
            <a:bodyPr wrap="none">
              <a:spAutoFit/>
            </a:bodyPr>
            <a:lstStyle/>
            <a:p>
              <a:pPr algn="ctr" defTabSz="1219170"/>
              <a:r>
                <a:rPr lang="en-US" sz="2667" dirty="0">
                  <a:solidFill>
                    <a:schemeClr val="bg2">
                      <a:lumMod val="25000"/>
                    </a:schemeClr>
                  </a:solidFill>
                  <a:latin typeface="Helvetica Neue Light" panose="02000403000000020004" pitchFamily="2" charset="0"/>
                  <a:ea typeface="Helvetica Neue Light" panose="02000403000000020004" pitchFamily="2" charset="0"/>
                  <a:cs typeface="Calibri Light" panose="020F0302020204030204" pitchFamily="34" charset="0"/>
                </a:rPr>
                <a:t>Confounders</a:t>
              </a:r>
              <a:endParaRPr lang="en-US" sz="2667" dirty="0">
                <a:solidFill>
                  <a:schemeClr val="bg2">
                    <a:lumMod val="25000"/>
                  </a:schemeClr>
                </a:solidFill>
                <a:latin typeface="Helvetica Neue Light" panose="02000403000000020004" pitchFamily="2" charset="0"/>
                <a:ea typeface="Helvetica Neue Light" panose="02000403000000020004" pitchFamily="2" charset="0"/>
              </a:endParaRPr>
            </a:p>
          </p:txBody>
        </p:sp>
        <p:grpSp>
          <p:nvGrpSpPr>
            <p:cNvPr id="1082" name="Group 326">
              <a:extLst>
                <a:ext uri="{FF2B5EF4-FFF2-40B4-BE49-F238E27FC236}">
                  <a16:creationId xmlns:a16="http://schemas.microsoft.com/office/drawing/2014/main" id="{87690A9D-0A79-F6EA-F081-EA19EC65D7A3}"/>
                </a:ext>
              </a:extLst>
            </p:cNvPr>
            <p:cNvGrpSpPr/>
            <p:nvPr/>
          </p:nvGrpSpPr>
          <p:grpSpPr>
            <a:xfrm>
              <a:off x="3992114" y="2556112"/>
              <a:ext cx="1356694" cy="828572"/>
              <a:chOff x="4049504" y="734179"/>
              <a:chExt cx="1356694" cy="828572"/>
            </a:xfrm>
          </p:grpSpPr>
          <p:sp>
            <p:nvSpPr>
              <p:cNvPr id="1101" name="Left-Right Arrow 327">
                <a:extLst>
                  <a:ext uri="{FF2B5EF4-FFF2-40B4-BE49-F238E27FC236}">
                    <a16:creationId xmlns:a16="http://schemas.microsoft.com/office/drawing/2014/main" id="{C76CB8E7-8040-74DA-8002-0B2F05CE322A}"/>
                  </a:ext>
                </a:extLst>
              </p:cNvPr>
              <p:cNvSpPr/>
              <p:nvPr/>
            </p:nvSpPr>
            <p:spPr>
              <a:xfrm>
                <a:off x="4049504" y="979495"/>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102" name="Group 328">
                <a:extLst>
                  <a:ext uri="{FF2B5EF4-FFF2-40B4-BE49-F238E27FC236}">
                    <a16:creationId xmlns:a16="http://schemas.microsoft.com/office/drawing/2014/main" id="{8BAE4E49-22A0-0D34-A9F3-8F1146BAEDD2}"/>
                  </a:ext>
                </a:extLst>
              </p:cNvPr>
              <p:cNvGrpSpPr/>
              <p:nvPr/>
            </p:nvGrpSpPr>
            <p:grpSpPr>
              <a:xfrm>
                <a:off x="4229981" y="734179"/>
                <a:ext cx="1001717" cy="793113"/>
                <a:chOff x="4101675" y="1023754"/>
                <a:chExt cx="1329583" cy="1052702"/>
              </a:xfrm>
            </p:grpSpPr>
            <p:grpSp>
              <p:nvGrpSpPr>
                <p:cNvPr id="1103" name="Group 329">
                  <a:extLst>
                    <a:ext uri="{FF2B5EF4-FFF2-40B4-BE49-F238E27FC236}">
                      <a16:creationId xmlns:a16="http://schemas.microsoft.com/office/drawing/2014/main" id="{FE202F6D-899A-A770-0BFD-E1000A67775B}"/>
                    </a:ext>
                  </a:extLst>
                </p:cNvPr>
                <p:cNvGrpSpPr/>
                <p:nvPr/>
              </p:nvGrpSpPr>
              <p:grpSpPr>
                <a:xfrm>
                  <a:off x="4396683" y="1330046"/>
                  <a:ext cx="723841" cy="746410"/>
                  <a:chOff x="4525701" y="844082"/>
                  <a:chExt cx="723841" cy="746410"/>
                </a:xfrm>
              </p:grpSpPr>
              <p:pic>
                <p:nvPicPr>
                  <p:cNvPr id="1105" name="Picture 331">
                    <a:extLst>
                      <a:ext uri="{FF2B5EF4-FFF2-40B4-BE49-F238E27FC236}">
                        <a16:creationId xmlns:a16="http://schemas.microsoft.com/office/drawing/2014/main" id="{550A3B14-53D2-EC2D-1643-321573C8A6B4}"/>
                      </a:ext>
                    </a:extLst>
                  </p:cNvPr>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525701" y="915663"/>
                    <a:ext cx="397378" cy="552874"/>
                  </a:xfrm>
                  <a:prstGeom prst="rect">
                    <a:avLst/>
                  </a:prstGeom>
                </p:spPr>
              </p:pic>
              <p:pic>
                <p:nvPicPr>
                  <p:cNvPr id="1106" name="Picture 332">
                    <a:extLst>
                      <a:ext uri="{FF2B5EF4-FFF2-40B4-BE49-F238E27FC236}">
                        <a16:creationId xmlns:a16="http://schemas.microsoft.com/office/drawing/2014/main" id="{9AFFA61A-6610-696C-5A94-F13FA740D375}"/>
                      </a:ext>
                    </a:extLst>
                  </p:cNvPr>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852164" y="844082"/>
                    <a:ext cx="397378" cy="397378"/>
                  </a:xfrm>
                  <a:prstGeom prst="rect">
                    <a:avLst/>
                  </a:prstGeom>
                </p:spPr>
              </p:pic>
              <p:pic>
                <p:nvPicPr>
                  <p:cNvPr id="1107" name="Picture 333" descr="Shape&#10;&#10;Description automatically generated">
                    <a:extLst>
                      <a:ext uri="{FF2B5EF4-FFF2-40B4-BE49-F238E27FC236}">
                        <a16:creationId xmlns:a16="http://schemas.microsoft.com/office/drawing/2014/main" id="{28769B9F-A904-44D3-DD80-F14FBAD91559}"/>
                      </a:ext>
                    </a:extLst>
                  </p:cNvPr>
                  <p:cNvPicPr>
                    <a:picLocks noChangeAspect="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4950175" y="1274987"/>
                    <a:ext cx="263350" cy="315505"/>
                  </a:xfrm>
                  <a:prstGeom prst="rect">
                    <a:avLst/>
                  </a:prstGeom>
                </p:spPr>
              </p:pic>
            </p:grpSp>
            <p:sp>
              <p:nvSpPr>
                <p:cNvPr id="1104" name="Rectangle 330">
                  <a:extLst>
                    <a:ext uri="{FF2B5EF4-FFF2-40B4-BE49-F238E27FC236}">
                      <a16:creationId xmlns:a16="http://schemas.microsoft.com/office/drawing/2014/main" id="{D9B666DF-DE74-2BC2-F76B-5009A72053DA}"/>
                    </a:ext>
                  </a:extLst>
                </p:cNvPr>
                <p:cNvSpPr/>
                <p:nvPr/>
              </p:nvSpPr>
              <p:spPr>
                <a:xfrm>
                  <a:off x="4101675" y="1023754"/>
                  <a:ext cx="1329583" cy="337023"/>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Environment</a:t>
                  </a:r>
                  <a:endParaRPr lang="en-US" sz="1600" dirty="0">
                    <a:solidFill>
                      <a:schemeClr val="bg2">
                        <a:lumMod val="25000"/>
                      </a:schemeClr>
                    </a:solidFill>
                  </a:endParaRPr>
                </a:p>
              </p:txBody>
            </p:sp>
          </p:grpSp>
        </p:grpSp>
        <p:grpSp>
          <p:nvGrpSpPr>
            <p:cNvPr id="1083" name="Group 334">
              <a:extLst>
                <a:ext uri="{FF2B5EF4-FFF2-40B4-BE49-F238E27FC236}">
                  <a16:creationId xmlns:a16="http://schemas.microsoft.com/office/drawing/2014/main" id="{2F27D600-282A-6AF2-3628-2E08C3F92A76}"/>
                </a:ext>
              </a:extLst>
            </p:cNvPr>
            <p:cNvGrpSpPr/>
            <p:nvPr/>
          </p:nvGrpSpPr>
          <p:grpSpPr>
            <a:xfrm>
              <a:off x="3852076" y="3344366"/>
              <a:ext cx="1719461" cy="842079"/>
              <a:chOff x="3909466" y="1487369"/>
              <a:chExt cx="1719461" cy="842079"/>
            </a:xfrm>
          </p:grpSpPr>
          <p:sp>
            <p:nvSpPr>
              <p:cNvPr id="1091" name="Left-Right Arrow 335">
                <a:extLst>
                  <a:ext uri="{FF2B5EF4-FFF2-40B4-BE49-F238E27FC236}">
                    <a16:creationId xmlns:a16="http://schemas.microsoft.com/office/drawing/2014/main" id="{3E74BA57-0C11-0109-7697-222BDC8A72C7}"/>
                  </a:ext>
                </a:extLst>
              </p:cNvPr>
              <p:cNvSpPr/>
              <p:nvPr/>
            </p:nvSpPr>
            <p:spPr>
              <a:xfrm>
                <a:off x="4059093" y="1746192"/>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092" name="Group 336">
                <a:extLst>
                  <a:ext uri="{FF2B5EF4-FFF2-40B4-BE49-F238E27FC236}">
                    <a16:creationId xmlns:a16="http://schemas.microsoft.com/office/drawing/2014/main" id="{09B48FA0-86EC-44E4-EABD-56548D502B3B}"/>
                  </a:ext>
                </a:extLst>
              </p:cNvPr>
              <p:cNvGrpSpPr/>
              <p:nvPr/>
            </p:nvGrpSpPr>
            <p:grpSpPr>
              <a:xfrm>
                <a:off x="3909466" y="1487369"/>
                <a:ext cx="1719461" cy="826890"/>
                <a:chOff x="3667513" y="1943110"/>
                <a:chExt cx="2282251" cy="1097532"/>
              </a:xfrm>
            </p:grpSpPr>
            <p:pic>
              <p:nvPicPr>
                <p:cNvPr id="1093" name="Picture 337">
                  <a:extLst>
                    <a:ext uri="{FF2B5EF4-FFF2-40B4-BE49-F238E27FC236}">
                      <a16:creationId xmlns:a16="http://schemas.microsoft.com/office/drawing/2014/main" id="{7D458AB7-9E1A-9BC0-8DC1-E35FE8D99705}"/>
                    </a:ext>
                  </a:extLst>
                </p:cNvPr>
                <p:cNvPicPr>
                  <a:picLocks noChangeAspect="1"/>
                </p:cNvPicPr>
                <p:nvPr/>
              </p:nvPicPr>
              <p:blipFill>
                <a:blip r:embed="rId9">
                  <a:duotone>
                    <a:schemeClr val="accent3">
                      <a:shade val="45000"/>
                      <a:satMod val="135000"/>
                    </a:schemeClr>
                    <a:prstClr val="white"/>
                  </a:duotone>
                  <a:extLst>
                    <a:ext uri="{BEBA8EAE-BF5A-486C-A8C5-ECC9F3942E4B}">
                      <a14:imgProps xmlns:a14="http://schemas.microsoft.com/office/drawing/2010/main">
                        <a14:imgLayer r:embed="rId10">
                          <a14:imgEffect>
                            <a14:backgroundRemoval t="10000" b="90000" l="10000" r="90000">
                              <a14:foregroundMark x1="51583" y1="33197" x2="51583" y2="33197"/>
                              <a14:foregroundMark x1="53250" y1="33197" x2="53250" y2="33197"/>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4497028" y="2210027"/>
                  <a:ext cx="510625" cy="830615"/>
                </a:xfrm>
                <a:prstGeom prst="rect">
                  <a:avLst/>
                </a:prstGeom>
              </p:spPr>
            </p:pic>
            <p:sp>
              <p:nvSpPr>
                <p:cNvPr id="1094" name="Rectangle 338">
                  <a:extLst>
                    <a:ext uri="{FF2B5EF4-FFF2-40B4-BE49-F238E27FC236}">
                      <a16:creationId xmlns:a16="http://schemas.microsoft.com/office/drawing/2014/main" id="{1853D990-1FC5-8CBF-CD1F-397C236A7DA1}"/>
                    </a:ext>
                  </a:extLst>
                </p:cNvPr>
                <p:cNvSpPr/>
                <p:nvPr/>
              </p:nvSpPr>
              <p:spPr>
                <a:xfrm>
                  <a:off x="3667513" y="1943110"/>
                  <a:ext cx="2282251" cy="337022"/>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Cell-type heterogeneity</a:t>
                  </a:r>
                  <a:endParaRPr lang="en-US" sz="1600" dirty="0">
                    <a:solidFill>
                      <a:schemeClr val="bg2">
                        <a:lumMod val="25000"/>
                      </a:schemeClr>
                    </a:solidFill>
                  </a:endParaRPr>
                </a:p>
              </p:txBody>
            </p:sp>
            <p:grpSp>
              <p:nvGrpSpPr>
                <p:cNvPr id="1095" name="Group 339">
                  <a:extLst>
                    <a:ext uri="{FF2B5EF4-FFF2-40B4-BE49-F238E27FC236}">
                      <a16:creationId xmlns:a16="http://schemas.microsoft.com/office/drawing/2014/main" id="{0CFAAFA6-87CD-F83D-9A6F-B29E76151DBB}"/>
                    </a:ext>
                  </a:extLst>
                </p:cNvPr>
                <p:cNvGrpSpPr/>
                <p:nvPr/>
              </p:nvGrpSpPr>
              <p:grpSpPr>
                <a:xfrm rot="2700000">
                  <a:off x="4461921" y="2592425"/>
                  <a:ext cx="328183" cy="331792"/>
                  <a:chOff x="3551743" y="3048534"/>
                  <a:chExt cx="1434724" cy="1450512"/>
                </a:xfrm>
              </p:grpSpPr>
              <p:pic>
                <p:nvPicPr>
                  <p:cNvPr id="1099" name="Picture 343" descr="A picture containing plant&#10;&#10;Description automatically generated">
                    <a:extLst>
                      <a:ext uri="{FF2B5EF4-FFF2-40B4-BE49-F238E27FC236}">
                        <a16:creationId xmlns:a16="http://schemas.microsoft.com/office/drawing/2014/main" id="{9355FE0A-4BE1-453A-BD92-5F76F3E2B32D}"/>
                      </a:ext>
                    </a:extLst>
                  </p:cNvPr>
                  <p:cNvPicPr>
                    <a:picLocks noChangeAspect="1"/>
                  </p:cNvPicPr>
                  <p:nvPr/>
                </p:nvPicPr>
                <p:blipFill rotWithShape="1">
                  <a:blip r:embed="rId12">
                    <a:duotone>
                      <a:schemeClr val="accent3">
                        <a:shade val="45000"/>
                        <a:satMod val="135000"/>
                      </a:schemeClr>
                      <a:prstClr val="white"/>
                    </a:duotone>
                    <a:extLst>
                      <a:ext uri="{BEBA8EAE-BF5A-486C-A8C5-ECC9F3942E4B}">
                        <a14:imgProps xmlns:a14="http://schemas.microsoft.com/office/drawing/2010/main">
                          <a14:imgLayer r:embed="rId13">
                            <a14:imgEffect>
                              <a14:backgroundRemoval t="10000" b="90000" l="8643" r="77784">
                                <a14:foregroundMark x1="52695" y1="46000" x2="52695" y2="46000"/>
                                <a14:foregroundMark x1="63473" y1="46000" x2="63473" y2="46000"/>
                                <a14:foregroundMark x1="57485" y1="31333" x2="57485" y2="31333"/>
                                <a14:foregroundMark x1="62275" y1="32667" x2="62275" y2="32667"/>
                                <a14:foregroundMark x1="68263" y1="11333" x2="68263" y2="11333"/>
                                <a14:foregroundMark x1="34132" y1="68667" x2="34132" y2="68667"/>
                                <a14:foregroundMark x1="38323" y1="52000" x2="38323" y2="52000"/>
                                <a14:foregroundMark x1="20359" y1="50667" x2="20359" y2="50667"/>
                                <a14:foregroundMark x1="20958" y1="57333" x2="20958" y2="57333"/>
                                <a14:foregroundMark x1="14970" y1="76000" x2="14970" y2="76000"/>
                                <a14:foregroundMark x1="27545" y1="86000" x2="27545" y2="86000"/>
                                <a14:foregroundMark x1="52096" y1="31333" x2="52096" y2="31333"/>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4"/>
                      </a:ext>
                    </a:extLst>
                  </a:blip>
                  <a:srcRect l="34223" r="13573" b="42349"/>
                  <a:stretch/>
                </p:blipFill>
                <p:spPr>
                  <a:xfrm>
                    <a:off x="3551743" y="3048534"/>
                    <a:ext cx="1434724" cy="1425984"/>
                  </a:xfrm>
                  <a:prstGeom prst="rect">
                    <a:avLst/>
                  </a:prstGeom>
                </p:spPr>
              </p:pic>
              <p:sp>
                <p:nvSpPr>
                  <p:cNvPr id="1100" name="Rectangle 344">
                    <a:extLst>
                      <a:ext uri="{FF2B5EF4-FFF2-40B4-BE49-F238E27FC236}">
                        <a16:creationId xmlns:a16="http://schemas.microsoft.com/office/drawing/2014/main" id="{F740DFF2-C883-CB7C-FD8D-1C1A50BC9837}"/>
                      </a:ext>
                    </a:extLst>
                  </p:cNvPr>
                  <p:cNvSpPr/>
                  <p:nvPr/>
                </p:nvSpPr>
                <p:spPr>
                  <a:xfrm>
                    <a:off x="3577518" y="4220315"/>
                    <a:ext cx="209593" cy="2787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p>
                </p:txBody>
              </p:sp>
            </p:grpSp>
            <p:grpSp>
              <p:nvGrpSpPr>
                <p:cNvPr id="1096" name="Group 340">
                  <a:extLst>
                    <a:ext uri="{FF2B5EF4-FFF2-40B4-BE49-F238E27FC236}">
                      <a16:creationId xmlns:a16="http://schemas.microsoft.com/office/drawing/2014/main" id="{2DF6C313-3042-3720-6543-C9BB25A3B535}"/>
                    </a:ext>
                  </a:extLst>
                </p:cNvPr>
                <p:cNvGrpSpPr/>
                <p:nvPr/>
              </p:nvGrpSpPr>
              <p:grpSpPr>
                <a:xfrm>
                  <a:off x="4871610" y="2541954"/>
                  <a:ext cx="338009" cy="333801"/>
                  <a:chOff x="4941287" y="3751975"/>
                  <a:chExt cx="1314129" cy="1297773"/>
                </a:xfrm>
              </p:grpSpPr>
              <p:pic>
                <p:nvPicPr>
                  <p:cNvPr id="1097" name="Picture 341" descr="A picture containing plant&#10;&#10;Description automatically generated">
                    <a:extLst>
                      <a:ext uri="{FF2B5EF4-FFF2-40B4-BE49-F238E27FC236}">
                        <a16:creationId xmlns:a16="http://schemas.microsoft.com/office/drawing/2014/main" id="{179470FA-34E5-F8DE-837A-5E20C25EABA1}"/>
                      </a:ext>
                    </a:extLst>
                  </p:cNvPr>
                  <p:cNvPicPr>
                    <a:picLocks noChangeAspect="1"/>
                  </p:cNvPicPr>
                  <p:nvPr/>
                </p:nvPicPr>
                <p:blipFill rotWithShape="1">
                  <a:blip r:embed="rId12">
                    <a:duotone>
                      <a:schemeClr val="accent3">
                        <a:shade val="45000"/>
                        <a:satMod val="135000"/>
                      </a:schemeClr>
                      <a:prstClr val="white"/>
                    </a:duotone>
                    <a:extLst>
                      <a:ext uri="{BEBA8EAE-BF5A-486C-A8C5-ECC9F3942E4B}">
                        <a14:imgProps xmlns:a14="http://schemas.microsoft.com/office/drawing/2010/main">
                          <a14:imgLayer r:embed="rId15">
                            <a14:imgEffect>
                              <a14:backgroundRemoval t="10000" b="90000" l="8643" r="77784">
                                <a14:foregroundMark x1="52695" y1="46000" x2="52695" y2="46000"/>
                                <a14:foregroundMark x1="63473" y1="46000" x2="63473" y2="46000"/>
                                <a14:foregroundMark x1="57485" y1="31333" x2="57485" y2="31333"/>
                                <a14:foregroundMark x1="62275" y1="32667" x2="62275" y2="32667"/>
                                <a14:foregroundMark x1="68263" y1="11333" x2="68263" y2="11333"/>
                                <a14:foregroundMark x1="34132" y1="68667" x2="34132" y2="68667"/>
                                <a14:foregroundMark x1="38323" y1="52000" x2="38323" y2="52000"/>
                                <a14:foregroundMark x1="20359" y1="50667" x2="20359" y2="50667"/>
                                <a14:foregroundMark x1="20958" y1="57333" x2="20958" y2="57333"/>
                                <a14:foregroundMark x1="14970" y1="76000" x2="14970" y2="76000"/>
                                <a14:foregroundMark x1="27545" y1="86000" x2="27545" y2="86000"/>
                                <a14:foregroundMark x1="52096" y1="31333" x2="52096" y2="31333"/>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4"/>
                      </a:ext>
                    </a:extLst>
                  </a:blip>
                  <a:srcRect l="7644" t="42408" r="44899" b="3047"/>
                  <a:stretch/>
                </p:blipFill>
                <p:spPr>
                  <a:xfrm>
                    <a:off x="4941287" y="3751975"/>
                    <a:ext cx="1254593" cy="1297773"/>
                  </a:xfrm>
                  <a:prstGeom prst="rect">
                    <a:avLst/>
                  </a:prstGeom>
                </p:spPr>
              </p:pic>
              <p:sp>
                <p:nvSpPr>
                  <p:cNvPr id="1098" name="Rectangle 342">
                    <a:extLst>
                      <a:ext uri="{FF2B5EF4-FFF2-40B4-BE49-F238E27FC236}">
                        <a16:creationId xmlns:a16="http://schemas.microsoft.com/office/drawing/2014/main" id="{D211D33C-0406-C339-EE8D-5A2D3EB27A82}"/>
                      </a:ext>
                    </a:extLst>
                  </p:cNvPr>
                  <p:cNvSpPr/>
                  <p:nvPr/>
                </p:nvSpPr>
                <p:spPr>
                  <a:xfrm rot="2700000">
                    <a:off x="6011254" y="3736000"/>
                    <a:ext cx="209593" cy="2787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p>
                </p:txBody>
              </p:sp>
            </p:grpSp>
          </p:grpSp>
        </p:grpSp>
        <p:grpSp>
          <p:nvGrpSpPr>
            <p:cNvPr id="1084" name="Group 345">
              <a:extLst>
                <a:ext uri="{FF2B5EF4-FFF2-40B4-BE49-F238E27FC236}">
                  <a16:creationId xmlns:a16="http://schemas.microsoft.com/office/drawing/2014/main" id="{237520A4-EE8C-8A0C-9810-1614708E50DB}"/>
                </a:ext>
              </a:extLst>
            </p:cNvPr>
            <p:cNvGrpSpPr/>
            <p:nvPr/>
          </p:nvGrpSpPr>
          <p:grpSpPr>
            <a:xfrm>
              <a:off x="3992114" y="4074563"/>
              <a:ext cx="1356694" cy="823825"/>
              <a:chOff x="4049504" y="2232901"/>
              <a:chExt cx="1356694" cy="823825"/>
            </a:xfrm>
          </p:grpSpPr>
          <p:sp>
            <p:nvSpPr>
              <p:cNvPr id="1085" name="Left-Right Arrow 346">
                <a:extLst>
                  <a:ext uri="{FF2B5EF4-FFF2-40B4-BE49-F238E27FC236}">
                    <a16:creationId xmlns:a16="http://schemas.microsoft.com/office/drawing/2014/main" id="{1324091F-8C17-9D35-6ED2-0A0A4CDE4101}"/>
                  </a:ext>
                </a:extLst>
              </p:cNvPr>
              <p:cNvSpPr/>
              <p:nvPr/>
            </p:nvSpPr>
            <p:spPr>
              <a:xfrm>
                <a:off x="4049504" y="2473470"/>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086" name="Group 347">
                <a:extLst>
                  <a:ext uri="{FF2B5EF4-FFF2-40B4-BE49-F238E27FC236}">
                    <a16:creationId xmlns:a16="http://schemas.microsoft.com/office/drawing/2014/main" id="{21C535A2-CAEB-E765-8384-DD79189FFF46}"/>
                  </a:ext>
                </a:extLst>
              </p:cNvPr>
              <p:cNvGrpSpPr/>
              <p:nvPr/>
            </p:nvGrpSpPr>
            <p:grpSpPr>
              <a:xfrm>
                <a:off x="4454018" y="2232901"/>
                <a:ext cx="542699" cy="789975"/>
                <a:chOff x="4459613" y="3109973"/>
                <a:chExt cx="720328" cy="1048538"/>
              </a:xfrm>
            </p:grpSpPr>
            <p:grpSp>
              <p:nvGrpSpPr>
                <p:cNvPr id="1087" name="Group 348">
                  <a:extLst>
                    <a:ext uri="{FF2B5EF4-FFF2-40B4-BE49-F238E27FC236}">
                      <a16:creationId xmlns:a16="http://schemas.microsoft.com/office/drawing/2014/main" id="{DCEA9B84-1566-B420-75A2-9AB0BB5F0960}"/>
                    </a:ext>
                  </a:extLst>
                </p:cNvPr>
                <p:cNvGrpSpPr/>
                <p:nvPr/>
              </p:nvGrpSpPr>
              <p:grpSpPr>
                <a:xfrm>
                  <a:off x="4459613" y="3463413"/>
                  <a:ext cx="717978" cy="695098"/>
                  <a:chOff x="4459613" y="3463413"/>
                  <a:chExt cx="717978" cy="695098"/>
                </a:xfrm>
              </p:grpSpPr>
              <p:pic>
                <p:nvPicPr>
                  <p:cNvPr id="1089" name="Picture 350" descr="Icon&#10;&#10;Description automatically generated">
                    <a:extLst>
                      <a:ext uri="{FF2B5EF4-FFF2-40B4-BE49-F238E27FC236}">
                        <a16:creationId xmlns:a16="http://schemas.microsoft.com/office/drawing/2014/main" id="{85760BBC-72F2-30F9-C20E-1D3DF26004BB}"/>
                      </a:ext>
                    </a:extLst>
                  </p:cNvPr>
                  <p:cNvPicPr>
                    <a:picLocks noChangeAspect="1"/>
                  </p:cNvPicPr>
                  <p:nvPr/>
                </p:nvPicPr>
                <p:blipFill>
                  <a:blip r:embed="rId16">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7"/>
                      </a:ext>
                    </a:extLst>
                  </a:blip>
                  <a:stretch>
                    <a:fillRect/>
                  </a:stretch>
                </p:blipFill>
                <p:spPr>
                  <a:xfrm>
                    <a:off x="4459613" y="3463413"/>
                    <a:ext cx="411997" cy="504486"/>
                  </a:xfrm>
                  <a:prstGeom prst="rect">
                    <a:avLst/>
                  </a:prstGeom>
                </p:spPr>
              </p:pic>
              <p:pic>
                <p:nvPicPr>
                  <p:cNvPr id="1090" name="Picture 351" descr="A picture containing tableware, dishware, bowl&#10;&#10;Description automatically generated">
                    <a:extLst>
                      <a:ext uri="{FF2B5EF4-FFF2-40B4-BE49-F238E27FC236}">
                        <a16:creationId xmlns:a16="http://schemas.microsoft.com/office/drawing/2014/main" id="{51B76B53-50BA-7AA5-9F13-28A24B9F1CD2}"/>
                      </a:ext>
                    </a:extLst>
                  </p:cNvPr>
                  <p:cNvPicPr>
                    <a:picLocks noChangeAspect="1"/>
                  </p:cNvPicPr>
                  <p:nvPr/>
                </p:nvPicPr>
                <p:blipFill>
                  <a:blip r:embed="rId18">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9"/>
                      </a:ext>
                    </a:extLst>
                  </a:blip>
                  <a:stretch>
                    <a:fillRect/>
                  </a:stretch>
                </p:blipFill>
                <p:spPr>
                  <a:xfrm>
                    <a:off x="4693562" y="3674482"/>
                    <a:ext cx="484029" cy="484029"/>
                  </a:xfrm>
                  <a:prstGeom prst="rect">
                    <a:avLst/>
                  </a:prstGeom>
                </p:spPr>
              </p:pic>
            </p:grpSp>
            <p:sp>
              <p:nvSpPr>
                <p:cNvPr id="1088" name="Rectangle 349">
                  <a:extLst>
                    <a:ext uri="{FF2B5EF4-FFF2-40B4-BE49-F238E27FC236}">
                      <a16:creationId xmlns:a16="http://schemas.microsoft.com/office/drawing/2014/main" id="{5EC12882-FB9A-F44A-C6F1-4CB2D395B2BF}"/>
                    </a:ext>
                  </a:extLst>
                </p:cNvPr>
                <p:cNvSpPr/>
                <p:nvPr/>
              </p:nvSpPr>
              <p:spPr>
                <a:xfrm>
                  <a:off x="4474297" y="3109973"/>
                  <a:ext cx="705644" cy="337023"/>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Batch</a:t>
                  </a:r>
                  <a:endParaRPr lang="en-US" sz="1600" dirty="0">
                    <a:solidFill>
                      <a:schemeClr val="bg2">
                        <a:lumMod val="25000"/>
                      </a:schemeClr>
                    </a:solidFill>
                  </a:endParaRPr>
                </a:p>
              </p:txBody>
            </p:sp>
          </p:grpSp>
        </p:grpSp>
      </p:grpSp>
      <p:grpSp>
        <p:nvGrpSpPr>
          <p:cNvPr id="1108" name="Group 5">
            <a:extLst>
              <a:ext uri="{FF2B5EF4-FFF2-40B4-BE49-F238E27FC236}">
                <a16:creationId xmlns:a16="http://schemas.microsoft.com/office/drawing/2014/main" id="{5C7053C7-7E0E-6FC9-1DD4-F49A696BA9B8}"/>
              </a:ext>
            </a:extLst>
          </p:cNvPr>
          <p:cNvGrpSpPr/>
          <p:nvPr/>
        </p:nvGrpSpPr>
        <p:grpSpPr>
          <a:xfrm>
            <a:off x="2107249" y="1383378"/>
            <a:ext cx="1808925" cy="1413155"/>
            <a:chOff x="3962465" y="703975"/>
            <a:chExt cx="1356694" cy="1059866"/>
          </a:xfrm>
        </p:grpSpPr>
        <p:grpSp>
          <p:nvGrpSpPr>
            <p:cNvPr id="1109" name="Group 295">
              <a:extLst>
                <a:ext uri="{FF2B5EF4-FFF2-40B4-BE49-F238E27FC236}">
                  <a16:creationId xmlns:a16="http://schemas.microsoft.com/office/drawing/2014/main" id="{CB849881-E99B-2623-74EC-44182F7D8C24}"/>
                </a:ext>
              </a:extLst>
            </p:cNvPr>
            <p:cNvGrpSpPr/>
            <p:nvPr/>
          </p:nvGrpSpPr>
          <p:grpSpPr>
            <a:xfrm>
              <a:off x="3962465" y="1180585"/>
              <a:ext cx="1356694" cy="583256"/>
              <a:chOff x="3962465" y="1291899"/>
              <a:chExt cx="1356694" cy="583256"/>
            </a:xfrm>
          </p:grpSpPr>
          <p:sp>
            <p:nvSpPr>
              <p:cNvPr id="1111" name="Left-Right Arrow 296">
                <a:extLst>
                  <a:ext uri="{FF2B5EF4-FFF2-40B4-BE49-F238E27FC236}">
                    <a16:creationId xmlns:a16="http://schemas.microsoft.com/office/drawing/2014/main" id="{02B88A17-A216-E358-7FEA-2A2699637320}"/>
                  </a:ext>
                </a:extLst>
              </p:cNvPr>
              <p:cNvSpPr/>
              <p:nvPr/>
            </p:nvSpPr>
            <p:spPr>
              <a:xfrm>
                <a:off x="3962465" y="1291899"/>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pic>
            <p:nvPicPr>
              <p:cNvPr id="1112" name="Picture 4" descr="Silhouette Dna Biology - Free vector graphic on Pixabay">
                <a:extLst>
                  <a:ext uri="{FF2B5EF4-FFF2-40B4-BE49-F238E27FC236}">
                    <a16:creationId xmlns:a16="http://schemas.microsoft.com/office/drawing/2014/main" id="{3C95BE66-FD5C-6205-F492-8A3FBC6195F0}"/>
                  </a:ext>
                </a:extLst>
              </p:cNvPr>
              <p:cNvPicPr>
                <a:picLocks noChangeAspect="1" noChangeArrowheads="1"/>
              </p:cNvPicPr>
              <p:nvPr/>
            </p:nvPicPr>
            <p:blipFill>
              <a:blip r:embed="rId20">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4377620">
                <a:off x="4439253" y="1151677"/>
                <a:ext cx="403117" cy="806233"/>
              </a:xfrm>
              <a:prstGeom prst="rect">
                <a:avLst/>
              </a:prstGeom>
              <a:noFill/>
              <a:extLst>
                <a:ext uri="{909E8E84-426E-40DD-AFC4-6F175D3DCCD1}">
                  <a14:hiddenFill xmlns:a14="http://schemas.microsoft.com/office/drawing/2010/main">
                    <a:solidFill>
                      <a:srgbClr val="FFFFFF"/>
                    </a:solidFill>
                  </a14:hiddenFill>
                </a:ext>
              </a:extLst>
            </p:spPr>
          </p:pic>
        </p:grpSp>
        <p:sp>
          <p:nvSpPr>
            <p:cNvPr id="1110" name="Rectangle 1">
              <a:extLst>
                <a:ext uri="{FF2B5EF4-FFF2-40B4-BE49-F238E27FC236}">
                  <a16:creationId xmlns:a16="http://schemas.microsoft.com/office/drawing/2014/main" id="{71715262-D012-E6BF-1DFC-C736581B5B3D}"/>
                </a:ext>
              </a:extLst>
            </p:cNvPr>
            <p:cNvSpPr/>
            <p:nvPr/>
          </p:nvSpPr>
          <p:spPr>
            <a:xfrm>
              <a:off x="4081867" y="703975"/>
              <a:ext cx="1114777" cy="377074"/>
            </a:xfrm>
            <a:prstGeom prst="rect">
              <a:avLst/>
            </a:prstGeom>
          </p:spPr>
          <p:txBody>
            <a:bodyPr wrap="none">
              <a:spAutoFit/>
            </a:bodyPr>
            <a:lstStyle/>
            <a:p>
              <a:pPr algn="ctr" defTabSz="1219170"/>
              <a:r>
                <a:rPr lang="en-US" sz="2667" dirty="0">
                  <a:solidFill>
                    <a:schemeClr val="bg2">
                      <a:lumMod val="25000"/>
                    </a:schemeClr>
                  </a:solidFill>
                  <a:latin typeface="Helvetica Neue Light" panose="02000403000000020004" pitchFamily="2" charset="0"/>
                  <a:ea typeface="Helvetica Neue Light" panose="02000403000000020004" pitchFamily="2" charset="0"/>
                  <a:cs typeface="Calibri Light" panose="020F0302020204030204" pitchFamily="34" charset="0"/>
                </a:rPr>
                <a:t>Evolution</a:t>
              </a:r>
              <a:endParaRPr lang="en-US" sz="2667" dirty="0">
                <a:solidFill>
                  <a:schemeClr val="bg2">
                    <a:lumMod val="25000"/>
                  </a:schemeClr>
                </a:solidFill>
                <a:latin typeface="Helvetica Neue Light" panose="02000403000000020004" pitchFamily="2" charset="0"/>
                <a:ea typeface="Helvetica Neue Light" panose="02000403000000020004" pitchFamily="2" charset="0"/>
              </a:endParaRPr>
            </a:p>
          </p:txBody>
        </p:sp>
      </p:grpSp>
      <p:pic>
        <p:nvPicPr>
          <p:cNvPr id="1158" name="תמונה 1157">
            <a:extLst>
              <a:ext uri="{FF2B5EF4-FFF2-40B4-BE49-F238E27FC236}">
                <a16:creationId xmlns:a16="http://schemas.microsoft.com/office/drawing/2014/main" id="{DB9A9E6E-CAED-698E-C5C4-03BB4CA5ACB2}"/>
              </a:ext>
            </a:extLst>
          </p:cNvPr>
          <p:cNvPicPr>
            <a:picLocks noChangeAspect="1"/>
          </p:cNvPicPr>
          <p:nvPr/>
        </p:nvPicPr>
        <p:blipFill>
          <a:blip r:embed="rId21"/>
          <a:stretch>
            <a:fillRect/>
          </a:stretch>
        </p:blipFill>
        <p:spPr>
          <a:xfrm>
            <a:off x="55363" y="875447"/>
            <a:ext cx="2304487" cy="2487383"/>
          </a:xfrm>
          <a:prstGeom prst="rect">
            <a:avLst/>
          </a:prstGeom>
        </p:spPr>
      </p:pic>
      <p:pic>
        <p:nvPicPr>
          <p:cNvPr id="1199" name="תמונה 1198">
            <a:extLst>
              <a:ext uri="{FF2B5EF4-FFF2-40B4-BE49-F238E27FC236}">
                <a16:creationId xmlns:a16="http://schemas.microsoft.com/office/drawing/2014/main" id="{F4951991-A36E-CD7B-726E-36ABB4422509}"/>
              </a:ext>
            </a:extLst>
          </p:cNvPr>
          <p:cNvPicPr>
            <a:picLocks noChangeAspect="1"/>
          </p:cNvPicPr>
          <p:nvPr/>
        </p:nvPicPr>
        <p:blipFill>
          <a:blip r:embed="rId22"/>
          <a:stretch>
            <a:fillRect/>
          </a:stretch>
        </p:blipFill>
        <p:spPr>
          <a:xfrm>
            <a:off x="3791656" y="1101615"/>
            <a:ext cx="2152626" cy="2261215"/>
          </a:xfrm>
          <a:prstGeom prst="rect">
            <a:avLst/>
          </a:prstGeom>
        </p:spPr>
      </p:pic>
      <p:grpSp>
        <p:nvGrpSpPr>
          <p:cNvPr id="1202" name="Group 174">
            <a:extLst>
              <a:ext uri="{FF2B5EF4-FFF2-40B4-BE49-F238E27FC236}">
                <a16:creationId xmlns:a16="http://schemas.microsoft.com/office/drawing/2014/main" id="{38EEC96A-AFFE-CEF6-B7D5-8EB76AC52C20}"/>
              </a:ext>
            </a:extLst>
          </p:cNvPr>
          <p:cNvGrpSpPr/>
          <p:nvPr/>
        </p:nvGrpSpPr>
        <p:grpSpPr>
          <a:xfrm>
            <a:off x="9596483" y="1066344"/>
            <a:ext cx="2152626" cy="1303844"/>
            <a:chOff x="3821596" y="1127900"/>
            <a:chExt cx="2256342" cy="1495867"/>
          </a:xfrm>
        </p:grpSpPr>
        <p:sp>
          <p:nvSpPr>
            <p:cNvPr id="1203" name="Oval 130">
              <a:extLst>
                <a:ext uri="{FF2B5EF4-FFF2-40B4-BE49-F238E27FC236}">
                  <a16:creationId xmlns:a16="http://schemas.microsoft.com/office/drawing/2014/main" id="{5A719AD9-3E74-1786-357A-1F89DF76DBD4}"/>
                </a:ext>
              </a:extLst>
            </p:cNvPr>
            <p:cNvSpPr/>
            <p:nvPr/>
          </p:nvSpPr>
          <p:spPr>
            <a:xfrm rot="5400000">
              <a:off x="3821595" y="1398377"/>
              <a:ext cx="1225391" cy="1225389"/>
            </a:xfrm>
            <a:prstGeom prst="ellipse">
              <a:avLst/>
            </a:prstGeom>
            <a:solidFill>
              <a:srgbClr val="89CBCE"/>
            </a:solidFill>
            <a:ln>
              <a:solidFill>
                <a:srgbClr val="4E92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sp>
          <p:nvSpPr>
            <p:cNvPr id="1204" name="Oval 122">
              <a:extLst>
                <a:ext uri="{FF2B5EF4-FFF2-40B4-BE49-F238E27FC236}">
                  <a16:creationId xmlns:a16="http://schemas.microsoft.com/office/drawing/2014/main" id="{71997877-9BCA-2046-97D9-FDCD356DD5A5}"/>
                </a:ext>
              </a:extLst>
            </p:cNvPr>
            <p:cNvSpPr/>
            <p:nvPr/>
          </p:nvSpPr>
          <p:spPr>
            <a:xfrm rot="5400000">
              <a:off x="4852548" y="1393496"/>
              <a:ext cx="1225391" cy="1225389"/>
            </a:xfrm>
            <a:prstGeom prst="ellipse">
              <a:avLst/>
            </a:prstGeom>
            <a:solidFill>
              <a:srgbClr val="FFD579"/>
            </a:solidFill>
            <a:ln>
              <a:solidFill>
                <a:srgbClr val="E8A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grpSp>
          <p:nvGrpSpPr>
            <p:cNvPr id="1205" name="Group 154">
              <a:extLst>
                <a:ext uri="{FF2B5EF4-FFF2-40B4-BE49-F238E27FC236}">
                  <a16:creationId xmlns:a16="http://schemas.microsoft.com/office/drawing/2014/main" id="{0948DA1F-4BC5-623D-0487-F5B4F03F664F}"/>
                </a:ext>
              </a:extLst>
            </p:cNvPr>
            <p:cNvGrpSpPr/>
            <p:nvPr/>
          </p:nvGrpSpPr>
          <p:grpSpPr>
            <a:xfrm rot="5400000">
              <a:off x="4591835" y="1861922"/>
              <a:ext cx="682763" cy="292065"/>
              <a:chOff x="4762197" y="3211507"/>
              <a:chExt cx="764733" cy="327129"/>
            </a:xfrm>
          </p:grpSpPr>
          <p:sp>
            <p:nvSpPr>
              <p:cNvPr id="1270" name="Freeform 142">
                <a:extLst>
                  <a:ext uri="{FF2B5EF4-FFF2-40B4-BE49-F238E27FC236}">
                    <a16:creationId xmlns:a16="http://schemas.microsoft.com/office/drawing/2014/main" id="{D27C61A3-6CFC-4FFB-22A9-2E2179C15DAC}"/>
                  </a:ext>
                </a:extLst>
              </p:cNvPr>
              <p:cNvSpPr/>
              <p:nvPr/>
            </p:nvSpPr>
            <p:spPr>
              <a:xfrm>
                <a:off x="4764930" y="3211507"/>
                <a:ext cx="762000" cy="187811"/>
              </a:xfrm>
              <a:custGeom>
                <a:avLst/>
                <a:gdLst>
                  <a:gd name="connsiteX0" fmla="*/ 762000 w 762000"/>
                  <a:gd name="connsiteY0" fmla="*/ 69850 h 104775"/>
                  <a:gd name="connsiteX1" fmla="*/ 762000 w 762000"/>
                  <a:gd name="connsiteY1" fmla="*/ 69850 h 104775"/>
                  <a:gd name="connsiteX2" fmla="*/ 739775 w 762000"/>
                  <a:gd name="connsiteY2" fmla="*/ 53975 h 104775"/>
                  <a:gd name="connsiteX3" fmla="*/ 720725 w 762000"/>
                  <a:gd name="connsiteY3" fmla="*/ 41275 h 104775"/>
                  <a:gd name="connsiteX4" fmla="*/ 704850 w 762000"/>
                  <a:gd name="connsiteY4" fmla="*/ 28575 h 104775"/>
                  <a:gd name="connsiteX5" fmla="*/ 695325 w 762000"/>
                  <a:gd name="connsiteY5" fmla="*/ 22225 h 104775"/>
                  <a:gd name="connsiteX6" fmla="*/ 676275 w 762000"/>
                  <a:gd name="connsiteY6" fmla="*/ 15875 h 104775"/>
                  <a:gd name="connsiteX7" fmla="*/ 666750 w 762000"/>
                  <a:gd name="connsiteY7" fmla="*/ 12700 h 104775"/>
                  <a:gd name="connsiteX8" fmla="*/ 647700 w 762000"/>
                  <a:gd name="connsiteY8" fmla="*/ 3175 h 104775"/>
                  <a:gd name="connsiteX9" fmla="*/ 581025 w 762000"/>
                  <a:gd name="connsiteY9" fmla="*/ 0 h 104775"/>
                  <a:gd name="connsiteX10" fmla="*/ 555625 w 762000"/>
                  <a:gd name="connsiteY10" fmla="*/ 6350 h 104775"/>
                  <a:gd name="connsiteX11" fmla="*/ 533400 w 762000"/>
                  <a:gd name="connsiteY11" fmla="*/ 12700 h 104775"/>
                  <a:gd name="connsiteX12" fmla="*/ 504825 w 762000"/>
                  <a:gd name="connsiteY12" fmla="*/ 25400 h 104775"/>
                  <a:gd name="connsiteX13" fmla="*/ 479425 w 762000"/>
                  <a:gd name="connsiteY13" fmla="*/ 28575 h 104775"/>
                  <a:gd name="connsiteX14" fmla="*/ 450850 w 762000"/>
                  <a:gd name="connsiteY14" fmla="*/ 38100 h 104775"/>
                  <a:gd name="connsiteX15" fmla="*/ 441325 w 762000"/>
                  <a:gd name="connsiteY15" fmla="*/ 41275 h 104775"/>
                  <a:gd name="connsiteX16" fmla="*/ 431800 w 762000"/>
                  <a:gd name="connsiteY16" fmla="*/ 44450 h 104775"/>
                  <a:gd name="connsiteX17" fmla="*/ 415925 w 762000"/>
                  <a:gd name="connsiteY17" fmla="*/ 47625 h 104775"/>
                  <a:gd name="connsiteX18" fmla="*/ 406400 w 762000"/>
                  <a:gd name="connsiteY18" fmla="*/ 50800 h 104775"/>
                  <a:gd name="connsiteX19" fmla="*/ 365125 w 762000"/>
                  <a:gd name="connsiteY19" fmla="*/ 53975 h 104775"/>
                  <a:gd name="connsiteX20" fmla="*/ 346075 w 762000"/>
                  <a:gd name="connsiteY20" fmla="*/ 57150 h 104775"/>
                  <a:gd name="connsiteX21" fmla="*/ 333375 w 762000"/>
                  <a:gd name="connsiteY21" fmla="*/ 60325 h 104775"/>
                  <a:gd name="connsiteX22" fmla="*/ 301625 w 762000"/>
                  <a:gd name="connsiteY22" fmla="*/ 57150 h 104775"/>
                  <a:gd name="connsiteX23" fmla="*/ 292100 w 762000"/>
                  <a:gd name="connsiteY23" fmla="*/ 53975 h 104775"/>
                  <a:gd name="connsiteX24" fmla="*/ 269875 w 762000"/>
                  <a:gd name="connsiteY24" fmla="*/ 47625 h 104775"/>
                  <a:gd name="connsiteX25" fmla="*/ 260350 w 762000"/>
                  <a:gd name="connsiteY25" fmla="*/ 41275 h 104775"/>
                  <a:gd name="connsiteX26" fmla="*/ 238125 w 762000"/>
                  <a:gd name="connsiteY26" fmla="*/ 34925 h 104775"/>
                  <a:gd name="connsiteX27" fmla="*/ 228600 w 762000"/>
                  <a:gd name="connsiteY27" fmla="*/ 31750 h 104775"/>
                  <a:gd name="connsiteX28" fmla="*/ 212725 w 762000"/>
                  <a:gd name="connsiteY28" fmla="*/ 28575 h 104775"/>
                  <a:gd name="connsiteX29" fmla="*/ 193675 w 762000"/>
                  <a:gd name="connsiteY29" fmla="*/ 22225 h 104775"/>
                  <a:gd name="connsiteX30" fmla="*/ 152400 w 762000"/>
                  <a:gd name="connsiteY30" fmla="*/ 25400 h 104775"/>
                  <a:gd name="connsiteX31" fmla="*/ 136525 w 762000"/>
                  <a:gd name="connsiteY31" fmla="*/ 28575 h 104775"/>
                  <a:gd name="connsiteX32" fmla="*/ 114300 w 762000"/>
                  <a:gd name="connsiteY32" fmla="*/ 31750 h 104775"/>
                  <a:gd name="connsiteX33" fmla="*/ 95250 w 762000"/>
                  <a:gd name="connsiteY33" fmla="*/ 34925 h 104775"/>
                  <a:gd name="connsiteX34" fmla="*/ 50800 w 762000"/>
                  <a:gd name="connsiteY34" fmla="*/ 38100 h 104775"/>
                  <a:gd name="connsiteX35" fmla="*/ 41275 w 762000"/>
                  <a:gd name="connsiteY35" fmla="*/ 41275 h 104775"/>
                  <a:gd name="connsiteX36" fmla="*/ 22225 w 762000"/>
                  <a:gd name="connsiteY36" fmla="*/ 53975 h 104775"/>
                  <a:gd name="connsiteX37" fmla="*/ 0 w 762000"/>
                  <a:gd name="connsiteY37" fmla="*/ 79375 h 104775"/>
                  <a:gd name="connsiteX38" fmla="*/ 9525 w 762000"/>
                  <a:gd name="connsiteY38" fmla="*/ 85725 h 104775"/>
                  <a:gd name="connsiteX39" fmla="*/ 19050 w 762000"/>
                  <a:gd name="connsiteY39" fmla="*/ 79375 h 104775"/>
                  <a:gd name="connsiteX40" fmla="*/ 31750 w 762000"/>
                  <a:gd name="connsiteY40" fmla="*/ 76200 h 104775"/>
                  <a:gd name="connsiteX41" fmla="*/ 142875 w 762000"/>
                  <a:gd name="connsiteY41" fmla="*/ 79375 h 104775"/>
                  <a:gd name="connsiteX42" fmla="*/ 165100 w 762000"/>
                  <a:gd name="connsiteY42" fmla="*/ 85725 h 104775"/>
                  <a:gd name="connsiteX43" fmla="*/ 174625 w 762000"/>
                  <a:gd name="connsiteY43" fmla="*/ 92075 h 104775"/>
                  <a:gd name="connsiteX44" fmla="*/ 200025 w 762000"/>
                  <a:gd name="connsiteY44" fmla="*/ 98425 h 104775"/>
                  <a:gd name="connsiteX45" fmla="*/ 234950 w 762000"/>
                  <a:gd name="connsiteY45" fmla="*/ 104775 h 104775"/>
                  <a:gd name="connsiteX46" fmla="*/ 317500 w 762000"/>
                  <a:gd name="connsiteY46" fmla="*/ 101600 h 104775"/>
                  <a:gd name="connsiteX47" fmla="*/ 355600 w 762000"/>
                  <a:gd name="connsiteY47" fmla="*/ 101600 h 104775"/>
                  <a:gd name="connsiteX48" fmla="*/ 365125 w 762000"/>
                  <a:gd name="connsiteY48" fmla="*/ 104775 h 104775"/>
                  <a:gd name="connsiteX49" fmla="*/ 415925 w 762000"/>
                  <a:gd name="connsiteY49" fmla="*/ 98425 h 104775"/>
                  <a:gd name="connsiteX50" fmla="*/ 434975 w 762000"/>
                  <a:gd name="connsiteY50" fmla="*/ 92075 h 104775"/>
                  <a:gd name="connsiteX51" fmla="*/ 444500 w 762000"/>
                  <a:gd name="connsiteY51" fmla="*/ 88900 h 104775"/>
                  <a:gd name="connsiteX52" fmla="*/ 558800 w 762000"/>
                  <a:gd name="connsiteY52" fmla="*/ 82550 h 104775"/>
                  <a:gd name="connsiteX53" fmla="*/ 723900 w 762000"/>
                  <a:gd name="connsiteY53" fmla="*/ 82550 h 104775"/>
                  <a:gd name="connsiteX54" fmla="*/ 762000 w 762000"/>
                  <a:gd name="connsiteY54" fmla="*/ 6985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62000" h="104775">
                    <a:moveTo>
                      <a:pt x="762000" y="69850"/>
                    </a:moveTo>
                    <a:lnTo>
                      <a:pt x="762000" y="69850"/>
                    </a:lnTo>
                    <a:cubicBezTo>
                      <a:pt x="754592" y="64558"/>
                      <a:pt x="746884" y="59662"/>
                      <a:pt x="739775" y="53975"/>
                    </a:cubicBezTo>
                    <a:cubicBezTo>
                      <a:pt x="722787" y="40385"/>
                      <a:pt x="738308" y="47136"/>
                      <a:pt x="720725" y="41275"/>
                    </a:cubicBezTo>
                    <a:cubicBezTo>
                      <a:pt x="710021" y="25218"/>
                      <a:pt x="720186" y="36243"/>
                      <a:pt x="704850" y="28575"/>
                    </a:cubicBezTo>
                    <a:cubicBezTo>
                      <a:pt x="701437" y="26868"/>
                      <a:pt x="698812" y="23775"/>
                      <a:pt x="695325" y="22225"/>
                    </a:cubicBezTo>
                    <a:cubicBezTo>
                      <a:pt x="689208" y="19507"/>
                      <a:pt x="682625" y="17992"/>
                      <a:pt x="676275" y="15875"/>
                    </a:cubicBezTo>
                    <a:cubicBezTo>
                      <a:pt x="673100" y="14817"/>
                      <a:pt x="669535" y="14556"/>
                      <a:pt x="666750" y="12700"/>
                    </a:cubicBezTo>
                    <a:cubicBezTo>
                      <a:pt x="660864" y="8776"/>
                      <a:pt x="655211" y="3801"/>
                      <a:pt x="647700" y="3175"/>
                    </a:cubicBezTo>
                    <a:cubicBezTo>
                      <a:pt x="625527" y="1327"/>
                      <a:pt x="603250" y="1058"/>
                      <a:pt x="581025" y="0"/>
                    </a:cubicBezTo>
                    <a:cubicBezTo>
                      <a:pt x="548750" y="6455"/>
                      <a:pt x="578405" y="-159"/>
                      <a:pt x="555625" y="6350"/>
                    </a:cubicBezTo>
                    <a:cubicBezTo>
                      <a:pt x="550878" y="7706"/>
                      <a:pt x="538475" y="10162"/>
                      <a:pt x="533400" y="12700"/>
                    </a:cubicBezTo>
                    <a:cubicBezTo>
                      <a:pt x="518777" y="20011"/>
                      <a:pt x="526668" y="22670"/>
                      <a:pt x="504825" y="25400"/>
                    </a:cubicBezTo>
                    <a:lnTo>
                      <a:pt x="479425" y="28575"/>
                    </a:lnTo>
                    <a:lnTo>
                      <a:pt x="450850" y="38100"/>
                    </a:lnTo>
                    <a:lnTo>
                      <a:pt x="441325" y="41275"/>
                    </a:lnTo>
                    <a:cubicBezTo>
                      <a:pt x="438150" y="42333"/>
                      <a:pt x="435082" y="43794"/>
                      <a:pt x="431800" y="44450"/>
                    </a:cubicBezTo>
                    <a:cubicBezTo>
                      <a:pt x="426508" y="45508"/>
                      <a:pt x="421160" y="46316"/>
                      <a:pt x="415925" y="47625"/>
                    </a:cubicBezTo>
                    <a:cubicBezTo>
                      <a:pt x="412678" y="48437"/>
                      <a:pt x="409721" y="50385"/>
                      <a:pt x="406400" y="50800"/>
                    </a:cubicBezTo>
                    <a:cubicBezTo>
                      <a:pt x="392708" y="52512"/>
                      <a:pt x="378883" y="52917"/>
                      <a:pt x="365125" y="53975"/>
                    </a:cubicBezTo>
                    <a:cubicBezTo>
                      <a:pt x="358775" y="55033"/>
                      <a:pt x="352388" y="55887"/>
                      <a:pt x="346075" y="57150"/>
                    </a:cubicBezTo>
                    <a:cubicBezTo>
                      <a:pt x="341796" y="58006"/>
                      <a:pt x="337739" y="60325"/>
                      <a:pt x="333375" y="60325"/>
                    </a:cubicBezTo>
                    <a:cubicBezTo>
                      <a:pt x="322739" y="60325"/>
                      <a:pt x="312208" y="58208"/>
                      <a:pt x="301625" y="57150"/>
                    </a:cubicBezTo>
                    <a:cubicBezTo>
                      <a:pt x="298450" y="56092"/>
                      <a:pt x="295318" y="54894"/>
                      <a:pt x="292100" y="53975"/>
                    </a:cubicBezTo>
                    <a:cubicBezTo>
                      <a:pt x="287353" y="52619"/>
                      <a:pt x="274950" y="50163"/>
                      <a:pt x="269875" y="47625"/>
                    </a:cubicBezTo>
                    <a:cubicBezTo>
                      <a:pt x="266462" y="45918"/>
                      <a:pt x="263763" y="42982"/>
                      <a:pt x="260350" y="41275"/>
                    </a:cubicBezTo>
                    <a:cubicBezTo>
                      <a:pt x="255275" y="38737"/>
                      <a:pt x="242872" y="36281"/>
                      <a:pt x="238125" y="34925"/>
                    </a:cubicBezTo>
                    <a:cubicBezTo>
                      <a:pt x="234907" y="34006"/>
                      <a:pt x="231847" y="32562"/>
                      <a:pt x="228600" y="31750"/>
                    </a:cubicBezTo>
                    <a:cubicBezTo>
                      <a:pt x="223365" y="30441"/>
                      <a:pt x="217931" y="29995"/>
                      <a:pt x="212725" y="28575"/>
                    </a:cubicBezTo>
                    <a:cubicBezTo>
                      <a:pt x="206267" y="26814"/>
                      <a:pt x="193675" y="22225"/>
                      <a:pt x="193675" y="22225"/>
                    </a:cubicBezTo>
                    <a:cubicBezTo>
                      <a:pt x="179917" y="23283"/>
                      <a:pt x="166115" y="23876"/>
                      <a:pt x="152400" y="25400"/>
                    </a:cubicBezTo>
                    <a:cubicBezTo>
                      <a:pt x="147037" y="25996"/>
                      <a:pt x="141848" y="27688"/>
                      <a:pt x="136525" y="28575"/>
                    </a:cubicBezTo>
                    <a:cubicBezTo>
                      <a:pt x="129143" y="29805"/>
                      <a:pt x="121697" y="30612"/>
                      <a:pt x="114300" y="31750"/>
                    </a:cubicBezTo>
                    <a:cubicBezTo>
                      <a:pt x="107937" y="32729"/>
                      <a:pt x="101656" y="34284"/>
                      <a:pt x="95250" y="34925"/>
                    </a:cubicBezTo>
                    <a:cubicBezTo>
                      <a:pt x="80469" y="36403"/>
                      <a:pt x="65617" y="37042"/>
                      <a:pt x="50800" y="38100"/>
                    </a:cubicBezTo>
                    <a:cubicBezTo>
                      <a:pt x="47625" y="39158"/>
                      <a:pt x="44201" y="39650"/>
                      <a:pt x="41275" y="41275"/>
                    </a:cubicBezTo>
                    <a:cubicBezTo>
                      <a:pt x="34604" y="44981"/>
                      <a:pt x="22225" y="53975"/>
                      <a:pt x="22225" y="53975"/>
                    </a:cubicBezTo>
                    <a:cubicBezTo>
                      <a:pt x="7408" y="76200"/>
                      <a:pt x="15875" y="68792"/>
                      <a:pt x="0" y="79375"/>
                    </a:cubicBezTo>
                    <a:cubicBezTo>
                      <a:pt x="3175" y="81492"/>
                      <a:pt x="5709" y="85725"/>
                      <a:pt x="9525" y="85725"/>
                    </a:cubicBezTo>
                    <a:cubicBezTo>
                      <a:pt x="13341" y="85725"/>
                      <a:pt x="15543" y="80878"/>
                      <a:pt x="19050" y="79375"/>
                    </a:cubicBezTo>
                    <a:cubicBezTo>
                      <a:pt x="23061" y="77656"/>
                      <a:pt x="27517" y="77258"/>
                      <a:pt x="31750" y="76200"/>
                    </a:cubicBezTo>
                    <a:cubicBezTo>
                      <a:pt x="68792" y="77258"/>
                      <a:pt x="105867" y="77477"/>
                      <a:pt x="142875" y="79375"/>
                    </a:cubicBezTo>
                    <a:cubicBezTo>
                      <a:pt x="145142" y="79491"/>
                      <a:pt x="161927" y="84139"/>
                      <a:pt x="165100" y="85725"/>
                    </a:cubicBezTo>
                    <a:cubicBezTo>
                      <a:pt x="168513" y="87432"/>
                      <a:pt x="171212" y="90368"/>
                      <a:pt x="174625" y="92075"/>
                    </a:cubicBezTo>
                    <a:cubicBezTo>
                      <a:pt x="181433" y="95479"/>
                      <a:pt x="193504" y="96976"/>
                      <a:pt x="200025" y="98425"/>
                    </a:cubicBezTo>
                    <a:cubicBezTo>
                      <a:pt x="226971" y="104413"/>
                      <a:pt x="196424" y="99271"/>
                      <a:pt x="234950" y="104775"/>
                    </a:cubicBezTo>
                    <a:cubicBezTo>
                      <a:pt x="262467" y="103717"/>
                      <a:pt x="290024" y="103432"/>
                      <a:pt x="317500" y="101600"/>
                    </a:cubicBezTo>
                    <a:cubicBezTo>
                      <a:pt x="358544" y="98864"/>
                      <a:pt x="286634" y="92979"/>
                      <a:pt x="355600" y="101600"/>
                    </a:cubicBezTo>
                    <a:cubicBezTo>
                      <a:pt x="358775" y="102658"/>
                      <a:pt x="361778" y="104775"/>
                      <a:pt x="365125" y="104775"/>
                    </a:cubicBezTo>
                    <a:cubicBezTo>
                      <a:pt x="383583" y="104775"/>
                      <a:pt x="399076" y="103480"/>
                      <a:pt x="415925" y="98425"/>
                    </a:cubicBezTo>
                    <a:cubicBezTo>
                      <a:pt x="422336" y="96502"/>
                      <a:pt x="428625" y="94192"/>
                      <a:pt x="434975" y="92075"/>
                    </a:cubicBezTo>
                    <a:cubicBezTo>
                      <a:pt x="438150" y="91017"/>
                      <a:pt x="441156" y="89045"/>
                      <a:pt x="444500" y="88900"/>
                    </a:cubicBezTo>
                    <a:cubicBezTo>
                      <a:pt x="531311" y="85126"/>
                      <a:pt x="493232" y="87594"/>
                      <a:pt x="558800" y="82550"/>
                    </a:cubicBezTo>
                    <a:cubicBezTo>
                      <a:pt x="628512" y="70931"/>
                      <a:pt x="551524" y="82550"/>
                      <a:pt x="723900" y="82550"/>
                    </a:cubicBezTo>
                    <a:cubicBezTo>
                      <a:pt x="736644" y="82550"/>
                      <a:pt x="755650" y="71967"/>
                      <a:pt x="762000" y="69850"/>
                    </a:cubicBezTo>
                    <a:close/>
                  </a:path>
                </a:pathLst>
              </a:custGeom>
              <a:solidFill>
                <a:srgbClr val="D5C65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sp>
            <p:nvSpPr>
              <p:cNvPr id="1271" name="Freeform 144">
                <a:extLst>
                  <a:ext uri="{FF2B5EF4-FFF2-40B4-BE49-F238E27FC236}">
                    <a16:creationId xmlns:a16="http://schemas.microsoft.com/office/drawing/2014/main" id="{EF0EC376-D8E1-02D8-C0D4-C6FE616A35E2}"/>
                  </a:ext>
                </a:extLst>
              </p:cNvPr>
              <p:cNvSpPr/>
              <p:nvPr/>
            </p:nvSpPr>
            <p:spPr>
              <a:xfrm>
                <a:off x="4765814" y="3324381"/>
                <a:ext cx="752833" cy="214255"/>
              </a:xfrm>
              <a:custGeom>
                <a:avLst/>
                <a:gdLst>
                  <a:gd name="connsiteX0" fmla="*/ 752833 w 752833"/>
                  <a:gd name="connsiteY0" fmla="*/ 8102 h 93827"/>
                  <a:gd name="connsiteX1" fmla="*/ 752833 w 752833"/>
                  <a:gd name="connsiteY1" fmla="*/ 8102 h 93827"/>
                  <a:gd name="connsiteX2" fmla="*/ 727433 w 752833"/>
                  <a:gd name="connsiteY2" fmla="*/ 39852 h 93827"/>
                  <a:gd name="connsiteX3" fmla="*/ 717908 w 752833"/>
                  <a:gd name="connsiteY3" fmla="*/ 46202 h 93827"/>
                  <a:gd name="connsiteX4" fmla="*/ 702033 w 752833"/>
                  <a:gd name="connsiteY4" fmla="*/ 58902 h 93827"/>
                  <a:gd name="connsiteX5" fmla="*/ 692508 w 752833"/>
                  <a:gd name="connsiteY5" fmla="*/ 65252 h 93827"/>
                  <a:gd name="connsiteX6" fmla="*/ 660758 w 752833"/>
                  <a:gd name="connsiteY6" fmla="*/ 74777 h 93827"/>
                  <a:gd name="connsiteX7" fmla="*/ 619483 w 752833"/>
                  <a:gd name="connsiteY7" fmla="*/ 84302 h 93827"/>
                  <a:gd name="connsiteX8" fmla="*/ 609958 w 752833"/>
                  <a:gd name="connsiteY8" fmla="*/ 81127 h 93827"/>
                  <a:gd name="connsiteX9" fmla="*/ 575033 w 752833"/>
                  <a:gd name="connsiteY9" fmla="*/ 74777 h 93827"/>
                  <a:gd name="connsiteX10" fmla="*/ 546458 w 752833"/>
                  <a:gd name="connsiteY10" fmla="*/ 77952 h 93827"/>
                  <a:gd name="connsiteX11" fmla="*/ 521058 w 752833"/>
                  <a:gd name="connsiteY11" fmla="*/ 84302 h 93827"/>
                  <a:gd name="connsiteX12" fmla="*/ 502008 w 752833"/>
                  <a:gd name="connsiteY12" fmla="*/ 87477 h 93827"/>
                  <a:gd name="connsiteX13" fmla="*/ 489308 w 752833"/>
                  <a:gd name="connsiteY13" fmla="*/ 84302 h 93827"/>
                  <a:gd name="connsiteX14" fmla="*/ 479783 w 752833"/>
                  <a:gd name="connsiteY14" fmla="*/ 81127 h 93827"/>
                  <a:gd name="connsiteX15" fmla="*/ 463908 w 752833"/>
                  <a:gd name="connsiteY15" fmla="*/ 77952 h 93827"/>
                  <a:gd name="connsiteX16" fmla="*/ 454383 w 752833"/>
                  <a:gd name="connsiteY16" fmla="*/ 74777 h 93827"/>
                  <a:gd name="connsiteX17" fmla="*/ 428983 w 752833"/>
                  <a:gd name="connsiteY17" fmla="*/ 71602 h 93827"/>
                  <a:gd name="connsiteX18" fmla="*/ 394058 w 752833"/>
                  <a:gd name="connsiteY18" fmla="*/ 74777 h 93827"/>
                  <a:gd name="connsiteX19" fmla="*/ 384533 w 752833"/>
                  <a:gd name="connsiteY19" fmla="*/ 77952 h 93827"/>
                  <a:gd name="connsiteX20" fmla="*/ 365483 w 752833"/>
                  <a:gd name="connsiteY20" fmla="*/ 81127 h 93827"/>
                  <a:gd name="connsiteX21" fmla="*/ 333733 w 752833"/>
                  <a:gd name="connsiteY21" fmla="*/ 84302 h 93827"/>
                  <a:gd name="connsiteX22" fmla="*/ 317858 w 752833"/>
                  <a:gd name="connsiteY22" fmla="*/ 87477 h 93827"/>
                  <a:gd name="connsiteX23" fmla="*/ 276583 w 752833"/>
                  <a:gd name="connsiteY23" fmla="*/ 93827 h 93827"/>
                  <a:gd name="connsiteX24" fmla="*/ 238483 w 752833"/>
                  <a:gd name="connsiteY24" fmla="*/ 90652 h 93827"/>
                  <a:gd name="connsiteX25" fmla="*/ 206733 w 752833"/>
                  <a:gd name="connsiteY25" fmla="*/ 87477 h 93827"/>
                  <a:gd name="connsiteX26" fmla="*/ 149583 w 752833"/>
                  <a:gd name="connsiteY26" fmla="*/ 84302 h 93827"/>
                  <a:gd name="connsiteX27" fmla="*/ 140058 w 752833"/>
                  <a:gd name="connsiteY27" fmla="*/ 81127 h 93827"/>
                  <a:gd name="connsiteX28" fmla="*/ 117833 w 752833"/>
                  <a:gd name="connsiteY28" fmla="*/ 74777 h 93827"/>
                  <a:gd name="connsiteX29" fmla="*/ 108308 w 752833"/>
                  <a:gd name="connsiteY29" fmla="*/ 68427 h 93827"/>
                  <a:gd name="connsiteX30" fmla="*/ 95608 w 752833"/>
                  <a:gd name="connsiteY30" fmla="*/ 62077 h 93827"/>
                  <a:gd name="connsiteX31" fmla="*/ 86083 w 752833"/>
                  <a:gd name="connsiteY31" fmla="*/ 55727 h 93827"/>
                  <a:gd name="connsiteX32" fmla="*/ 57508 w 752833"/>
                  <a:gd name="connsiteY32" fmla="*/ 49377 h 93827"/>
                  <a:gd name="connsiteX33" fmla="*/ 47983 w 752833"/>
                  <a:gd name="connsiteY33" fmla="*/ 46202 h 93827"/>
                  <a:gd name="connsiteX34" fmla="*/ 32108 w 752833"/>
                  <a:gd name="connsiteY34" fmla="*/ 43027 h 93827"/>
                  <a:gd name="connsiteX35" fmla="*/ 13058 w 752833"/>
                  <a:gd name="connsiteY35" fmla="*/ 33502 h 93827"/>
                  <a:gd name="connsiteX36" fmla="*/ 3533 w 752833"/>
                  <a:gd name="connsiteY36" fmla="*/ 30327 h 93827"/>
                  <a:gd name="connsiteX37" fmla="*/ 358 w 752833"/>
                  <a:gd name="connsiteY37" fmla="*/ 20802 h 93827"/>
                  <a:gd name="connsiteX38" fmla="*/ 9883 w 752833"/>
                  <a:gd name="connsiteY38" fmla="*/ 17627 h 93827"/>
                  <a:gd name="connsiteX39" fmla="*/ 25758 w 752833"/>
                  <a:gd name="connsiteY39" fmla="*/ 14452 h 93827"/>
                  <a:gd name="connsiteX40" fmla="*/ 51158 w 752833"/>
                  <a:gd name="connsiteY40" fmla="*/ 8102 h 93827"/>
                  <a:gd name="connsiteX41" fmla="*/ 92433 w 752833"/>
                  <a:gd name="connsiteY41" fmla="*/ 4927 h 93827"/>
                  <a:gd name="connsiteX42" fmla="*/ 111483 w 752833"/>
                  <a:gd name="connsiteY42" fmla="*/ 11277 h 93827"/>
                  <a:gd name="connsiteX43" fmla="*/ 121008 w 752833"/>
                  <a:gd name="connsiteY43" fmla="*/ 14452 h 93827"/>
                  <a:gd name="connsiteX44" fmla="*/ 190858 w 752833"/>
                  <a:gd name="connsiteY44" fmla="*/ 20802 h 93827"/>
                  <a:gd name="connsiteX45" fmla="*/ 238483 w 752833"/>
                  <a:gd name="connsiteY45" fmla="*/ 27152 h 93827"/>
                  <a:gd name="connsiteX46" fmla="*/ 260708 w 752833"/>
                  <a:gd name="connsiteY46" fmla="*/ 30327 h 93827"/>
                  <a:gd name="connsiteX47" fmla="*/ 279758 w 752833"/>
                  <a:gd name="connsiteY47" fmla="*/ 36677 h 93827"/>
                  <a:gd name="connsiteX48" fmla="*/ 289283 w 752833"/>
                  <a:gd name="connsiteY48" fmla="*/ 39852 h 93827"/>
                  <a:gd name="connsiteX49" fmla="*/ 308333 w 752833"/>
                  <a:gd name="connsiteY49" fmla="*/ 43027 h 93827"/>
                  <a:gd name="connsiteX50" fmla="*/ 390883 w 752833"/>
                  <a:gd name="connsiteY50" fmla="*/ 39852 h 93827"/>
                  <a:gd name="connsiteX51" fmla="*/ 403583 w 752833"/>
                  <a:gd name="connsiteY51" fmla="*/ 36677 h 93827"/>
                  <a:gd name="connsiteX52" fmla="*/ 422633 w 752833"/>
                  <a:gd name="connsiteY52" fmla="*/ 33502 h 93827"/>
                  <a:gd name="connsiteX53" fmla="*/ 435333 w 752833"/>
                  <a:gd name="connsiteY53" fmla="*/ 30327 h 93827"/>
                  <a:gd name="connsiteX54" fmla="*/ 511533 w 752833"/>
                  <a:gd name="connsiteY54" fmla="*/ 27152 h 93827"/>
                  <a:gd name="connsiteX55" fmla="*/ 540108 w 752833"/>
                  <a:gd name="connsiteY55" fmla="*/ 23977 h 93827"/>
                  <a:gd name="connsiteX56" fmla="*/ 594083 w 752833"/>
                  <a:gd name="connsiteY56" fmla="*/ 20802 h 93827"/>
                  <a:gd name="connsiteX57" fmla="*/ 606783 w 752833"/>
                  <a:gd name="connsiteY57" fmla="*/ 17627 h 93827"/>
                  <a:gd name="connsiteX58" fmla="*/ 622658 w 752833"/>
                  <a:gd name="connsiteY58" fmla="*/ 14452 h 93827"/>
                  <a:gd name="connsiteX59" fmla="*/ 641708 w 752833"/>
                  <a:gd name="connsiteY59" fmla="*/ 11277 h 93827"/>
                  <a:gd name="connsiteX60" fmla="*/ 663933 w 752833"/>
                  <a:gd name="connsiteY60" fmla="*/ 8102 h 93827"/>
                  <a:gd name="connsiteX61" fmla="*/ 676633 w 752833"/>
                  <a:gd name="connsiteY61" fmla="*/ 4927 h 93827"/>
                  <a:gd name="connsiteX62" fmla="*/ 717908 w 752833"/>
                  <a:gd name="connsiteY62" fmla="*/ 11277 h 93827"/>
                  <a:gd name="connsiteX63" fmla="*/ 752833 w 752833"/>
                  <a:gd name="connsiteY63" fmla="*/ 8102 h 93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752833" h="93827">
                    <a:moveTo>
                      <a:pt x="752833" y="8102"/>
                    </a:moveTo>
                    <a:lnTo>
                      <a:pt x="752833" y="8102"/>
                    </a:lnTo>
                    <a:cubicBezTo>
                      <a:pt x="743867" y="20654"/>
                      <a:pt x="738701" y="30462"/>
                      <a:pt x="727433" y="39852"/>
                    </a:cubicBezTo>
                    <a:cubicBezTo>
                      <a:pt x="724502" y="42295"/>
                      <a:pt x="721083" y="44085"/>
                      <a:pt x="717908" y="46202"/>
                    </a:cubicBezTo>
                    <a:cubicBezTo>
                      <a:pt x="707204" y="62259"/>
                      <a:pt x="717369" y="51234"/>
                      <a:pt x="702033" y="58902"/>
                    </a:cubicBezTo>
                    <a:cubicBezTo>
                      <a:pt x="698620" y="60609"/>
                      <a:pt x="695995" y="63702"/>
                      <a:pt x="692508" y="65252"/>
                    </a:cubicBezTo>
                    <a:cubicBezTo>
                      <a:pt x="676965" y="72160"/>
                      <a:pt x="674966" y="70514"/>
                      <a:pt x="660758" y="74777"/>
                    </a:cubicBezTo>
                    <a:cubicBezTo>
                      <a:pt x="629062" y="84286"/>
                      <a:pt x="654536" y="79294"/>
                      <a:pt x="619483" y="84302"/>
                    </a:cubicBezTo>
                    <a:cubicBezTo>
                      <a:pt x="616308" y="83244"/>
                      <a:pt x="613205" y="81939"/>
                      <a:pt x="609958" y="81127"/>
                    </a:cubicBezTo>
                    <a:cubicBezTo>
                      <a:pt x="601083" y="78908"/>
                      <a:pt x="583525" y="76192"/>
                      <a:pt x="575033" y="74777"/>
                    </a:cubicBezTo>
                    <a:cubicBezTo>
                      <a:pt x="565508" y="75835"/>
                      <a:pt x="555945" y="76597"/>
                      <a:pt x="546458" y="77952"/>
                    </a:cubicBezTo>
                    <a:cubicBezTo>
                      <a:pt x="508035" y="83441"/>
                      <a:pt x="547651" y="78392"/>
                      <a:pt x="521058" y="84302"/>
                    </a:cubicBezTo>
                    <a:cubicBezTo>
                      <a:pt x="514774" y="85699"/>
                      <a:pt x="508358" y="86419"/>
                      <a:pt x="502008" y="87477"/>
                    </a:cubicBezTo>
                    <a:cubicBezTo>
                      <a:pt x="497775" y="86419"/>
                      <a:pt x="493504" y="85501"/>
                      <a:pt x="489308" y="84302"/>
                    </a:cubicBezTo>
                    <a:cubicBezTo>
                      <a:pt x="486090" y="83383"/>
                      <a:pt x="483030" y="81939"/>
                      <a:pt x="479783" y="81127"/>
                    </a:cubicBezTo>
                    <a:cubicBezTo>
                      <a:pt x="474548" y="79818"/>
                      <a:pt x="469143" y="79261"/>
                      <a:pt x="463908" y="77952"/>
                    </a:cubicBezTo>
                    <a:cubicBezTo>
                      <a:pt x="460661" y="77140"/>
                      <a:pt x="457676" y="75376"/>
                      <a:pt x="454383" y="74777"/>
                    </a:cubicBezTo>
                    <a:cubicBezTo>
                      <a:pt x="445988" y="73251"/>
                      <a:pt x="437450" y="72660"/>
                      <a:pt x="428983" y="71602"/>
                    </a:cubicBezTo>
                    <a:cubicBezTo>
                      <a:pt x="417341" y="72660"/>
                      <a:pt x="405630" y="73124"/>
                      <a:pt x="394058" y="74777"/>
                    </a:cubicBezTo>
                    <a:cubicBezTo>
                      <a:pt x="390745" y="75250"/>
                      <a:pt x="387800" y="77226"/>
                      <a:pt x="384533" y="77952"/>
                    </a:cubicBezTo>
                    <a:cubicBezTo>
                      <a:pt x="378249" y="79349"/>
                      <a:pt x="371871" y="80329"/>
                      <a:pt x="365483" y="81127"/>
                    </a:cubicBezTo>
                    <a:cubicBezTo>
                      <a:pt x="354929" y="82446"/>
                      <a:pt x="344276" y="82896"/>
                      <a:pt x="333733" y="84302"/>
                    </a:cubicBezTo>
                    <a:cubicBezTo>
                      <a:pt x="328384" y="85015"/>
                      <a:pt x="323167" y="86512"/>
                      <a:pt x="317858" y="87477"/>
                    </a:cubicBezTo>
                    <a:cubicBezTo>
                      <a:pt x="301705" y="90414"/>
                      <a:pt x="293232" y="91449"/>
                      <a:pt x="276583" y="93827"/>
                    </a:cubicBezTo>
                    <a:lnTo>
                      <a:pt x="238483" y="90652"/>
                    </a:lnTo>
                    <a:cubicBezTo>
                      <a:pt x="227891" y="89689"/>
                      <a:pt x="217342" y="88235"/>
                      <a:pt x="206733" y="87477"/>
                    </a:cubicBezTo>
                    <a:cubicBezTo>
                      <a:pt x="187702" y="86118"/>
                      <a:pt x="168633" y="85360"/>
                      <a:pt x="149583" y="84302"/>
                    </a:cubicBezTo>
                    <a:cubicBezTo>
                      <a:pt x="146408" y="83244"/>
                      <a:pt x="143276" y="82046"/>
                      <a:pt x="140058" y="81127"/>
                    </a:cubicBezTo>
                    <a:cubicBezTo>
                      <a:pt x="135311" y="79771"/>
                      <a:pt x="122908" y="77315"/>
                      <a:pt x="117833" y="74777"/>
                    </a:cubicBezTo>
                    <a:cubicBezTo>
                      <a:pt x="114420" y="73070"/>
                      <a:pt x="111621" y="70320"/>
                      <a:pt x="108308" y="68427"/>
                    </a:cubicBezTo>
                    <a:cubicBezTo>
                      <a:pt x="104199" y="66079"/>
                      <a:pt x="99717" y="64425"/>
                      <a:pt x="95608" y="62077"/>
                    </a:cubicBezTo>
                    <a:cubicBezTo>
                      <a:pt x="92295" y="60184"/>
                      <a:pt x="89496" y="57434"/>
                      <a:pt x="86083" y="55727"/>
                    </a:cubicBezTo>
                    <a:cubicBezTo>
                      <a:pt x="77506" y="51439"/>
                      <a:pt x="66288" y="51328"/>
                      <a:pt x="57508" y="49377"/>
                    </a:cubicBezTo>
                    <a:cubicBezTo>
                      <a:pt x="54241" y="48651"/>
                      <a:pt x="51230" y="47014"/>
                      <a:pt x="47983" y="46202"/>
                    </a:cubicBezTo>
                    <a:cubicBezTo>
                      <a:pt x="42748" y="44893"/>
                      <a:pt x="37343" y="44336"/>
                      <a:pt x="32108" y="43027"/>
                    </a:cubicBezTo>
                    <a:cubicBezTo>
                      <a:pt x="16147" y="39037"/>
                      <a:pt x="28578" y="41262"/>
                      <a:pt x="13058" y="33502"/>
                    </a:cubicBezTo>
                    <a:cubicBezTo>
                      <a:pt x="10065" y="32005"/>
                      <a:pt x="6708" y="31385"/>
                      <a:pt x="3533" y="30327"/>
                    </a:cubicBezTo>
                    <a:cubicBezTo>
                      <a:pt x="2475" y="27152"/>
                      <a:pt x="-1139" y="23795"/>
                      <a:pt x="358" y="20802"/>
                    </a:cubicBezTo>
                    <a:cubicBezTo>
                      <a:pt x="1855" y="17809"/>
                      <a:pt x="6636" y="18439"/>
                      <a:pt x="9883" y="17627"/>
                    </a:cubicBezTo>
                    <a:cubicBezTo>
                      <a:pt x="15118" y="16318"/>
                      <a:pt x="20500" y="15665"/>
                      <a:pt x="25758" y="14452"/>
                    </a:cubicBezTo>
                    <a:cubicBezTo>
                      <a:pt x="34262" y="12490"/>
                      <a:pt x="51158" y="8102"/>
                      <a:pt x="51158" y="8102"/>
                    </a:cubicBezTo>
                    <a:cubicBezTo>
                      <a:pt x="68226" y="-3277"/>
                      <a:pt x="60527" y="-1055"/>
                      <a:pt x="92433" y="4927"/>
                    </a:cubicBezTo>
                    <a:cubicBezTo>
                      <a:pt x="99012" y="6161"/>
                      <a:pt x="105133" y="9160"/>
                      <a:pt x="111483" y="11277"/>
                    </a:cubicBezTo>
                    <a:cubicBezTo>
                      <a:pt x="114658" y="12335"/>
                      <a:pt x="117707" y="13902"/>
                      <a:pt x="121008" y="14452"/>
                    </a:cubicBezTo>
                    <a:cubicBezTo>
                      <a:pt x="156794" y="20416"/>
                      <a:pt x="133633" y="17225"/>
                      <a:pt x="190858" y="20802"/>
                    </a:cubicBezTo>
                    <a:cubicBezTo>
                      <a:pt x="213519" y="28356"/>
                      <a:pt x="193064" y="22371"/>
                      <a:pt x="238483" y="27152"/>
                    </a:cubicBezTo>
                    <a:cubicBezTo>
                      <a:pt x="245925" y="27935"/>
                      <a:pt x="253300" y="29269"/>
                      <a:pt x="260708" y="30327"/>
                    </a:cubicBezTo>
                    <a:lnTo>
                      <a:pt x="279758" y="36677"/>
                    </a:lnTo>
                    <a:cubicBezTo>
                      <a:pt x="282933" y="37735"/>
                      <a:pt x="285982" y="39302"/>
                      <a:pt x="289283" y="39852"/>
                    </a:cubicBezTo>
                    <a:lnTo>
                      <a:pt x="308333" y="43027"/>
                    </a:lnTo>
                    <a:cubicBezTo>
                      <a:pt x="335850" y="41969"/>
                      <a:pt x="363407" y="41684"/>
                      <a:pt x="390883" y="39852"/>
                    </a:cubicBezTo>
                    <a:cubicBezTo>
                      <a:pt x="395237" y="39562"/>
                      <a:pt x="399304" y="37533"/>
                      <a:pt x="403583" y="36677"/>
                    </a:cubicBezTo>
                    <a:cubicBezTo>
                      <a:pt x="409896" y="35414"/>
                      <a:pt x="416320" y="34765"/>
                      <a:pt x="422633" y="33502"/>
                    </a:cubicBezTo>
                    <a:cubicBezTo>
                      <a:pt x="426912" y="32646"/>
                      <a:pt x="430980" y="30638"/>
                      <a:pt x="435333" y="30327"/>
                    </a:cubicBezTo>
                    <a:cubicBezTo>
                      <a:pt x="460690" y="28516"/>
                      <a:pt x="486133" y="28210"/>
                      <a:pt x="511533" y="27152"/>
                    </a:cubicBezTo>
                    <a:cubicBezTo>
                      <a:pt x="521058" y="26094"/>
                      <a:pt x="530553" y="24712"/>
                      <a:pt x="540108" y="23977"/>
                    </a:cubicBezTo>
                    <a:cubicBezTo>
                      <a:pt x="558078" y="22595"/>
                      <a:pt x="576141" y="22511"/>
                      <a:pt x="594083" y="20802"/>
                    </a:cubicBezTo>
                    <a:cubicBezTo>
                      <a:pt x="598427" y="20388"/>
                      <a:pt x="602523" y="18574"/>
                      <a:pt x="606783" y="17627"/>
                    </a:cubicBezTo>
                    <a:cubicBezTo>
                      <a:pt x="612051" y="16456"/>
                      <a:pt x="617349" y="15417"/>
                      <a:pt x="622658" y="14452"/>
                    </a:cubicBezTo>
                    <a:cubicBezTo>
                      <a:pt x="628992" y="13300"/>
                      <a:pt x="635345" y="12256"/>
                      <a:pt x="641708" y="11277"/>
                    </a:cubicBezTo>
                    <a:cubicBezTo>
                      <a:pt x="649105" y="10139"/>
                      <a:pt x="656570" y="9441"/>
                      <a:pt x="663933" y="8102"/>
                    </a:cubicBezTo>
                    <a:cubicBezTo>
                      <a:pt x="668226" y="7321"/>
                      <a:pt x="672400" y="5985"/>
                      <a:pt x="676633" y="4927"/>
                    </a:cubicBezTo>
                    <a:cubicBezTo>
                      <a:pt x="696756" y="7163"/>
                      <a:pt x="701733" y="6425"/>
                      <a:pt x="717908" y="11277"/>
                    </a:cubicBezTo>
                    <a:cubicBezTo>
                      <a:pt x="740190" y="17962"/>
                      <a:pt x="747012" y="8631"/>
                      <a:pt x="752833" y="8102"/>
                    </a:cubicBezTo>
                    <a:close/>
                  </a:path>
                </a:pathLst>
              </a:custGeom>
              <a:solidFill>
                <a:srgbClr val="68C1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sp>
            <p:nvSpPr>
              <p:cNvPr id="1272" name="Freeform 143">
                <a:extLst>
                  <a:ext uri="{FF2B5EF4-FFF2-40B4-BE49-F238E27FC236}">
                    <a16:creationId xmlns:a16="http://schemas.microsoft.com/office/drawing/2014/main" id="{745F6BE3-CFB2-9635-9E2A-12A182440565}"/>
                  </a:ext>
                </a:extLst>
              </p:cNvPr>
              <p:cNvSpPr/>
              <p:nvPr/>
            </p:nvSpPr>
            <p:spPr>
              <a:xfrm>
                <a:off x="4768189" y="3324381"/>
                <a:ext cx="752833" cy="129423"/>
              </a:xfrm>
              <a:custGeom>
                <a:avLst/>
                <a:gdLst>
                  <a:gd name="connsiteX0" fmla="*/ 752833 w 752833"/>
                  <a:gd name="connsiteY0" fmla="*/ 8102 h 93827"/>
                  <a:gd name="connsiteX1" fmla="*/ 752833 w 752833"/>
                  <a:gd name="connsiteY1" fmla="*/ 8102 h 93827"/>
                  <a:gd name="connsiteX2" fmla="*/ 727433 w 752833"/>
                  <a:gd name="connsiteY2" fmla="*/ 39852 h 93827"/>
                  <a:gd name="connsiteX3" fmla="*/ 717908 w 752833"/>
                  <a:gd name="connsiteY3" fmla="*/ 46202 h 93827"/>
                  <a:gd name="connsiteX4" fmla="*/ 702033 w 752833"/>
                  <a:gd name="connsiteY4" fmla="*/ 58902 h 93827"/>
                  <a:gd name="connsiteX5" fmla="*/ 692508 w 752833"/>
                  <a:gd name="connsiteY5" fmla="*/ 65252 h 93827"/>
                  <a:gd name="connsiteX6" fmla="*/ 660758 w 752833"/>
                  <a:gd name="connsiteY6" fmla="*/ 74777 h 93827"/>
                  <a:gd name="connsiteX7" fmla="*/ 619483 w 752833"/>
                  <a:gd name="connsiteY7" fmla="*/ 84302 h 93827"/>
                  <a:gd name="connsiteX8" fmla="*/ 609958 w 752833"/>
                  <a:gd name="connsiteY8" fmla="*/ 81127 h 93827"/>
                  <a:gd name="connsiteX9" fmla="*/ 575033 w 752833"/>
                  <a:gd name="connsiteY9" fmla="*/ 74777 h 93827"/>
                  <a:gd name="connsiteX10" fmla="*/ 546458 w 752833"/>
                  <a:gd name="connsiteY10" fmla="*/ 77952 h 93827"/>
                  <a:gd name="connsiteX11" fmla="*/ 521058 w 752833"/>
                  <a:gd name="connsiteY11" fmla="*/ 84302 h 93827"/>
                  <a:gd name="connsiteX12" fmla="*/ 502008 w 752833"/>
                  <a:gd name="connsiteY12" fmla="*/ 87477 h 93827"/>
                  <a:gd name="connsiteX13" fmla="*/ 489308 w 752833"/>
                  <a:gd name="connsiteY13" fmla="*/ 84302 h 93827"/>
                  <a:gd name="connsiteX14" fmla="*/ 479783 w 752833"/>
                  <a:gd name="connsiteY14" fmla="*/ 81127 h 93827"/>
                  <a:gd name="connsiteX15" fmla="*/ 463908 w 752833"/>
                  <a:gd name="connsiteY15" fmla="*/ 77952 h 93827"/>
                  <a:gd name="connsiteX16" fmla="*/ 454383 w 752833"/>
                  <a:gd name="connsiteY16" fmla="*/ 74777 h 93827"/>
                  <a:gd name="connsiteX17" fmla="*/ 428983 w 752833"/>
                  <a:gd name="connsiteY17" fmla="*/ 71602 h 93827"/>
                  <a:gd name="connsiteX18" fmla="*/ 394058 w 752833"/>
                  <a:gd name="connsiteY18" fmla="*/ 74777 h 93827"/>
                  <a:gd name="connsiteX19" fmla="*/ 384533 w 752833"/>
                  <a:gd name="connsiteY19" fmla="*/ 77952 h 93827"/>
                  <a:gd name="connsiteX20" fmla="*/ 365483 w 752833"/>
                  <a:gd name="connsiteY20" fmla="*/ 81127 h 93827"/>
                  <a:gd name="connsiteX21" fmla="*/ 333733 w 752833"/>
                  <a:gd name="connsiteY21" fmla="*/ 84302 h 93827"/>
                  <a:gd name="connsiteX22" fmla="*/ 317858 w 752833"/>
                  <a:gd name="connsiteY22" fmla="*/ 87477 h 93827"/>
                  <a:gd name="connsiteX23" fmla="*/ 276583 w 752833"/>
                  <a:gd name="connsiteY23" fmla="*/ 93827 h 93827"/>
                  <a:gd name="connsiteX24" fmla="*/ 238483 w 752833"/>
                  <a:gd name="connsiteY24" fmla="*/ 90652 h 93827"/>
                  <a:gd name="connsiteX25" fmla="*/ 206733 w 752833"/>
                  <a:gd name="connsiteY25" fmla="*/ 87477 h 93827"/>
                  <a:gd name="connsiteX26" fmla="*/ 149583 w 752833"/>
                  <a:gd name="connsiteY26" fmla="*/ 84302 h 93827"/>
                  <a:gd name="connsiteX27" fmla="*/ 140058 w 752833"/>
                  <a:gd name="connsiteY27" fmla="*/ 81127 h 93827"/>
                  <a:gd name="connsiteX28" fmla="*/ 117833 w 752833"/>
                  <a:gd name="connsiteY28" fmla="*/ 74777 h 93827"/>
                  <a:gd name="connsiteX29" fmla="*/ 108308 w 752833"/>
                  <a:gd name="connsiteY29" fmla="*/ 68427 h 93827"/>
                  <a:gd name="connsiteX30" fmla="*/ 95608 w 752833"/>
                  <a:gd name="connsiteY30" fmla="*/ 62077 h 93827"/>
                  <a:gd name="connsiteX31" fmla="*/ 86083 w 752833"/>
                  <a:gd name="connsiteY31" fmla="*/ 55727 h 93827"/>
                  <a:gd name="connsiteX32" fmla="*/ 57508 w 752833"/>
                  <a:gd name="connsiteY32" fmla="*/ 49377 h 93827"/>
                  <a:gd name="connsiteX33" fmla="*/ 47983 w 752833"/>
                  <a:gd name="connsiteY33" fmla="*/ 46202 h 93827"/>
                  <a:gd name="connsiteX34" fmla="*/ 32108 w 752833"/>
                  <a:gd name="connsiteY34" fmla="*/ 43027 h 93827"/>
                  <a:gd name="connsiteX35" fmla="*/ 13058 w 752833"/>
                  <a:gd name="connsiteY35" fmla="*/ 33502 h 93827"/>
                  <a:gd name="connsiteX36" fmla="*/ 3533 w 752833"/>
                  <a:gd name="connsiteY36" fmla="*/ 30327 h 93827"/>
                  <a:gd name="connsiteX37" fmla="*/ 358 w 752833"/>
                  <a:gd name="connsiteY37" fmla="*/ 20802 h 93827"/>
                  <a:gd name="connsiteX38" fmla="*/ 9883 w 752833"/>
                  <a:gd name="connsiteY38" fmla="*/ 17627 h 93827"/>
                  <a:gd name="connsiteX39" fmla="*/ 25758 w 752833"/>
                  <a:gd name="connsiteY39" fmla="*/ 14452 h 93827"/>
                  <a:gd name="connsiteX40" fmla="*/ 51158 w 752833"/>
                  <a:gd name="connsiteY40" fmla="*/ 8102 h 93827"/>
                  <a:gd name="connsiteX41" fmla="*/ 92433 w 752833"/>
                  <a:gd name="connsiteY41" fmla="*/ 4927 h 93827"/>
                  <a:gd name="connsiteX42" fmla="*/ 111483 w 752833"/>
                  <a:gd name="connsiteY42" fmla="*/ 11277 h 93827"/>
                  <a:gd name="connsiteX43" fmla="*/ 121008 w 752833"/>
                  <a:gd name="connsiteY43" fmla="*/ 14452 h 93827"/>
                  <a:gd name="connsiteX44" fmla="*/ 190858 w 752833"/>
                  <a:gd name="connsiteY44" fmla="*/ 20802 h 93827"/>
                  <a:gd name="connsiteX45" fmla="*/ 238483 w 752833"/>
                  <a:gd name="connsiteY45" fmla="*/ 27152 h 93827"/>
                  <a:gd name="connsiteX46" fmla="*/ 260708 w 752833"/>
                  <a:gd name="connsiteY46" fmla="*/ 30327 h 93827"/>
                  <a:gd name="connsiteX47" fmla="*/ 279758 w 752833"/>
                  <a:gd name="connsiteY47" fmla="*/ 36677 h 93827"/>
                  <a:gd name="connsiteX48" fmla="*/ 289283 w 752833"/>
                  <a:gd name="connsiteY48" fmla="*/ 39852 h 93827"/>
                  <a:gd name="connsiteX49" fmla="*/ 308333 w 752833"/>
                  <a:gd name="connsiteY49" fmla="*/ 43027 h 93827"/>
                  <a:gd name="connsiteX50" fmla="*/ 390883 w 752833"/>
                  <a:gd name="connsiteY50" fmla="*/ 39852 h 93827"/>
                  <a:gd name="connsiteX51" fmla="*/ 403583 w 752833"/>
                  <a:gd name="connsiteY51" fmla="*/ 36677 h 93827"/>
                  <a:gd name="connsiteX52" fmla="*/ 422633 w 752833"/>
                  <a:gd name="connsiteY52" fmla="*/ 33502 h 93827"/>
                  <a:gd name="connsiteX53" fmla="*/ 435333 w 752833"/>
                  <a:gd name="connsiteY53" fmla="*/ 30327 h 93827"/>
                  <a:gd name="connsiteX54" fmla="*/ 511533 w 752833"/>
                  <a:gd name="connsiteY54" fmla="*/ 27152 h 93827"/>
                  <a:gd name="connsiteX55" fmla="*/ 540108 w 752833"/>
                  <a:gd name="connsiteY55" fmla="*/ 23977 h 93827"/>
                  <a:gd name="connsiteX56" fmla="*/ 594083 w 752833"/>
                  <a:gd name="connsiteY56" fmla="*/ 20802 h 93827"/>
                  <a:gd name="connsiteX57" fmla="*/ 606783 w 752833"/>
                  <a:gd name="connsiteY57" fmla="*/ 17627 h 93827"/>
                  <a:gd name="connsiteX58" fmla="*/ 622658 w 752833"/>
                  <a:gd name="connsiteY58" fmla="*/ 14452 h 93827"/>
                  <a:gd name="connsiteX59" fmla="*/ 641708 w 752833"/>
                  <a:gd name="connsiteY59" fmla="*/ 11277 h 93827"/>
                  <a:gd name="connsiteX60" fmla="*/ 663933 w 752833"/>
                  <a:gd name="connsiteY60" fmla="*/ 8102 h 93827"/>
                  <a:gd name="connsiteX61" fmla="*/ 676633 w 752833"/>
                  <a:gd name="connsiteY61" fmla="*/ 4927 h 93827"/>
                  <a:gd name="connsiteX62" fmla="*/ 717908 w 752833"/>
                  <a:gd name="connsiteY62" fmla="*/ 11277 h 93827"/>
                  <a:gd name="connsiteX63" fmla="*/ 752833 w 752833"/>
                  <a:gd name="connsiteY63" fmla="*/ 8102 h 93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752833" h="93827">
                    <a:moveTo>
                      <a:pt x="752833" y="8102"/>
                    </a:moveTo>
                    <a:lnTo>
                      <a:pt x="752833" y="8102"/>
                    </a:lnTo>
                    <a:cubicBezTo>
                      <a:pt x="743867" y="20654"/>
                      <a:pt x="738701" y="30462"/>
                      <a:pt x="727433" y="39852"/>
                    </a:cubicBezTo>
                    <a:cubicBezTo>
                      <a:pt x="724502" y="42295"/>
                      <a:pt x="721083" y="44085"/>
                      <a:pt x="717908" y="46202"/>
                    </a:cubicBezTo>
                    <a:cubicBezTo>
                      <a:pt x="707204" y="62259"/>
                      <a:pt x="717369" y="51234"/>
                      <a:pt x="702033" y="58902"/>
                    </a:cubicBezTo>
                    <a:cubicBezTo>
                      <a:pt x="698620" y="60609"/>
                      <a:pt x="695995" y="63702"/>
                      <a:pt x="692508" y="65252"/>
                    </a:cubicBezTo>
                    <a:cubicBezTo>
                      <a:pt x="676965" y="72160"/>
                      <a:pt x="674966" y="70514"/>
                      <a:pt x="660758" y="74777"/>
                    </a:cubicBezTo>
                    <a:cubicBezTo>
                      <a:pt x="629062" y="84286"/>
                      <a:pt x="654536" y="79294"/>
                      <a:pt x="619483" y="84302"/>
                    </a:cubicBezTo>
                    <a:cubicBezTo>
                      <a:pt x="616308" y="83244"/>
                      <a:pt x="613205" y="81939"/>
                      <a:pt x="609958" y="81127"/>
                    </a:cubicBezTo>
                    <a:cubicBezTo>
                      <a:pt x="601083" y="78908"/>
                      <a:pt x="583525" y="76192"/>
                      <a:pt x="575033" y="74777"/>
                    </a:cubicBezTo>
                    <a:cubicBezTo>
                      <a:pt x="565508" y="75835"/>
                      <a:pt x="555945" y="76597"/>
                      <a:pt x="546458" y="77952"/>
                    </a:cubicBezTo>
                    <a:cubicBezTo>
                      <a:pt x="508035" y="83441"/>
                      <a:pt x="547651" y="78392"/>
                      <a:pt x="521058" y="84302"/>
                    </a:cubicBezTo>
                    <a:cubicBezTo>
                      <a:pt x="514774" y="85699"/>
                      <a:pt x="508358" y="86419"/>
                      <a:pt x="502008" y="87477"/>
                    </a:cubicBezTo>
                    <a:cubicBezTo>
                      <a:pt x="497775" y="86419"/>
                      <a:pt x="493504" y="85501"/>
                      <a:pt x="489308" y="84302"/>
                    </a:cubicBezTo>
                    <a:cubicBezTo>
                      <a:pt x="486090" y="83383"/>
                      <a:pt x="483030" y="81939"/>
                      <a:pt x="479783" y="81127"/>
                    </a:cubicBezTo>
                    <a:cubicBezTo>
                      <a:pt x="474548" y="79818"/>
                      <a:pt x="469143" y="79261"/>
                      <a:pt x="463908" y="77952"/>
                    </a:cubicBezTo>
                    <a:cubicBezTo>
                      <a:pt x="460661" y="77140"/>
                      <a:pt x="457676" y="75376"/>
                      <a:pt x="454383" y="74777"/>
                    </a:cubicBezTo>
                    <a:cubicBezTo>
                      <a:pt x="445988" y="73251"/>
                      <a:pt x="437450" y="72660"/>
                      <a:pt x="428983" y="71602"/>
                    </a:cubicBezTo>
                    <a:cubicBezTo>
                      <a:pt x="417341" y="72660"/>
                      <a:pt x="405630" y="73124"/>
                      <a:pt x="394058" y="74777"/>
                    </a:cubicBezTo>
                    <a:cubicBezTo>
                      <a:pt x="390745" y="75250"/>
                      <a:pt x="387800" y="77226"/>
                      <a:pt x="384533" y="77952"/>
                    </a:cubicBezTo>
                    <a:cubicBezTo>
                      <a:pt x="378249" y="79349"/>
                      <a:pt x="371871" y="80329"/>
                      <a:pt x="365483" y="81127"/>
                    </a:cubicBezTo>
                    <a:cubicBezTo>
                      <a:pt x="354929" y="82446"/>
                      <a:pt x="344276" y="82896"/>
                      <a:pt x="333733" y="84302"/>
                    </a:cubicBezTo>
                    <a:cubicBezTo>
                      <a:pt x="328384" y="85015"/>
                      <a:pt x="323167" y="86512"/>
                      <a:pt x="317858" y="87477"/>
                    </a:cubicBezTo>
                    <a:cubicBezTo>
                      <a:pt x="301705" y="90414"/>
                      <a:pt x="293232" y="91449"/>
                      <a:pt x="276583" y="93827"/>
                    </a:cubicBezTo>
                    <a:lnTo>
                      <a:pt x="238483" y="90652"/>
                    </a:lnTo>
                    <a:cubicBezTo>
                      <a:pt x="227891" y="89689"/>
                      <a:pt x="217342" y="88235"/>
                      <a:pt x="206733" y="87477"/>
                    </a:cubicBezTo>
                    <a:cubicBezTo>
                      <a:pt x="187702" y="86118"/>
                      <a:pt x="168633" y="85360"/>
                      <a:pt x="149583" y="84302"/>
                    </a:cubicBezTo>
                    <a:cubicBezTo>
                      <a:pt x="146408" y="83244"/>
                      <a:pt x="143276" y="82046"/>
                      <a:pt x="140058" y="81127"/>
                    </a:cubicBezTo>
                    <a:cubicBezTo>
                      <a:pt x="135311" y="79771"/>
                      <a:pt x="122908" y="77315"/>
                      <a:pt x="117833" y="74777"/>
                    </a:cubicBezTo>
                    <a:cubicBezTo>
                      <a:pt x="114420" y="73070"/>
                      <a:pt x="111621" y="70320"/>
                      <a:pt x="108308" y="68427"/>
                    </a:cubicBezTo>
                    <a:cubicBezTo>
                      <a:pt x="104199" y="66079"/>
                      <a:pt x="99717" y="64425"/>
                      <a:pt x="95608" y="62077"/>
                    </a:cubicBezTo>
                    <a:cubicBezTo>
                      <a:pt x="92295" y="60184"/>
                      <a:pt x="89496" y="57434"/>
                      <a:pt x="86083" y="55727"/>
                    </a:cubicBezTo>
                    <a:cubicBezTo>
                      <a:pt x="77506" y="51439"/>
                      <a:pt x="66288" y="51328"/>
                      <a:pt x="57508" y="49377"/>
                    </a:cubicBezTo>
                    <a:cubicBezTo>
                      <a:pt x="54241" y="48651"/>
                      <a:pt x="51230" y="47014"/>
                      <a:pt x="47983" y="46202"/>
                    </a:cubicBezTo>
                    <a:cubicBezTo>
                      <a:pt x="42748" y="44893"/>
                      <a:pt x="37343" y="44336"/>
                      <a:pt x="32108" y="43027"/>
                    </a:cubicBezTo>
                    <a:cubicBezTo>
                      <a:pt x="16147" y="39037"/>
                      <a:pt x="28578" y="41262"/>
                      <a:pt x="13058" y="33502"/>
                    </a:cubicBezTo>
                    <a:cubicBezTo>
                      <a:pt x="10065" y="32005"/>
                      <a:pt x="6708" y="31385"/>
                      <a:pt x="3533" y="30327"/>
                    </a:cubicBezTo>
                    <a:cubicBezTo>
                      <a:pt x="2475" y="27152"/>
                      <a:pt x="-1139" y="23795"/>
                      <a:pt x="358" y="20802"/>
                    </a:cubicBezTo>
                    <a:cubicBezTo>
                      <a:pt x="1855" y="17809"/>
                      <a:pt x="6636" y="18439"/>
                      <a:pt x="9883" y="17627"/>
                    </a:cubicBezTo>
                    <a:cubicBezTo>
                      <a:pt x="15118" y="16318"/>
                      <a:pt x="20500" y="15665"/>
                      <a:pt x="25758" y="14452"/>
                    </a:cubicBezTo>
                    <a:cubicBezTo>
                      <a:pt x="34262" y="12490"/>
                      <a:pt x="51158" y="8102"/>
                      <a:pt x="51158" y="8102"/>
                    </a:cubicBezTo>
                    <a:cubicBezTo>
                      <a:pt x="68226" y="-3277"/>
                      <a:pt x="60527" y="-1055"/>
                      <a:pt x="92433" y="4927"/>
                    </a:cubicBezTo>
                    <a:cubicBezTo>
                      <a:pt x="99012" y="6161"/>
                      <a:pt x="105133" y="9160"/>
                      <a:pt x="111483" y="11277"/>
                    </a:cubicBezTo>
                    <a:cubicBezTo>
                      <a:pt x="114658" y="12335"/>
                      <a:pt x="117707" y="13902"/>
                      <a:pt x="121008" y="14452"/>
                    </a:cubicBezTo>
                    <a:cubicBezTo>
                      <a:pt x="156794" y="20416"/>
                      <a:pt x="133633" y="17225"/>
                      <a:pt x="190858" y="20802"/>
                    </a:cubicBezTo>
                    <a:cubicBezTo>
                      <a:pt x="213519" y="28356"/>
                      <a:pt x="193064" y="22371"/>
                      <a:pt x="238483" y="27152"/>
                    </a:cubicBezTo>
                    <a:cubicBezTo>
                      <a:pt x="245925" y="27935"/>
                      <a:pt x="253300" y="29269"/>
                      <a:pt x="260708" y="30327"/>
                    </a:cubicBezTo>
                    <a:lnTo>
                      <a:pt x="279758" y="36677"/>
                    </a:lnTo>
                    <a:cubicBezTo>
                      <a:pt x="282933" y="37735"/>
                      <a:pt x="285982" y="39302"/>
                      <a:pt x="289283" y="39852"/>
                    </a:cubicBezTo>
                    <a:lnTo>
                      <a:pt x="308333" y="43027"/>
                    </a:lnTo>
                    <a:cubicBezTo>
                      <a:pt x="335850" y="41969"/>
                      <a:pt x="363407" y="41684"/>
                      <a:pt x="390883" y="39852"/>
                    </a:cubicBezTo>
                    <a:cubicBezTo>
                      <a:pt x="395237" y="39562"/>
                      <a:pt x="399304" y="37533"/>
                      <a:pt x="403583" y="36677"/>
                    </a:cubicBezTo>
                    <a:cubicBezTo>
                      <a:pt x="409896" y="35414"/>
                      <a:pt x="416320" y="34765"/>
                      <a:pt x="422633" y="33502"/>
                    </a:cubicBezTo>
                    <a:cubicBezTo>
                      <a:pt x="426912" y="32646"/>
                      <a:pt x="430980" y="30638"/>
                      <a:pt x="435333" y="30327"/>
                    </a:cubicBezTo>
                    <a:cubicBezTo>
                      <a:pt x="460690" y="28516"/>
                      <a:pt x="486133" y="28210"/>
                      <a:pt x="511533" y="27152"/>
                    </a:cubicBezTo>
                    <a:cubicBezTo>
                      <a:pt x="521058" y="26094"/>
                      <a:pt x="530553" y="24712"/>
                      <a:pt x="540108" y="23977"/>
                    </a:cubicBezTo>
                    <a:cubicBezTo>
                      <a:pt x="558078" y="22595"/>
                      <a:pt x="576141" y="22511"/>
                      <a:pt x="594083" y="20802"/>
                    </a:cubicBezTo>
                    <a:cubicBezTo>
                      <a:pt x="598427" y="20388"/>
                      <a:pt x="602523" y="18574"/>
                      <a:pt x="606783" y="17627"/>
                    </a:cubicBezTo>
                    <a:cubicBezTo>
                      <a:pt x="612051" y="16456"/>
                      <a:pt x="617349" y="15417"/>
                      <a:pt x="622658" y="14452"/>
                    </a:cubicBezTo>
                    <a:cubicBezTo>
                      <a:pt x="628992" y="13300"/>
                      <a:pt x="635345" y="12256"/>
                      <a:pt x="641708" y="11277"/>
                    </a:cubicBezTo>
                    <a:cubicBezTo>
                      <a:pt x="649105" y="10139"/>
                      <a:pt x="656570" y="9441"/>
                      <a:pt x="663933" y="8102"/>
                    </a:cubicBezTo>
                    <a:cubicBezTo>
                      <a:pt x="668226" y="7321"/>
                      <a:pt x="672400" y="5985"/>
                      <a:pt x="676633" y="4927"/>
                    </a:cubicBezTo>
                    <a:cubicBezTo>
                      <a:pt x="696756" y="7163"/>
                      <a:pt x="701733" y="6425"/>
                      <a:pt x="717908" y="11277"/>
                    </a:cubicBezTo>
                    <a:cubicBezTo>
                      <a:pt x="740190" y="17962"/>
                      <a:pt x="747012" y="8631"/>
                      <a:pt x="752833" y="8102"/>
                    </a:cubicBezTo>
                    <a:close/>
                  </a:path>
                </a:pathLst>
              </a:custGeom>
              <a:solidFill>
                <a:srgbClr val="5AAD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grpSp>
            <p:nvGrpSpPr>
              <p:cNvPr id="1273" name="Group 153">
                <a:extLst>
                  <a:ext uri="{FF2B5EF4-FFF2-40B4-BE49-F238E27FC236}">
                    <a16:creationId xmlns:a16="http://schemas.microsoft.com/office/drawing/2014/main" id="{57DA9767-8D19-4908-C3BC-EDD20291D9B4}"/>
                  </a:ext>
                </a:extLst>
              </p:cNvPr>
              <p:cNvGrpSpPr/>
              <p:nvPr/>
            </p:nvGrpSpPr>
            <p:grpSpPr>
              <a:xfrm>
                <a:off x="4762197" y="3275494"/>
                <a:ext cx="762000" cy="104775"/>
                <a:chOff x="4762197" y="3275494"/>
                <a:chExt cx="762000" cy="104775"/>
              </a:xfrm>
            </p:grpSpPr>
            <p:sp>
              <p:nvSpPr>
                <p:cNvPr id="1275" name="Freeform 141">
                  <a:extLst>
                    <a:ext uri="{FF2B5EF4-FFF2-40B4-BE49-F238E27FC236}">
                      <a16:creationId xmlns:a16="http://schemas.microsoft.com/office/drawing/2014/main" id="{CE84B2FF-95F9-95C6-CC8E-58FEC8E1AD6F}"/>
                    </a:ext>
                  </a:extLst>
                </p:cNvPr>
                <p:cNvSpPr/>
                <p:nvPr/>
              </p:nvSpPr>
              <p:spPr>
                <a:xfrm>
                  <a:off x="4762197" y="3275494"/>
                  <a:ext cx="762000" cy="104775"/>
                </a:xfrm>
                <a:custGeom>
                  <a:avLst/>
                  <a:gdLst>
                    <a:gd name="connsiteX0" fmla="*/ 762000 w 762000"/>
                    <a:gd name="connsiteY0" fmla="*/ 69850 h 104775"/>
                    <a:gd name="connsiteX1" fmla="*/ 762000 w 762000"/>
                    <a:gd name="connsiteY1" fmla="*/ 69850 h 104775"/>
                    <a:gd name="connsiteX2" fmla="*/ 739775 w 762000"/>
                    <a:gd name="connsiteY2" fmla="*/ 53975 h 104775"/>
                    <a:gd name="connsiteX3" fmla="*/ 720725 w 762000"/>
                    <a:gd name="connsiteY3" fmla="*/ 41275 h 104775"/>
                    <a:gd name="connsiteX4" fmla="*/ 704850 w 762000"/>
                    <a:gd name="connsiteY4" fmla="*/ 28575 h 104775"/>
                    <a:gd name="connsiteX5" fmla="*/ 695325 w 762000"/>
                    <a:gd name="connsiteY5" fmla="*/ 22225 h 104775"/>
                    <a:gd name="connsiteX6" fmla="*/ 676275 w 762000"/>
                    <a:gd name="connsiteY6" fmla="*/ 15875 h 104775"/>
                    <a:gd name="connsiteX7" fmla="*/ 666750 w 762000"/>
                    <a:gd name="connsiteY7" fmla="*/ 12700 h 104775"/>
                    <a:gd name="connsiteX8" fmla="*/ 647700 w 762000"/>
                    <a:gd name="connsiteY8" fmla="*/ 3175 h 104775"/>
                    <a:gd name="connsiteX9" fmla="*/ 581025 w 762000"/>
                    <a:gd name="connsiteY9" fmla="*/ 0 h 104775"/>
                    <a:gd name="connsiteX10" fmla="*/ 555625 w 762000"/>
                    <a:gd name="connsiteY10" fmla="*/ 6350 h 104775"/>
                    <a:gd name="connsiteX11" fmla="*/ 533400 w 762000"/>
                    <a:gd name="connsiteY11" fmla="*/ 12700 h 104775"/>
                    <a:gd name="connsiteX12" fmla="*/ 504825 w 762000"/>
                    <a:gd name="connsiteY12" fmla="*/ 25400 h 104775"/>
                    <a:gd name="connsiteX13" fmla="*/ 479425 w 762000"/>
                    <a:gd name="connsiteY13" fmla="*/ 28575 h 104775"/>
                    <a:gd name="connsiteX14" fmla="*/ 450850 w 762000"/>
                    <a:gd name="connsiteY14" fmla="*/ 38100 h 104775"/>
                    <a:gd name="connsiteX15" fmla="*/ 441325 w 762000"/>
                    <a:gd name="connsiteY15" fmla="*/ 41275 h 104775"/>
                    <a:gd name="connsiteX16" fmla="*/ 431800 w 762000"/>
                    <a:gd name="connsiteY16" fmla="*/ 44450 h 104775"/>
                    <a:gd name="connsiteX17" fmla="*/ 415925 w 762000"/>
                    <a:gd name="connsiteY17" fmla="*/ 47625 h 104775"/>
                    <a:gd name="connsiteX18" fmla="*/ 406400 w 762000"/>
                    <a:gd name="connsiteY18" fmla="*/ 50800 h 104775"/>
                    <a:gd name="connsiteX19" fmla="*/ 365125 w 762000"/>
                    <a:gd name="connsiteY19" fmla="*/ 53975 h 104775"/>
                    <a:gd name="connsiteX20" fmla="*/ 346075 w 762000"/>
                    <a:gd name="connsiteY20" fmla="*/ 57150 h 104775"/>
                    <a:gd name="connsiteX21" fmla="*/ 333375 w 762000"/>
                    <a:gd name="connsiteY21" fmla="*/ 60325 h 104775"/>
                    <a:gd name="connsiteX22" fmla="*/ 301625 w 762000"/>
                    <a:gd name="connsiteY22" fmla="*/ 57150 h 104775"/>
                    <a:gd name="connsiteX23" fmla="*/ 292100 w 762000"/>
                    <a:gd name="connsiteY23" fmla="*/ 53975 h 104775"/>
                    <a:gd name="connsiteX24" fmla="*/ 269875 w 762000"/>
                    <a:gd name="connsiteY24" fmla="*/ 47625 h 104775"/>
                    <a:gd name="connsiteX25" fmla="*/ 260350 w 762000"/>
                    <a:gd name="connsiteY25" fmla="*/ 41275 h 104775"/>
                    <a:gd name="connsiteX26" fmla="*/ 238125 w 762000"/>
                    <a:gd name="connsiteY26" fmla="*/ 34925 h 104775"/>
                    <a:gd name="connsiteX27" fmla="*/ 228600 w 762000"/>
                    <a:gd name="connsiteY27" fmla="*/ 31750 h 104775"/>
                    <a:gd name="connsiteX28" fmla="*/ 212725 w 762000"/>
                    <a:gd name="connsiteY28" fmla="*/ 28575 h 104775"/>
                    <a:gd name="connsiteX29" fmla="*/ 193675 w 762000"/>
                    <a:gd name="connsiteY29" fmla="*/ 22225 h 104775"/>
                    <a:gd name="connsiteX30" fmla="*/ 152400 w 762000"/>
                    <a:gd name="connsiteY30" fmla="*/ 25400 h 104775"/>
                    <a:gd name="connsiteX31" fmla="*/ 136525 w 762000"/>
                    <a:gd name="connsiteY31" fmla="*/ 28575 h 104775"/>
                    <a:gd name="connsiteX32" fmla="*/ 114300 w 762000"/>
                    <a:gd name="connsiteY32" fmla="*/ 31750 h 104775"/>
                    <a:gd name="connsiteX33" fmla="*/ 95250 w 762000"/>
                    <a:gd name="connsiteY33" fmla="*/ 34925 h 104775"/>
                    <a:gd name="connsiteX34" fmla="*/ 50800 w 762000"/>
                    <a:gd name="connsiteY34" fmla="*/ 38100 h 104775"/>
                    <a:gd name="connsiteX35" fmla="*/ 41275 w 762000"/>
                    <a:gd name="connsiteY35" fmla="*/ 41275 h 104775"/>
                    <a:gd name="connsiteX36" fmla="*/ 22225 w 762000"/>
                    <a:gd name="connsiteY36" fmla="*/ 53975 h 104775"/>
                    <a:gd name="connsiteX37" fmla="*/ 0 w 762000"/>
                    <a:gd name="connsiteY37" fmla="*/ 79375 h 104775"/>
                    <a:gd name="connsiteX38" fmla="*/ 9525 w 762000"/>
                    <a:gd name="connsiteY38" fmla="*/ 85725 h 104775"/>
                    <a:gd name="connsiteX39" fmla="*/ 19050 w 762000"/>
                    <a:gd name="connsiteY39" fmla="*/ 79375 h 104775"/>
                    <a:gd name="connsiteX40" fmla="*/ 31750 w 762000"/>
                    <a:gd name="connsiteY40" fmla="*/ 76200 h 104775"/>
                    <a:gd name="connsiteX41" fmla="*/ 142875 w 762000"/>
                    <a:gd name="connsiteY41" fmla="*/ 79375 h 104775"/>
                    <a:gd name="connsiteX42" fmla="*/ 165100 w 762000"/>
                    <a:gd name="connsiteY42" fmla="*/ 85725 h 104775"/>
                    <a:gd name="connsiteX43" fmla="*/ 174625 w 762000"/>
                    <a:gd name="connsiteY43" fmla="*/ 92075 h 104775"/>
                    <a:gd name="connsiteX44" fmla="*/ 200025 w 762000"/>
                    <a:gd name="connsiteY44" fmla="*/ 98425 h 104775"/>
                    <a:gd name="connsiteX45" fmla="*/ 234950 w 762000"/>
                    <a:gd name="connsiteY45" fmla="*/ 104775 h 104775"/>
                    <a:gd name="connsiteX46" fmla="*/ 317500 w 762000"/>
                    <a:gd name="connsiteY46" fmla="*/ 101600 h 104775"/>
                    <a:gd name="connsiteX47" fmla="*/ 355600 w 762000"/>
                    <a:gd name="connsiteY47" fmla="*/ 101600 h 104775"/>
                    <a:gd name="connsiteX48" fmla="*/ 365125 w 762000"/>
                    <a:gd name="connsiteY48" fmla="*/ 104775 h 104775"/>
                    <a:gd name="connsiteX49" fmla="*/ 415925 w 762000"/>
                    <a:gd name="connsiteY49" fmla="*/ 98425 h 104775"/>
                    <a:gd name="connsiteX50" fmla="*/ 434975 w 762000"/>
                    <a:gd name="connsiteY50" fmla="*/ 92075 h 104775"/>
                    <a:gd name="connsiteX51" fmla="*/ 444500 w 762000"/>
                    <a:gd name="connsiteY51" fmla="*/ 88900 h 104775"/>
                    <a:gd name="connsiteX52" fmla="*/ 558800 w 762000"/>
                    <a:gd name="connsiteY52" fmla="*/ 82550 h 104775"/>
                    <a:gd name="connsiteX53" fmla="*/ 723900 w 762000"/>
                    <a:gd name="connsiteY53" fmla="*/ 82550 h 104775"/>
                    <a:gd name="connsiteX54" fmla="*/ 762000 w 762000"/>
                    <a:gd name="connsiteY54" fmla="*/ 6985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62000" h="104775">
                      <a:moveTo>
                        <a:pt x="762000" y="69850"/>
                      </a:moveTo>
                      <a:lnTo>
                        <a:pt x="762000" y="69850"/>
                      </a:lnTo>
                      <a:cubicBezTo>
                        <a:pt x="754592" y="64558"/>
                        <a:pt x="746884" y="59662"/>
                        <a:pt x="739775" y="53975"/>
                      </a:cubicBezTo>
                      <a:cubicBezTo>
                        <a:pt x="722787" y="40385"/>
                        <a:pt x="738308" y="47136"/>
                        <a:pt x="720725" y="41275"/>
                      </a:cubicBezTo>
                      <a:cubicBezTo>
                        <a:pt x="710021" y="25218"/>
                        <a:pt x="720186" y="36243"/>
                        <a:pt x="704850" y="28575"/>
                      </a:cubicBezTo>
                      <a:cubicBezTo>
                        <a:pt x="701437" y="26868"/>
                        <a:pt x="698812" y="23775"/>
                        <a:pt x="695325" y="22225"/>
                      </a:cubicBezTo>
                      <a:cubicBezTo>
                        <a:pt x="689208" y="19507"/>
                        <a:pt x="682625" y="17992"/>
                        <a:pt x="676275" y="15875"/>
                      </a:cubicBezTo>
                      <a:cubicBezTo>
                        <a:pt x="673100" y="14817"/>
                        <a:pt x="669535" y="14556"/>
                        <a:pt x="666750" y="12700"/>
                      </a:cubicBezTo>
                      <a:cubicBezTo>
                        <a:pt x="660864" y="8776"/>
                        <a:pt x="655211" y="3801"/>
                        <a:pt x="647700" y="3175"/>
                      </a:cubicBezTo>
                      <a:cubicBezTo>
                        <a:pt x="625527" y="1327"/>
                        <a:pt x="603250" y="1058"/>
                        <a:pt x="581025" y="0"/>
                      </a:cubicBezTo>
                      <a:cubicBezTo>
                        <a:pt x="548750" y="6455"/>
                        <a:pt x="578405" y="-159"/>
                        <a:pt x="555625" y="6350"/>
                      </a:cubicBezTo>
                      <a:cubicBezTo>
                        <a:pt x="550878" y="7706"/>
                        <a:pt x="538475" y="10162"/>
                        <a:pt x="533400" y="12700"/>
                      </a:cubicBezTo>
                      <a:cubicBezTo>
                        <a:pt x="518777" y="20011"/>
                        <a:pt x="526668" y="22670"/>
                        <a:pt x="504825" y="25400"/>
                      </a:cubicBezTo>
                      <a:lnTo>
                        <a:pt x="479425" y="28575"/>
                      </a:lnTo>
                      <a:lnTo>
                        <a:pt x="450850" y="38100"/>
                      </a:lnTo>
                      <a:lnTo>
                        <a:pt x="441325" y="41275"/>
                      </a:lnTo>
                      <a:cubicBezTo>
                        <a:pt x="438150" y="42333"/>
                        <a:pt x="435082" y="43794"/>
                        <a:pt x="431800" y="44450"/>
                      </a:cubicBezTo>
                      <a:cubicBezTo>
                        <a:pt x="426508" y="45508"/>
                        <a:pt x="421160" y="46316"/>
                        <a:pt x="415925" y="47625"/>
                      </a:cubicBezTo>
                      <a:cubicBezTo>
                        <a:pt x="412678" y="48437"/>
                        <a:pt x="409721" y="50385"/>
                        <a:pt x="406400" y="50800"/>
                      </a:cubicBezTo>
                      <a:cubicBezTo>
                        <a:pt x="392708" y="52512"/>
                        <a:pt x="378883" y="52917"/>
                        <a:pt x="365125" y="53975"/>
                      </a:cubicBezTo>
                      <a:cubicBezTo>
                        <a:pt x="358775" y="55033"/>
                        <a:pt x="352388" y="55887"/>
                        <a:pt x="346075" y="57150"/>
                      </a:cubicBezTo>
                      <a:cubicBezTo>
                        <a:pt x="341796" y="58006"/>
                        <a:pt x="337739" y="60325"/>
                        <a:pt x="333375" y="60325"/>
                      </a:cubicBezTo>
                      <a:cubicBezTo>
                        <a:pt x="322739" y="60325"/>
                        <a:pt x="312208" y="58208"/>
                        <a:pt x="301625" y="57150"/>
                      </a:cubicBezTo>
                      <a:cubicBezTo>
                        <a:pt x="298450" y="56092"/>
                        <a:pt x="295318" y="54894"/>
                        <a:pt x="292100" y="53975"/>
                      </a:cubicBezTo>
                      <a:cubicBezTo>
                        <a:pt x="287353" y="52619"/>
                        <a:pt x="274950" y="50163"/>
                        <a:pt x="269875" y="47625"/>
                      </a:cubicBezTo>
                      <a:cubicBezTo>
                        <a:pt x="266462" y="45918"/>
                        <a:pt x="263763" y="42982"/>
                        <a:pt x="260350" y="41275"/>
                      </a:cubicBezTo>
                      <a:cubicBezTo>
                        <a:pt x="255275" y="38737"/>
                        <a:pt x="242872" y="36281"/>
                        <a:pt x="238125" y="34925"/>
                      </a:cubicBezTo>
                      <a:cubicBezTo>
                        <a:pt x="234907" y="34006"/>
                        <a:pt x="231847" y="32562"/>
                        <a:pt x="228600" y="31750"/>
                      </a:cubicBezTo>
                      <a:cubicBezTo>
                        <a:pt x="223365" y="30441"/>
                        <a:pt x="217931" y="29995"/>
                        <a:pt x="212725" y="28575"/>
                      </a:cubicBezTo>
                      <a:cubicBezTo>
                        <a:pt x="206267" y="26814"/>
                        <a:pt x="193675" y="22225"/>
                        <a:pt x="193675" y="22225"/>
                      </a:cubicBezTo>
                      <a:cubicBezTo>
                        <a:pt x="179917" y="23283"/>
                        <a:pt x="166115" y="23876"/>
                        <a:pt x="152400" y="25400"/>
                      </a:cubicBezTo>
                      <a:cubicBezTo>
                        <a:pt x="147037" y="25996"/>
                        <a:pt x="141848" y="27688"/>
                        <a:pt x="136525" y="28575"/>
                      </a:cubicBezTo>
                      <a:cubicBezTo>
                        <a:pt x="129143" y="29805"/>
                        <a:pt x="121697" y="30612"/>
                        <a:pt x="114300" y="31750"/>
                      </a:cubicBezTo>
                      <a:cubicBezTo>
                        <a:pt x="107937" y="32729"/>
                        <a:pt x="101656" y="34284"/>
                        <a:pt x="95250" y="34925"/>
                      </a:cubicBezTo>
                      <a:cubicBezTo>
                        <a:pt x="80469" y="36403"/>
                        <a:pt x="65617" y="37042"/>
                        <a:pt x="50800" y="38100"/>
                      </a:cubicBezTo>
                      <a:cubicBezTo>
                        <a:pt x="47625" y="39158"/>
                        <a:pt x="44201" y="39650"/>
                        <a:pt x="41275" y="41275"/>
                      </a:cubicBezTo>
                      <a:cubicBezTo>
                        <a:pt x="34604" y="44981"/>
                        <a:pt x="22225" y="53975"/>
                        <a:pt x="22225" y="53975"/>
                      </a:cubicBezTo>
                      <a:cubicBezTo>
                        <a:pt x="7408" y="76200"/>
                        <a:pt x="15875" y="68792"/>
                        <a:pt x="0" y="79375"/>
                      </a:cubicBezTo>
                      <a:cubicBezTo>
                        <a:pt x="3175" y="81492"/>
                        <a:pt x="5709" y="85725"/>
                        <a:pt x="9525" y="85725"/>
                      </a:cubicBezTo>
                      <a:cubicBezTo>
                        <a:pt x="13341" y="85725"/>
                        <a:pt x="15543" y="80878"/>
                        <a:pt x="19050" y="79375"/>
                      </a:cubicBezTo>
                      <a:cubicBezTo>
                        <a:pt x="23061" y="77656"/>
                        <a:pt x="27517" y="77258"/>
                        <a:pt x="31750" y="76200"/>
                      </a:cubicBezTo>
                      <a:cubicBezTo>
                        <a:pt x="68792" y="77258"/>
                        <a:pt x="105867" y="77477"/>
                        <a:pt x="142875" y="79375"/>
                      </a:cubicBezTo>
                      <a:cubicBezTo>
                        <a:pt x="145142" y="79491"/>
                        <a:pt x="161927" y="84139"/>
                        <a:pt x="165100" y="85725"/>
                      </a:cubicBezTo>
                      <a:cubicBezTo>
                        <a:pt x="168513" y="87432"/>
                        <a:pt x="171212" y="90368"/>
                        <a:pt x="174625" y="92075"/>
                      </a:cubicBezTo>
                      <a:cubicBezTo>
                        <a:pt x="181433" y="95479"/>
                        <a:pt x="193504" y="96976"/>
                        <a:pt x="200025" y="98425"/>
                      </a:cubicBezTo>
                      <a:cubicBezTo>
                        <a:pt x="226971" y="104413"/>
                        <a:pt x="196424" y="99271"/>
                        <a:pt x="234950" y="104775"/>
                      </a:cubicBezTo>
                      <a:cubicBezTo>
                        <a:pt x="262467" y="103717"/>
                        <a:pt x="290024" y="103432"/>
                        <a:pt x="317500" y="101600"/>
                      </a:cubicBezTo>
                      <a:cubicBezTo>
                        <a:pt x="358544" y="98864"/>
                        <a:pt x="286634" y="92979"/>
                        <a:pt x="355600" y="101600"/>
                      </a:cubicBezTo>
                      <a:cubicBezTo>
                        <a:pt x="358775" y="102658"/>
                        <a:pt x="361778" y="104775"/>
                        <a:pt x="365125" y="104775"/>
                      </a:cubicBezTo>
                      <a:cubicBezTo>
                        <a:pt x="383583" y="104775"/>
                        <a:pt x="399076" y="103480"/>
                        <a:pt x="415925" y="98425"/>
                      </a:cubicBezTo>
                      <a:cubicBezTo>
                        <a:pt x="422336" y="96502"/>
                        <a:pt x="428625" y="94192"/>
                        <a:pt x="434975" y="92075"/>
                      </a:cubicBezTo>
                      <a:cubicBezTo>
                        <a:pt x="438150" y="91017"/>
                        <a:pt x="441156" y="89045"/>
                        <a:pt x="444500" y="88900"/>
                      </a:cubicBezTo>
                      <a:cubicBezTo>
                        <a:pt x="531311" y="85126"/>
                        <a:pt x="493232" y="87594"/>
                        <a:pt x="558800" y="82550"/>
                      </a:cubicBezTo>
                      <a:cubicBezTo>
                        <a:pt x="628512" y="70931"/>
                        <a:pt x="551524" y="82550"/>
                        <a:pt x="723900" y="82550"/>
                      </a:cubicBezTo>
                      <a:cubicBezTo>
                        <a:pt x="736644" y="82550"/>
                        <a:pt x="755650" y="71967"/>
                        <a:pt x="762000" y="69850"/>
                      </a:cubicBezTo>
                      <a:close/>
                    </a:path>
                  </a:pathLst>
                </a:custGeom>
                <a:solidFill>
                  <a:srgbClr val="9BA9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sp>
              <p:nvSpPr>
                <p:cNvPr id="1276" name="Freeform 152">
                  <a:extLst>
                    <a:ext uri="{FF2B5EF4-FFF2-40B4-BE49-F238E27FC236}">
                      <a16:creationId xmlns:a16="http://schemas.microsoft.com/office/drawing/2014/main" id="{00DE9452-1986-71D6-A8E7-73BAD68536B1}"/>
                    </a:ext>
                  </a:extLst>
                </p:cNvPr>
                <p:cNvSpPr/>
                <p:nvPr/>
              </p:nvSpPr>
              <p:spPr>
                <a:xfrm>
                  <a:off x="4768546" y="3305175"/>
                  <a:ext cx="162229" cy="63500"/>
                </a:xfrm>
                <a:custGeom>
                  <a:avLst/>
                  <a:gdLst>
                    <a:gd name="connsiteX0" fmla="*/ 117779 w 162229"/>
                    <a:gd name="connsiteY0" fmla="*/ 12700 h 63500"/>
                    <a:gd name="connsiteX1" fmla="*/ 117779 w 162229"/>
                    <a:gd name="connsiteY1" fmla="*/ 12700 h 63500"/>
                    <a:gd name="connsiteX2" fmla="*/ 79679 w 162229"/>
                    <a:gd name="connsiteY2" fmla="*/ 12700 h 63500"/>
                    <a:gd name="connsiteX3" fmla="*/ 54279 w 162229"/>
                    <a:gd name="connsiteY3" fmla="*/ 19050 h 63500"/>
                    <a:gd name="connsiteX4" fmla="*/ 35229 w 162229"/>
                    <a:gd name="connsiteY4" fmla="*/ 31750 h 63500"/>
                    <a:gd name="connsiteX5" fmla="*/ 25704 w 162229"/>
                    <a:gd name="connsiteY5" fmla="*/ 38100 h 63500"/>
                    <a:gd name="connsiteX6" fmla="*/ 6654 w 162229"/>
                    <a:gd name="connsiteY6" fmla="*/ 44450 h 63500"/>
                    <a:gd name="connsiteX7" fmla="*/ 304 w 162229"/>
                    <a:gd name="connsiteY7" fmla="*/ 53975 h 63500"/>
                    <a:gd name="connsiteX8" fmla="*/ 13004 w 162229"/>
                    <a:gd name="connsiteY8" fmla="*/ 57150 h 63500"/>
                    <a:gd name="connsiteX9" fmla="*/ 41579 w 162229"/>
                    <a:gd name="connsiteY9" fmla="*/ 50800 h 63500"/>
                    <a:gd name="connsiteX10" fmla="*/ 79679 w 162229"/>
                    <a:gd name="connsiteY10" fmla="*/ 53975 h 63500"/>
                    <a:gd name="connsiteX11" fmla="*/ 89204 w 162229"/>
                    <a:gd name="connsiteY11" fmla="*/ 57150 h 63500"/>
                    <a:gd name="connsiteX12" fmla="*/ 124129 w 162229"/>
                    <a:gd name="connsiteY12" fmla="*/ 63500 h 63500"/>
                    <a:gd name="connsiteX13" fmla="*/ 155879 w 162229"/>
                    <a:gd name="connsiteY13" fmla="*/ 57150 h 63500"/>
                    <a:gd name="connsiteX14" fmla="*/ 162229 w 162229"/>
                    <a:gd name="connsiteY14" fmla="*/ 47625 h 63500"/>
                    <a:gd name="connsiteX15" fmla="*/ 159054 w 162229"/>
                    <a:gd name="connsiteY15" fmla="*/ 19050 h 63500"/>
                    <a:gd name="connsiteX16" fmla="*/ 155879 w 162229"/>
                    <a:gd name="connsiteY16" fmla="*/ 6350 h 63500"/>
                    <a:gd name="connsiteX17" fmla="*/ 146354 w 162229"/>
                    <a:gd name="connsiteY17" fmla="*/ 0 h 63500"/>
                    <a:gd name="connsiteX18" fmla="*/ 133654 w 162229"/>
                    <a:gd name="connsiteY18" fmla="*/ 3175 h 63500"/>
                    <a:gd name="connsiteX19" fmla="*/ 117779 w 162229"/>
                    <a:gd name="connsiteY19" fmla="*/ 12700 h 6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2229" h="63500">
                      <a:moveTo>
                        <a:pt x="117779" y="12700"/>
                      </a:moveTo>
                      <a:lnTo>
                        <a:pt x="117779" y="12700"/>
                      </a:lnTo>
                      <a:cubicBezTo>
                        <a:pt x="77460" y="8220"/>
                        <a:pt x="101235" y="6821"/>
                        <a:pt x="79679" y="12700"/>
                      </a:cubicBezTo>
                      <a:cubicBezTo>
                        <a:pt x="71259" y="14996"/>
                        <a:pt x="54279" y="19050"/>
                        <a:pt x="54279" y="19050"/>
                      </a:cubicBezTo>
                      <a:lnTo>
                        <a:pt x="35229" y="31750"/>
                      </a:lnTo>
                      <a:cubicBezTo>
                        <a:pt x="32054" y="33867"/>
                        <a:pt x="29324" y="36893"/>
                        <a:pt x="25704" y="38100"/>
                      </a:cubicBezTo>
                      <a:lnTo>
                        <a:pt x="6654" y="44450"/>
                      </a:lnTo>
                      <a:cubicBezTo>
                        <a:pt x="4537" y="47625"/>
                        <a:pt x="-1403" y="50562"/>
                        <a:pt x="304" y="53975"/>
                      </a:cubicBezTo>
                      <a:cubicBezTo>
                        <a:pt x="2255" y="57878"/>
                        <a:pt x="8640" y="57150"/>
                        <a:pt x="13004" y="57150"/>
                      </a:cubicBezTo>
                      <a:cubicBezTo>
                        <a:pt x="17035" y="57150"/>
                        <a:pt x="36681" y="52025"/>
                        <a:pt x="41579" y="50800"/>
                      </a:cubicBezTo>
                      <a:cubicBezTo>
                        <a:pt x="54279" y="51858"/>
                        <a:pt x="67047" y="52291"/>
                        <a:pt x="79679" y="53975"/>
                      </a:cubicBezTo>
                      <a:cubicBezTo>
                        <a:pt x="82996" y="54417"/>
                        <a:pt x="85957" y="56338"/>
                        <a:pt x="89204" y="57150"/>
                      </a:cubicBezTo>
                      <a:cubicBezTo>
                        <a:pt x="98079" y="59369"/>
                        <a:pt x="115637" y="62085"/>
                        <a:pt x="124129" y="63500"/>
                      </a:cubicBezTo>
                      <a:cubicBezTo>
                        <a:pt x="124192" y="63490"/>
                        <a:pt x="152721" y="59255"/>
                        <a:pt x="155879" y="57150"/>
                      </a:cubicBezTo>
                      <a:cubicBezTo>
                        <a:pt x="159054" y="55033"/>
                        <a:pt x="160112" y="50800"/>
                        <a:pt x="162229" y="47625"/>
                      </a:cubicBezTo>
                      <a:cubicBezTo>
                        <a:pt x="161171" y="38100"/>
                        <a:pt x="160511" y="28522"/>
                        <a:pt x="159054" y="19050"/>
                      </a:cubicBezTo>
                      <a:cubicBezTo>
                        <a:pt x="158390" y="14737"/>
                        <a:pt x="158300" y="9981"/>
                        <a:pt x="155879" y="6350"/>
                      </a:cubicBezTo>
                      <a:cubicBezTo>
                        <a:pt x="153762" y="3175"/>
                        <a:pt x="149529" y="2117"/>
                        <a:pt x="146354" y="0"/>
                      </a:cubicBezTo>
                      <a:cubicBezTo>
                        <a:pt x="142121" y="1058"/>
                        <a:pt x="137665" y="1456"/>
                        <a:pt x="133654" y="3175"/>
                      </a:cubicBezTo>
                      <a:cubicBezTo>
                        <a:pt x="116098" y="10699"/>
                        <a:pt x="120425" y="11112"/>
                        <a:pt x="117779" y="12700"/>
                      </a:cubicBezTo>
                      <a:close/>
                    </a:path>
                  </a:pathLst>
                </a:custGeom>
                <a:solidFill>
                  <a:srgbClr val="9BA95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sp>
            <p:nvSpPr>
              <p:cNvPr id="1274" name="Freeform 138">
                <a:extLst>
                  <a:ext uri="{FF2B5EF4-FFF2-40B4-BE49-F238E27FC236}">
                    <a16:creationId xmlns:a16="http://schemas.microsoft.com/office/drawing/2014/main" id="{26EDDD76-A60F-2B9A-FE40-D65160D5153B}"/>
                  </a:ext>
                </a:extLst>
              </p:cNvPr>
              <p:cNvSpPr/>
              <p:nvPr/>
            </p:nvSpPr>
            <p:spPr>
              <a:xfrm>
                <a:off x="4768547" y="3295242"/>
                <a:ext cx="742064" cy="113414"/>
              </a:xfrm>
              <a:custGeom>
                <a:avLst/>
                <a:gdLst>
                  <a:gd name="connsiteX0" fmla="*/ 715926 w 715926"/>
                  <a:gd name="connsiteY0" fmla="*/ 56707 h 113414"/>
                  <a:gd name="connsiteX1" fmla="*/ 715926 w 715926"/>
                  <a:gd name="connsiteY1" fmla="*/ 56707 h 113414"/>
                  <a:gd name="connsiteX2" fmla="*/ 659219 w 715926"/>
                  <a:gd name="connsiteY2" fmla="*/ 28354 h 113414"/>
                  <a:gd name="connsiteX3" fmla="*/ 637954 w 715926"/>
                  <a:gd name="connsiteY3" fmla="*/ 14177 h 113414"/>
                  <a:gd name="connsiteX4" fmla="*/ 595424 w 715926"/>
                  <a:gd name="connsiteY4" fmla="*/ 0 h 113414"/>
                  <a:gd name="connsiteX5" fmla="*/ 517452 w 715926"/>
                  <a:gd name="connsiteY5" fmla="*/ 21265 h 113414"/>
                  <a:gd name="connsiteX6" fmla="*/ 446568 w 715926"/>
                  <a:gd name="connsiteY6" fmla="*/ 42530 h 113414"/>
                  <a:gd name="connsiteX7" fmla="*/ 404038 w 715926"/>
                  <a:gd name="connsiteY7" fmla="*/ 49619 h 113414"/>
                  <a:gd name="connsiteX8" fmla="*/ 361507 w 715926"/>
                  <a:gd name="connsiteY8" fmla="*/ 63795 h 113414"/>
                  <a:gd name="connsiteX9" fmla="*/ 326065 w 715926"/>
                  <a:gd name="connsiteY9" fmla="*/ 70884 h 113414"/>
                  <a:gd name="connsiteX10" fmla="*/ 262270 w 715926"/>
                  <a:gd name="connsiteY10" fmla="*/ 56707 h 113414"/>
                  <a:gd name="connsiteX11" fmla="*/ 226828 w 715926"/>
                  <a:gd name="connsiteY11" fmla="*/ 49619 h 113414"/>
                  <a:gd name="connsiteX12" fmla="*/ 184298 w 715926"/>
                  <a:gd name="connsiteY12" fmla="*/ 35442 h 113414"/>
                  <a:gd name="connsiteX13" fmla="*/ 163033 w 715926"/>
                  <a:gd name="connsiteY13" fmla="*/ 28354 h 113414"/>
                  <a:gd name="connsiteX14" fmla="*/ 85061 w 715926"/>
                  <a:gd name="connsiteY14" fmla="*/ 35442 h 113414"/>
                  <a:gd name="connsiteX15" fmla="*/ 21265 w 715926"/>
                  <a:gd name="connsiteY15" fmla="*/ 49619 h 113414"/>
                  <a:gd name="connsiteX16" fmla="*/ 0 w 715926"/>
                  <a:gd name="connsiteY16" fmla="*/ 63795 h 113414"/>
                  <a:gd name="connsiteX17" fmla="*/ 85061 w 715926"/>
                  <a:gd name="connsiteY17" fmla="*/ 77972 h 113414"/>
                  <a:gd name="connsiteX18" fmla="*/ 141768 w 715926"/>
                  <a:gd name="connsiteY18" fmla="*/ 92149 h 113414"/>
                  <a:gd name="connsiteX19" fmla="*/ 184298 w 715926"/>
                  <a:gd name="connsiteY19" fmla="*/ 106326 h 113414"/>
                  <a:gd name="connsiteX20" fmla="*/ 233917 w 715926"/>
                  <a:gd name="connsiteY20" fmla="*/ 113414 h 113414"/>
                  <a:gd name="connsiteX21" fmla="*/ 368596 w 715926"/>
                  <a:gd name="connsiteY21" fmla="*/ 106326 h 113414"/>
                  <a:gd name="connsiteX22" fmla="*/ 389861 w 715926"/>
                  <a:gd name="connsiteY22" fmla="*/ 99237 h 113414"/>
                  <a:gd name="connsiteX23" fmla="*/ 432391 w 715926"/>
                  <a:gd name="connsiteY23" fmla="*/ 92149 h 113414"/>
                  <a:gd name="connsiteX24" fmla="*/ 652131 w 715926"/>
                  <a:gd name="connsiteY24" fmla="*/ 92149 h 113414"/>
                  <a:gd name="connsiteX25" fmla="*/ 694661 w 715926"/>
                  <a:gd name="connsiteY25" fmla="*/ 77972 h 113414"/>
                  <a:gd name="connsiteX26" fmla="*/ 715926 w 715926"/>
                  <a:gd name="connsiteY26" fmla="*/ 70884 h 113414"/>
                  <a:gd name="connsiteX27" fmla="*/ 715926 w 715926"/>
                  <a:gd name="connsiteY27" fmla="*/ 56707 h 113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15926" h="113414">
                    <a:moveTo>
                      <a:pt x="715926" y="56707"/>
                    </a:moveTo>
                    <a:lnTo>
                      <a:pt x="715926" y="56707"/>
                    </a:lnTo>
                    <a:cubicBezTo>
                      <a:pt x="697024" y="47256"/>
                      <a:pt x="677772" y="38474"/>
                      <a:pt x="659219" y="28354"/>
                    </a:cubicBezTo>
                    <a:cubicBezTo>
                      <a:pt x="651740" y="24275"/>
                      <a:pt x="645739" y="17637"/>
                      <a:pt x="637954" y="14177"/>
                    </a:cubicBezTo>
                    <a:cubicBezTo>
                      <a:pt x="624298" y="8108"/>
                      <a:pt x="595424" y="0"/>
                      <a:pt x="595424" y="0"/>
                    </a:cubicBezTo>
                    <a:cubicBezTo>
                      <a:pt x="466895" y="42843"/>
                      <a:pt x="627663" y="-8792"/>
                      <a:pt x="517452" y="21265"/>
                    </a:cubicBezTo>
                    <a:cubicBezTo>
                      <a:pt x="467712" y="34830"/>
                      <a:pt x="488093" y="34225"/>
                      <a:pt x="446568" y="42530"/>
                    </a:cubicBezTo>
                    <a:cubicBezTo>
                      <a:pt x="432475" y="45349"/>
                      <a:pt x="417981" y="46133"/>
                      <a:pt x="404038" y="49619"/>
                    </a:cubicBezTo>
                    <a:cubicBezTo>
                      <a:pt x="389540" y="53243"/>
                      <a:pt x="376161" y="60864"/>
                      <a:pt x="361507" y="63795"/>
                    </a:cubicBezTo>
                    <a:lnTo>
                      <a:pt x="326065" y="70884"/>
                    </a:lnTo>
                    <a:cubicBezTo>
                      <a:pt x="219080" y="49485"/>
                      <a:pt x="352440" y="76744"/>
                      <a:pt x="262270" y="56707"/>
                    </a:cubicBezTo>
                    <a:cubicBezTo>
                      <a:pt x="250509" y="54094"/>
                      <a:pt x="238451" y="52789"/>
                      <a:pt x="226828" y="49619"/>
                    </a:cubicBezTo>
                    <a:cubicBezTo>
                      <a:pt x="212411" y="45687"/>
                      <a:pt x="198475" y="40168"/>
                      <a:pt x="184298" y="35442"/>
                    </a:cubicBezTo>
                    <a:lnTo>
                      <a:pt x="163033" y="28354"/>
                    </a:lnTo>
                    <a:cubicBezTo>
                      <a:pt x="137042" y="30717"/>
                      <a:pt x="110980" y="32393"/>
                      <a:pt x="85061" y="35442"/>
                    </a:cubicBezTo>
                    <a:cubicBezTo>
                      <a:pt x="70815" y="37118"/>
                      <a:pt x="37629" y="41437"/>
                      <a:pt x="21265" y="49619"/>
                    </a:cubicBezTo>
                    <a:cubicBezTo>
                      <a:pt x="13645" y="53429"/>
                      <a:pt x="7088" y="59070"/>
                      <a:pt x="0" y="63795"/>
                    </a:cubicBezTo>
                    <a:cubicBezTo>
                      <a:pt x="51925" y="81105"/>
                      <a:pt x="-15833" y="60167"/>
                      <a:pt x="85061" y="77972"/>
                    </a:cubicBezTo>
                    <a:cubicBezTo>
                      <a:pt x="104249" y="81358"/>
                      <a:pt x="123284" y="85987"/>
                      <a:pt x="141768" y="92149"/>
                    </a:cubicBezTo>
                    <a:cubicBezTo>
                      <a:pt x="155945" y="96875"/>
                      <a:pt x="169505" y="104213"/>
                      <a:pt x="184298" y="106326"/>
                    </a:cubicBezTo>
                    <a:lnTo>
                      <a:pt x="233917" y="113414"/>
                    </a:lnTo>
                    <a:cubicBezTo>
                      <a:pt x="278810" y="111051"/>
                      <a:pt x="323825" y="110396"/>
                      <a:pt x="368596" y="106326"/>
                    </a:cubicBezTo>
                    <a:cubicBezTo>
                      <a:pt x="376037" y="105650"/>
                      <a:pt x="382567" y="100858"/>
                      <a:pt x="389861" y="99237"/>
                    </a:cubicBezTo>
                    <a:cubicBezTo>
                      <a:pt x="403891" y="96119"/>
                      <a:pt x="418214" y="94512"/>
                      <a:pt x="432391" y="92149"/>
                    </a:cubicBezTo>
                    <a:cubicBezTo>
                      <a:pt x="520875" y="109845"/>
                      <a:pt x="492750" y="107091"/>
                      <a:pt x="652131" y="92149"/>
                    </a:cubicBezTo>
                    <a:cubicBezTo>
                      <a:pt x="667009" y="90754"/>
                      <a:pt x="680484" y="82698"/>
                      <a:pt x="694661" y="77972"/>
                    </a:cubicBezTo>
                    <a:cubicBezTo>
                      <a:pt x="701749" y="75609"/>
                      <a:pt x="715926" y="78356"/>
                      <a:pt x="715926" y="70884"/>
                    </a:cubicBezTo>
                    <a:lnTo>
                      <a:pt x="715926" y="56707"/>
                    </a:lnTo>
                    <a:close/>
                  </a:path>
                </a:pathLst>
              </a:custGeom>
              <a:solidFill>
                <a:srgbClr val="67A6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dirty="0"/>
              </a:p>
            </p:txBody>
          </p:sp>
        </p:grpSp>
        <p:grpSp>
          <p:nvGrpSpPr>
            <p:cNvPr id="1206" name="Group 266">
              <a:extLst>
                <a:ext uri="{FF2B5EF4-FFF2-40B4-BE49-F238E27FC236}">
                  <a16:creationId xmlns:a16="http://schemas.microsoft.com/office/drawing/2014/main" id="{87E8B8EF-E5CE-C6EA-98C9-6C1483F08029}"/>
                </a:ext>
              </a:extLst>
            </p:cNvPr>
            <p:cNvGrpSpPr/>
            <p:nvPr/>
          </p:nvGrpSpPr>
          <p:grpSpPr>
            <a:xfrm flipH="1">
              <a:off x="5540138" y="1733667"/>
              <a:ext cx="109614" cy="648803"/>
              <a:chOff x="1611916" y="2139959"/>
              <a:chExt cx="264177" cy="1453393"/>
            </a:xfrm>
            <a:solidFill>
              <a:srgbClr val="0D0D0D">
                <a:alpha val="29804"/>
              </a:srgbClr>
            </a:solidFill>
          </p:grpSpPr>
          <p:sp>
            <p:nvSpPr>
              <p:cNvPr id="1255" name="Freeform 267">
                <a:extLst>
                  <a:ext uri="{FF2B5EF4-FFF2-40B4-BE49-F238E27FC236}">
                    <a16:creationId xmlns:a16="http://schemas.microsoft.com/office/drawing/2014/main" id="{DD0AE606-07EB-3479-FADF-B7A9A8E3F281}"/>
                  </a:ext>
                </a:extLst>
              </p:cNvPr>
              <p:cNvSpPr/>
              <p:nvPr/>
            </p:nvSpPr>
            <p:spPr>
              <a:xfrm>
                <a:off x="1614442" y="2139959"/>
                <a:ext cx="258475"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56" name="Freeform 268">
                <a:extLst>
                  <a:ext uri="{FF2B5EF4-FFF2-40B4-BE49-F238E27FC236}">
                    <a16:creationId xmlns:a16="http://schemas.microsoft.com/office/drawing/2014/main" id="{DBE51549-FA3C-7DEB-9E4C-CA84B9E8900D}"/>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7" name="Freeform 269">
                <a:extLst>
                  <a:ext uri="{FF2B5EF4-FFF2-40B4-BE49-F238E27FC236}">
                    <a16:creationId xmlns:a16="http://schemas.microsoft.com/office/drawing/2014/main" id="{CB9B7CE9-6A10-9A8E-8F9F-FAFFD2F6CBA8}"/>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8" name="Freeform 270">
                <a:extLst>
                  <a:ext uri="{FF2B5EF4-FFF2-40B4-BE49-F238E27FC236}">
                    <a16:creationId xmlns:a16="http://schemas.microsoft.com/office/drawing/2014/main" id="{D9B8B283-1F47-2ACA-3F99-6BA98FA60785}"/>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9" name="Freeform 271">
                <a:extLst>
                  <a:ext uri="{FF2B5EF4-FFF2-40B4-BE49-F238E27FC236}">
                    <a16:creationId xmlns:a16="http://schemas.microsoft.com/office/drawing/2014/main" id="{D69D10F2-4799-6F3A-46B5-EFAB3666311A}"/>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0" name="Freeform 272">
                <a:extLst>
                  <a:ext uri="{FF2B5EF4-FFF2-40B4-BE49-F238E27FC236}">
                    <a16:creationId xmlns:a16="http://schemas.microsoft.com/office/drawing/2014/main" id="{2E1E0833-500C-F02E-15F0-BDF8C0629183}"/>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1" name="Freeform 273">
                <a:extLst>
                  <a:ext uri="{FF2B5EF4-FFF2-40B4-BE49-F238E27FC236}">
                    <a16:creationId xmlns:a16="http://schemas.microsoft.com/office/drawing/2014/main" id="{9CC114DD-AF80-06EF-CD73-14C4A031B349}"/>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2" name="Freeform 274">
                <a:extLst>
                  <a:ext uri="{FF2B5EF4-FFF2-40B4-BE49-F238E27FC236}">
                    <a16:creationId xmlns:a16="http://schemas.microsoft.com/office/drawing/2014/main" id="{FBDD8BBA-E540-68E5-B4AF-D86C19FF73F0}"/>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3" name="Freeform 275">
                <a:extLst>
                  <a:ext uri="{FF2B5EF4-FFF2-40B4-BE49-F238E27FC236}">
                    <a16:creationId xmlns:a16="http://schemas.microsoft.com/office/drawing/2014/main" id="{34786673-A516-3DE1-3DFC-48B1DF45EE02}"/>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4" name="Freeform 276">
                <a:extLst>
                  <a:ext uri="{FF2B5EF4-FFF2-40B4-BE49-F238E27FC236}">
                    <a16:creationId xmlns:a16="http://schemas.microsoft.com/office/drawing/2014/main" id="{C0FE95DE-1E55-8A80-AD22-4E5B7F41F9D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5" name="Freeform 277">
                <a:extLst>
                  <a:ext uri="{FF2B5EF4-FFF2-40B4-BE49-F238E27FC236}">
                    <a16:creationId xmlns:a16="http://schemas.microsoft.com/office/drawing/2014/main" id="{697ACA1E-21BF-243A-537C-DF64EE199344}"/>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6" name="Freeform 278">
                <a:extLst>
                  <a:ext uri="{FF2B5EF4-FFF2-40B4-BE49-F238E27FC236}">
                    <a16:creationId xmlns:a16="http://schemas.microsoft.com/office/drawing/2014/main" id="{6500A50C-F705-9857-88E9-F3B7088AB7BD}"/>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7" name="Freeform 279">
                <a:extLst>
                  <a:ext uri="{FF2B5EF4-FFF2-40B4-BE49-F238E27FC236}">
                    <a16:creationId xmlns:a16="http://schemas.microsoft.com/office/drawing/2014/main" id="{CF1A6FC7-FB87-DF33-772F-0DCE8286553E}"/>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8" name="Freeform 280">
                <a:extLst>
                  <a:ext uri="{FF2B5EF4-FFF2-40B4-BE49-F238E27FC236}">
                    <a16:creationId xmlns:a16="http://schemas.microsoft.com/office/drawing/2014/main" id="{A96C0F22-AE05-C2A1-37DD-96084F448970}"/>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9" name="Freeform 281">
                <a:extLst>
                  <a:ext uri="{FF2B5EF4-FFF2-40B4-BE49-F238E27FC236}">
                    <a16:creationId xmlns:a16="http://schemas.microsoft.com/office/drawing/2014/main" id="{4B8A5F72-74F7-ED0A-A3B6-B96720907529}"/>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7" name="Group 282">
              <a:extLst>
                <a:ext uri="{FF2B5EF4-FFF2-40B4-BE49-F238E27FC236}">
                  <a16:creationId xmlns:a16="http://schemas.microsoft.com/office/drawing/2014/main" id="{8038E742-62F4-D7E1-C00C-B4DA949535B3}"/>
                </a:ext>
              </a:extLst>
            </p:cNvPr>
            <p:cNvGrpSpPr/>
            <p:nvPr/>
          </p:nvGrpSpPr>
          <p:grpSpPr>
            <a:xfrm flipH="1">
              <a:off x="5265725" y="1730687"/>
              <a:ext cx="144260" cy="642926"/>
              <a:chOff x="2073412" y="2165654"/>
              <a:chExt cx="314361" cy="1401954"/>
            </a:xfrm>
            <a:solidFill>
              <a:srgbClr val="0D0D0D">
                <a:alpha val="29804"/>
              </a:srgbClr>
            </a:solidFill>
          </p:grpSpPr>
          <p:sp>
            <p:nvSpPr>
              <p:cNvPr id="1241" name="Freeform 283">
                <a:extLst>
                  <a:ext uri="{FF2B5EF4-FFF2-40B4-BE49-F238E27FC236}">
                    <a16:creationId xmlns:a16="http://schemas.microsoft.com/office/drawing/2014/main" id="{1DF7DACB-0CF4-5E58-E439-A77EBED2C2C9}"/>
                  </a:ext>
                </a:extLst>
              </p:cNvPr>
              <p:cNvSpPr/>
              <p:nvPr/>
            </p:nvSpPr>
            <p:spPr>
              <a:xfrm>
                <a:off x="2076568" y="2165654"/>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42" name="Freeform 284">
                <a:extLst>
                  <a:ext uri="{FF2B5EF4-FFF2-40B4-BE49-F238E27FC236}">
                    <a16:creationId xmlns:a16="http://schemas.microsoft.com/office/drawing/2014/main" id="{9A733AE5-63A7-0A87-B878-EAC448D456D8}"/>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3" name="Freeform 285">
                <a:extLst>
                  <a:ext uri="{FF2B5EF4-FFF2-40B4-BE49-F238E27FC236}">
                    <a16:creationId xmlns:a16="http://schemas.microsoft.com/office/drawing/2014/main" id="{0450335C-4F6E-564F-714B-088F3C8E4C7D}"/>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4" name="Freeform 286">
                <a:extLst>
                  <a:ext uri="{FF2B5EF4-FFF2-40B4-BE49-F238E27FC236}">
                    <a16:creationId xmlns:a16="http://schemas.microsoft.com/office/drawing/2014/main" id="{D4B365BB-6C0C-1E0D-AB36-7F631128A0F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5" name="Freeform 287">
                <a:extLst>
                  <a:ext uri="{FF2B5EF4-FFF2-40B4-BE49-F238E27FC236}">
                    <a16:creationId xmlns:a16="http://schemas.microsoft.com/office/drawing/2014/main" id="{BACE909D-3AFD-63FA-38BA-817028BD88F9}"/>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6" name="Freeform 288">
                <a:extLst>
                  <a:ext uri="{FF2B5EF4-FFF2-40B4-BE49-F238E27FC236}">
                    <a16:creationId xmlns:a16="http://schemas.microsoft.com/office/drawing/2014/main" id="{6EC71D9E-CD2B-8C1D-CBAC-D09C79A6AD81}"/>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7" name="Freeform 289">
                <a:extLst>
                  <a:ext uri="{FF2B5EF4-FFF2-40B4-BE49-F238E27FC236}">
                    <a16:creationId xmlns:a16="http://schemas.microsoft.com/office/drawing/2014/main" id="{FE13DE66-F2EB-DAEB-4711-E2A6543BAA9F}"/>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8" name="Freeform 290">
                <a:extLst>
                  <a:ext uri="{FF2B5EF4-FFF2-40B4-BE49-F238E27FC236}">
                    <a16:creationId xmlns:a16="http://schemas.microsoft.com/office/drawing/2014/main" id="{37177888-3949-D91E-1C64-0E09C2435D2D}"/>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9" name="Freeform 291">
                <a:extLst>
                  <a:ext uri="{FF2B5EF4-FFF2-40B4-BE49-F238E27FC236}">
                    <a16:creationId xmlns:a16="http://schemas.microsoft.com/office/drawing/2014/main" id="{DCEEC3CA-C57B-8576-812D-CE456D619056}"/>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0" name="Freeform 292">
                <a:extLst>
                  <a:ext uri="{FF2B5EF4-FFF2-40B4-BE49-F238E27FC236}">
                    <a16:creationId xmlns:a16="http://schemas.microsoft.com/office/drawing/2014/main" id="{4C96F687-0D6B-F021-5883-5446A83E78AF}"/>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1" name="Freeform 293">
                <a:extLst>
                  <a:ext uri="{FF2B5EF4-FFF2-40B4-BE49-F238E27FC236}">
                    <a16:creationId xmlns:a16="http://schemas.microsoft.com/office/drawing/2014/main" id="{D6F3C29D-51D8-C5CA-7F3D-11E3221FF878}"/>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2" name="Freeform 294">
                <a:extLst>
                  <a:ext uri="{FF2B5EF4-FFF2-40B4-BE49-F238E27FC236}">
                    <a16:creationId xmlns:a16="http://schemas.microsoft.com/office/drawing/2014/main" id="{3EA6E02A-7814-D630-0B69-66B0EE02E11E}"/>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3" name="Freeform 295">
                <a:extLst>
                  <a:ext uri="{FF2B5EF4-FFF2-40B4-BE49-F238E27FC236}">
                    <a16:creationId xmlns:a16="http://schemas.microsoft.com/office/drawing/2014/main" id="{7013F5DB-C132-7F81-F647-267BDCC4AF37}"/>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54" name="Freeform 296">
                <a:extLst>
                  <a:ext uri="{FF2B5EF4-FFF2-40B4-BE49-F238E27FC236}">
                    <a16:creationId xmlns:a16="http://schemas.microsoft.com/office/drawing/2014/main" id="{31F9199A-4511-FD3E-AA67-A3B044A76509}"/>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8" name="Group 297">
              <a:extLst>
                <a:ext uri="{FF2B5EF4-FFF2-40B4-BE49-F238E27FC236}">
                  <a16:creationId xmlns:a16="http://schemas.microsoft.com/office/drawing/2014/main" id="{8CD89FA2-F2EA-AA7E-45DC-3B9E24CEECC4}"/>
                </a:ext>
              </a:extLst>
            </p:cNvPr>
            <p:cNvGrpSpPr/>
            <p:nvPr/>
          </p:nvGrpSpPr>
          <p:grpSpPr>
            <a:xfrm>
              <a:off x="4242702" y="1720736"/>
              <a:ext cx="117930" cy="648803"/>
              <a:chOff x="1611916" y="2139958"/>
              <a:chExt cx="264177" cy="1453393"/>
            </a:xfrm>
            <a:solidFill>
              <a:srgbClr val="0D0D0D">
                <a:alpha val="29804"/>
              </a:srgbClr>
            </a:solidFill>
          </p:grpSpPr>
          <p:sp>
            <p:nvSpPr>
              <p:cNvPr id="1226" name="Freeform 298">
                <a:extLst>
                  <a:ext uri="{FF2B5EF4-FFF2-40B4-BE49-F238E27FC236}">
                    <a16:creationId xmlns:a16="http://schemas.microsoft.com/office/drawing/2014/main" id="{86E564D2-892E-B373-A8EA-BDA8AA533D70}"/>
                  </a:ext>
                </a:extLst>
              </p:cNvPr>
              <p:cNvSpPr/>
              <p:nvPr/>
            </p:nvSpPr>
            <p:spPr>
              <a:xfrm>
                <a:off x="1614442" y="2139958"/>
                <a:ext cx="258474"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27" name="Freeform 299">
                <a:extLst>
                  <a:ext uri="{FF2B5EF4-FFF2-40B4-BE49-F238E27FC236}">
                    <a16:creationId xmlns:a16="http://schemas.microsoft.com/office/drawing/2014/main" id="{894F9C44-0903-7D30-5FD5-485B717BEB12}"/>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8" name="Freeform 300">
                <a:extLst>
                  <a:ext uri="{FF2B5EF4-FFF2-40B4-BE49-F238E27FC236}">
                    <a16:creationId xmlns:a16="http://schemas.microsoft.com/office/drawing/2014/main" id="{1EFE4691-3867-7A07-E08D-300022AA83A1}"/>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9" name="Freeform 301">
                <a:extLst>
                  <a:ext uri="{FF2B5EF4-FFF2-40B4-BE49-F238E27FC236}">
                    <a16:creationId xmlns:a16="http://schemas.microsoft.com/office/drawing/2014/main" id="{8728464E-41FB-CA45-C903-17B445130753}"/>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0" name="Freeform 302">
                <a:extLst>
                  <a:ext uri="{FF2B5EF4-FFF2-40B4-BE49-F238E27FC236}">
                    <a16:creationId xmlns:a16="http://schemas.microsoft.com/office/drawing/2014/main" id="{CB449712-0387-5F71-8BE6-FF1A0CAA6980}"/>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1" name="Freeform 303">
                <a:extLst>
                  <a:ext uri="{FF2B5EF4-FFF2-40B4-BE49-F238E27FC236}">
                    <a16:creationId xmlns:a16="http://schemas.microsoft.com/office/drawing/2014/main" id="{50E27FB9-A8E6-A665-A463-40A41D953652}"/>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2" name="Freeform 304">
                <a:extLst>
                  <a:ext uri="{FF2B5EF4-FFF2-40B4-BE49-F238E27FC236}">
                    <a16:creationId xmlns:a16="http://schemas.microsoft.com/office/drawing/2014/main" id="{2873C166-4094-B9DC-1F34-509224AD8D1F}"/>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3" name="Freeform 305">
                <a:extLst>
                  <a:ext uri="{FF2B5EF4-FFF2-40B4-BE49-F238E27FC236}">
                    <a16:creationId xmlns:a16="http://schemas.microsoft.com/office/drawing/2014/main" id="{DDDE6C7A-4D4B-13F1-CDBB-77FCD97E6C4C}"/>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4" name="Freeform 306">
                <a:extLst>
                  <a:ext uri="{FF2B5EF4-FFF2-40B4-BE49-F238E27FC236}">
                    <a16:creationId xmlns:a16="http://schemas.microsoft.com/office/drawing/2014/main" id="{A588BE03-2E5B-47E7-05A5-E76CF2B70F00}"/>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5" name="Freeform 307">
                <a:extLst>
                  <a:ext uri="{FF2B5EF4-FFF2-40B4-BE49-F238E27FC236}">
                    <a16:creationId xmlns:a16="http://schemas.microsoft.com/office/drawing/2014/main" id="{85DD8AD1-C599-6380-5626-F149CCEC7B0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6" name="Freeform 308">
                <a:extLst>
                  <a:ext uri="{FF2B5EF4-FFF2-40B4-BE49-F238E27FC236}">
                    <a16:creationId xmlns:a16="http://schemas.microsoft.com/office/drawing/2014/main" id="{20F1F06E-D02B-B601-87A2-0BA43FF19054}"/>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7" name="Freeform 309">
                <a:extLst>
                  <a:ext uri="{FF2B5EF4-FFF2-40B4-BE49-F238E27FC236}">
                    <a16:creationId xmlns:a16="http://schemas.microsoft.com/office/drawing/2014/main" id="{3092FB7B-A085-8827-34D4-E206AAD5E334}"/>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8" name="Freeform 310">
                <a:extLst>
                  <a:ext uri="{FF2B5EF4-FFF2-40B4-BE49-F238E27FC236}">
                    <a16:creationId xmlns:a16="http://schemas.microsoft.com/office/drawing/2014/main" id="{B5656339-DFC8-5CB2-BD79-7500D19DF5DF}"/>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9" name="Freeform 311">
                <a:extLst>
                  <a:ext uri="{FF2B5EF4-FFF2-40B4-BE49-F238E27FC236}">
                    <a16:creationId xmlns:a16="http://schemas.microsoft.com/office/drawing/2014/main" id="{5F7042CF-F23F-853D-8CF6-FBCFF6485409}"/>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0" name="Freeform 312">
                <a:extLst>
                  <a:ext uri="{FF2B5EF4-FFF2-40B4-BE49-F238E27FC236}">
                    <a16:creationId xmlns:a16="http://schemas.microsoft.com/office/drawing/2014/main" id="{F4C78BF5-57A9-96DD-13AA-A12405009AAE}"/>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9" name="Group 313">
              <a:extLst>
                <a:ext uri="{FF2B5EF4-FFF2-40B4-BE49-F238E27FC236}">
                  <a16:creationId xmlns:a16="http://schemas.microsoft.com/office/drawing/2014/main" id="{2765F26A-B9BE-6FD5-9AF2-7E6E3BB05272}"/>
                </a:ext>
              </a:extLst>
            </p:cNvPr>
            <p:cNvGrpSpPr/>
            <p:nvPr/>
          </p:nvGrpSpPr>
          <p:grpSpPr>
            <a:xfrm>
              <a:off x="4461909" y="1726612"/>
              <a:ext cx="144163" cy="642926"/>
              <a:chOff x="2073412" y="2165657"/>
              <a:chExt cx="314361" cy="1401954"/>
            </a:xfrm>
            <a:solidFill>
              <a:srgbClr val="0D0D0D">
                <a:alpha val="29804"/>
              </a:srgbClr>
            </a:solidFill>
          </p:grpSpPr>
          <p:sp>
            <p:nvSpPr>
              <p:cNvPr id="1212" name="Freeform 314">
                <a:extLst>
                  <a:ext uri="{FF2B5EF4-FFF2-40B4-BE49-F238E27FC236}">
                    <a16:creationId xmlns:a16="http://schemas.microsoft.com/office/drawing/2014/main" id="{D9409ECB-9645-359B-1190-FE6EE659ED88}"/>
                  </a:ext>
                </a:extLst>
              </p:cNvPr>
              <p:cNvSpPr/>
              <p:nvPr/>
            </p:nvSpPr>
            <p:spPr>
              <a:xfrm>
                <a:off x="2076568" y="2165657"/>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13" name="Freeform 315">
                <a:extLst>
                  <a:ext uri="{FF2B5EF4-FFF2-40B4-BE49-F238E27FC236}">
                    <a16:creationId xmlns:a16="http://schemas.microsoft.com/office/drawing/2014/main" id="{556827A0-E742-3FC1-7C0F-983C1A13CAE0}"/>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4" name="Freeform 316">
                <a:extLst>
                  <a:ext uri="{FF2B5EF4-FFF2-40B4-BE49-F238E27FC236}">
                    <a16:creationId xmlns:a16="http://schemas.microsoft.com/office/drawing/2014/main" id="{0D9896AA-62A8-9404-125D-345E241554EA}"/>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5" name="Freeform 317">
                <a:extLst>
                  <a:ext uri="{FF2B5EF4-FFF2-40B4-BE49-F238E27FC236}">
                    <a16:creationId xmlns:a16="http://schemas.microsoft.com/office/drawing/2014/main" id="{40786AF4-5697-99EF-B13F-7EA272D28AF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6" name="Freeform 318">
                <a:extLst>
                  <a:ext uri="{FF2B5EF4-FFF2-40B4-BE49-F238E27FC236}">
                    <a16:creationId xmlns:a16="http://schemas.microsoft.com/office/drawing/2014/main" id="{47AFAAAB-C707-0322-96E7-CD75942B7CEC}"/>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7" name="Freeform 319">
                <a:extLst>
                  <a:ext uri="{FF2B5EF4-FFF2-40B4-BE49-F238E27FC236}">
                    <a16:creationId xmlns:a16="http://schemas.microsoft.com/office/drawing/2014/main" id="{E162D320-BA8E-2BAC-DABE-19F5ECC01FFF}"/>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8" name="Freeform 320">
                <a:extLst>
                  <a:ext uri="{FF2B5EF4-FFF2-40B4-BE49-F238E27FC236}">
                    <a16:creationId xmlns:a16="http://schemas.microsoft.com/office/drawing/2014/main" id="{DA2582E1-E7C5-003F-F73D-3E5EA708A254}"/>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9" name="Freeform 321">
                <a:extLst>
                  <a:ext uri="{FF2B5EF4-FFF2-40B4-BE49-F238E27FC236}">
                    <a16:creationId xmlns:a16="http://schemas.microsoft.com/office/drawing/2014/main" id="{306CC503-69BD-88D7-80CF-889F58258CE2}"/>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0" name="Freeform 322">
                <a:extLst>
                  <a:ext uri="{FF2B5EF4-FFF2-40B4-BE49-F238E27FC236}">
                    <a16:creationId xmlns:a16="http://schemas.microsoft.com/office/drawing/2014/main" id="{2C15FFB4-BEE0-A031-6C03-F83551DD9ED6}"/>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1" name="Freeform 323">
                <a:extLst>
                  <a:ext uri="{FF2B5EF4-FFF2-40B4-BE49-F238E27FC236}">
                    <a16:creationId xmlns:a16="http://schemas.microsoft.com/office/drawing/2014/main" id="{774F4EB7-D51C-2FD6-1135-8CB0CD186A7A}"/>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2" name="Freeform 324">
                <a:extLst>
                  <a:ext uri="{FF2B5EF4-FFF2-40B4-BE49-F238E27FC236}">
                    <a16:creationId xmlns:a16="http://schemas.microsoft.com/office/drawing/2014/main" id="{079DB427-D28A-DD95-DB38-A2E4B72BA3DD}"/>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3" name="Freeform 325">
                <a:extLst>
                  <a:ext uri="{FF2B5EF4-FFF2-40B4-BE49-F238E27FC236}">
                    <a16:creationId xmlns:a16="http://schemas.microsoft.com/office/drawing/2014/main" id="{A58F5F60-BB0F-A699-86D1-80AC210BE890}"/>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4" name="Freeform 326">
                <a:extLst>
                  <a:ext uri="{FF2B5EF4-FFF2-40B4-BE49-F238E27FC236}">
                    <a16:creationId xmlns:a16="http://schemas.microsoft.com/office/drawing/2014/main" id="{E896B62F-C295-B098-B9B8-9D2D037A526B}"/>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25" name="Freeform 327">
                <a:extLst>
                  <a:ext uri="{FF2B5EF4-FFF2-40B4-BE49-F238E27FC236}">
                    <a16:creationId xmlns:a16="http://schemas.microsoft.com/office/drawing/2014/main" id="{1E7C590C-053B-A811-8C52-C1150B1A94E5}"/>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pic>
          <p:nvPicPr>
            <p:cNvPr id="1210" name="Picture 422">
              <a:extLst>
                <a:ext uri="{FF2B5EF4-FFF2-40B4-BE49-F238E27FC236}">
                  <a16:creationId xmlns:a16="http://schemas.microsoft.com/office/drawing/2014/main" id="{41EC5AAA-171B-B6CD-51E9-F67BE82C7473}"/>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5237208" y="1179926"/>
              <a:ext cx="495804" cy="429115"/>
            </a:xfrm>
            <a:prstGeom prst="rect">
              <a:avLst/>
            </a:prstGeom>
            <a:effectLst>
              <a:reflection endPos="0" dir="5400000" sy="-100000" algn="bl" rotWithShape="0"/>
            </a:effectLst>
          </p:spPr>
        </p:pic>
        <p:pic>
          <p:nvPicPr>
            <p:cNvPr id="1211" name="Picture 424">
              <a:extLst>
                <a:ext uri="{FF2B5EF4-FFF2-40B4-BE49-F238E27FC236}">
                  <a16:creationId xmlns:a16="http://schemas.microsoft.com/office/drawing/2014/main" id="{80996384-76C1-A9BB-86EA-88E998E9B498}"/>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4257340" y="1127900"/>
              <a:ext cx="461093" cy="481142"/>
            </a:xfrm>
            <a:prstGeom prst="rect">
              <a:avLst/>
            </a:prstGeom>
          </p:spPr>
        </p:pic>
      </p:grpSp>
      <p:pic>
        <p:nvPicPr>
          <p:cNvPr id="7" name="תמונה 6">
            <a:extLst>
              <a:ext uri="{FF2B5EF4-FFF2-40B4-BE49-F238E27FC236}">
                <a16:creationId xmlns:a16="http://schemas.microsoft.com/office/drawing/2014/main" id="{CCA08C63-607F-71C1-8821-9E3119AFC871}"/>
              </a:ext>
            </a:extLst>
          </p:cNvPr>
          <p:cNvPicPr>
            <a:picLocks noChangeAspect="1"/>
          </p:cNvPicPr>
          <p:nvPr/>
        </p:nvPicPr>
        <p:blipFill>
          <a:blip r:embed="rId26"/>
          <a:stretch>
            <a:fillRect/>
          </a:stretch>
        </p:blipFill>
        <p:spPr>
          <a:xfrm>
            <a:off x="9776305" y="3001254"/>
            <a:ext cx="2415695" cy="3305688"/>
          </a:xfrm>
          <a:prstGeom prst="rect">
            <a:avLst/>
          </a:prstGeom>
        </p:spPr>
      </p:pic>
      <p:grpSp>
        <p:nvGrpSpPr>
          <p:cNvPr id="1277" name="Group 55">
            <a:extLst>
              <a:ext uri="{FF2B5EF4-FFF2-40B4-BE49-F238E27FC236}">
                <a16:creationId xmlns:a16="http://schemas.microsoft.com/office/drawing/2014/main" id="{351387B1-5206-6FFB-7251-F5BFD0549E83}"/>
              </a:ext>
            </a:extLst>
          </p:cNvPr>
          <p:cNvGrpSpPr/>
          <p:nvPr/>
        </p:nvGrpSpPr>
        <p:grpSpPr>
          <a:xfrm>
            <a:off x="6074045" y="1057976"/>
            <a:ext cx="2265957" cy="1261886"/>
            <a:chOff x="74248" y="2131496"/>
            <a:chExt cx="2015916" cy="1192681"/>
          </a:xfrm>
        </p:grpSpPr>
        <p:sp>
          <p:nvSpPr>
            <p:cNvPr id="1278" name="Oval 80">
              <a:extLst>
                <a:ext uri="{FF2B5EF4-FFF2-40B4-BE49-F238E27FC236}">
                  <a16:creationId xmlns:a16="http://schemas.microsoft.com/office/drawing/2014/main" id="{EC024927-CA25-9617-46B1-5B1EEC39AC4A}"/>
                </a:ext>
              </a:extLst>
            </p:cNvPr>
            <p:cNvSpPr/>
            <p:nvPr/>
          </p:nvSpPr>
          <p:spPr>
            <a:xfrm rot="16200000">
              <a:off x="74247" y="2352678"/>
              <a:ext cx="971500" cy="971498"/>
            </a:xfrm>
            <a:prstGeom prst="ellipse">
              <a:avLst/>
            </a:prstGeom>
            <a:solidFill>
              <a:srgbClr val="89CBCE"/>
            </a:solidFill>
            <a:ln>
              <a:solidFill>
                <a:srgbClr val="4E92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sp>
          <p:nvSpPr>
            <p:cNvPr id="1279" name="Oval 81">
              <a:extLst>
                <a:ext uri="{FF2B5EF4-FFF2-40B4-BE49-F238E27FC236}">
                  <a16:creationId xmlns:a16="http://schemas.microsoft.com/office/drawing/2014/main" id="{5419663A-9A7E-9674-2021-F3669530279A}"/>
                </a:ext>
              </a:extLst>
            </p:cNvPr>
            <p:cNvSpPr/>
            <p:nvPr/>
          </p:nvSpPr>
          <p:spPr>
            <a:xfrm rot="16200000">
              <a:off x="1118665" y="2352678"/>
              <a:ext cx="971500" cy="971498"/>
            </a:xfrm>
            <a:prstGeom prst="ellipse">
              <a:avLst/>
            </a:prstGeom>
            <a:solidFill>
              <a:srgbClr val="FFD579"/>
            </a:solidFill>
            <a:ln>
              <a:solidFill>
                <a:srgbClr val="E8A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1440" dirty="0"/>
            </a:p>
          </p:txBody>
        </p:sp>
        <p:grpSp>
          <p:nvGrpSpPr>
            <p:cNvPr id="1280" name="Group 86">
              <a:extLst>
                <a:ext uri="{FF2B5EF4-FFF2-40B4-BE49-F238E27FC236}">
                  <a16:creationId xmlns:a16="http://schemas.microsoft.com/office/drawing/2014/main" id="{28C3184B-1BF0-FCDE-8937-77B8A373A2F0}"/>
                </a:ext>
              </a:extLst>
            </p:cNvPr>
            <p:cNvGrpSpPr/>
            <p:nvPr/>
          </p:nvGrpSpPr>
          <p:grpSpPr>
            <a:xfrm>
              <a:off x="411319" y="2610509"/>
              <a:ext cx="93496" cy="514376"/>
              <a:chOff x="1611916" y="2139958"/>
              <a:chExt cx="264177" cy="1453393"/>
            </a:xfrm>
            <a:solidFill>
              <a:srgbClr val="0D0D0D">
                <a:alpha val="29804"/>
              </a:srgbClr>
            </a:solidFill>
          </p:grpSpPr>
          <p:sp>
            <p:nvSpPr>
              <p:cNvPr id="1329" name="Freeform 104">
                <a:extLst>
                  <a:ext uri="{FF2B5EF4-FFF2-40B4-BE49-F238E27FC236}">
                    <a16:creationId xmlns:a16="http://schemas.microsoft.com/office/drawing/2014/main" id="{F5740138-7D44-F220-D604-3F8A1F33631E}"/>
                  </a:ext>
                </a:extLst>
              </p:cNvPr>
              <p:cNvSpPr/>
              <p:nvPr/>
            </p:nvSpPr>
            <p:spPr>
              <a:xfrm>
                <a:off x="1614442" y="2139958"/>
                <a:ext cx="258474"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30" name="Freeform 105">
                <a:extLst>
                  <a:ext uri="{FF2B5EF4-FFF2-40B4-BE49-F238E27FC236}">
                    <a16:creationId xmlns:a16="http://schemas.microsoft.com/office/drawing/2014/main" id="{471BBFD9-5583-E27D-F045-F60244D86E53}"/>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1" name="Freeform 106">
                <a:extLst>
                  <a:ext uri="{FF2B5EF4-FFF2-40B4-BE49-F238E27FC236}">
                    <a16:creationId xmlns:a16="http://schemas.microsoft.com/office/drawing/2014/main" id="{DE89287B-ED1B-9741-083D-DA4C7A9E4D54}"/>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2" name="Freeform 107">
                <a:extLst>
                  <a:ext uri="{FF2B5EF4-FFF2-40B4-BE49-F238E27FC236}">
                    <a16:creationId xmlns:a16="http://schemas.microsoft.com/office/drawing/2014/main" id="{0D2C1686-A51A-1B6D-D862-BAABE24284F1}"/>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3" name="Freeform 108">
                <a:extLst>
                  <a:ext uri="{FF2B5EF4-FFF2-40B4-BE49-F238E27FC236}">
                    <a16:creationId xmlns:a16="http://schemas.microsoft.com/office/drawing/2014/main" id="{0F515940-91F7-4E45-5BFB-637D63C3DC4A}"/>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4" name="Freeform 109">
                <a:extLst>
                  <a:ext uri="{FF2B5EF4-FFF2-40B4-BE49-F238E27FC236}">
                    <a16:creationId xmlns:a16="http://schemas.microsoft.com/office/drawing/2014/main" id="{82F388E9-D5D4-FFDB-3D40-C154F6A27F9A}"/>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5" name="Freeform 110">
                <a:extLst>
                  <a:ext uri="{FF2B5EF4-FFF2-40B4-BE49-F238E27FC236}">
                    <a16:creationId xmlns:a16="http://schemas.microsoft.com/office/drawing/2014/main" id="{66B2EF9D-D10C-337C-AF1F-28D274CBF4F1}"/>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6" name="Freeform 111">
                <a:extLst>
                  <a:ext uri="{FF2B5EF4-FFF2-40B4-BE49-F238E27FC236}">
                    <a16:creationId xmlns:a16="http://schemas.microsoft.com/office/drawing/2014/main" id="{7858BF68-B075-ED19-C2A9-A69173CAA6B9}"/>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7" name="Freeform 112">
                <a:extLst>
                  <a:ext uri="{FF2B5EF4-FFF2-40B4-BE49-F238E27FC236}">
                    <a16:creationId xmlns:a16="http://schemas.microsoft.com/office/drawing/2014/main" id="{5D73959F-720F-4607-21F5-03400643762F}"/>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8" name="Freeform 113">
                <a:extLst>
                  <a:ext uri="{FF2B5EF4-FFF2-40B4-BE49-F238E27FC236}">
                    <a16:creationId xmlns:a16="http://schemas.microsoft.com/office/drawing/2014/main" id="{48876CD6-D289-089E-55B8-B335B975769C}"/>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9" name="Freeform 114">
                <a:extLst>
                  <a:ext uri="{FF2B5EF4-FFF2-40B4-BE49-F238E27FC236}">
                    <a16:creationId xmlns:a16="http://schemas.microsoft.com/office/drawing/2014/main" id="{286CB99B-7777-864C-3DFD-334BB5F76D58}"/>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0" name="Freeform 115">
                <a:extLst>
                  <a:ext uri="{FF2B5EF4-FFF2-40B4-BE49-F238E27FC236}">
                    <a16:creationId xmlns:a16="http://schemas.microsoft.com/office/drawing/2014/main" id="{0959810F-1077-A37E-A035-DB2322D65013}"/>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1" name="Freeform 116">
                <a:extLst>
                  <a:ext uri="{FF2B5EF4-FFF2-40B4-BE49-F238E27FC236}">
                    <a16:creationId xmlns:a16="http://schemas.microsoft.com/office/drawing/2014/main" id="{81064DC1-7BF6-5E43-5007-CDDBF2CC8A21}"/>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2" name="Freeform 117">
                <a:extLst>
                  <a:ext uri="{FF2B5EF4-FFF2-40B4-BE49-F238E27FC236}">
                    <a16:creationId xmlns:a16="http://schemas.microsoft.com/office/drawing/2014/main" id="{8800FA26-36CF-E942-FB6F-56740E2E5E1F}"/>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3" name="Freeform 118">
                <a:extLst>
                  <a:ext uri="{FF2B5EF4-FFF2-40B4-BE49-F238E27FC236}">
                    <a16:creationId xmlns:a16="http://schemas.microsoft.com/office/drawing/2014/main" id="{F89439F2-5A45-D7BF-055E-1CE24B9DD966}"/>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81" name="Group 87">
              <a:extLst>
                <a:ext uri="{FF2B5EF4-FFF2-40B4-BE49-F238E27FC236}">
                  <a16:creationId xmlns:a16="http://schemas.microsoft.com/office/drawing/2014/main" id="{EA945CA3-0A34-C50F-6E3E-128497C8F9AC}"/>
                </a:ext>
              </a:extLst>
            </p:cNvPr>
            <p:cNvGrpSpPr/>
            <p:nvPr/>
          </p:nvGrpSpPr>
          <p:grpSpPr>
            <a:xfrm>
              <a:off x="585108" y="2615167"/>
              <a:ext cx="114294" cy="509717"/>
              <a:chOff x="2073412" y="2165657"/>
              <a:chExt cx="314361" cy="1401954"/>
            </a:xfrm>
            <a:solidFill>
              <a:srgbClr val="0D0D0D">
                <a:alpha val="29804"/>
              </a:srgbClr>
            </a:solidFill>
          </p:grpSpPr>
          <p:sp>
            <p:nvSpPr>
              <p:cNvPr id="1315" name="Freeform 90">
                <a:extLst>
                  <a:ext uri="{FF2B5EF4-FFF2-40B4-BE49-F238E27FC236}">
                    <a16:creationId xmlns:a16="http://schemas.microsoft.com/office/drawing/2014/main" id="{51094081-D277-3455-018A-979029FE9004}"/>
                  </a:ext>
                </a:extLst>
              </p:cNvPr>
              <p:cNvSpPr/>
              <p:nvPr/>
            </p:nvSpPr>
            <p:spPr>
              <a:xfrm>
                <a:off x="2076568" y="2165657"/>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16" name="Freeform 91">
                <a:extLst>
                  <a:ext uri="{FF2B5EF4-FFF2-40B4-BE49-F238E27FC236}">
                    <a16:creationId xmlns:a16="http://schemas.microsoft.com/office/drawing/2014/main" id="{3FFA2CB7-CE93-AE78-DFDB-82AF6B283FB3}"/>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7" name="Freeform 92">
                <a:extLst>
                  <a:ext uri="{FF2B5EF4-FFF2-40B4-BE49-F238E27FC236}">
                    <a16:creationId xmlns:a16="http://schemas.microsoft.com/office/drawing/2014/main" id="{D1C22F0C-BBD2-C33A-B92F-85E0187FD340}"/>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8" name="Freeform 93">
                <a:extLst>
                  <a:ext uri="{FF2B5EF4-FFF2-40B4-BE49-F238E27FC236}">
                    <a16:creationId xmlns:a16="http://schemas.microsoft.com/office/drawing/2014/main" id="{52A8930E-B391-7CD3-7819-E0A94D6693A9}"/>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9" name="Freeform 94">
                <a:extLst>
                  <a:ext uri="{FF2B5EF4-FFF2-40B4-BE49-F238E27FC236}">
                    <a16:creationId xmlns:a16="http://schemas.microsoft.com/office/drawing/2014/main" id="{59765C5A-0578-BF61-2AB3-8758DA2F7EBD}"/>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0" name="Freeform 95">
                <a:extLst>
                  <a:ext uri="{FF2B5EF4-FFF2-40B4-BE49-F238E27FC236}">
                    <a16:creationId xmlns:a16="http://schemas.microsoft.com/office/drawing/2014/main" id="{D82B1199-5EF1-F799-EC3F-F8EF295A9282}"/>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1" name="Freeform 96">
                <a:extLst>
                  <a:ext uri="{FF2B5EF4-FFF2-40B4-BE49-F238E27FC236}">
                    <a16:creationId xmlns:a16="http://schemas.microsoft.com/office/drawing/2014/main" id="{445AE18D-F1A5-C610-B896-37B93C8DF28E}"/>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2" name="Freeform 97">
                <a:extLst>
                  <a:ext uri="{FF2B5EF4-FFF2-40B4-BE49-F238E27FC236}">
                    <a16:creationId xmlns:a16="http://schemas.microsoft.com/office/drawing/2014/main" id="{FBBEF61D-4DA6-DBD2-EB62-730D9D0A6AEE}"/>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3" name="Freeform 98">
                <a:extLst>
                  <a:ext uri="{FF2B5EF4-FFF2-40B4-BE49-F238E27FC236}">
                    <a16:creationId xmlns:a16="http://schemas.microsoft.com/office/drawing/2014/main" id="{FC097E0B-B1FB-38F5-5F9D-09871677D6C8}"/>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4" name="Freeform 99">
                <a:extLst>
                  <a:ext uri="{FF2B5EF4-FFF2-40B4-BE49-F238E27FC236}">
                    <a16:creationId xmlns:a16="http://schemas.microsoft.com/office/drawing/2014/main" id="{C25B8B77-2471-F001-344C-77557FDE56C7}"/>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5" name="Freeform 100">
                <a:extLst>
                  <a:ext uri="{FF2B5EF4-FFF2-40B4-BE49-F238E27FC236}">
                    <a16:creationId xmlns:a16="http://schemas.microsoft.com/office/drawing/2014/main" id="{D99F2FD5-D7C0-9BED-2C21-7930FFDD40D3}"/>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6" name="Freeform 101">
                <a:extLst>
                  <a:ext uri="{FF2B5EF4-FFF2-40B4-BE49-F238E27FC236}">
                    <a16:creationId xmlns:a16="http://schemas.microsoft.com/office/drawing/2014/main" id="{7AD8B64E-57C5-EB97-9804-659F8317326B}"/>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7" name="Freeform 102">
                <a:extLst>
                  <a:ext uri="{FF2B5EF4-FFF2-40B4-BE49-F238E27FC236}">
                    <a16:creationId xmlns:a16="http://schemas.microsoft.com/office/drawing/2014/main" id="{91A19915-1CBD-408C-F969-CD01336999FA}"/>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28" name="Freeform 103">
                <a:extLst>
                  <a:ext uri="{FF2B5EF4-FFF2-40B4-BE49-F238E27FC236}">
                    <a16:creationId xmlns:a16="http://schemas.microsoft.com/office/drawing/2014/main" id="{601FCDEC-9326-458E-CBF5-7A1363B8D790}"/>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pic>
          <p:nvPicPr>
            <p:cNvPr id="1282" name="Picture 89">
              <a:extLst>
                <a:ext uri="{FF2B5EF4-FFF2-40B4-BE49-F238E27FC236}">
                  <a16:creationId xmlns:a16="http://schemas.microsoft.com/office/drawing/2014/main" id="{9CEDFB22-16A6-176E-12A9-066067ABE02B}"/>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421394" y="2131496"/>
              <a:ext cx="365558" cy="381453"/>
            </a:xfrm>
            <a:prstGeom prst="rect">
              <a:avLst/>
            </a:prstGeom>
          </p:spPr>
        </p:pic>
        <p:grpSp>
          <p:nvGrpSpPr>
            <p:cNvPr id="1283" name="Group 84">
              <a:extLst>
                <a:ext uri="{FF2B5EF4-FFF2-40B4-BE49-F238E27FC236}">
                  <a16:creationId xmlns:a16="http://schemas.microsoft.com/office/drawing/2014/main" id="{E0EE50EF-D390-8C29-7E5E-3EC9383EEA7C}"/>
                </a:ext>
              </a:extLst>
            </p:cNvPr>
            <p:cNvGrpSpPr/>
            <p:nvPr/>
          </p:nvGrpSpPr>
          <p:grpSpPr>
            <a:xfrm flipH="1">
              <a:off x="1648119" y="2622854"/>
              <a:ext cx="86903" cy="514376"/>
              <a:chOff x="1611916" y="2139959"/>
              <a:chExt cx="264177" cy="1453393"/>
            </a:xfrm>
            <a:solidFill>
              <a:srgbClr val="0D0D0D">
                <a:alpha val="29804"/>
              </a:srgbClr>
            </a:solidFill>
          </p:grpSpPr>
          <p:sp>
            <p:nvSpPr>
              <p:cNvPr id="1300" name="Freeform 135">
                <a:extLst>
                  <a:ext uri="{FF2B5EF4-FFF2-40B4-BE49-F238E27FC236}">
                    <a16:creationId xmlns:a16="http://schemas.microsoft.com/office/drawing/2014/main" id="{973EA77D-F7F0-DE01-4746-A90E9C1B40E8}"/>
                  </a:ext>
                </a:extLst>
              </p:cNvPr>
              <p:cNvSpPr/>
              <p:nvPr/>
            </p:nvSpPr>
            <p:spPr>
              <a:xfrm>
                <a:off x="1614442" y="2139959"/>
                <a:ext cx="258475"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01" name="Freeform 136">
                <a:extLst>
                  <a:ext uri="{FF2B5EF4-FFF2-40B4-BE49-F238E27FC236}">
                    <a16:creationId xmlns:a16="http://schemas.microsoft.com/office/drawing/2014/main" id="{FDDE6EEC-7D69-0720-8FE8-426E335B754F}"/>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2" name="Freeform 137">
                <a:extLst>
                  <a:ext uri="{FF2B5EF4-FFF2-40B4-BE49-F238E27FC236}">
                    <a16:creationId xmlns:a16="http://schemas.microsoft.com/office/drawing/2014/main" id="{9D475F17-EB25-74F8-A457-3195C3C34CCD}"/>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3" name="Freeform 139">
                <a:extLst>
                  <a:ext uri="{FF2B5EF4-FFF2-40B4-BE49-F238E27FC236}">
                    <a16:creationId xmlns:a16="http://schemas.microsoft.com/office/drawing/2014/main" id="{80F103AD-DFDC-F3D9-828F-A59C7B27FA5F}"/>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4" name="Freeform 140">
                <a:extLst>
                  <a:ext uri="{FF2B5EF4-FFF2-40B4-BE49-F238E27FC236}">
                    <a16:creationId xmlns:a16="http://schemas.microsoft.com/office/drawing/2014/main" id="{F75C03D9-0A97-D7F9-B888-C48798465311}"/>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5" name="Freeform 145">
                <a:extLst>
                  <a:ext uri="{FF2B5EF4-FFF2-40B4-BE49-F238E27FC236}">
                    <a16:creationId xmlns:a16="http://schemas.microsoft.com/office/drawing/2014/main" id="{87F1FBB8-14AE-554D-DD00-C25D6F47F0D3}"/>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6" name="Freeform 146">
                <a:extLst>
                  <a:ext uri="{FF2B5EF4-FFF2-40B4-BE49-F238E27FC236}">
                    <a16:creationId xmlns:a16="http://schemas.microsoft.com/office/drawing/2014/main" id="{0E944CF5-F51C-05DD-42E2-2D043D4E0187}"/>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7" name="Freeform 147">
                <a:extLst>
                  <a:ext uri="{FF2B5EF4-FFF2-40B4-BE49-F238E27FC236}">
                    <a16:creationId xmlns:a16="http://schemas.microsoft.com/office/drawing/2014/main" id="{8F01DDF5-13BF-DB29-6830-6A8010AA597C}"/>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8" name="Freeform 148">
                <a:extLst>
                  <a:ext uri="{FF2B5EF4-FFF2-40B4-BE49-F238E27FC236}">
                    <a16:creationId xmlns:a16="http://schemas.microsoft.com/office/drawing/2014/main" id="{4995810F-06C4-585A-940E-5B91090389FE}"/>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9" name="Freeform 150">
                <a:extLst>
                  <a:ext uri="{FF2B5EF4-FFF2-40B4-BE49-F238E27FC236}">
                    <a16:creationId xmlns:a16="http://schemas.microsoft.com/office/drawing/2014/main" id="{73486C29-45FA-292A-567D-F61D29C88B35}"/>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0" name="Freeform 151">
                <a:extLst>
                  <a:ext uri="{FF2B5EF4-FFF2-40B4-BE49-F238E27FC236}">
                    <a16:creationId xmlns:a16="http://schemas.microsoft.com/office/drawing/2014/main" id="{3EE5FFBF-5B0E-B13A-EE1C-5015DFF699A8}"/>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1" name="Freeform 155">
                <a:extLst>
                  <a:ext uri="{FF2B5EF4-FFF2-40B4-BE49-F238E27FC236}">
                    <a16:creationId xmlns:a16="http://schemas.microsoft.com/office/drawing/2014/main" id="{DE70B84E-3C70-551E-ACF7-8D283DA60BF2}"/>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2" name="Freeform 156">
                <a:extLst>
                  <a:ext uri="{FF2B5EF4-FFF2-40B4-BE49-F238E27FC236}">
                    <a16:creationId xmlns:a16="http://schemas.microsoft.com/office/drawing/2014/main" id="{AE3FFB84-3EBE-2C85-DD4F-E860F67D6398}"/>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3" name="Freeform 157">
                <a:extLst>
                  <a:ext uri="{FF2B5EF4-FFF2-40B4-BE49-F238E27FC236}">
                    <a16:creationId xmlns:a16="http://schemas.microsoft.com/office/drawing/2014/main" id="{02C678DF-F15A-6578-0120-8373A0EDAF46}"/>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4" name="Freeform 158">
                <a:extLst>
                  <a:ext uri="{FF2B5EF4-FFF2-40B4-BE49-F238E27FC236}">
                    <a16:creationId xmlns:a16="http://schemas.microsoft.com/office/drawing/2014/main" id="{31849A23-429D-11BD-8070-AEC5CD82C311}"/>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84" name="Group 85">
              <a:extLst>
                <a:ext uri="{FF2B5EF4-FFF2-40B4-BE49-F238E27FC236}">
                  <a16:creationId xmlns:a16="http://schemas.microsoft.com/office/drawing/2014/main" id="{967D59DF-23A6-4868-4F12-79043E5193AF}"/>
                </a:ext>
              </a:extLst>
            </p:cNvPr>
            <p:cNvGrpSpPr/>
            <p:nvPr/>
          </p:nvGrpSpPr>
          <p:grpSpPr>
            <a:xfrm flipH="1">
              <a:off x="1430562" y="2620492"/>
              <a:ext cx="114370" cy="509717"/>
              <a:chOff x="2073412" y="2165654"/>
              <a:chExt cx="314361" cy="1401954"/>
            </a:xfrm>
            <a:solidFill>
              <a:srgbClr val="0D0D0D">
                <a:alpha val="29804"/>
              </a:srgbClr>
            </a:solidFill>
          </p:grpSpPr>
          <p:sp>
            <p:nvSpPr>
              <p:cNvPr id="1286" name="Freeform 119">
                <a:extLst>
                  <a:ext uri="{FF2B5EF4-FFF2-40B4-BE49-F238E27FC236}">
                    <a16:creationId xmlns:a16="http://schemas.microsoft.com/office/drawing/2014/main" id="{96387112-5280-FA8A-E96C-E7646F93EBC5}"/>
                  </a:ext>
                </a:extLst>
              </p:cNvPr>
              <p:cNvSpPr/>
              <p:nvPr/>
            </p:nvSpPr>
            <p:spPr>
              <a:xfrm>
                <a:off x="2076568" y="2165654"/>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87" name="Freeform 120">
                <a:extLst>
                  <a:ext uri="{FF2B5EF4-FFF2-40B4-BE49-F238E27FC236}">
                    <a16:creationId xmlns:a16="http://schemas.microsoft.com/office/drawing/2014/main" id="{F58BAA71-2A27-682A-372C-1E4EE08FBC76}"/>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88" name="Freeform 121">
                <a:extLst>
                  <a:ext uri="{FF2B5EF4-FFF2-40B4-BE49-F238E27FC236}">
                    <a16:creationId xmlns:a16="http://schemas.microsoft.com/office/drawing/2014/main" id="{1229B99B-80CA-8DF9-C74D-6F59B55F3EA2}"/>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89" name="Freeform 123">
                <a:extLst>
                  <a:ext uri="{FF2B5EF4-FFF2-40B4-BE49-F238E27FC236}">
                    <a16:creationId xmlns:a16="http://schemas.microsoft.com/office/drawing/2014/main" id="{712B9CB6-BBC4-9C6C-4262-E58D68BD111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0" name="Freeform 124">
                <a:extLst>
                  <a:ext uri="{FF2B5EF4-FFF2-40B4-BE49-F238E27FC236}">
                    <a16:creationId xmlns:a16="http://schemas.microsoft.com/office/drawing/2014/main" id="{4C571FF2-2224-A49D-8A78-D3E3C0516191}"/>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1" name="Freeform 125">
                <a:extLst>
                  <a:ext uri="{FF2B5EF4-FFF2-40B4-BE49-F238E27FC236}">
                    <a16:creationId xmlns:a16="http://schemas.microsoft.com/office/drawing/2014/main" id="{F48F56B1-116E-F0B0-B047-724906C26CFE}"/>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2" name="Freeform 126">
                <a:extLst>
                  <a:ext uri="{FF2B5EF4-FFF2-40B4-BE49-F238E27FC236}">
                    <a16:creationId xmlns:a16="http://schemas.microsoft.com/office/drawing/2014/main" id="{0DA83A45-AEF6-3D55-0BC6-87E6BA2015B6}"/>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3" name="Freeform 127">
                <a:extLst>
                  <a:ext uri="{FF2B5EF4-FFF2-40B4-BE49-F238E27FC236}">
                    <a16:creationId xmlns:a16="http://schemas.microsoft.com/office/drawing/2014/main" id="{8B24B2C5-BE7C-A4AC-A205-16546B501C52}"/>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4" name="Freeform 128">
                <a:extLst>
                  <a:ext uri="{FF2B5EF4-FFF2-40B4-BE49-F238E27FC236}">
                    <a16:creationId xmlns:a16="http://schemas.microsoft.com/office/drawing/2014/main" id="{8A365356-E20B-C88A-D4B8-522547A767A8}"/>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5" name="Freeform 129">
                <a:extLst>
                  <a:ext uri="{FF2B5EF4-FFF2-40B4-BE49-F238E27FC236}">
                    <a16:creationId xmlns:a16="http://schemas.microsoft.com/office/drawing/2014/main" id="{A0132A0E-D085-DF50-D778-310C4EA3FA35}"/>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6" name="Freeform 131">
                <a:extLst>
                  <a:ext uri="{FF2B5EF4-FFF2-40B4-BE49-F238E27FC236}">
                    <a16:creationId xmlns:a16="http://schemas.microsoft.com/office/drawing/2014/main" id="{4BD6D2A1-E01C-56F4-0BD1-A007304D0A3F}"/>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7" name="Freeform 132">
                <a:extLst>
                  <a:ext uri="{FF2B5EF4-FFF2-40B4-BE49-F238E27FC236}">
                    <a16:creationId xmlns:a16="http://schemas.microsoft.com/office/drawing/2014/main" id="{B5FDF354-86E3-8841-DA67-D79A93C0DD1E}"/>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8" name="Freeform 133">
                <a:extLst>
                  <a:ext uri="{FF2B5EF4-FFF2-40B4-BE49-F238E27FC236}">
                    <a16:creationId xmlns:a16="http://schemas.microsoft.com/office/drawing/2014/main" id="{9DCE110B-286D-7BE2-16DA-B43FED3BB775}"/>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99" name="Freeform 134">
                <a:extLst>
                  <a:ext uri="{FF2B5EF4-FFF2-40B4-BE49-F238E27FC236}">
                    <a16:creationId xmlns:a16="http://schemas.microsoft.com/office/drawing/2014/main" id="{0FF76932-AA7C-3272-A472-DDF137C7821D}"/>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a:p>
            </p:txBody>
          </p:sp>
        </p:grpSp>
        <p:pic>
          <p:nvPicPr>
            <p:cNvPr id="1285" name="Picture 88">
              <a:extLst>
                <a:ext uri="{FF2B5EF4-FFF2-40B4-BE49-F238E27FC236}">
                  <a16:creationId xmlns:a16="http://schemas.microsoft.com/office/drawing/2014/main" id="{1EDBF978-B04F-49C2-0C82-E1E495B7B765}"/>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1410051" y="2172742"/>
              <a:ext cx="393077" cy="340207"/>
            </a:xfrm>
            <a:prstGeom prst="rect">
              <a:avLst/>
            </a:prstGeom>
            <a:effectLst>
              <a:reflection endPos="0" dir="5400000" sy="-100000" algn="bl" rotWithShape="0"/>
            </a:effectLst>
          </p:spPr>
        </p:pic>
      </p:grpSp>
      <p:grpSp>
        <p:nvGrpSpPr>
          <p:cNvPr id="1344" name="Group 175">
            <a:extLst>
              <a:ext uri="{FF2B5EF4-FFF2-40B4-BE49-F238E27FC236}">
                <a16:creationId xmlns:a16="http://schemas.microsoft.com/office/drawing/2014/main" id="{EF97EF15-DD68-53A7-AA29-79C35B4BEDEA}"/>
              </a:ext>
            </a:extLst>
          </p:cNvPr>
          <p:cNvGrpSpPr/>
          <p:nvPr/>
        </p:nvGrpSpPr>
        <p:grpSpPr>
          <a:xfrm>
            <a:off x="8426084" y="1291990"/>
            <a:ext cx="1086115" cy="1078197"/>
            <a:chOff x="2980599" y="1597222"/>
            <a:chExt cx="814586" cy="808648"/>
          </a:xfrm>
        </p:grpSpPr>
        <p:sp>
          <p:nvSpPr>
            <p:cNvPr id="1345" name="Striped Right Arrow 169">
              <a:extLst>
                <a:ext uri="{FF2B5EF4-FFF2-40B4-BE49-F238E27FC236}">
                  <a16:creationId xmlns:a16="http://schemas.microsoft.com/office/drawing/2014/main" id="{1FC4277D-934C-C98D-1590-D93BBCDD6A6A}"/>
                </a:ext>
              </a:extLst>
            </p:cNvPr>
            <p:cNvSpPr/>
            <p:nvPr/>
          </p:nvSpPr>
          <p:spPr>
            <a:xfrm>
              <a:off x="2980599" y="1597222"/>
              <a:ext cx="761602" cy="808648"/>
            </a:xfrm>
            <a:prstGeom prst="striped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880" dirty="0"/>
            </a:p>
          </p:txBody>
        </p:sp>
        <p:sp>
          <p:nvSpPr>
            <p:cNvPr id="1346" name="TextBox 171">
              <a:extLst>
                <a:ext uri="{FF2B5EF4-FFF2-40B4-BE49-F238E27FC236}">
                  <a16:creationId xmlns:a16="http://schemas.microsoft.com/office/drawing/2014/main" id="{E1FC4374-B2A3-0A6B-8113-3DE895C7FD98}"/>
                </a:ext>
              </a:extLst>
            </p:cNvPr>
            <p:cNvSpPr txBox="1"/>
            <p:nvPr/>
          </p:nvSpPr>
          <p:spPr>
            <a:xfrm>
              <a:off x="3025571" y="1841010"/>
              <a:ext cx="769614" cy="284742"/>
            </a:xfrm>
            <a:prstGeom prst="rect">
              <a:avLst/>
            </a:prstGeom>
            <a:noFill/>
          </p:spPr>
          <p:txBody>
            <a:bodyPr wrap="square">
              <a:spAutoFit/>
            </a:bodyPr>
            <a:lstStyle/>
            <a:p>
              <a:r>
                <a:rPr lang="en-US" sz="1867" dirty="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Fusion</a:t>
              </a:r>
              <a:endParaRPr lang="en-IL" sz="2133" dirty="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sp>
        <p:nvSpPr>
          <p:cNvPr id="1350" name="Title 20">
            <a:extLst>
              <a:ext uri="{FF2B5EF4-FFF2-40B4-BE49-F238E27FC236}">
                <a16:creationId xmlns:a16="http://schemas.microsoft.com/office/drawing/2014/main" id="{FE72AE43-4D76-1266-6FFB-50D20CBDE4DA}"/>
              </a:ext>
            </a:extLst>
          </p:cNvPr>
          <p:cNvSpPr txBox="1">
            <a:spLocks/>
          </p:cNvSpPr>
          <p:nvPr/>
        </p:nvSpPr>
        <p:spPr>
          <a:xfrm>
            <a:off x="12787" y="8394699"/>
            <a:ext cx="3608236" cy="675725"/>
          </a:xfrm>
          <a:prstGeom prst="rect">
            <a:avLst/>
          </a:prstGeom>
        </p:spPr>
        <p:txBody>
          <a:bodyPr vert="horz" lIns="121920" tIns="60960" rIns="121920" bIns="60960" rtlCol="1" anchor="b">
            <a:noAutofit/>
          </a:bodyPr>
          <a:lstStyle/>
          <a:p>
            <a:pPr rtl="0">
              <a:spcBef>
                <a:spcPct val="0"/>
              </a:spcBef>
              <a:defRPr/>
            </a:pP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Gokhman et al., </a:t>
            </a:r>
            <a:r>
              <a:rPr lang="en-US" sz="1467" i="1"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Nature Genetics</a:t>
            </a: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 2021</a:t>
            </a:r>
          </a:p>
          <a:p>
            <a:pPr rtl="0">
              <a:spcBef>
                <a:spcPct val="0"/>
              </a:spcBef>
              <a:defRPr/>
            </a:pP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Agoglia et al., </a:t>
            </a:r>
            <a:r>
              <a:rPr lang="en-US" sz="1467" i="1"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Nature</a:t>
            </a: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 2021</a:t>
            </a:r>
          </a:p>
        </p:txBody>
      </p:sp>
      <p:grpSp>
        <p:nvGrpSpPr>
          <p:cNvPr id="1351" name="Group 4">
            <a:extLst>
              <a:ext uri="{FF2B5EF4-FFF2-40B4-BE49-F238E27FC236}">
                <a16:creationId xmlns:a16="http://schemas.microsoft.com/office/drawing/2014/main" id="{B8EAED6C-E4EF-61F6-D561-6963DECC46CB}"/>
              </a:ext>
            </a:extLst>
          </p:cNvPr>
          <p:cNvGrpSpPr/>
          <p:nvPr/>
        </p:nvGrpSpPr>
        <p:grpSpPr>
          <a:xfrm>
            <a:off x="6185179" y="2824143"/>
            <a:ext cx="3827018" cy="3896302"/>
            <a:chOff x="7047754" y="1922422"/>
            <a:chExt cx="1481271" cy="1481271"/>
          </a:xfrm>
        </p:grpSpPr>
        <p:sp>
          <p:nvSpPr>
            <p:cNvPr id="1352" name="Oval 83">
              <a:extLst>
                <a:ext uri="{FF2B5EF4-FFF2-40B4-BE49-F238E27FC236}">
                  <a16:creationId xmlns:a16="http://schemas.microsoft.com/office/drawing/2014/main" id="{A378CD4E-0E08-E9BE-0320-231DFA8A400E}"/>
                </a:ext>
              </a:extLst>
            </p:cNvPr>
            <p:cNvSpPr/>
            <p:nvPr/>
          </p:nvSpPr>
          <p:spPr>
            <a:xfrm>
              <a:off x="7047754" y="1922423"/>
              <a:ext cx="1481271" cy="1481270"/>
            </a:xfrm>
            <a:prstGeom prst="ellipse">
              <a:avLst/>
            </a:prstGeom>
            <a:solidFill>
              <a:srgbClr val="A3D1A8"/>
            </a:solidFill>
            <a:ln>
              <a:solidFill>
                <a:srgbClr val="4E8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1440" dirty="0"/>
            </a:p>
          </p:txBody>
        </p:sp>
        <p:grpSp>
          <p:nvGrpSpPr>
            <p:cNvPr id="1353" name="Group 328">
              <a:extLst>
                <a:ext uri="{FF2B5EF4-FFF2-40B4-BE49-F238E27FC236}">
                  <a16:creationId xmlns:a16="http://schemas.microsoft.com/office/drawing/2014/main" id="{B77A29C2-6E75-B674-7C03-C4D0D0CE2642}"/>
                </a:ext>
              </a:extLst>
            </p:cNvPr>
            <p:cNvGrpSpPr/>
            <p:nvPr/>
          </p:nvGrpSpPr>
          <p:grpSpPr>
            <a:xfrm>
              <a:off x="8131638" y="2424371"/>
              <a:ext cx="135223" cy="743943"/>
              <a:chOff x="1611916" y="2139960"/>
              <a:chExt cx="264177" cy="1453392"/>
            </a:xfrm>
            <a:solidFill>
              <a:srgbClr val="0D0D0D">
                <a:alpha val="29804"/>
              </a:srgbClr>
            </a:solidFill>
          </p:grpSpPr>
          <p:sp>
            <p:nvSpPr>
              <p:cNvPr id="1402" name="Freeform 329">
                <a:extLst>
                  <a:ext uri="{FF2B5EF4-FFF2-40B4-BE49-F238E27FC236}">
                    <a16:creationId xmlns:a16="http://schemas.microsoft.com/office/drawing/2014/main" id="{48CE2282-D626-0A85-2FA3-2EA72D53AEDE}"/>
                  </a:ext>
                </a:extLst>
              </p:cNvPr>
              <p:cNvSpPr/>
              <p:nvPr/>
            </p:nvSpPr>
            <p:spPr>
              <a:xfrm>
                <a:off x="1614442" y="2139960"/>
                <a:ext cx="258475" cy="1453392"/>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403" name="Freeform 330">
                <a:extLst>
                  <a:ext uri="{FF2B5EF4-FFF2-40B4-BE49-F238E27FC236}">
                    <a16:creationId xmlns:a16="http://schemas.microsoft.com/office/drawing/2014/main" id="{5A078A1B-E893-E44A-2287-CC65CDA598DD}"/>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4" name="Freeform 331">
                <a:extLst>
                  <a:ext uri="{FF2B5EF4-FFF2-40B4-BE49-F238E27FC236}">
                    <a16:creationId xmlns:a16="http://schemas.microsoft.com/office/drawing/2014/main" id="{56F560D4-262C-B26A-087D-1DB209B6D88B}"/>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5" name="Freeform 332">
                <a:extLst>
                  <a:ext uri="{FF2B5EF4-FFF2-40B4-BE49-F238E27FC236}">
                    <a16:creationId xmlns:a16="http://schemas.microsoft.com/office/drawing/2014/main" id="{A248AB36-7C4F-7D28-4490-C769CBA07C0E}"/>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6" name="Freeform 333">
                <a:extLst>
                  <a:ext uri="{FF2B5EF4-FFF2-40B4-BE49-F238E27FC236}">
                    <a16:creationId xmlns:a16="http://schemas.microsoft.com/office/drawing/2014/main" id="{65E9BBAA-07E0-2DA5-709F-AB2612D6B620}"/>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7" name="Freeform 334">
                <a:extLst>
                  <a:ext uri="{FF2B5EF4-FFF2-40B4-BE49-F238E27FC236}">
                    <a16:creationId xmlns:a16="http://schemas.microsoft.com/office/drawing/2014/main" id="{3F3EFFD2-70B9-9052-79F4-95FCB2468D31}"/>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8" name="Freeform 335">
                <a:extLst>
                  <a:ext uri="{FF2B5EF4-FFF2-40B4-BE49-F238E27FC236}">
                    <a16:creationId xmlns:a16="http://schemas.microsoft.com/office/drawing/2014/main" id="{DBB086BA-81BB-50EE-6BE3-6733DB29CFC8}"/>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9" name="Freeform 336">
                <a:extLst>
                  <a:ext uri="{FF2B5EF4-FFF2-40B4-BE49-F238E27FC236}">
                    <a16:creationId xmlns:a16="http://schemas.microsoft.com/office/drawing/2014/main" id="{A5AAB2A9-0453-0D01-FDB6-B8FC3D9177E6}"/>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0" name="Freeform 337">
                <a:extLst>
                  <a:ext uri="{FF2B5EF4-FFF2-40B4-BE49-F238E27FC236}">
                    <a16:creationId xmlns:a16="http://schemas.microsoft.com/office/drawing/2014/main" id="{8546569C-BAFE-8143-F4FC-A1985577078F}"/>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1" name="Freeform 338">
                <a:extLst>
                  <a:ext uri="{FF2B5EF4-FFF2-40B4-BE49-F238E27FC236}">
                    <a16:creationId xmlns:a16="http://schemas.microsoft.com/office/drawing/2014/main" id="{0C515C63-1B59-E312-BA1D-491E5A5C1CE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2" name="Freeform 339">
                <a:extLst>
                  <a:ext uri="{FF2B5EF4-FFF2-40B4-BE49-F238E27FC236}">
                    <a16:creationId xmlns:a16="http://schemas.microsoft.com/office/drawing/2014/main" id="{0E8771FF-AB84-9B06-C98A-3872D5BE6100}"/>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3" name="Freeform 340">
                <a:extLst>
                  <a:ext uri="{FF2B5EF4-FFF2-40B4-BE49-F238E27FC236}">
                    <a16:creationId xmlns:a16="http://schemas.microsoft.com/office/drawing/2014/main" id="{CEFBE015-317D-2F90-9CA0-0355443E1CF6}"/>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4" name="Freeform 341">
                <a:extLst>
                  <a:ext uri="{FF2B5EF4-FFF2-40B4-BE49-F238E27FC236}">
                    <a16:creationId xmlns:a16="http://schemas.microsoft.com/office/drawing/2014/main" id="{E7626AF2-546B-FC08-E29A-258E728C4241}"/>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5" name="Freeform 342">
                <a:extLst>
                  <a:ext uri="{FF2B5EF4-FFF2-40B4-BE49-F238E27FC236}">
                    <a16:creationId xmlns:a16="http://schemas.microsoft.com/office/drawing/2014/main" id="{36D76443-D1CE-86A0-8E08-9CD65E8F94C6}"/>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6" name="Freeform 343">
                <a:extLst>
                  <a:ext uri="{FF2B5EF4-FFF2-40B4-BE49-F238E27FC236}">
                    <a16:creationId xmlns:a16="http://schemas.microsoft.com/office/drawing/2014/main" id="{2423B773-EC17-C836-8B0C-7503C602520C}"/>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4" name="Group 344">
              <a:extLst>
                <a:ext uri="{FF2B5EF4-FFF2-40B4-BE49-F238E27FC236}">
                  <a16:creationId xmlns:a16="http://schemas.microsoft.com/office/drawing/2014/main" id="{67B506DD-B006-7913-939D-A7287059945A}"/>
                </a:ext>
              </a:extLst>
            </p:cNvPr>
            <p:cNvGrpSpPr/>
            <p:nvPr/>
          </p:nvGrpSpPr>
          <p:grpSpPr>
            <a:xfrm>
              <a:off x="7903084" y="2431109"/>
              <a:ext cx="165303" cy="737204"/>
              <a:chOff x="2073412" y="2165656"/>
              <a:chExt cx="314361" cy="1401953"/>
            </a:xfrm>
            <a:solidFill>
              <a:srgbClr val="0D0D0D">
                <a:alpha val="29804"/>
              </a:srgbClr>
            </a:solidFill>
          </p:grpSpPr>
          <p:sp>
            <p:nvSpPr>
              <p:cNvPr id="1388" name="Freeform 345">
                <a:extLst>
                  <a:ext uri="{FF2B5EF4-FFF2-40B4-BE49-F238E27FC236}">
                    <a16:creationId xmlns:a16="http://schemas.microsoft.com/office/drawing/2014/main" id="{5E81A7B5-660A-BAE3-0562-4172D90CA617}"/>
                  </a:ext>
                </a:extLst>
              </p:cNvPr>
              <p:cNvSpPr/>
              <p:nvPr/>
            </p:nvSpPr>
            <p:spPr>
              <a:xfrm>
                <a:off x="2076568" y="2165656"/>
                <a:ext cx="303348" cy="1401953"/>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marL="0" algn="ctr" defTabSz="914400" rtl="0" eaLnBrk="1" latinLnBrk="0" hangingPunct="1"/>
                <a:endParaRPr lang="en-US" sz="2880" dirty="0"/>
              </a:p>
            </p:txBody>
          </p:sp>
          <p:sp>
            <p:nvSpPr>
              <p:cNvPr id="1389" name="Freeform 346">
                <a:extLst>
                  <a:ext uri="{FF2B5EF4-FFF2-40B4-BE49-F238E27FC236}">
                    <a16:creationId xmlns:a16="http://schemas.microsoft.com/office/drawing/2014/main" id="{EA993097-22A7-D5EC-B3EB-ACFFD59464F3}"/>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0" name="Freeform 347">
                <a:extLst>
                  <a:ext uri="{FF2B5EF4-FFF2-40B4-BE49-F238E27FC236}">
                    <a16:creationId xmlns:a16="http://schemas.microsoft.com/office/drawing/2014/main" id="{84B3C1FE-9477-A8BC-BB80-0A98245AA34B}"/>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1" name="Freeform 348">
                <a:extLst>
                  <a:ext uri="{FF2B5EF4-FFF2-40B4-BE49-F238E27FC236}">
                    <a16:creationId xmlns:a16="http://schemas.microsoft.com/office/drawing/2014/main" id="{E4CBDA0C-B52C-375A-AA52-DA04B07080DC}"/>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2" name="Freeform 349">
                <a:extLst>
                  <a:ext uri="{FF2B5EF4-FFF2-40B4-BE49-F238E27FC236}">
                    <a16:creationId xmlns:a16="http://schemas.microsoft.com/office/drawing/2014/main" id="{19A70CBD-C527-1862-375D-5706BBD7817B}"/>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3" name="Freeform 350">
                <a:extLst>
                  <a:ext uri="{FF2B5EF4-FFF2-40B4-BE49-F238E27FC236}">
                    <a16:creationId xmlns:a16="http://schemas.microsoft.com/office/drawing/2014/main" id="{A131E514-C347-2E1E-747A-6F55F2D6ADB8}"/>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4" name="Freeform 351">
                <a:extLst>
                  <a:ext uri="{FF2B5EF4-FFF2-40B4-BE49-F238E27FC236}">
                    <a16:creationId xmlns:a16="http://schemas.microsoft.com/office/drawing/2014/main" id="{2C026A4B-4AAB-F0F8-E8FF-2E0E1FCE955F}"/>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5" name="Freeform 352">
                <a:extLst>
                  <a:ext uri="{FF2B5EF4-FFF2-40B4-BE49-F238E27FC236}">
                    <a16:creationId xmlns:a16="http://schemas.microsoft.com/office/drawing/2014/main" id="{F5EAF31C-5B9F-812C-A4DF-329A6BCA18A9}"/>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6" name="Freeform 353">
                <a:extLst>
                  <a:ext uri="{FF2B5EF4-FFF2-40B4-BE49-F238E27FC236}">
                    <a16:creationId xmlns:a16="http://schemas.microsoft.com/office/drawing/2014/main" id="{3C078E89-EE65-94F2-3400-FF3F6FB85B2C}"/>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7" name="Freeform 354">
                <a:extLst>
                  <a:ext uri="{FF2B5EF4-FFF2-40B4-BE49-F238E27FC236}">
                    <a16:creationId xmlns:a16="http://schemas.microsoft.com/office/drawing/2014/main" id="{3615B0A1-C1C6-6931-ECE7-B156AFBAE2E2}"/>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8" name="Freeform 355">
                <a:extLst>
                  <a:ext uri="{FF2B5EF4-FFF2-40B4-BE49-F238E27FC236}">
                    <a16:creationId xmlns:a16="http://schemas.microsoft.com/office/drawing/2014/main" id="{0F5F7BD3-D81E-D867-51AD-E023DC40ECEA}"/>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9" name="Freeform 356">
                <a:extLst>
                  <a:ext uri="{FF2B5EF4-FFF2-40B4-BE49-F238E27FC236}">
                    <a16:creationId xmlns:a16="http://schemas.microsoft.com/office/drawing/2014/main" id="{400E0183-B73D-57CB-9500-285C3E5C5D9B}"/>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0" name="Freeform 357">
                <a:extLst>
                  <a:ext uri="{FF2B5EF4-FFF2-40B4-BE49-F238E27FC236}">
                    <a16:creationId xmlns:a16="http://schemas.microsoft.com/office/drawing/2014/main" id="{B2645A9C-5A3D-3622-0814-50FE06F93581}"/>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401" name="Freeform 358">
                <a:extLst>
                  <a:ext uri="{FF2B5EF4-FFF2-40B4-BE49-F238E27FC236}">
                    <a16:creationId xmlns:a16="http://schemas.microsoft.com/office/drawing/2014/main" id="{1331C891-6618-E546-6D3B-0F630BFB5D1C}"/>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5" name="Group 359">
              <a:extLst>
                <a:ext uri="{FF2B5EF4-FFF2-40B4-BE49-F238E27FC236}">
                  <a16:creationId xmlns:a16="http://schemas.microsoft.com/office/drawing/2014/main" id="{6DA7372D-DC2A-ED26-1F72-77BD5C6EF20F}"/>
                </a:ext>
              </a:extLst>
            </p:cNvPr>
            <p:cNvGrpSpPr/>
            <p:nvPr/>
          </p:nvGrpSpPr>
          <p:grpSpPr>
            <a:xfrm flipH="1">
              <a:off x="7527307" y="2424371"/>
              <a:ext cx="125688" cy="743943"/>
              <a:chOff x="1611916" y="2139960"/>
              <a:chExt cx="264177" cy="1453392"/>
            </a:xfrm>
            <a:solidFill>
              <a:srgbClr val="0D0D0D">
                <a:alpha val="29804"/>
              </a:srgbClr>
            </a:solidFill>
          </p:grpSpPr>
          <p:sp>
            <p:nvSpPr>
              <p:cNvPr id="1373" name="Freeform 360">
                <a:extLst>
                  <a:ext uri="{FF2B5EF4-FFF2-40B4-BE49-F238E27FC236}">
                    <a16:creationId xmlns:a16="http://schemas.microsoft.com/office/drawing/2014/main" id="{CCCACAC1-C526-FF30-F147-15E34809E7A0}"/>
                  </a:ext>
                </a:extLst>
              </p:cNvPr>
              <p:cNvSpPr/>
              <p:nvPr/>
            </p:nvSpPr>
            <p:spPr>
              <a:xfrm>
                <a:off x="1614442" y="2139960"/>
                <a:ext cx="258475" cy="1453392"/>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dirty="0"/>
              </a:p>
            </p:txBody>
          </p:sp>
          <p:sp>
            <p:nvSpPr>
              <p:cNvPr id="1374" name="Freeform 361">
                <a:extLst>
                  <a:ext uri="{FF2B5EF4-FFF2-40B4-BE49-F238E27FC236}">
                    <a16:creationId xmlns:a16="http://schemas.microsoft.com/office/drawing/2014/main" id="{891B98B1-CA2D-8884-7584-AA679F5C111A}"/>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5" name="Freeform 362">
                <a:extLst>
                  <a:ext uri="{FF2B5EF4-FFF2-40B4-BE49-F238E27FC236}">
                    <a16:creationId xmlns:a16="http://schemas.microsoft.com/office/drawing/2014/main" id="{29641A9A-9DAB-553A-9308-6A8D49B0E010}"/>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6" name="Freeform 363">
                <a:extLst>
                  <a:ext uri="{FF2B5EF4-FFF2-40B4-BE49-F238E27FC236}">
                    <a16:creationId xmlns:a16="http://schemas.microsoft.com/office/drawing/2014/main" id="{E5D06FCB-B43B-14AF-A1AB-438D9CD9723A}"/>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7" name="Freeform 364">
                <a:extLst>
                  <a:ext uri="{FF2B5EF4-FFF2-40B4-BE49-F238E27FC236}">
                    <a16:creationId xmlns:a16="http://schemas.microsoft.com/office/drawing/2014/main" id="{3ADADAE4-B917-E9B4-0C3A-EE2E2692B712}"/>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8" name="Freeform 365">
                <a:extLst>
                  <a:ext uri="{FF2B5EF4-FFF2-40B4-BE49-F238E27FC236}">
                    <a16:creationId xmlns:a16="http://schemas.microsoft.com/office/drawing/2014/main" id="{C7B8B71A-5B69-A94F-A349-3CCFBC7B62F7}"/>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9" name="Freeform 366">
                <a:extLst>
                  <a:ext uri="{FF2B5EF4-FFF2-40B4-BE49-F238E27FC236}">
                    <a16:creationId xmlns:a16="http://schemas.microsoft.com/office/drawing/2014/main" id="{C038A0FD-26D0-0BF4-779B-0293189063DA}"/>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0" name="Freeform 367">
                <a:extLst>
                  <a:ext uri="{FF2B5EF4-FFF2-40B4-BE49-F238E27FC236}">
                    <a16:creationId xmlns:a16="http://schemas.microsoft.com/office/drawing/2014/main" id="{21D7238C-410D-274E-8273-05783EBEF3D4}"/>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1" name="Freeform 368">
                <a:extLst>
                  <a:ext uri="{FF2B5EF4-FFF2-40B4-BE49-F238E27FC236}">
                    <a16:creationId xmlns:a16="http://schemas.microsoft.com/office/drawing/2014/main" id="{82A34AF9-56CA-60E0-D19A-04D525DADD76}"/>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2" name="Freeform 369">
                <a:extLst>
                  <a:ext uri="{FF2B5EF4-FFF2-40B4-BE49-F238E27FC236}">
                    <a16:creationId xmlns:a16="http://schemas.microsoft.com/office/drawing/2014/main" id="{3AD851DB-0978-166E-B04C-EFA33381650C}"/>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3" name="Freeform 370">
                <a:extLst>
                  <a:ext uri="{FF2B5EF4-FFF2-40B4-BE49-F238E27FC236}">
                    <a16:creationId xmlns:a16="http://schemas.microsoft.com/office/drawing/2014/main" id="{663CEEB6-0217-FE8E-5170-B59BB3AD0BCD}"/>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4" name="Freeform 371">
                <a:extLst>
                  <a:ext uri="{FF2B5EF4-FFF2-40B4-BE49-F238E27FC236}">
                    <a16:creationId xmlns:a16="http://schemas.microsoft.com/office/drawing/2014/main" id="{CA12FD1A-5D77-03E9-5A28-259F44EB4913}"/>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5" name="Freeform 372">
                <a:extLst>
                  <a:ext uri="{FF2B5EF4-FFF2-40B4-BE49-F238E27FC236}">
                    <a16:creationId xmlns:a16="http://schemas.microsoft.com/office/drawing/2014/main" id="{07F38551-2DB8-E65D-F3C0-7CCED135425E}"/>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6" name="Freeform 373">
                <a:extLst>
                  <a:ext uri="{FF2B5EF4-FFF2-40B4-BE49-F238E27FC236}">
                    <a16:creationId xmlns:a16="http://schemas.microsoft.com/office/drawing/2014/main" id="{522DA525-F22C-BB2E-1D98-4973A3333D11}"/>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7" name="Freeform 374">
                <a:extLst>
                  <a:ext uri="{FF2B5EF4-FFF2-40B4-BE49-F238E27FC236}">
                    <a16:creationId xmlns:a16="http://schemas.microsoft.com/office/drawing/2014/main" id="{A8A2412C-073E-FD17-D061-A7D12762A9FB}"/>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6" name="Group 375">
              <a:extLst>
                <a:ext uri="{FF2B5EF4-FFF2-40B4-BE49-F238E27FC236}">
                  <a16:creationId xmlns:a16="http://schemas.microsoft.com/office/drawing/2014/main" id="{17760D7B-CB17-EBBD-9B14-950435356438}"/>
                </a:ext>
              </a:extLst>
            </p:cNvPr>
            <p:cNvGrpSpPr/>
            <p:nvPr/>
          </p:nvGrpSpPr>
          <p:grpSpPr>
            <a:xfrm flipH="1">
              <a:off x="7287457" y="2431109"/>
              <a:ext cx="165414" cy="737204"/>
              <a:chOff x="2073412" y="2165656"/>
              <a:chExt cx="314361" cy="1401953"/>
            </a:xfrm>
            <a:solidFill>
              <a:srgbClr val="0D0D0D">
                <a:alpha val="29804"/>
              </a:srgbClr>
            </a:solidFill>
          </p:grpSpPr>
          <p:sp>
            <p:nvSpPr>
              <p:cNvPr id="1359" name="Freeform 376">
                <a:extLst>
                  <a:ext uri="{FF2B5EF4-FFF2-40B4-BE49-F238E27FC236}">
                    <a16:creationId xmlns:a16="http://schemas.microsoft.com/office/drawing/2014/main" id="{ACE710DA-B012-1E1A-8B37-CBBB531BB7DE}"/>
                  </a:ext>
                </a:extLst>
              </p:cNvPr>
              <p:cNvSpPr/>
              <p:nvPr/>
            </p:nvSpPr>
            <p:spPr>
              <a:xfrm>
                <a:off x="2076568" y="2165656"/>
                <a:ext cx="303348" cy="1401953"/>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60" name="Freeform 377">
                <a:extLst>
                  <a:ext uri="{FF2B5EF4-FFF2-40B4-BE49-F238E27FC236}">
                    <a16:creationId xmlns:a16="http://schemas.microsoft.com/office/drawing/2014/main" id="{6559BD76-EE49-2070-0E30-0E7ED22197C7}"/>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1" name="Freeform 378">
                <a:extLst>
                  <a:ext uri="{FF2B5EF4-FFF2-40B4-BE49-F238E27FC236}">
                    <a16:creationId xmlns:a16="http://schemas.microsoft.com/office/drawing/2014/main" id="{F37D7EF4-1008-CAF3-D7E5-80F9E973AA27}"/>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2" name="Freeform 379">
                <a:extLst>
                  <a:ext uri="{FF2B5EF4-FFF2-40B4-BE49-F238E27FC236}">
                    <a16:creationId xmlns:a16="http://schemas.microsoft.com/office/drawing/2014/main" id="{8FD1DDEF-AA07-0CC1-46FE-D48CE7C0C78F}"/>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3" name="Freeform 380">
                <a:extLst>
                  <a:ext uri="{FF2B5EF4-FFF2-40B4-BE49-F238E27FC236}">
                    <a16:creationId xmlns:a16="http://schemas.microsoft.com/office/drawing/2014/main" id="{1B599911-AB2C-0061-45D9-E9098565ECE9}"/>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4" name="Freeform 381">
                <a:extLst>
                  <a:ext uri="{FF2B5EF4-FFF2-40B4-BE49-F238E27FC236}">
                    <a16:creationId xmlns:a16="http://schemas.microsoft.com/office/drawing/2014/main" id="{7E63BF8B-BB75-DB40-197F-3648A0427131}"/>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5" name="Freeform 382">
                <a:extLst>
                  <a:ext uri="{FF2B5EF4-FFF2-40B4-BE49-F238E27FC236}">
                    <a16:creationId xmlns:a16="http://schemas.microsoft.com/office/drawing/2014/main" id="{9DEE0A3B-F791-E171-2183-A508372CE476}"/>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6" name="Freeform 383">
                <a:extLst>
                  <a:ext uri="{FF2B5EF4-FFF2-40B4-BE49-F238E27FC236}">
                    <a16:creationId xmlns:a16="http://schemas.microsoft.com/office/drawing/2014/main" id="{660DD138-2BD9-4768-FC95-78BA1C3D200D}"/>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7" name="Freeform 384">
                <a:extLst>
                  <a:ext uri="{FF2B5EF4-FFF2-40B4-BE49-F238E27FC236}">
                    <a16:creationId xmlns:a16="http://schemas.microsoft.com/office/drawing/2014/main" id="{4FE6C163-0408-6831-497D-83681F858F14}"/>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a:p>
            </p:txBody>
          </p:sp>
          <p:sp>
            <p:nvSpPr>
              <p:cNvPr id="1368" name="Freeform 385">
                <a:extLst>
                  <a:ext uri="{FF2B5EF4-FFF2-40B4-BE49-F238E27FC236}">
                    <a16:creationId xmlns:a16="http://schemas.microsoft.com/office/drawing/2014/main" id="{C48DD43E-3150-0BA0-3B7D-2C01BF523010}"/>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9" name="Freeform 386">
                <a:extLst>
                  <a:ext uri="{FF2B5EF4-FFF2-40B4-BE49-F238E27FC236}">
                    <a16:creationId xmlns:a16="http://schemas.microsoft.com/office/drawing/2014/main" id="{9C762927-6882-548C-0ABA-8D3490C6C0A6}"/>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0" name="Freeform 387">
                <a:extLst>
                  <a:ext uri="{FF2B5EF4-FFF2-40B4-BE49-F238E27FC236}">
                    <a16:creationId xmlns:a16="http://schemas.microsoft.com/office/drawing/2014/main" id="{62E78EEE-9323-BB17-5725-5F6900BF53F5}"/>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1" name="Freeform 388">
                <a:extLst>
                  <a:ext uri="{FF2B5EF4-FFF2-40B4-BE49-F238E27FC236}">
                    <a16:creationId xmlns:a16="http://schemas.microsoft.com/office/drawing/2014/main" id="{3B1386EA-E551-34B5-3827-2BA068A9FB00}"/>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72" name="Freeform 389">
                <a:extLst>
                  <a:ext uri="{FF2B5EF4-FFF2-40B4-BE49-F238E27FC236}">
                    <a16:creationId xmlns:a16="http://schemas.microsoft.com/office/drawing/2014/main" id="{415A8B48-D7E4-468E-D045-1C092EC3090E}"/>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rtl="0"/>
                <a:endParaRPr lang="en-US" sz="2880"/>
              </a:p>
            </p:txBody>
          </p:sp>
        </p:grpSp>
        <p:pic>
          <p:nvPicPr>
            <p:cNvPr id="1357" name="Picture 390">
              <a:extLst>
                <a:ext uri="{FF2B5EF4-FFF2-40B4-BE49-F238E27FC236}">
                  <a16:creationId xmlns:a16="http://schemas.microsoft.com/office/drawing/2014/main" id="{3F71B508-9ECC-3BC9-7ED9-AB169DA0BFDF}"/>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7913518" y="1922422"/>
              <a:ext cx="421980" cy="440328"/>
            </a:xfrm>
            <a:prstGeom prst="rect">
              <a:avLst/>
            </a:prstGeom>
          </p:spPr>
        </p:pic>
        <p:pic>
          <p:nvPicPr>
            <p:cNvPr id="1358" name="Picture 392">
              <a:extLst>
                <a:ext uri="{FF2B5EF4-FFF2-40B4-BE49-F238E27FC236}">
                  <a16:creationId xmlns:a16="http://schemas.microsoft.com/office/drawing/2014/main" id="{630618BA-8ACC-975F-41A8-9F4B07BFA1D1}"/>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7292123" y="2004976"/>
              <a:ext cx="475867" cy="411861"/>
            </a:xfrm>
            <a:prstGeom prst="rect">
              <a:avLst/>
            </a:prstGeom>
            <a:effectLst>
              <a:reflection endPos="0" dir="5400000" sy="-100000" algn="bl" rotWithShape="0"/>
            </a:effectLst>
          </p:spPr>
        </p:pic>
      </p:grpSp>
      <p:grpSp>
        <p:nvGrpSpPr>
          <p:cNvPr id="1423" name="Group 29">
            <a:extLst>
              <a:ext uri="{FF2B5EF4-FFF2-40B4-BE49-F238E27FC236}">
                <a16:creationId xmlns:a16="http://schemas.microsoft.com/office/drawing/2014/main" id="{0DDB0BEB-2B83-1ADF-B20C-D0F0A2DDE205}"/>
              </a:ext>
            </a:extLst>
          </p:cNvPr>
          <p:cNvGrpSpPr/>
          <p:nvPr/>
        </p:nvGrpSpPr>
        <p:grpSpPr>
          <a:xfrm>
            <a:off x="6684791" y="4810230"/>
            <a:ext cx="571040" cy="265988"/>
            <a:chOff x="964222" y="2625878"/>
            <a:chExt cx="2041451" cy="684033"/>
          </a:xfrm>
        </p:grpSpPr>
        <p:sp>
          <p:nvSpPr>
            <p:cNvPr id="1424" name="Freeform 30">
              <a:extLst>
                <a:ext uri="{FF2B5EF4-FFF2-40B4-BE49-F238E27FC236}">
                  <a16:creationId xmlns:a16="http://schemas.microsoft.com/office/drawing/2014/main" id="{A50F91FA-179A-2D67-7D55-464BBB4964D8}"/>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5" name="Freeform 31">
              <a:extLst>
                <a:ext uri="{FF2B5EF4-FFF2-40B4-BE49-F238E27FC236}">
                  <a16:creationId xmlns:a16="http://schemas.microsoft.com/office/drawing/2014/main" id="{3707D268-7DD1-5884-3C59-1BAD9FEB57CA}"/>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grpSp>
      <p:grpSp>
        <p:nvGrpSpPr>
          <p:cNvPr id="1432" name="Group 44">
            <a:extLst>
              <a:ext uri="{FF2B5EF4-FFF2-40B4-BE49-F238E27FC236}">
                <a16:creationId xmlns:a16="http://schemas.microsoft.com/office/drawing/2014/main" id="{92011886-1271-1931-EC42-B33DB1C339F6}"/>
              </a:ext>
            </a:extLst>
          </p:cNvPr>
          <p:cNvGrpSpPr/>
          <p:nvPr/>
        </p:nvGrpSpPr>
        <p:grpSpPr>
          <a:xfrm>
            <a:off x="7425516" y="4812317"/>
            <a:ext cx="571040" cy="265988"/>
            <a:chOff x="964222" y="2625878"/>
            <a:chExt cx="2041451" cy="684033"/>
          </a:xfrm>
        </p:grpSpPr>
        <p:sp>
          <p:nvSpPr>
            <p:cNvPr id="1433" name="Freeform 45">
              <a:extLst>
                <a:ext uri="{FF2B5EF4-FFF2-40B4-BE49-F238E27FC236}">
                  <a16:creationId xmlns:a16="http://schemas.microsoft.com/office/drawing/2014/main" id="{D4D2D47B-7655-2F06-3D68-0BE2AEAD412A}"/>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34" name="Freeform 46">
              <a:extLst>
                <a:ext uri="{FF2B5EF4-FFF2-40B4-BE49-F238E27FC236}">
                  <a16:creationId xmlns:a16="http://schemas.microsoft.com/office/drawing/2014/main" id="{1919521E-FA9C-5919-B8D0-EDC00E22886F}"/>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grpSp>
      <p:sp>
        <p:nvSpPr>
          <p:cNvPr id="3" name="מציין מיקום תוכן 2">
            <a:extLst>
              <a:ext uri="{FF2B5EF4-FFF2-40B4-BE49-F238E27FC236}">
                <a16:creationId xmlns:a16="http://schemas.microsoft.com/office/drawing/2014/main" id="{590508E9-B29D-AA19-AEB0-0168E0F27930}"/>
              </a:ext>
            </a:extLst>
          </p:cNvPr>
          <p:cNvSpPr txBox="1">
            <a:spLocks/>
          </p:cNvSpPr>
          <p:nvPr/>
        </p:nvSpPr>
        <p:spPr>
          <a:xfrm>
            <a:off x="5925399" y="707349"/>
            <a:ext cx="1486369" cy="424006"/>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IPSCs</a:t>
            </a:r>
          </a:p>
        </p:txBody>
      </p:sp>
      <p:grpSp>
        <p:nvGrpSpPr>
          <p:cNvPr id="4" name="Group 5">
            <a:extLst>
              <a:ext uri="{FF2B5EF4-FFF2-40B4-BE49-F238E27FC236}">
                <a16:creationId xmlns:a16="http://schemas.microsoft.com/office/drawing/2014/main" id="{B2B4A3D6-94D4-6698-2931-412963CEFFB2}"/>
              </a:ext>
            </a:extLst>
          </p:cNvPr>
          <p:cNvGrpSpPr/>
          <p:nvPr/>
        </p:nvGrpSpPr>
        <p:grpSpPr>
          <a:xfrm>
            <a:off x="8238330" y="4627562"/>
            <a:ext cx="571040" cy="543005"/>
            <a:chOff x="964222" y="1913482"/>
            <a:chExt cx="2041451" cy="1396429"/>
          </a:xfrm>
        </p:grpSpPr>
        <p:sp>
          <p:nvSpPr>
            <p:cNvPr id="5" name="Freeform 24">
              <a:extLst>
                <a:ext uri="{FF2B5EF4-FFF2-40B4-BE49-F238E27FC236}">
                  <a16:creationId xmlns:a16="http://schemas.microsoft.com/office/drawing/2014/main" id="{DD2CB5DA-0D82-AB92-F105-1463843B0C0D}"/>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6" name="Freeform 25">
              <a:extLst>
                <a:ext uri="{FF2B5EF4-FFF2-40B4-BE49-F238E27FC236}">
                  <a16:creationId xmlns:a16="http://schemas.microsoft.com/office/drawing/2014/main" id="{1ECAF17D-CE70-F477-0400-2EFE13610CAB}"/>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8" name="Freeform 26">
              <a:extLst>
                <a:ext uri="{FF2B5EF4-FFF2-40B4-BE49-F238E27FC236}">
                  <a16:creationId xmlns:a16="http://schemas.microsoft.com/office/drawing/2014/main" id="{F9292A09-4EE7-CDB3-883E-F1CBF89DDB9B}"/>
                </a:ext>
              </a:extLst>
            </p:cNvPr>
            <p:cNvSpPr/>
            <p:nvPr/>
          </p:nvSpPr>
          <p:spPr>
            <a:xfrm>
              <a:off x="964222" y="2388413"/>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9" name="Freeform 27">
              <a:extLst>
                <a:ext uri="{FF2B5EF4-FFF2-40B4-BE49-F238E27FC236}">
                  <a16:creationId xmlns:a16="http://schemas.microsoft.com/office/drawing/2014/main" id="{90825B5A-66D9-66FF-97E8-C744C14C309C}"/>
                </a:ext>
              </a:extLst>
            </p:cNvPr>
            <p:cNvSpPr/>
            <p:nvPr/>
          </p:nvSpPr>
          <p:spPr>
            <a:xfrm>
              <a:off x="964222" y="215094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0" name="Freeform 28">
              <a:extLst>
                <a:ext uri="{FF2B5EF4-FFF2-40B4-BE49-F238E27FC236}">
                  <a16:creationId xmlns:a16="http://schemas.microsoft.com/office/drawing/2014/main" id="{59BCB63A-9A96-E615-977D-2F5CB36876CB}"/>
                </a:ext>
              </a:extLst>
            </p:cNvPr>
            <p:cNvSpPr/>
            <p:nvPr/>
          </p:nvSpPr>
          <p:spPr>
            <a:xfrm>
              <a:off x="964222" y="1913482"/>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grpSp>
      <p:grpSp>
        <p:nvGrpSpPr>
          <p:cNvPr id="11" name="Group 38">
            <a:extLst>
              <a:ext uri="{FF2B5EF4-FFF2-40B4-BE49-F238E27FC236}">
                <a16:creationId xmlns:a16="http://schemas.microsoft.com/office/drawing/2014/main" id="{CDC0DBA6-5E3F-B1DA-7830-575D6630D95C}"/>
              </a:ext>
            </a:extLst>
          </p:cNvPr>
          <p:cNvGrpSpPr/>
          <p:nvPr/>
        </p:nvGrpSpPr>
        <p:grpSpPr>
          <a:xfrm>
            <a:off x="8948555" y="4627562"/>
            <a:ext cx="571040" cy="543005"/>
            <a:chOff x="964222" y="1913482"/>
            <a:chExt cx="2041451" cy="1396429"/>
          </a:xfrm>
        </p:grpSpPr>
        <p:sp>
          <p:nvSpPr>
            <p:cNvPr id="12" name="Freeform 39">
              <a:extLst>
                <a:ext uri="{FF2B5EF4-FFF2-40B4-BE49-F238E27FC236}">
                  <a16:creationId xmlns:a16="http://schemas.microsoft.com/office/drawing/2014/main" id="{DC6DBAEC-79EB-1EC2-0563-8DA062B55BE3}"/>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3" name="Freeform 40">
              <a:extLst>
                <a:ext uri="{FF2B5EF4-FFF2-40B4-BE49-F238E27FC236}">
                  <a16:creationId xmlns:a16="http://schemas.microsoft.com/office/drawing/2014/main" id="{8B76642E-3F75-77E6-0497-4518E2373396}"/>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 name="Freeform 41">
              <a:extLst>
                <a:ext uri="{FF2B5EF4-FFF2-40B4-BE49-F238E27FC236}">
                  <a16:creationId xmlns:a16="http://schemas.microsoft.com/office/drawing/2014/main" id="{9A933B51-A41B-6645-089D-5DAB9541AD43}"/>
                </a:ext>
              </a:extLst>
            </p:cNvPr>
            <p:cNvSpPr/>
            <p:nvPr/>
          </p:nvSpPr>
          <p:spPr>
            <a:xfrm>
              <a:off x="964222" y="2388413"/>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5" name="Freeform 42">
              <a:extLst>
                <a:ext uri="{FF2B5EF4-FFF2-40B4-BE49-F238E27FC236}">
                  <a16:creationId xmlns:a16="http://schemas.microsoft.com/office/drawing/2014/main" id="{87B1E1AF-3DE0-6E6A-53C7-F7877BD806DB}"/>
                </a:ext>
              </a:extLst>
            </p:cNvPr>
            <p:cNvSpPr/>
            <p:nvPr/>
          </p:nvSpPr>
          <p:spPr>
            <a:xfrm>
              <a:off x="964222" y="215094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6" name="Freeform 43">
              <a:extLst>
                <a:ext uri="{FF2B5EF4-FFF2-40B4-BE49-F238E27FC236}">
                  <a16:creationId xmlns:a16="http://schemas.microsoft.com/office/drawing/2014/main" id="{AFC710A5-627B-C142-CA18-EF7961C9DF90}"/>
                </a:ext>
              </a:extLst>
            </p:cNvPr>
            <p:cNvSpPr/>
            <p:nvPr/>
          </p:nvSpPr>
          <p:spPr>
            <a:xfrm>
              <a:off x="964222" y="1913482"/>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grpSp>
    </p:spTree>
    <p:extLst>
      <p:ext uri="{BB962C8B-B14F-4D97-AF65-F5344CB8AC3E}">
        <p14:creationId xmlns:p14="http://schemas.microsoft.com/office/powerpoint/2010/main" val="229915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0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5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EF9D6-8CFB-E36C-FDF7-0E60543E302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1BD514C5-291A-1E17-5CBB-F22844589391}"/>
              </a:ext>
            </a:extLst>
          </p:cNvPr>
          <p:cNvSpPr>
            <a:spLocks noGrp="1"/>
          </p:cNvSpPr>
          <p:nvPr>
            <p:ph type="title"/>
          </p:nvPr>
        </p:nvSpPr>
        <p:spPr>
          <a:xfrm>
            <a:off x="838198" y="168070"/>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The origin of human-specific diseases</a:t>
            </a:r>
            <a:endParaRPr lang="he-IL" b="1" dirty="0">
              <a:latin typeface="Calibri" panose="020F0502020204030204" pitchFamily="34" charset="0"/>
              <a:cs typeface="Calibri" panose="020F0502020204030204" pitchFamily="34" charset="0"/>
            </a:endParaRPr>
          </a:p>
        </p:txBody>
      </p:sp>
      <p:pic>
        <p:nvPicPr>
          <p:cNvPr id="1026" name="Picture 2" descr="‪Chimpanzee 2d cartoon vector illustration on white backgro | Premium  AI-generated image‬‏">
            <a:extLst>
              <a:ext uri="{FF2B5EF4-FFF2-40B4-BE49-F238E27FC236}">
                <a16:creationId xmlns:a16="http://schemas.microsoft.com/office/drawing/2014/main" id="{360BB567-757A-5E10-9567-6115A43F17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78" y="1434559"/>
            <a:ext cx="3474104" cy="3474104"/>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קבוצה 17">
            <a:extLst>
              <a:ext uri="{FF2B5EF4-FFF2-40B4-BE49-F238E27FC236}">
                <a16:creationId xmlns:a16="http://schemas.microsoft.com/office/drawing/2014/main" id="{063F16D6-2C77-90CA-98CE-3AEBF3E02FEC}"/>
              </a:ext>
            </a:extLst>
          </p:cNvPr>
          <p:cNvGrpSpPr/>
          <p:nvPr/>
        </p:nvGrpSpPr>
        <p:grpSpPr>
          <a:xfrm>
            <a:off x="2859332" y="1378566"/>
            <a:ext cx="6502382" cy="4044875"/>
            <a:chOff x="2859332" y="1378566"/>
            <a:chExt cx="6502382" cy="4044875"/>
          </a:xfrm>
        </p:grpSpPr>
        <p:grpSp>
          <p:nvGrpSpPr>
            <p:cNvPr id="9" name="קבוצה 8">
              <a:extLst>
                <a:ext uri="{FF2B5EF4-FFF2-40B4-BE49-F238E27FC236}">
                  <a16:creationId xmlns:a16="http://schemas.microsoft.com/office/drawing/2014/main" id="{F9C7D1BA-1C53-F3DA-6AE9-937175022076}"/>
                </a:ext>
              </a:extLst>
            </p:cNvPr>
            <p:cNvGrpSpPr/>
            <p:nvPr/>
          </p:nvGrpSpPr>
          <p:grpSpPr>
            <a:xfrm>
              <a:off x="3413656" y="1378566"/>
              <a:ext cx="5364687" cy="4044875"/>
              <a:chOff x="3494702" y="1592132"/>
              <a:chExt cx="4498639" cy="3158958"/>
            </a:xfrm>
          </p:grpSpPr>
          <p:sp>
            <p:nvSpPr>
              <p:cNvPr id="7" name="אליפסה 6">
                <a:extLst>
                  <a:ext uri="{FF2B5EF4-FFF2-40B4-BE49-F238E27FC236}">
                    <a16:creationId xmlns:a16="http://schemas.microsoft.com/office/drawing/2014/main" id="{15CD799B-E4A3-E306-E431-11512D88AEA4}"/>
                  </a:ext>
                </a:extLst>
              </p:cNvPr>
              <p:cNvSpPr/>
              <p:nvPr/>
            </p:nvSpPr>
            <p:spPr>
              <a:xfrm>
                <a:off x="3494702" y="1592132"/>
                <a:ext cx="3520977" cy="3158958"/>
              </a:xfrm>
              <a:prstGeom prst="ellipse">
                <a:avLst/>
              </a:prstGeom>
              <a:solidFill>
                <a:srgbClr val="F8F7CB">
                  <a:alpha val="49804"/>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8" name="אליפסה 7">
                <a:extLst>
                  <a:ext uri="{FF2B5EF4-FFF2-40B4-BE49-F238E27FC236}">
                    <a16:creationId xmlns:a16="http://schemas.microsoft.com/office/drawing/2014/main" id="{A71B84E2-8A49-258A-1153-3BBFE10755DB}"/>
                  </a:ext>
                </a:extLst>
              </p:cNvPr>
              <p:cNvSpPr/>
              <p:nvPr/>
            </p:nvSpPr>
            <p:spPr>
              <a:xfrm>
                <a:off x="4472364" y="1592132"/>
                <a:ext cx="3520977" cy="3158958"/>
              </a:xfrm>
              <a:prstGeom prst="ellipse">
                <a:avLst/>
              </a:prstGeom>
              <a:solidFill>
                <a:srgbClr val="CAEEFB">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
          <p:nvSpPr>
            <p:cNvPr id="3" name="מציין מיקום תוכן 2">
              <a:extLst>
                <a:ext uri="{FF2B5EF4-FFF2-40B4-BE49-F238E27FC236}">
                  <a16:creationId xmlns:a16="http://schemas.microsoft.com/office/drawing/2014/main" id="{CEFF0903-003D-A8A3-2526-3D5D979615A6}"/>
                </a:ext>
              </a:extLst>
            </p:cNvPr>
            <p:cNvSpPr txBox="1">
              <a:spLocks/>
            </p:cNvSpPr>
            <p:nvPr/>
          </p:nvSpPr>
          <p:spPr>
            <a:xfrm>
              <a:off x="4894239" y="2688137"/>
              <a:ext cx="2403519" cy="1129443"/>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Shared </a:t>
              </a:r>
            </a:p>
            <a:p>
              <a:pPr marL="0" indent="0" algn="ctr" rtl="0">
                <a:buNone/>
              </a:pPr>
              <a:r>
                <a:rPr lang="en-US" sz="2400" dirty="0">
                  <a:latin typeface="Calibri" panose="020F0502020204030204" pitchFamily="34" charset="0"/>
                  <a:cs typeface="Calibri" panose="020F0502020204030204" pitchFamily="34" charset="0"/>
                </a:rPr>
                <a:t>traits</a:t>
              </a:r>
            </a:p>
          </p:txBody>
        </p:sp>
        <p:sp>
          <p:nvSpPr>
            <p:cNvPr id="10" name="מציין מיקום תוכן 2">
              <a:extLst>
                <a:ext uri="{FF2B5EF4-FFF2-40B4-BE49-F238E27FC236}">
                  <a16:creationId xmlns:a16="http://schemas.microsoft.com/office/drawing/2014/main" id="{AA82A526-F6EA-FA5C-F5F8-B8971545EDFC}"/>
                </a:ext>
              </a:extLst>
            </p:cNvPr>
            <p:cNvSpPr txBox="1">
              <a:spLocks/>
            </p:cNvSpPr>
            <p:nvPr/>
          </p:nvSpPr>
          <p:spPr>
            <a:xfrm>
              <a:off x="2859332" y="2622141"/>
              <a:ext cx="2403519" cy="1129443"/>
            </a:xfrm>
            <a:prstGeom prst="rect">
              <a:avLst/>
            </a:prstGeom>
          </p:spPr>
          <p:txBody>
            <a:bodyPr vert="horz" lIns="91440" tIns="45720" rIns="91440" bIns="45720" rtlCol="1">
              <a:normAutofit fontScale="92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Chimp-</a:t>
              </a:r>
            </a:p>
            <a:p>
              <a:pPr marL="0" indent="0" algn="ctr" rtl="0">
                <a:buNone/>
              </a:pPr>
              <a:r>
                <a:rPr lang="en-US" sz="2400" dirty="0">
                  <a:latin typeface="Calibri" panose="020F0502020204030204" pitchFamily="34" charset="0"/>
                  <a:cs typeface="Calibri" panose="020F0502020204030204" pitchFamily="34" charset="0"/>
                </a:rPr>
                <a:t>specific </a:t>
              </a:r>
            </a:p>
            <a:p>
              <a:pPr marL="0" indent="0" algn="ctr" rtl="0">
                <a:buNone/>
              </a:pPr>
              <a:r>
                <a:rPr lang="en-US" sz="2400" dirty="0">
                  <a:latin typeface="Calibri" panose="020F0502020204030204" pitchFamily="34" charset="0"/>
                  <a:cs typeface="Calibri" panose="020F0502020204030204" pitchFamily="34" charset="0"/>
                </a:rPr>
                <a:t>traits</a:t>
              </a:r>
            </a:p>
          </p:txBody>
        </p:sp>
        <p:sp>
          <p:nvSpPr>
            <p:cNvPr id="11" name="מציין מיקום תוכן 2">
              <a:extLst>
                <a:ext uri="{FF2B5EF4-FFF2-40B4-BE49-F238E27FC236}">
                  <a16:creationId xmlns:a16="http://schemas.microsoft.com/office/drawing/2014/main" id="{C2FEF912-381D-471A-A71C-8875193DEC84}"/>
                </a:ext>
              </a:extLst>
            </p:cNvPr>
            <p:cNvSpPr txBox="1">
              <a:spLocks/>
            </p:cNvSpPr>
            <p:nvPr/>
          </p:nvSpPr>
          <p:spPr>
            <a:xfrm>
              <a:off x="6958195" y="2622141"/>
              <a:ext cx="2403519" cy="1129443"/>
            </a:xfrm>
            <a:prstGeom prst="rect">
              <a:avLst/>
            </a:prstGeom>
          </p:spPr>
          <p:txBody>
            <a:bodyPr vert="horz" lIns="91440" tIns="45720" rIns="91440" bIns="45720" rtlCol="1">
              <a:normAutofit fontScale="92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Human-</a:t>
              </a:r>
            </a:p>
            <a:p>
              <a:pPr marL="0" indent="0" algn="ctr" rtl="0">
                <a:buNone/>
              </a:pPr>
              <a:r>
                <a:rPr lang="en-US" sz="2400" dirty="0">
                  <a:latin typeface="Calibri" panose="020F0502020204030204" pitchFamily="34" charset="0"/>
                  <a:cs typeface="Calibri" panose="020F0502020204030204" pitchFamily="34" charset="0"/>
                </a:rPr>
                <a:t>specific </a:t>
              </a:r>
            </a:p>
            <a:p>
              <a:pPr marL="0" indent="0" algn="ctr" rtl="0">
                <a:buNone/>
              </a:pPr>
              <a:r>
                <a:rPr lang="en-US" sz="2400" dirty="0">
                  <a:latin typeface="Calibri" panose="020F0502020204030204" pitchFamily="34" charset="0"/>
                  <a:cs typeface="Calibri" panose="020F0502020204030204" pitchFamily="34" charset="0"/>
                </a:rPr>
                <a:t>traits</a:t>
              </a:r>
            </a:p>
          </p:txBody>
        </p:sp>
      </p:grpSp>
      <p:pic>
        <p:nvPicPr>
          <p:cNvPr id="1028" name="Picture 4" descr="‪Funny Cute Couple Ancient Human Cartoon. Royalty Free SVG, Cliparts,  Vectors, and Stock Illustration. Image 74301183.‬‏">
            <a:extLst>
              <a:ext uri="{FF2B5EF4-FFF2-40B4-BE49-F238E27FC236}">
                <a16:creationId xmlns:a16="http://schemas.microsoft.com/office/drawing/2014/main" id="{92DFF049-E1E9-A819-71CA-B1BF23AA20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0382" y="1690688"/>
            <a:ext cx="3179278" cy="2757133"/>
          </a:xfrm>
          <a:prstGeom prst="rect">
            <a:avLst/>
          </a:prstGeom>
          <a:noFill/>
          <a:extLst>
            <a:ext uri="{909E8E84-426E-40DD-AFC4-6F175D3DCCD1}">
              <a14:hiddenFill xmlns:a14="http://schemas.microsoft.com/office/drawing/2010/main">
                <a:solidFill>
                  <a:srgbClr val="FFFFFF"/>
                </a:solidFill>
              </a14:hiddenFill>
            </a:ext>
          </a:extLst>
        </p:spPr>
      </p:pic>
      <p:sp>
        <p:nvSpPr>
          <p:cNvPr id="4" name="מציין מיקום תוכן 2">
            <a:extLst>
              <a:ext uri="{FF2B5EF4-FFF2-40B4-BE49-F238E27FC236}">
                <a16:creationId xmlns:a16="http://schemas.microsoft.com/office/drawing/2014/main" id="{4FFA8C97-0EE6-68BE-6D14-441E3879548E}"/>
              </a:ext>
            </a:extLst>
          </p:cNvPr>
          <p:cNvSpPr txBox="1">
            <a:spLocks/>
          </p:cNvSpPr>
          <p:nvPr/>
        </p:nvSpPr>
        <p:spPr>
          <a:xfrm>
            <a:off x="1252974"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dirty="0">
                <a:latin typeface="Calibri" panose="020F0502020204030204" pitchFamily="34" charset="0"/>
                <a:cs typeface="Calibri" panose="020F0502020204030204" pitchFamily="34" charset="0"/>
              </a:rPr>
              <a:t>Environment</a:t>
            </a:r>
          </a:p>
        </p:txBody>
      </p:sp>
      <p:sp>
        <p:nvSpPr>
          <p:cNvPr id="5" name="מציין מיקום תוכן 2">
            <a:extLst>
              <a:ext uri="{FF2B5EF4-FFF2-40B4-BE49-F238E27FC236}">
                <a16:creationId xmlns:a16="http://schemas.microsoft.com/office/drawing/2014/main" id="{3D177215-E3F3-9653-0765-63F16DE49530}"/>
              </a:ext>
            </a:extLst>
          </p:cNvPr>
          <p:cNvSpPr txBox="1">
            <a:spLocks/>
          </p:cNvSpPr>
          <p:nvPr/>
        </p:nvSpPr>
        <p:spPr>
          <a:xfrm>
            <a:off x="4894241"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dirty="0">
                <a:latin typeface="Calibri" panose="020F0502020204030204" pitchFamily="34" charset="0"/>
                <a:cs typeface="Calibri" panose="020F0502020204030204" pitchFamily="34" charset="0"/>
              </a:rPr>
              <a:t>Life span</a:t>
            </a:r>
          </a:p>
        </p:txBody>
      </p:sp>
      <p:sp>
        <p:nvSpPr>
          <p:cNvPr id="6" name="מציין מיקום תוכן 2">
            <a:extLst>
              <a:ext uri="{FF2B5EF4-FFF2-40B4-BE49-F238E27FC236}">
                <a16:creationId xmlns:a16="http://schemas.microsoft.com/office/drawing/2014/main" id="{4D78A536-9428-A591-FB47-3B7842C53BBE}"/>
              </a:ext>
            </a:extLst>
          </p:cNvPr>
          <p:cNvSpPr txBox="1">
            <a:spLocks/>
          </p:cNvSpPr>
          <p:nvPr/>
        </p:nvSpPr>
        <p:spPr>
          <a:xfrm>
            <a:off x="8535508"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dirty="0">
                <a:latin typeface="Calibri" panose="020F0502020204030204" pitchFamily="34" charset="0"/>
                <a:cs typeface="Calibri" panose="020F0502020204030204" pitchFamily="34" charset="0"/>
              </a:rPr>
              <a:t>Lack of data</a:t>
            </a:r>
          </a:p>
        </p:txBody>
      </p:sp>
      <p:pic>
        <p:nvPicPr>
          <p:cNvPr id="1032" name="Picture 8" descr="‪Mascot Thermometer Fever - Stock Illustration [27457006] - PIXTA‬‏">
            <a:extLst>
              <a:ext uri="{FF2B5EF4-FFF2-40B4-BE49-F238E27FC236}">
                <a16:creationId xmlns:a16="http://schemas.microsoft.com/office/drawing/2014/main" id="{2C8256DD-09BB-B86C-DAD6-426B74A51214}"/>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151722" y="1378566"/>
            <a:ext cx="921488" cy="132556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3">
            <a:extLst>
              <a:ext uri="{FF2B5EF4-FFF2-40B4-BE49-F238E27FC236}">
                <a16:creationId xmlns:a16="http://schemas.microsoft.com/office/drawing/2014/main" id="{54AB6815-3B82-CD3E-C22A-0420703C1CA7}"/>
              </a:ext>
            </a:extLst>
          </p:cNvPr>
          <p:cNvSpPr txBox="1"/>
          <p:nvPr/>
        </p:nvSpPr>
        <p:spPr>
          <a:xfrm>
            <a:off x="9332668" y="5579631"/>
            <a:ext cx="809199" cy="748988"/>
          </a:xfrm>
          <a:prstGeom prst="rect">
            <a:avLst/>
          </a:prstGeom>
          <a:noFill/>
        </p:spPr>
        <p:txBody>
          <a:bodyPr wrap="square">
            <a:spAutoFit/>
          </a:bodyPr>
          <a:lstStyle/>
          <a:p>
            <a:pPr algn="ctr"/>
            <a:r>
              <a:rPr lang="en-US" sz="4267" dirty="0">
                <a:solidFill>
                  <a:srgbClr val="B12E31"/>
                </a:solidFill>
                <a:latin typeface="Calibri" panose="020F0502020204030204" pitchFamily="34" charset="0"/>
                <a:ea typeface="Helvetica Neue Thin" panose="020B0403020202020204" pitchFamily="34" charset="0"/>
                <a:cs typeface="Calibri" panose="020F0502020204030204" pitchFamily="34" charset="0"/>
              </a:rPr>
              <a:t>X</a:t>
            </a:r>
            <a:endParaRPr lang="en-IL" sz="2400" dirty="0">
              <a:solidFill>
                <a:srgbClr val="B12E31"/>
              </a:solidFill>
              <a:latin typeface="Calibri" panose="020F0502020204030204" pitchFamily="34" charset="0"/>
              <a:cs typeface="Calibri" panose="020F0502020204030204" pitchFamily="34" charset="0"/>
            </a:endParaRPr>
          </a:p>
        </p:txBody>
      </p:sp>
      <p:sp>
        <p:nvSpPr>
          <p:cNvPr id="13" name="TextBox 13">
            <a:extLst>
              <a:ext uri="{FF2B5EF4-FFF2-40B4-BE49-F238E27FC236}">
                <a16:creationId xmlns:a16="http://schemas.microsoft.com/office/drawing/2014/main" id="{8BDD3DC3-9452-225F-EB2E-F460EA411D39}"/>
              </a:ext>
            </a:extLst>
          </p:cNvPr>
          <p:cNvSpPr txBox="1"/>
          <p:nvPr/>
        </p:nvSpPr>
        <p:spPr>
          <a:xfrm>
            <a:off x="5691400" y="5579631"/>
            <a:ext cx="809199" cy="748988"/>
          </a:xfrm>
          <a:prstGeom prst="rect">
            <a:avLst/>
          </a:prstGeom>
          <a:noFill/>
        </p:spPr>
        <p:txBody>
          <a:bodyPr wrap="square">
            <a:spAutoFit/>
          </a:bodyPr>
          <a:lstStyle/>
          <a:p>
            <a:pPr algn="ctr"/>
            <a:r>
              <a:rPr lang="en-US" sz="4267" dirty="0">
                <a:solidFill>
                  <a:srgbClr val="B12E31"/>
                </a:solidFill>
                <a:latin typeface="Calibri" panose="020F0502020204030204" pitchFamily="34" charset="0"/>
                <a:ea typeface="Helvetica Neue Thin" panose="020B0403020202020204" pitchFamily="34" charset="0"/>
                <a:cs typeface="Calibri" panose="020F0502020204030204" pitchFamily="34" charset="0"/>
              </a:rPr>
              <a:t>X</a:t>
            </a:r>
            <a:endParaRPr lang="en-IL" sz="2400" dirty="0">
              <a:solidFill>
                <a:srgbClr val="B12E3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02D99711-F2C9-CE02-4837-1085BD7AA9C6}"/>
              </a:ext>
            </a:extLst>
          </p:cNvPr>
          <p:cNvSpPr txBox="1"/>
          <p:nvPr/>
        </p:nvSpPr>
        <p:spPr>
          <a:xfrm>
            <a:off x="2050133" y="5582754"/>
            <a:ext cx="809199" cy="748988"/>
          </a:xfrm>
          <a:prstGeom prst="rect">
            <a:avLst/>
          </a:prstGeom>
          <a:noFill/>
        </p:spPr>
        <p:txBody>
          <a:bodyPr wrap="square">
            <a:spAutoFit/>
          </a:bodyPr>
          <a:lstStyle/>
          <a:p>
            <a:pPr algn="ctr"/>
            <a:r>
              <a:rPr lang="en-US" sz="4267" dirty="0">
                <a:solidFill>
                  <a:srgbClr val="B12E31"/>
                </a:solidFill>
                <a:latin typeface="Calibri" panose="020F0502020204030204" pitchFamily="34" charset="0"/>
                <a:ea typeface="Helvetica Neue Thin" panose="020B0403020202020204" pitchFamily="34" charset="0"/>
                <a:cs typeface="Calibri" panose="020F0502020204030204" pitchFamily="34" charset="0"/>
              </a:rPr>
              <a:t>X</a:t>
            </a:r>
            <a:endParaRPr lang="en-IL" sz="2400" dirty="0">
              <a:solidFill>
                <a:srgbClr val="B12E31"/>
              </a:solidFill>
              <a:latin typeface="Calibri" panose="020F0502020204030204" pitchFamily="34" charset="0"/>
              <a:cs typeface="Calibri" panose="020F0502020204030204" pitchFamily="34" charset="0"/>
            </a:endParaRPr>
          </a:p>
        </p:txBody>
      </p:sp>
      <p:grpSp>
        <p:nvGrpSpPr>
          <p:cNvPr id="15" name="Group 6">
            <a:extLst>
              <a:ext uri="{FF2B5EF4-FFF2-40B4-BE49-F238E27FC236}">
                <a16:creationId xmlns:a16="http://schemas.microsoft.com/office/drawing/2014/main" id="{6DDBD77E-AF16-8993-E6EB-A0EE0341B939}"/>
              </a:ext>
            </a:extLst>
          </p:cNvPr>
          <p:cNvGrpSpPr/>
          <p:nvPr/>
        </p:nvGrpSpPr>
        <p:grpSpPr>
          <a:xfrm>
            <a:off x="-295174" y="4815030"/>
            <a:ext cx="12930163" cy="768028"/>
            <a:chOff x="-221380" y="3418765"/>
            <a:chExt cx="9697622" cy="576021"/>
          </a:xfrm>
        </p:grpSpPr>
        <p:sp>
          <p:nvSpPr>
            <p:cNvPr id="16" name="Rectangle 4">
              <a:extLst>
                <a:ext uri="{FF2B5EF4-FFF2-40B4-BE49-F238E27FC236}">
                  <a16:creationId xmlns:a16="http://schemas.microsoft.com/office/drawing/2014/main" id="{CA909C89-D87B-3686-A14E-BD5EBA056C4C}"/>
                </a:ext>
              </a:extLst>
            </p:cNvPr>
            <p:cNvSpPr/>
            <p:nvPr/>
          </p:nvSpPr>
          <p:spPr>
            <a:xfrm>
              <a:off x="-221380" y="3418765"/>
              <a:ext cx="9697622" cy="576021"/>
            </a:xfrm>
            <a:prstGeom prst="rect">
              <a:avLst/>
            </a:prstGeom>
            <a:solidFill>
              <a:srgbClr val="5EBB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sz="2400" dirty="0">
                <a:latin typeface="Calibri" panose="020F0502020204030204" pitchFamily="34" charset="0"/>
                <a:cs typeface="Calibri" panose="020F0502020204030204" pitchFamily="34" charset="0"/>
              </a:endParaRPr>
            </a:p>
          </p:txBody>
        </p:sp>
        <p:sp>
          <p:nvSpPr>
            <p:cNvPr id="17" name="TextBox 21">
              <a:extLst>
                <a:ext uri="{FF2B5EF4-FFF2-40B4-BE49-F238E27FC236}">
                  <a16:creationId xmlns:a16="http://schemas.microsoft.com/office/drawing/2014/main" id="{5EA24A98-BE4F-8F6D-60F9-ED2EC651FBA7}"/>
                </a:ext>
              </a:extLst>
            </p:cNvPr>
            <p:cNvSpPr txBox="1"/>
            <p:nvPr/>
          </p:nvSpPr>
          <p:spPr>
            <a:xfrm>
              <a:off x="-221380" y="3501759"/>
              <a:ext cx="9697621" cy="377075"/>
            </a:xfrm>
            <a:prstGeom prst="rect">
              <a:avLst/>
            </a:prstGeom>
            <a:noFill/>
          </p:spPr>
          <p:txBody>
            <a:bodyPr wrap="square">
              <a:spAutoFit/>
            </a:bodyPr>
            <a:lstStyle/>
            <a:p>
              <a:pPr algn="ctr"/>
              <a:r>
                <a:rPr lang="en-US" sz="2667" dirty="0">
                  <a:solidFill>
                    <a:schemeClr val="bg1"/>
                  </a:solidFill>
                  <a:latin typeface="Calibri" panose="020F0502020204030204" pitchFamily="34" charset="0"/>
                  <a:ea typeface="Helvetica Neue" panose="02000503000000020004" pitchFamily="2" charset="0"/>
                  <a:cs typeface="Calibri" panose="020F0502020204030204" pitchFamily="34" charset="0"/>
                </a:rPr>
                <a:t>Genetic changes </a:t>
              </a:r>
              <a:r>
                <a:rPr lang="en-US" sz="2667" dirty="0">
                  <a:solidFill>
                    <a:schemeClr val="bg1"/>
                  </a:solidFill>
                  <a:latin typeface="Calibri" panose="020F0502020204030204" pitchFamily="34" charset="0"/>
                  <a:ea typeface="Helvetica Neue" panose="02000503000000020004" pitchFamily="2" charset="0"/>
                  <a:cs typeface="Calibri" panose="020F0502020204030204" pitchFamily="34" charset="0"/>
                  <a:sym typeface="Wingdings" pitchFamily="2" charset="2"/>
                </a:rPr>
                <a:t> human susceptibility</a:t>
              </a:r>
              <a:endParaRPr lang="en-IL" sz="2667" dirty="0">
                <a:solidFill>
                  <a:schemeClr val="bg1"/>
                </a:solidFill>
                <a:latin typeface="Calibri" panose="020F0502020204030204" pitchFamily="34" charset="0"/>
                <a:ea typeface="Helvetica Neue" panose="02000503000000020004" pitchFamily="2" charset="0"/>
                <a:cs typeface="Calibri" panose="020F0502020204030204" pitchFamily="34" charset="0"/>
              </a:endParaRPr>
            </a:p>
          </p:txBody>
        </p:sp>
      </p:grpSp>
      <p:sp>
        <p:nvSpPr>
          <p:cNvPr id="19" name="אליפסה 18">
            <a:extLst>
              <a:ext uri="{FF2B5EF4-FFF2-40B4-BE49-F238E27FC236}">
                <a16:creationId xmlns:a16="http://schemas.microsoft.com/office/drawing/2014/main" id="{13937FA5-5AE6-B729-5C73-7307E96FCFB8}"/>
              </a:ext>
            </a:extLst>
          </p:cNvPr>
          <p:cNvSpPr/>
          <p:nvPr/>
        </p:nvSpPr>
        <p:spPr>
          <a:xfrm>
            <a:off x="5927783" y="4598996"/>
            <a:ext cx="3571219" cy="11086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15613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DB8A-F329-066D-DECD-9917AF058516}"/>
            </a:ext>
          </a:extLst>
        </p:cNvPr>
        <p:cNvGrpSpPr/>
        <p:nvPr/>
      </p:nvGrpSpPr>
      <p:grpSpPr>
        <a:xfrm>
          <a:off x="0" y="0"/>
          <a:ext cx="0" cy="0"/>
          <a:chOff x="0" y="0"/>
          <a:chExt cx="0" cy="0"/>
        </a:xfrm>
      </p:grpSpPr>
      <p:pic>
        <p:nvPicPr>
          <p:cNvPr id="1028" name="Picture 4" descr="‪Body Outline Images – Browse 577,029 Stock Photos, Vectors, and Video |  Adobe Stock‬‏">
            <a:extLst>
              <a:ext uri="{FF2B5EF4-FFF2-40B4-BE49-F238E27FC236}">
                <a16:creationId xmlns:a16="http://schemas.microsoft.com/office/drawing/2014/main" id="{ED186A50-00ED-1E7C-5E0F-06F26E8535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626" r="28254"/>
          <a:stretch/>
        </p:blipFill>
        <p:spPr bwMode="auto">
          <a:xfrm>
            <a:off x="8397273" y="1329000"/>
            <a:ext cx="2471230" cy="5476972"/>
          </a:xfrm>
          <a:prstGeom prst="rect">
            <a:avLst/>
          </a:prstGeom>
          <a:noFill/>
          <a:extLst>
            <a:ext uri="{909E8E84-426E-40DD-AFC4-6F175D3DCCD1}">
              <a14:hiddenFill xmlns:a14="http://schemas.microsoft.com/office/drawing/2010/main">
                <a:solidFill>
                  <a:srgbClr val="FFFFFF"/>
                </a:solidFill>
              </a14:hiddenFill>
            </a:ext>
          </a:extLst>
        </p:spPr>
      </p:pic>
      <p:sp>
        <p:nvSpPr>
          <p:cNvPr id="2" name="כותרת 1">
            <a:extLst>
              <a:ext uri="{FF2B5EF4-FFF2-40B4-BE49-F238E27FC236}">
                <a16:creationId xmlns:a16="http://schemas.microsoft.com/office/drawing/2014/main" id="{0F9BD07F-9669-457A-D5D7-523BF791B40A}"/>
              </a:ext>
            </a:extLst>
          </p:cNvPr>
          <p:cNvSpPr>
            <a:spLocks noGrp="1"/>
          </p:cNvSpPr>
          <p:nvPr>
            <p:ph type="title"/>
          </p:nvPr>
        </p:nvSpPr>
        <p:spPr>
          <a:xfrm>
            <a:off x="838200" y="295181"/>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Which diseases can we study using the hybrid system?</a:t>
            </a:r>
            <a:endParaRPr lang="he-IL" b="1" dirty="0">
              <a:latin typeface="Calibri" panose="020F0502020204030204" pitchFamily="34" charset="0"/>
              <a:cs typeface="Calibri" panose="020F0502020204030204" pitchFamily="34" charset="0"/>
            </a:endParaRPr>
          </a:p>
        </p:txBody>
      </p:sp>
      <p:sp>
        <p:nvSpPr>
          <p:cNvPr id="5" name="מציין מיקום תוכן 2">
            <a:extLst>
              <a:ext uri="{FF2B5EF4-FFF2-40B4-BE49-F238E27FC236}">
                <a16:creationId xmlns:a16="http://schemas.microsoft.com/office/drawing/2014/main" id="{F430CEE6-B8B5-9F49-48E1-198B4749B9F4}"/>
              </a:ext>
            </a:extLst>
          </p:cNvPr>
          <p:cNvSpPr>
            <a:spLocks noGrp="1"/>
          </p:cNvSpPr>
          <p:nvPr>
            <p:ph idx="1"/>
          </p:nvPr>
        </p:nvSpPr>
        <p:spPr>
          <a:xfrm>
            <a:off x="794668" y="1993982"/>
            <a:ext cx="5740879" cy="4351338"/>
          </a:xfrm>
        </p:spPr>
        <p:txBody>
          <a:bodyPr>
            <a:normAutofit/>
          </a:bodyPr>
          <a:lstStyle/>
          <a:p>
            <a:pPr marL="0" indent="0" algn="l" rtl="0">
              <a:buNone/>
            </a:pPr>
            <a:r>
              <a:rPr lang="en-US" dirty="0">
                <a:latin typeface="Calibri" panose="020F0502020204030204" pitchFamily="34" charset="0"/>
                <a:cs typeface="Calibri" panose="020F0502020204030204" pitchFamily="34" charset="0"/>
              </a:rPr>
              <a:t>Curate list of human-specific diseases with compatible cell types to the hybrid data we have</a:t>
            </a:r>
          </a:p>
        </p:txBody>
      </p:sp>
      <p:cxnSp>
        <p:nvCxnSpPr>
          <p:cNvPr id="6" name="מחבר: מרפקי 5">
            <a:extLst>
              <a:ext uri="{FF2B5EF4-FFF2-40B4-BE49-F238E27FC236}">
                <a16:creationId xmlns:a16="http://schemas.microsoft.com/office/drawing/2014/main" id="{9C1192BC-5E08-C796-ACE6-65D60B89E9C9}"/>
              </a:ext>
            </a:extLst>
          </p:cNvPr>
          <p:cNvCxnSpPr>
            <a:cxnSpLocks/>
          </p:cNvCxnSpPr>
          <p:nvPr/>
        </p:nvCxnSpPr>
        <p:spPr>
          <a:xfrm flipV="1">
            <a:off x="9763432" y="1564875"/>
            <a:ext cx="972301" cy="144316"/>
          </a:xfrm>
          <a:prstGeom prst="bentConnector3">
            <a:avLst/>
          </a:prstGeom>
          <a:ln>
            <a:tailEnd type="triangle"/>
          </a:ln>
        </p:spPr>
        <p:style>
          <a:lnRef idx="2">
            <a:schemeClr val="accent6"/>
          </a:lnRef>
          <a:fillRef idx="0">
            <a:schemeClr val="accent6"/>
          </a:fillRef>
          <a:effectRef idx="1">
            <a:schemeClr val="accent6"/>
          </a:effectRef>
          <a:fontRef idx="minor">
            <a:schemeClr val="tx1"/>
          </a:fontRef>
        </p:style>
      </p:cxnSp>
      <p:sp>
        <p:nvSpPr>
          <p:cNvPr id="10" name="מציין מיקום תוכן 2">
            <a:extLst>
              <a:ext uri="{FF2B5EF4-FFF2-40B4-BE49-F238E27FC236}">
                <a16:creationId xmlns:a16="http://schemas.microsoft.com/office/drawing/2014/main" id="{46F6210D-132A-68FD-13E4-1A474D1589CC}"/>
              </a:ext>
            </a:extLst>
          </p:cNvPr>
          <p:cNvSpPr txBox="1">
            <a:spLocks/>
          </p:cNvSpPr>
          <p:nvPr/>
        </p:nvSpPr>
        <p:spPr>
          <a:xfrm>
            <a:off x="2325786" y="3724422"/>
            <a:ext cx="2236467" cy="590874"/>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solidFill>
                  <a:srgbClr val="FF0000"/>
                </a:solidFill>
                <a:latin typeface="Calibri" panose="020F0502020204030204" pitchFamily="34" charset="0"/>
                <a:cs typeface="Calibri" panose="020F0502020204030204" pitchFamily="34" charset="0"/>
              </a:rPr>
              <a:t>32 diseases</a:t>
            </a:r>
          </a:p>
        </p:txBody>
      </p:sp>
      <p:sp>
        <p:nvSpPr>
          <p:cNvPr id="11" name="מציין מיקום תוכן 2">
            <a:extLst>
              <a:ext uri="{FF2B5EF4-FFF2-40B4-BE49-F238E27FC236}">
                <a16:creationId xmlns:a16="http://schemas.microsoft.com/office/drawing/2014/main" id="{3EBCB13D-56E3-6AEA-A94B-127CE71AE5C0}"/>
              </a:ext>
            </a:extLst>
          </p:cNvPr>
          <p:cNvSpPr txBox="1">
            <a:spLocks/>
          </p:cNvSpPr>
          <p:nvPr/>
        </p:nvSpPr>
        <p:spPr>
          <a:xfrm>
            <a:off x="10566977" y="1363773"/>
            <a:ext cx="1399897"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dirty="0">
                <a:solidFill>
                  <a:schemeClr val="accent6">
                    <a:lumMod val="60000"/>
                    <a:lumOff val="40000"/>
                  </a:schemeClr>
                </a:solidFill>
                <a:latin typeface="Calibri" panose="020F0502020204030204" pitchFamily="34" charset="0"/>
                <a:cs typeface="Calibri" panose="020F0502020204030204" pitchFamily="34" charset="0"/>
              </a:rPr>
              <a:t>Alzheimer’s </a:t>
            </a:r>
          </a:p>
          <a:p>
            <a:pPr marL="0" indent="0" algn="ctr" rtl="0">
              <a:buNone/>
            </a:pPr>
            <a:r>
              <a:rPr lang="en-US" sz="1200" dirty="0">
                <a:solidFill>
                  <a:schemeClr val="accent6">
                    <a:lumMod val="60000"/>
                    <a:lumOff val="40000"/>
                  </a:schemeClr>
                </a:solidFill>
                <a:latin typeface="Calibri" panose="020F0502020204030204" pitchFamily="34" charset="0"/>
                <a:cs typeface="Calibri" panose="020F0502020204030204" pitchFamily="34" charset="0"/>
              </a:rPr>
              <a:t>Schizophrenia</a:t>
            </a:r>
          </a:p>
        </p:txBody>
      </p:sp>
      <p:cxnSp>
        <p:nvCxnSpPr>
          <p:cNvPr id="12" name="מחבר: מרפקי 11">
            <a:extLst>
              <a:ext uri="{FF2B5EF4-FFF2-40B4-BE49-F238E27FC236}">
                <a16:creationId xmlns:a16="http://schemas.microsoft.com/office/drawing/2014/main" id="{84C8ACC4-856E-3BA9-07EF-01310E2334FC}"/>
              </a:ext>
            </a:extLst>
          </p:cNvPr>
          <p:cNvCxnSpPr>
            <a:cxnSpLocks/>
          </p:cNvCxnSpPr>
          <p:nvPr/>
        </p:nvCxnSpPr>
        <p:spPr>
          <a:xfrm flipV="1">
            <a:off x="10520969" y="3273778"/>
            <a:ext cx="474133" cy="19969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מציין מיקום תוכן 2">
            <a:extLst>
              <a:ext uri="{FF2B5EF4-FFF2-40B4-BE49-F238E27FC236}">
                <a16:creationId xmlns:a16="http://schemas.microsoft.com/office/drawing/2014/main" id="{E4408A42-27B4-D603-CC7E-E6CF6352D9B4}"/>
              </a:ext>
            </a:extLst>
          </p:cNvPr>
          <p:cNvSpPr txBox="1">
            <a:spLocks/>
          </p:cNvSpPr>
          <p:nvPr/>
        </p:nvSpPr>
        <p:spPr>
          <a:xfrm>
            <a:off x="10607239" y="3085631"/>
            <a:ext cx="15847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dirty="0">
                <a:solidFill>
                  <a:schemeClr val="accent1"/>
                </a:solidFill>
                <a:latin typeface="Calibri" panose="020F0502020204030204" pitchFamily="34" charset="0"/>
                <a:cs typeface="Calibri" panose="020F0502020204030204" pitchFamily="34" charset="0"/>
              </a:rPr>
              <a:t>Psoriasis</a:t>
            </a:r>
          </a:p>
          <a:p>
            <a:pPr marL="0" indent="0" algn="ctr" rtl="0">
              <a:buNone/>
            </a:pPr>
            <a:r>
              <a:rPr lang="en-US" sz="1200" dirty="0">
                <a:solidFill>
                  <a:schemeClr val="accent1"/>
                </a:solidFill>
                <a:latin typeface="Calibri" panose="020F0502020204030204" pitchFamily="34" charset="0"/>
                <a:cs typeface="Calibri" panose="020F0502020204030204" pitchFamily="34" charset="0"/>
              </a:rPr>
              <a:t>Carcinoma</a:t>
            </a:r>
          </a:p>
        </p:txBody>
      </p:sp>
      <p:grpSp>
        <p:nvGrpSpPr>
          <p:cNvPr id="22" name="Group 62">
            <a:extLst>
              <a:ext uri="{FF2B5EF4-FFF2-40B4-BE49-F238E27FC236}">
                <a16:creationId xmlns:a16="http://schemas.microsoft.com/office/drawing/2014/main" id="{71E8386D-EE39-A34D-7DB0-88553FC9E222}"/>
              </a:ext>
            </a:extLst>
          </p:cNvPr>
          <p:cNvGrpSpPr/>
          <p:nvPr/>
        </p:nvGrpSpPr>
        <p:grpSpPr>
          <a:xfrm>
            <a:off x="9335541" y="2142880"/>
            <a:ext cx="671285" cy="1858414"/>
            <a:chOff x="4369354" y="616282"/>
            <a:chExt cx="615419" cy="1824782"/>
          </a:xfrm>
        </p:grpSpPr>
        <p:sp>
          <p:nvSpPr>
            <p:cNvPr id="23" name="Rectangle 60">
              <a:extLst>
                <a:ext uri="{FF2B5EF4-FFF2-40B4-BE49-F238E27FC236}">
                  <a16:creationId xmlns:a16="http://schemas.microsoft.com/office/drawing/2014/main" id="{0E34D9CF-5BFD-F0E9-B463-04386E12DE23}"/>
                </a:ext>
              </a:extLst>
            </p:cNvPr>
            <p:cNvSpPr/>
            <p:nvPr/>
          </p:nvSpPr>
          <p:spPr>
            <a:xfrm>
              <a:off x="4369354" y="616282"/>
              <a:ext cx="615419" cy="1818878"/>
            </a:xfrm>
            <a:prstGeom prst="rect">
              <a:avLst/>
            </a:prstGeom>
            <a:solidFill>
              <a:schemeClr val="bg1">
                <a:alpha val="1294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latin typeface="Calibri" panose="020F0502020204030204" pitchFamily="34" charset="0"/>
                <a:cs typeface="Calibri" panose="020F0502020204030204" pitchFamily="34" charset="0"/>
              </a:endParaRPr>
            </a:p>
          </p:txBody>
        </p:sp>
        <p:grpSp>
          <p:nvGrpSpPr>
            <p:cNvPr id="24" name="Group 50">
              <a:extLst>
                <a:ext uri="{FF2B5EF4-FFF2-40B4-BE49-F238E27FC236}">
                  <a16:creationId xmlns:a16="http://schemas.microsoft.com/office/drawing/2014/main" id="{0AF2448B-8CAB-2036-8D49-6E4397462F37}"/>
                </a:ext>
              </a:extLst>
            </p:cNvPr>
            <p:cNvGrpSpPr/>
            <p:nvPr/>
          </p:nvGrpSpPr>
          <p:grpSpPr>
            <a:xfrm>
              <a:off x="4482472" y="622186"/>
              <a:ext cx="373391" cy="1818878"/>
              <a:chOff x="7430624" y="36225"/>
              <a:chExt cx="1013108" cy="4935102"/>
            </a:xfrm>
          </p:grpSpPr>
          <p:pic>
            <p:nvPicPr>
              <p:cNvPr id="25" name="Picture 2" descr="Anterior and Posterior Views of Spine">
                <a:extLst>
                  <a:ext uri="{FF2B5EF4-FFF2-40B4-BE49-F238E27FC236}">
                    <a16:creationId xmlns:a16="http://schemas.microsoft.com/office/drawing/2014/main" id="{8B2D0861-26F4-F04D-FB43-6D399E56171B}"/>
                  </a:ext>
                </a:extLst>
              </p:cNvPr>
              <p:cNvPicPr>
                <a:picLocks noChangeAspect="1" noChangeArrowheads="1"/>
              </p:cNvPicPr>
              <p:nvPr/>
            </p:nvPicPr>
            <p:blipFill rotWithShape="1">
              <a:blip r:embed="rId4">
                <a:duotone>
                  <a:schemeClr val="accent2">
                    <a:shade val="45000"/>
                    <a:satMod val="135000"/>
                  </a:schemeClr>
                  <a:prstClr val="white"/>
                </a:duotone>
                <a:extLst>
                  <a:ext uri="{28A0092B-C50C-407E-A947-70E740481C1C}">
                    <a14:useLocalDpi xmlns:a14="http://schemas.microsoft.com/office/drawing/2010/main" val="0"/>
                  </a:ext>
                </a:extLst>
              </a:blip>
              <a:srcRect r="55292"/>
              <a:stretch/>
            </p:blipFill>
            <p:spPr bwMode="auto">
              <a:xfrm>
                <a:off x="7534609" y="668457"/>
                <a:ext cx="855910" cy="4083451"/>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49">
                <a:extLst>
                  <a:ext uri="{FF2B5EF4-FFF2-40B4-BE49-F238E27FC236}">
                    <a16:creationId xmlns:a16="http://schemas.microsoft.com/office/drawing/2014/main" id="{16A4A05E-412B-1A6A-9A16-70654ED5EC07}"/>
                  </a:ext>
                </a:extLst>
              </p:cNvPr>
              <p:cNvSpPr/>
              <p:nvPr/>
            </p:nvSpPr>
            <p:spPr>
              <a:xfrm>
                <a:off x="8331200" y="4356100"/>
                <a:ext cx="112532" cy="6152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latin typeface="Calibri" panose="020F0502020204030204" pitchFamily="34" charset="0"/>
                  <a:cs typeface="Calibri" panose="020F0502020204030204" pitchFamily="34" charset="0"/>
                </a:endParaRPr>
              </a:p>
            </p:txBody>
          </p:sp>
          <p:sp>
            <p:nvSpPr>
              <p:cNvPr id="27" name="Rectangle 52">
                <a:extLst>
                  <a:ext uri="{FF2B5EF4-FFF2-40B4-BE49-F238E27FC236}">
                    <a16:creationId xmlns:a16="http://schemas.microsoft.com/office/drawing/2014/main" id="{8DC2A778-39E3-08F5-174A-18934C41260A}"/>
                  </a:ext>
                </a:extLst>
              </p:cNvPr>
              <p:cNvSpPr/>
              <p:nvPr/>
            </p:nvSpPr>
            <p:spPr>
              <a:xfrm>
                <a:off x="8246801" y="3095535"/>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latin typeface="Calibri" panose="020F0502020204030204" pitchFamily="34" charset="0"/>
                  <a:cs typeface="Calibri" panose="020F0502020204030204" pitchFamily="34" charset="0"/>
                </a:endParaRPr>
              </a:p>
            </p:txBody>
          </p:sp>
          <p:sp>
            <p:nvSpPr>
              <p:cNvPr id="28" name="Rectangle 53">
                <a:extLst>
                  <a:ext uri="{FF2B5EF4-FFF2-40B4-BE49-F238E27FC236}">
                    <a16:creationId xmlns:a16="http://schemas.microsoft.com/office/drawing/2014/main" id="{C17E119D-A97F-2103-A39D-4831C1911195}"/>
                  </a:ext>
                </a:extLst>
              </p:cNvPr>
              <p:cNvSpPr/>
              <p:nvPr/>
            </p:nvSpPr>
            <p:spPr>
              <a:xfrm>
                <a:off x="8234262" y="100282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latin typeface="Calibri" panose="020F0502020204030204" pitchFamily="34" charset="0"/>
                  <a:cs typeface="Calibri" panose="020F0502020204030204" pitchFamily="34" charset="0"/>
                </a:endParaRPr>
              </a:p>
            </p:txBody>
          </p:sp>
          <p:sp>
            <p:nvSpPr>
              <p:cNvPr id="29" name="Rectangle 54">
                <a:extLst>
                  <a:ext uri="{FF2B5EF4-FFF2-40B4-BE49-F238E27FC236}">
                    <a16:creationId xmlns:a16="http://schemas.microsoft.com/office/drawing/2014/main" id="{C1BB79D5-2C0B-8ACF-EAA9-4FEB5DCEEB5C}"/>
                  </a:ext>
                </a:extLst>
              </p:cNvPr>
              <p:cNvSpPr/>
              <p:nvPr/>
            </p:nvSpPr>
            <p:spPr>
              <a:xfrm>
                <a:off x="8274934" y="240197"/>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latin typeface="Calibri" panose="020F0502020204030204" pitchFamily="34" charset="0"/>
                  <a:cs typeface="Calibri" panose="020F0502020204030204" pitchFamily="34" charset="0"/>
                </a:endParaRPr>
              </a:p>
            </p:txBody>
          </p:sp>
          <p:sp>
            <p:nvSpPr>
              <p:cNvPr id="30" name="Rectangle 55">
                <a:extLst>
                  <a:ext uri="{FF2B5EF4-FFF2-40B4-BE49-F238E27FC236}">
                    <a16:creationId xmlns:a16="http://schemas.microsoft.com/office/drawing/2014/main" id="{A9047645-1E74-A2D2-2149-A138EB865AFE}"/>
                  </a:ext>
                </a:extLst>
              </p:cNvPr>
              <p:cNvSpPr/>
              <p:nvPr/>
            </p:nvSpPr>
            <p:spPr>
              <a:xfrm>
                <a:off x="7483837" y="20125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latin typeface="Calibri" panose="020F0502020204030204" pitchFamily="34" charset="0"/>
                  <a:cs typeface="Calibri" panose="020F0502020204030204" pitchFamily="34" charset="0"/>
                </a:endParaRPr>
              </a:p>
            </p:txBody>
          </p:sp>
          <p:sp>
            <p:nvSpPr>
              <p:cNvPr id="31" name="Rectangle 56">
                <a:extLst>
                  <a:ext uri="{FF2B5EF4-FFF2-40B4-BE49-F238E27FC236}">
                    <a16:creationId xmlns:a16="http://schemas.microsoft.com/office/drawing/2014/main" id="{02C1425F-AC58-7280-F131-6EE11DF0A7FC}"/>
                  </a:ext>
                </a:extLst>
              </p:cNvPr>
              <p:cNvSpPr/>
              <p:nvPr/>
            </p:nvSpPr>
            <p:spPr>
              <a:xfrm>
                <a:off x="7430624" y="381592"/>
                <a:ext cx="341775" cy="813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latin typeface="Calibri" panose="020F0502020204030204" pitchFamily="34" charset="0"/>
                  <a:cs typeface="Calibri" panose="020F0502020204030204" pitchFamily="34" charset="0"/>
                </a:endParaRPr>
              </a:p>
            </p:txBody>
          </p:sp>
          <p:sp>
            <p:nvSpPr>
              <p:cNvPr id="1024" name="Rectangle 57">
                <a:extLst>
                  <a:ext uri="{FF2B5EF4-FFF2-40B4-BE49-F238E27FC236}">
                    <a16:creationId xmlns:a16="http://schemas.microsoft.com/office/drawing/2014/main" id="{A29CE5F4-AEED-A4B3-C4B7-81C85C8053E1}"/>
                  </a:ext>
                </a:extLst>
              </p:cNvPr>
              <p:cNvSpPr/>
              <p:nvPr/>
            </p:nvSpPr>
            <p:spPr>
              <a:xfrm>
                <a:off x="7836043" y="36225"/>
                <a:ext cx="245132" cy="1273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latin typeface="Calibri" panose="020F0502020204030204" pitchFamily="34" charset="0"/>
                  <a:cs typeface="Calibri" panose="020F0502020204030204" pitchFamily="34" charset="0"/>
                </a:endParaRPr>
              </a:p>
            </p:txBody>
          </p:sp>
        </p:grpSp>
      </p:grpSp>
      <p:pic>
        <p:nvPicPr>
          <p:cNvPr id="16" name="תמונה 15">
            <a:extLst>
              <a:ext uri="{FF2B5EF4-FFF2-40B4-BE49-F238E27FC236}">
                <a16:creationId xmlns:a16="http://schemas.microsoft.com/office/drawing/2014/main" id="{C12C4B6A-C455-4926-5573-90FCA85D3E29}"/>
              </a:ext>
            </a:extLst>
          </p:cNvPr>
          <p:cNvPicPr>
            <a:picLocks noChangeAspect="1"/>
          </p:cNvPicPr>
          <p:nvPr/>
        </p:nvPicPr>
        <p:blipFill>
          <a:blip r:embed="rId5"/>
          <a:srcRect l="19050" t="6673" r="5577"/>
          <a:stretch/>
        </p:blipFill>
        <p:spPr>
          <a:xfrm>
            <a:off x="9453342" y="2223777"/>
            <a:ext cx="442738" cy="583229"/>
          </a:xfrm>
          <a:prstGeom prst="rect">
            <a:avLst/>
          </a:prstGeom>
        </p:spPr>
      </p:pic>
      <p:pic>
        <p:nvPicPr>
          <p:cNvPr id="20" name="תמונה 19">
            <a:extLst>
              <a:ext uri="{FF2B5EF4-FFF2-40B4-BE49-F238E27FC236}">
                <a16:creationId xmlns:a16="http://schemas.microsoft.com/office/drawing/2014/main" id="{092776A3-063C-AF99-9187-76FCCC1AD3D0}"/>
              </a:ext>
            </a:extLst>
          </p:cNvPr>
          <p:cNvPicPr>
            <a:picLocks noChangeAspect="1"/>
          </p:cNvPicPr>
          <p:nvPr/>
        </p:nvPicPr>
        <p:blipFill>
          <a:blip r:embed="rId6"/>
          <a:stretch>
            <a:fillRect/>
          </a:stretch>
        </p:blipFill>
        <p:spPr>
          <a:xfrm>
            <a:off x="9636414" y="2764474"/>
            <a:ext cx="337154" cy="427733"/>
          </a:xfrm>
          <a:prstGeom prst="rect">
            <a:avLst/>
          </a:prstGeom>
        </p:spPr>
      </p:pic>
      <p:pic>
        <p:nvPicPr>
          <p:cNvPr id="21" name="Picture 44" descr="brain_sketch_by_pcek-d53270v.png">
            <a:extLst>
              <a:ext uri="{FF2B5EF4-FFF2-40B4-BE49-F238E27FC236}">
                <a16:creationId xmlns:a16="http://schemas.microsoft.com/office/drawing/2014/main" id="{C1D75B37-63F0-C3BA-4F1F-B8D80397AF9A}"/>
              </a:ext>
            </a:extLst>
          </p:cNvPr>
          <p:cNvPicPr>
            <a:picLocks noChangeAspect="1"/>
          </p:cNvPicPr>
          <p:nvPr/>
        </p:nvPicPr>
        <p:blipFill>
          <a:blip r:embed="rId7" cstate="print">
            <a:duotone>
              <a:schemeClr val="accent6">
                <a:shade val="45000"/>
                <a:satMod val="135000"/>
              </a:schemeClr>
              <a:prstClr val="white"/>
            </a:duotone>
          </a:blip>
          <a:stretch>
            <a:fillRect/>
          </a:stretch>
        </p:blipFill>
        <p:spPr>
          <a:xfrm>
            <a:off x="9495644" y="1605565"/>
            <a:ext cx="358133" cy="260750"/>
          </a:xfrm>
          <a:prstGeom prst="rect">
            <a:avLst/>
          </a:prstGeom>
        </p:spPr>
      </p:pic>
      <p:sp>
        <p:nvSpPr>
          <p:cNvPr id="1025" name="אליפסה 1024">
            <a:extLst>
              <a:ext uri="{FF2B5EF4-FFF2-40B4-BE49-F238E27FC236}">
                <a16:creationId xmlns:a16="http://schemas.microsoft.com/office/drawing/2014/main" id="{0ADE4D73-FDA2-C5D7-92A0-975B7B7F6FFA}"/>
              </a:ext>
            </a:extLst>
          </p:cNvPr>
          <p:cNvSpPr/>
          <p:nvPr/>
        </p:nvSpPr>
        <p:spPr>
          <a:xfrm>
            <a:off x="9555064" y="3918935"/>
            <a:ext cx="214564" cy="201849"/>
          </a:xfrm>
          <a:prstGeom prst="ellipse">
            <a:avLst/>
          </a:prstGeom>
          <a:solidFill>
            <a:srgbClr val="F2CFE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027" name="אליפסה 1026">
            <a:extLst>
              <a:ext uri="{FF2B5EF4-FFF2-40B4-BE49-F238E27FC236}">
                <a16:creationId xmlns:a16="http://schemas.microsoft.com/office/drawing/2014/main" id="{FFA91C1B-1800-CA4A-8D5C-90F2580D61C4}"/>
              </a:ext>
            </a:extLst>
          </p:cNvPr>
          <p:cNvSpPr/>
          <p:nvPr/>
        </p:nvSpPr>
        <p:spPr>
          <a:xfrm>
            <a:off x="9437238" y="3342811"/>
            <a:ext cx="572519" cy="483582"/>
          </a:xfrm>
          <a:prstGeom prst="ellipse">
            <a:avLst/>
          </a:prstGeom>
          <a:solidFill>
            <a:srgbClr val="CCF6EC">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cxnSp>
        <p:nvCxnSpPr>
          <p:cNvPr id="1029" name="מחבר: מרפקי 1028">
            <a:extLst>
              <a:ext uri="{FF2B5EF4-FFF2-40B4-BE49-F238E27FC236}">
                <a16:creationId xmlns:a16="http://schemas.microsoft.com/office/drawing/2014/main" id="{8F6D8950-A8A6-25AF-1E07-B2533A1F0C4F}"/>
              </a:ext>
            </a:extLst>
          </p:cNvPr>
          <p:cNvCxnSpPr>
            <a:cxnSpLocks/>
            <a:stCxn id="20" idx="3"/>
          </p:cNvCxnSpPr>
          <p:nvPr/>
        </p:nvCxnSpPr>
        <p:spPr>
          <a:xfrm flipV="1">
            <a:off x="9973568" y="2413570"/>
            <a:ext cx="593409" cy="564771"/>
          </a:xfrm>
          <a:prstGeom prst="bentConnector3">
            <a:avLst/>
          </a:prstGeom>
          <a:ln>
            <a:solidFill>
              <a:schemeClr val="bg2">
                <a:lumMod val="75000"/>
              </a:schemeClr>
            </a:solidFill>
            <a:tailEnd type="triangle"/>
          </a:ln>
        </p:spPr>
        <p:style>
          <a:lnRef idx="2">
            <a:schemeClr val="accent3"/>
          </a:lnRef>
          <a:fillRef idx="0">
            <a:schemeClr val="accent3"/>
          </a:fillRef>
          <a:effectRef idx="1">
            <a:schemeClr val="accent3"/>
          </a:effectRef>
          <a:fontRef idx="minor">
            <a:schemeClr val="tx1"/>
          </a:fontRef>
        </p:style>
      </p:cxnSp>
      <p:sp>
        <p:nvSpPr>
          <p:cNvPr id="1031" name="מציין מיקום תוכן 2">
            <a:extLst>
              <a:ext uri="{FF2B5EF4-FFF2-40B4-BE49-F238E27FC236}">
                <a16:creationId xmlns:a16="http://schemas.microsoft.com/office/drawing/2014/main" id="{CF09DD9A-EDFF-3A25-C02E-C71033BA8414}"/>
              </a:ext>
            </a:extLst>
          </p:cNvPr>
          <p:cNvSpPr txBox="1">
            <a:spLocks/>
          </p:cNvSpPr>
          <p:nvPr/>
        </p:nvSpPr>
        <p:spPr>
          <a:xfrm>
            <a:off x="10520969" y="2196686"/>
            <a:ext cx="17813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dirty="0">
                <a:solidFill>
                  <a:schemeClr val="bg2">
                    <a:lumMod val="75000"/>
                  </a:schemeClr>
                </a:solidFill>
                <a:latin typeface="Calibri" panose="020F0502020204030204" pitchFamily="34" charset="0"/>
                <a:cs typeface="Calibri" panose="020F0502020204030204" pitchFamily="34" charset="0"/>
              </a:rPr>
              <a:t>Myocardial infractions</a:t>
            </a:r>
          </a:p>
          <a:p>
            <a:pPr marL="0" indent="0" algn="ctr" rtl="0">
              <a:buNone/>
            </a:pPr>
            <a:r>
              <a:rPr lang="en-US" sz="1200" dirty="0">
                <a:solidFill>
                  <a:schemeClr val="bg2">
                    <a:lumMod val="75000"/>
                  </a:schemeClr>
                </a:solidFill>
                <a:latin typeface="Calibri" panose="020F0502020204030204" pitchFamily="34" charset="0"/>
                <a:cs typeface="Calibri" panose="020F0502020204030204" pitchFamily="34" charset="0"/>
              </a:rPr>
              <a:t>Varicose veins</a:t>
            </a:r>
          </a:p>
        </p:txBody>
      </p:sp>
      <p:cxnSp>
        <p:nvCxnSpPr>
          <p:cNvPr id="1034" name="מחבר: מרפקי 1033">
            <a:extLst>
              <a:ext uri="{FF2B5EF4-FFF2-40B4-BE49-F238E27FC236}">
                <a16:creationId xmlns:a16="http://schemas.microsoft.com/office/drawing/2014/main" id="{AC8D7AB4-D866-9E23-C2C8-BDFA5AD92A1E}"/>
              </a:ext>
            </a:extLst>
          </p:cNvPr>
          <p:cNvCxnSpPr>
            <a:cxnSpLocks/>
          </p:cNvCxnSpPr>
          <p:nvPr/>
        </p:nvCxnSpPr>
        <p:spPr>
          <a:xfrm rot="10800000">
            <a:off x="8899566" y="2028742"/>
            <a:ext cx="608720" cy="572151"/>
          </a:xfrm>
          <a:prstGeom prst="bentConnector3">
            <a:avLst/>
          </a:prstGeom>
          <a:ln>
            <a:solidFill>
              <a:schemeClr val="accent5">
                <a:lumMod val="60000"/>
                <a:lumOff val="40000"/>
              </a:schemeClr>
            </a:solidFill>
            <a:tailEnd type="triangle"/>
          </a:ln>
        </p:spPr>
        <p:style>
          <a:lnRef idx="2">
            <a:schemeClr val="accent3"/>
          </a:lnRef>
          <a:fillRef idx="0">
            <a:schemeClr val="accent3"/>
          </a:fillRef>
          <a:effectRef idx="1">
            <a:schemeClr val="accent3"/>
          </a:effectRef>
          <a:fontRef idx="minor">
            <a:schemeClr val="tx1"/>
          </a:fontRef>
        </p:style>
      </p:cxnSp>
      <p:sp>
        <p:nvSpPr>
          <p:cNvPr id="1036" name="מציין מיקום תוכן 2">
            <a:extLst>
              <a:ext uri="{FF2B5EF4-FFF2-40B4-BE49-F238E27FC236}">
                <a16:creationId xmlns:a16="http://schemas.microsoft.com/office/drawing/2014/main" id="{45B4BA20-39CC-C7B1-0B6E-CA1766EA814B}"/>
              </a:ext>
            </a:extLst>
          </p:cNvPr>
          <p:cNvSpPr txBox="1">
            <a:spLocks/>
          </p:cNvSpPr>
          <p:nvPr/>
        </p:nvSpPr>
        <p:spPr>
          <a:xfrm>
            <a:off x="7297108" y="1752191"/>
            <a:ext cx="17813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dirty="0">
                <a:solidFill>
                  <a:schemeClr val="accent5">
                    <a:lumMod val="60000"/>
                    <a:lumOff val="40000"/>
                  </a:schemeClr>
                </a:solidFill>
                <a:latin typeface="Calibri" panose="020F0502020204030204" pitchFamily="34" charset="0"/>
                <a:cs typeface="Calibri" panose="020F0502020204030204" pitchFamily="34" charset="0"/>
              </a:rPr>
              <a:t>Bronchial asthma</a:t>
            </a:r>
          </a:p>
          <a:p>
            <a:pPr marL="0" indent="0" algn="ctr" rtl="0">
              <a:buNone/>
            </a:pPr>
            <a:r>
              <a:rPr lang="en-US" sz="1200" dirty="0">
                <a:solidFill>
                  <a:schemeClr val="accent5">
                    <a:lumMod val="60000"/>
                    <a:lumOff val="40000"/>
                  </a:schemeClr>
                </a:solidFill>
                <a:latin typeface="Calibri" panose="020F0502020204030204" pitchFamily="34" charset="0"/>
                <a:cs typeface="Calibri" panose="020F0502020204030204" pitchFamily="34" charset="0"/>
              </a:rPr>
              <a:t>Sleep apnea</a:t>
            </a:r>
          </a:p>
        </p:txBody>
      </p:sp>
      <p:cxnSp>
        <p:nvCxnSpPr>
          <p:cNvPr id="1037" name="מחבר: מרפקי 1036">
            <a:extLst>
              <a:ext uri="{FF2B5EF4-FFF2-40B4-BE49-F238E27FC236}">
                <a16:creationId xmlns:a16="http://schemas.microsoft.com/office/drawing/2014/main" id="{C6BDC006-0C7C-3B95-44D4-3A744D281194}"/>
              </a:ext>
            </a:extLst>
          </p:cNvPr>
          <p:cNvCxnSpPr>
            <a:cxnSpLocks/>
          </p:cNvCxnSpPr>
          <p:nvPr/>
        </p:nvCxnSpPr>
        <p:spPr>
          <a:xfrm rot="10800000">
            <a:off x="8646291" y="2899548"/>
            <a:ext cx="984813" cy="310058"/>
          </a:xfrm>
          <a:prstGeom prst="bentConnector3">
            <a:avLst/>
          </a:prstGeom>
          <a:ln>
            <a:tailEnd type="triangle"/>
          </a:ln>
        </p:spPr>
        <p:style>
          <a:lnRef idx="2">
            <a:schemeClr val="accent2"/>
          </a:lnRef>
          <a:fillRef idx="0">
            <a:schemeClr val="accent2"/>
          </a:fillRef>
          <a:effectRef idx="1">
            <a:schemeClr val="accent2"/>
          </a:effectRef>
          <a:fontRef idx="minor">
            <a:schemeClr val="tx1"/>
          </a:fontRef>
        </p:style>
      </p:cxnSp>
      <p:sp>
        <p:nvSpPr>
          <p:cNvPr id="1039" name="מציין מיקום תוכן 2">
            <a:extLst>
              <a:ext uri="{FF2B5EF4-FFF2-40B4-BE49-F238E27FC236}">
                <a16:creationId xmlns:a16="http://schemas.microsoft.com/office/drawing/2014/main" id="{293B47E7-EF24-5C06-3CE0-5E2A57A1AB0F}"/>
              </a:ext>
            </a:extLst>
          </p:cNvPr>
          <p:cNvSpPr txBox="1">
            <a:spLocks/>
          </p:cNvSpPr>
          <p:nvPr/>
        </p:nvSpPr>
        <p:spPr>
          <a:xfrm>
            <a:off x="7241608" y="2637378"/>
            <a:ext cx="17813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dirty="0">
                <a:solidFill>
                  <a:schemeClr val="accent2">
                    <a:lumMod val="60000"/>
                    <a:lumOff val="40000"/>
                  </a:schemeClr>
                </a:solidFill>
                <a:latin typeface="Calibri" panose="020F0502020204030204" pitchFamily="34" charset="0"/>
                <a:cs typeface="Calibri" panose="020F0502020204030204" pitchFamily="34" charset="0"/>
              </a:rPr>
              <a:t>Scoliosis</a:t>
            </a:r>
          </a:p>
          <a:p>
            <a:pPr marL="0" indent="0" algn="ctr" rtl="0">
              <a:buNone/>
            </a:pPr>
            <a:r>
              <a:rPr lang="en-US" sz="1200" dirty="0">
                <a:solidFill>
                  <a:schemeClr val="accent2">
                    <a:lumMod val="60000"/>
                    <a:lumOff val="40000"/>
                  </a:schemeClr>
                </a:solidFill>
                <a:latin typeface="Calibri" panose="020F0502020204030204" pitchFamily="34" charset="0"/>
                <a:cs typeface="Calibri" panose="020F0502020204030204" pitchFamily="34" charset="0"/>
              </a:rPr>
              <a:t>Osteoporosis</a:t>
            </a:r>
          </a:p>
        </p:txBody>
      </p:sp>
      <p:cxnSp>
        <p:nvCxnSpPr>
          <p:cNvPr id="1040" name="מחבר: מרפקי 1039">
            <a:extLst>
              <a:ext uri="{FF2B5EF4-FFF2-40B4-BE49-F238E27FC236}">
                <a16:creationId xmlns:a16="http://schemas.microsoft.com/office/drawing/2014/main" id="{4147897E-A680-4C08-EAEB-30BCEE105299}"/>
              </a:ext>
            </a:extLst>
          </p:cNvPr>
          <p:cNvCxnSpPr>
            <a:cxnSpLocks/>
          </p:cNvCxnSpPr>
          <p:nvPr/>
        </p:nvCxnSpPr>
        <p:spPr>
          <a:xfrm rot="10800000" flipV="1">
            <a:off x="8387190" y="3587971"/>
            <a:ext cx="1081796" cy="263238"/>
          </a:xfrm>
          <a:prstGeom prst="bentConnector3">
            <a:avLst/>
          </a:prstGeom>
          <a:ln>
            <a:solidFill>
              <a:srgbClr val="25D5D5"/>
            </a:solidFill>
            <a:tailEnd type="triangle"/>
          </a:ln>
        </p:spPr>
        <p:style>
          <a:lnRef idx="2">
            <a:schemeClr val="accent2"/>
          </a:lnRef>
          <a:fillRef idx="0">
            <a:schemeClr val="accent2"/>
          </a:fillRef>
          <a:effectRef idx="1">
            <a:schemeClr val="accent2"/>
          </a:effectRef>
          <a:fontRef idx="minor">
            <a:schemeClr val="tx1"/>
          </a:fontRef>
        </p:style>
      </p:cxnSp>
      <p:sp>
        <p:nvSpPr>
          <p:cNvPr id="1042" name="מציין מיקום תוכן 2">
            <a:extLst>
              <a:ext uri="{FF2B5EF4-FFF2-40B4-BE49-F238E27FC236}">
                <a16:creationId xmlns:a16="http://schemas.microsoft.com/office/drawing/2014/main" id="{05E5C228-0CBF-1241-D6BA-3EE28FA1078D}"/>
              </a:ext>
            </a:extLst>
          </p:cNvPr>
          <p:cNvSpPr txBox="1">
            <a:spLocks/>
          </p:cNvSpPr>
          <p:nvPr/>
        </p:nvSpPr>
        <p:spPr>
          <a:xfrm>
            <a:off x="6979452" y="3569214"/>
            <a:ext cx="17813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dirty="0">
                <a:solidFill>
                  <a:srgbClr val="25D5D5"/>
                </a:solidFill>
                <a:latin typeface="Calibri" panose="020F0502020204030204" pitchFamily="34" charset="0"/>
                <a:cs typeface="Calibri" panose="020F0502020204030204" pitchFamily="34" charset="0"/>
              </a:rPr>
              <a:t>Colon diverticulosis</a:t>
            </a:r>
          </a:p>
          <a:p>
            <a:pPr marL="0" indent="0" algn="ctr" rtl="0">
              <a:buNone/>
            </a:pPr>
            <a:r>
              <a:rPr lang="en-US" sz="1200" dirty="0">
                <a:solidFill>
                  <a:srgbClr val="25D5D5"/>
                </a:solidFill>
                <a:latin typeface="Calibri" panose="020F0502020204030204" pitchFamily="34" charset="0"/>
                <a:cs typeface="Calibri" panose="020F0502020204030204" pitchFamily="34" charset="0"/>
              </a:rPr>
              <a:t>Hemorrhoids</a:t>
            </a:r>
          </a:p>
        </p:txBody>
      </p:sp>
      <p:cxnSp>
        <p:nvCxnSpPr>
          <p:cNvPr id="1043" name="מחבר: מרפקי 1042">
            <a:extLst>
              <a:ext uri="{FF2B5EF4-FFF2-40B4-BE49-F238E27FC236}">
                <a16:creationId xmlns:a16="http://schemas.microsoft.com/office/drawing/2014/main" id="{24708754-64F8-79D7-3768-43B91985AE94}"/>
              </a:ext>
            </a:extLst>
          </p:cNvPr>
          <p:cNvCxnSpPr>
            <a:cxnSpLocks/>
          </p:cNvCxnSpPr>
          <p:nvPr/>
        </p:nvCxnSpPr>
        <p:spPr>
          <a:xfrm rot="10800000" flipV="1">
            <a:off x="8617041" y="4041863"/>
            <a:ext cx="967510" cy="424860"/>
          </a:xfrm>
          <a:prstGeom prst="bentConnector3">
            <a:avLst/>
          </a:prstGeom>
          <a:ln>
            <a:solidFill>
              <a:srgbClr val="F2CFEE"/>
            </a:solidFill>
            <a:tailEnd type="triangle"/>
          </a:ln>
        </p:spPr>
        <p:style>
          <a:lnRef idx="2">
            <a:schemeClr val="accent2"/>
          </a:lnRef>
          <a:fillRef idx="0">
            <a:schemeClr val="accent2"/>
          </a:fillRef>
          <a:effectRef idx="1">
            <a:schemeClr val="accent2"/>
          </a:effectRef>
          <a:fontRef idx="minor">
            <a:schemeClr val="tx1"/>
          </a:fontRef>
        </p:style>
      </p:cxnSp>
      <p:sp>
        <p:nvSpPr>
          <p:cNvPr id="1045" name="מציין מיקום תוכן 2">
            <a:extLst>
              <a:ext uri="{FF2B5EF4-FFF2-40B4-BE49-F238E27FC236}">
                <a16:creationId xmlns:a16="http://schemas.microsoft.com/office/drawing/2014/main" id="{D99EBB30-1AF2-5781-0E5B-4409F00B275D}"/>
              </a:ext>
            </a:extLst>
          </p:cNvPr>
          <p:cNvSpPr txBox="1">
            <a:spLocks/>
          </p:cNvSpPr>
          <p:nvPr/>
        </p:nvSpPr>
        <p:spPr>
          <a:xfrm>
            <a:off x="7118205" y="4254293"/>
            <a:ext cx="17813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dirty="0">
                <a:solidFill>
                  <a:schemeClr val="accent5">
                    <a:lumMod val="40000"/>
                    <a:lumOff val="60000"/>
                  </a:schemeClr>
                </a:solidFill>
                <a:latin typeface="Calibri" panose="020F0502020204030204" pitchFamily="34" charset="0"/>
                <a:cs typeface="Calibri" panose="020F0502020204030204" pitchFamily="34" charset="0"/>
              </a:rPr>
              <a:t>Morning sickness</a:t>
            </a:r>
          </a:p>
          <a:p>
            <a:pPr marL="0" indent="0" algn="ctr" rtl="0">
              <a:buNone/>
            </a:pPr>
            <a:r>
              <a:rPr lang="en-US" sz="1200" dirty="0">
                <a:solidFill>
                  <a:schemeClr val="accent5">
                    <a:lumMod val="40000"/>
                    <a:lumOff val="60000"/>
                  </a:schemeClr>
                </a:solidFill>
                <a:latin typeface="Calibri" panose="020F0502020204030204" pitchFamily="34" charset="0"/>
                <a:cs typeface="Calibri" panose="020F0502020204030204" pitchFamily="34" charset="0"/>
              </a:rPr>
              <a:t>Premature labor</a:t>
            </a:r>
          </a:p>
        </p:txBody>
      </p:sp>
      <p:pic>
        <p:nvPicPr>
          <p:cNvPr id="1046" name="תמונה 1045">
            <a:extLst>
              <a:ext uri="{FF2B5EF4-FFF2-40B4-BE49-F238E27FC236}">
                <a16:creationId xmlns:a16="http://schemas.microsoft.com/office/drawing/2014/main" id="{1EB2893F-A235-DEDC-C333-5787F6CA7025}"/>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rcRect l="18515" t="8391" r="18441" b="63264"/>
          <a:stretch/>
        </p:blipFill>
        <p:spPr>
          <a:xfrm>
            <a:off x="1237620" y="4816797"/>
            <a:ext cx="1522972" cy="936995"/>
          </a:xfrm>
          <a:prstGeom prst="rect">
            <a:avLst/>
          </a:prstGeom>
        </p:spPr>
      </p:pic>
      <p:pic>
        <p:nvPicPr>
          <p:cNvPr id="1047" name="תמונה 1046">
            <a:extLst>
              <a:ext uri="{FF2B5EF4-FFF2-40B4-BE49-F238E27FC236}">
                <a16:creationId xmlns:a16="http://schemas.microsoft.com/office/drawing/2014/main" id="{E34A6DC0-B734-F526-AB62-21FA6D5A9714}"/>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rcRect t="69331"/>
          <a:stretch/>
        </p:blipFill>
        <p:spPr>
          <a:xfrm>
            <a:off x="3788877" y="4859085"/>
            <a:ext cx="2415695" cy="1013817"/>
          </a:xfrm>
          <a:prstGeom prst="rect">
            <a:avLst/>
          </a:prstGeom>
        </p:spPr>
      </p:pic>
      <p:pic>
        <p:nvPicPr>
          <p:cNvPr id="1048" name="תמונה 1047">
            <a:extLst>
              <a:ext uri="{FF2B5EF4-FFF2-40B4-BE49-F238E27FC236}">
                <a16:creationId xmlns:a16="http://schemas.microsoft.com/office/drawing/2014/main" id="{8F9EA96B-C281-E173-5096-80F84EE321C5}"/>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rcRect l="28374" t="34465" r="27899" b="30784"/>
          <a:stretch/>
        </p:blipFill>
        <p:spPr>
          <a:xfrm>
            <a:off x="2741544" y="4737876"/>
            <a:ext cx="1056299" cy="1148768"/>
          </a:xfrm>
          <a:prstGeom prst="rect">
            <a:avLst/>
          </a:prstGeom>
        </p:spPr>
      </p:pic>
      <p:sp>
        <p:nvSpPr>
          <p:cNvPr id="1049" name="תיבת טקסט 1048">
            <a:extLst>
              <a:ext uri="{FF2B5EF4-FFF2-40B4-BE49-F238E27FC236}">
                <a16:creationId xmlns:a16="http://schemas.microsoft.com/office/drawing/2014/main" id="{68FDC755-B8F6-A8F2-868C-45551960AA73}"/>
              </a:ext>
            </a:extLst>
          </p:cNvPr>
          <p:cNvSpPr txBox="1"/>
          <p:nvPr/>
        </p:nvSpPr>
        <p:spPr>
          <a:xfrm>
            <a:off x="7392136" y="2850724"/>
            <a:ext cx="1230460" cy="369332"/>
          </a:xfrm>
          <a:prstGeom prst="rect">
            <a:avLst/>
          </a:prstGeom>
          <a:solidFill>
            <a:srgbClr val="FFFFFF">
              <a:alpha val="50196"/>
            </a:srgbClr>
          </a:solidFill>
        </p:spPr>
        <p:txBody>
          <a:bodyPr wrap="square" rtlCol="1">
            <a:spAutoFit/>
          </a:bodyPr>
          <a:lstStyle/>
          <a:p>
            <a:endParaRPr lang="he-IL" dirty="0">
              <a:latin typeface="Calibri" panose="020F0502020204030204" pitchFamily="34" charset="0"/>
              <a:cs typeface="Calibri" panose="020F0502020204030204" pitchFamily="34" charset="0"/>
            </a:endParaRPr>
          </a:p>
        </p:txBody>
      </p:sp>
      <p:sp>
        <p:nvSpPr>
          <p:cNvPr id="1050" name="תיבת טקסט 1049">
            <a:extLst>
              <a:ext uri="{FF2B5EF4-FFF2-40B4-BE49-F238E27FC236}">
                <a16:creationId xmlns:a16="http://schemas.microsoft.com/office/drawing/2014/main" id="{1339F5C1-0AE7-1E27-EB3C-470D44C2F6C7}"/>
              </a:ext>
            </a:extLst>
          </p:cNvPr>
          <p:cNvSpPr txBox="1"/>
          <p:nvPr/>
        </p:nvSpPr>
        <p:spPr>
          <a:xfrm>
            <a:off x="7368988" y="4515925"/>
            <a:ext cx="1230460" cy="369332"/>
          </a:xfrm>
          <a:prstGeom prst="rect">
            <a:avLst/>
          </a:prstGeom>
          <a:solidFill>
            <a:srgbClr val="FFFFFF">
              <a:alpha val="50196"/>
            </a:srgbClr>
          </a:solidFill>
        </p:spPr>
        <p:txBody>
          <a:bodyPr wrap="square" rtlCol="1">
            <a:spAutoFit/>
          </a:bodyPr>
          <a:lstStyle/>
          <a:p>
            <a:endParaRPr lang="he-IL" dirty="0">
              <a:latin typeface="Calibri" panose="020F0502020204030204" pitchFamily="34" charset="0"/>
              <a:cs typeface="Calibri" panose="020F0502020204030204" pitchFamily="34" charset="0"/>
            </a:endParaRPr>
          </a:p>
        </p:txBody>
      </p:sp>
      <p:sp>
        <p:nvSpPr>
          <p:cNvPr id="1051" name="תיבת טקסט 1050">
            <a:extLst>
              <a:ext uri="{FF2B5EF4-FFF2-40B4-BE49-F238E27FC236}">
                <a16:creationId xmlns:a16="http://schemas.microsoft.com/office/drawing/2014/main" id="{BFA2B0E3-0C3D-7D8D-18C7-C6DE8613A469}"/>
              </a:ext>
            </a:extLst>
          </p:cNvPr>
          <p:cNvSpPr txBox="1"/>
          <p:nvPr/>
        </p:nvSpPr>
        <p:spPr>
          <a:xfrm>
            <a:off x="10802459" y="2436770"/>
            <a:ext cx="1230460" cy="369332"/>
          </a:xfrm>
          <a:prstGeom prst="rect">
            <a:avLst/>
          </a:prstGeom>
          <a:solidFill>
            <a:srgbClr val="FFFFFF">
              <a:alpha val="50196"/>
            </a:srgbClr>
          </a:solidFill>
        </p:spPr>
        <p:txBody>
          <a:bodyPr wrap="square" rtlCol="1">
            <a:spAutoFit/>
          </a:bodyPr>
          <a:lstStyle/>
          <a:p>
            <a:endParaRPr lang="he-IL"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70063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0D6A5-41CD-AADA-7203-AD5479CA2A3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3C9B698-C5F6-8A97-D823-25339146FA2F}"/>
              </a:ext>
            </a:extLst>
          </p:cNvPr>
          <p:cNvSpPr>
            <a:spLocks noGrp="1"/>
          </p:cNvSpPr>
          <p:nvPr>
            <p:ph type="title"/>
          </p:nvPr>
        </p:nvSpPr>
        <p:spPr>
          <a:xfrm>
            <a:off x="838200" y="184150"/>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Identifying disease-associated genes</a:t>
            </a:r>
            <a:endParaRPr lang="he-IL" b="1" dirty="0">
              <a:latin typeface="Calibri" panose="020F0502020204030204" pitchFamily="34" charset="0"/>
              <a:cs typeface="Calibri" panose="020F0502020204030204" pitchFamily="34" charset="0"/>
            </a:endParaRPr>
          </a:p>
        </p:txBody>
      </p:sp>
      <p:pic>
        <p:nvPicPr>
          <p:cNvPr id="5" name="תמונה 4">
            <a:extLst>
              <a:ext uri="{FF2B5EF4-FFF2-40B4-BE49-F238E27FC236}">
                <a16:creationId xmlns:a16="http://schemas.microsoft.com/office/drawing/2014/main" id="{DA094304-FBA3-E879-A9F9-656DAE608373}"/>
              </a:ext>
            </a:extLst>
          </p:cNvPr>
          <p:cNvPicPr>
            <a:picLocks noChangeAspect="1"/>
          </p:cNvPicPr>
          <p:nvPr/>
        </p:nvPicPr>
        <p:blipFill>
          <a:blip r:embed="rId3"/>
          <a:stretch>
            <a:fillRect/>
          </a:stretch>
        </p:blipFill>
        <p:spPr>
          <a:xfrm>
            <a:off x="3025949" y="2680352"/>
            <a:ext cx="6140103" cy="3692750"/>
          </a:xfrm>
          <a:prstGeom prst="rect">
            <a:avLst/>
          </a:prstGeom>
        </p:spPr>
      </p:pic>
      <p:pic>
        <p:nvPicPr>
          <p:cNvPr id="10" name="תמונה 9">
            <a:extLst>
              <a:ext uri="{FF2B5EF4-FFF2-40B4-BE49-F238E27FC236}">
                <a16:creationId xmlns:a16="http://schemas.microsoft.com/office/drawing/2014/main" id="{7F96DAC9-BC3B-F697-285A-73DA85353508}"/>
              </a:ext>
            </a:extLst>
          </p:cNvPr>
          <p:cNvPicPr>
            <a:picLocks noChangeAspect="1"/>
          </p:cNvPicPr>
          <p:nvPr/>
        </p:nvPicPr>
        <p:blipFill>
          <a:blip r:embed="rId4"/>
          <a:stretch>
            <a:fillRect/>
          </a:stretch>
        </p:blipFill>
        <p:spPr>
          <a:xfrm>
            <a:off x="2881871" y="1509713"/>
            <a:ext cx="6428258" cy="1035702"/>
          </a:xfrm>
          <a:prstGeom prst="rect">
            <a:avLst/>
          </a:prstGeom>
        </p:spPr>
      </p:pic>
    </p:spTree>
    <p:extLst>
      <p:ext uri="{BB962C8B-B14F-4D97-AF65-F5344CB8AC3E}">
        <p14:creationId xmlns:p14="http://schemas.microsoft.com/office/powerpoint/2010/main" val="312749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40635C-6F98-330D-ACED-0F9A765EF36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595AEBC-1143-177C-76B9-5DFAE366B8C5}"/>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Identifying disease-associated genes</a:t>
            </a:r>
            <a:endParaRPr lang="he-IL" dirty="0"/>
          </a:p>
        </p:txBody>
      </p:sp>
      <p:pic>
        <p:nvPicPr>
          <p:cNvPr id="7" name="מציין מיקום תוכן 6" descr="תמונה שמכילה טקסט, צילום מסך, עלילה, תרשים&#10;&#10;תוכן שנוצר על-ידי בינה מלאכותית עשוי להיות שגוי.">
            <a:extLst>
              <a:ext uri="{FF2B5EF4-FFF2-40B4-BE49-F238E27FC236}">
                <a16:creationId xmlns:a16="http://schemas.microsoft.com/office/drawing/2014/main" id="{E1036967-F43A-2288-7E4F-800F469F6B3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90920" y="1690688"/>
            <a:ext cx="6010160" cy="4861673"/>
          </a:xfrm>
        </p:spPr>
      </p:pic>
      <p:sp>
        <p:nvSpPr>
          <p:cNvPr id="8" name="כותרת משנה 2">
            <a:extLst>
              <a:ext uri="{FF2B5EF4-FFF2-40B4-BE49-F238E27FC236}">
                <a16:creationId xmlns:a16="http://schemas.microsoft.com/office/drawing/2014/main" id="{590EB39A-A8C7-5D36-4E98-37FD12A74CA5}"/>
              </a:ext>
            </a:extLst>
          </p:cNvPr>
          <p:cNvSpPr txBox="1">
            <a:spLocks/>
          </p:cNvSpPr>
          <p:nvPr/>
        </p:nvSpPr>
        <p:spPr>
          <a:xfrm>
            <a:off x="3415865" y="1352925"/>
            <a:ext cx="5685215"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Total number of genes per disease</a:t>
            </a:r>
            <a:endParaRPr lang="he-IL" sz="2000" b="1" i="1" dirty="0"/>
          </a:p>
        </p:txBody>
      </p:sp>
      <p:sp>
        <p:nvSpPr>
          <p:cNvPr id="9" name="תיבת טקסט 8">
            <a:extLst>
              <a:ext uri="{FF2B5EF4-FFF2-40B4-BE49-F238E27FC236}">
                <a16:creationId xmlns:a16="http://schemas.microsoft.com/office/drawing/2014/main" id="{3C8DD660-2C8E-211E-B5C5-C665A775C7BD}"/>
              </a:ext>
            </a:extLst>
          </p:cNvPr>
          <p:cNvSpPr txBox="1"/>
          <p:nvPr/>
        </p:nvSpPr>
        <p:spPr>
          <a:xfrm rot="16200000">
            <a:off x="2220316" y="3477613"/>
            <a:ext cx="2018207" cy="276999"/>
          </a:xfrm>
          <a:prstGeom prst="rect">
            <a:avLst/>
          </a:prstGeom>
          <a:solidFill>
            <a:schemeClr val="bg1"/>
          </a:solidFill>
        </p:spPr>
        <p:txBody>
          <a:bodyPr wrap="square" rtlCol="1">
            <a:spAutoFit/>
          </a:bodyPr>
          <a:lstStyle/>
          <a:p>
            <a:pPr algn="ctr"/>
            <a:endParaRPr lang="he-IL" sz="1200" dirty="0"/>
          </a:p>
        </p:txBody>
      </p:sp>
    </p:spTree>
    <p:extLst>
      <p:ext uri="{BB962C8B-B14F-4D97-AF65-F5344CB8AC3E}">
        <p14:creationId xmlns:p14="http://schemas.microsoft.com/office/powerpoint/2010/main" val="232043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AFA2C-6DCA-D08C-D8CA-65EAC5213D1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0A95015-B2EC-6BFE-7958-2E23654922E3}"/>
              </a:ext>
            </a:extLst>
          </p:cNvPr>
          <p:cNvSpPr>
            <a:spLocks noGrp="1"/>
          </p:cNvSpPr>
          <p:nvPr>
            <p:ph type="title"/>
          </p:nvPr>
        </p:nvSpPr>
        <p:spPr>
          <a:xfrm>
            <a:off x="838198" y="53897"/>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What are we looking for?</a:t>
            </a:r>
            <a:endParaRPr lang="he-IL" b="1" dirty="0">
              <a:latin typeface="Calibri" panose="020F0502020204030204" pitchFamily="34" charset="0"/>
              <a:cs typeface="Calibri" panose="020F0502020204030204" pitchFamily="34" charset="0"/>
            </a:endParaRPr>
          </a:p>
        </p:txBody>
      </p:sp>
      <p:pic>
        <p:nvPicPr>
          <p:cNvPr id="4" name="Picture 44" descr="brain_sketch_by_pcek-d53270v.png">
            <a:extLst>
              <a:ext uri="{FF2B5EF4-FFF2-40B4-BE49-F238E27FC236}">
                <a16:creationId xmlns:a16="http://schemas.microsoft.com/office/drawing/2014/main" id="{EC806614-A13F-4A46-0F93-245AE7839F0B}"/>
              </a:ext>
            </a:extLst>
          </p:cNvPr>
          <p:cNvPicPr>
            <a:picLocks noChangeAspect="1"/>
          </p:cNvPicPr>
          <p:nvPr/>
        </p:nvPicPr>
        <p:blipFill>
          <a:blip r:embed="rId3" cstate="print">
            <a:duotone>
              <a:schemeClr val="accent5">
                <a:shade val="45000"/>
                <a:satMod val="135000"/>
              </a:schemeClr>
              <a:prstClr val="white"/>
            </a:duotone>
          </a:blip>
          <a:stretch>
            <a:fillRect/>
          </a:stretch>
        </p:blipFill>
        <p:spPr>
          <a:xfrm>
            <a:off x="1276238" y="1662794"/>
            <a:ext cx="1526951" cy="1111744"/>
          </a:xfrm>
          <a:prstGeom prst="rect">
            <a:avLst/>
          </a:prstGeom>
        </p:spPr>
      </p:pic>
      <p:pic>
        <p:nvPicPr>
          <p:cNvPr id="5" name="Picture 43" descr="human_heart_pencil_drawing.jpg">
            <a:extLst>
              <a:ext uri="{FF2B5EF4-FFF2-40B4-BE49-F238E27FC236}">
                <a16:creationId xmlns:a16="http://schemas.microsoft.com/office/drawing/2014/main" id="{42558F64-7915-E386-6196-193E16DDE670}"/>
              </a:ext>
            </a:extLst>
          </p:cNvPr>
          <p:cNvPicPr>
            <a:picLocks noChangeAspect="1"/>
          </p:cNvPicPr>
          <p:nvPr/>
        </p:nvPicPr>
        <p:blipFill rotWithShape="1">
          <a:blip r:embed="rId4" cstate="print">
            <a:duotone>
              <a:schemeClr val="accent5">
                <a:shade val="45000"/>
                <a:satMod val="135000"/>
              </a:schemeClr>
              <a:prstClr val="white"/>
            </a:duotone>
          </a:blip>
          <a:srcRect l="8093"/>
          <a:stretch/>
        </p:blipFill>
        <p:spPr>
          <a:xfrm>
            <a:off x="1340791" y="4857187"/>
            <a:ext cx="1048969" cy="1543056"/>
          </a:xfrm>
          <a:prstGeom prst="rect">
            <a:avLst/>
          </a:prstGeom>
        </p:spPr>
      </p:pic>
      <p:grpSp>
        <p:nvGrpSpPr>
          <p:cNvPr id="6" name="Group 62">
            <a:extLst>
              <a:ext uri="{FF2B5EF4-FFF2-40B4-BE49-F238E27FC236}">
                <a16:creationId xmlns:a16="http://schemas.microsoft.com/office/drawing/2014/main" id="{FAD67D56-23AB-3A03-7952-7D2C2B8E3126}"/>
              </a:ext>
            </a:extLst>
          </p:cNvPr>
          <p:cNvGrpSpPr/>
          <p:nvPr/>
        </p:nvGrpSpPr>
        <p:grpSpPr>
          <a:xfrm>
            <a:off x="1569201" y="2475759"/>
            <a:ext cx="820559" cy="2433043"/>
            <a:chOff x="4369354" y="616282"/>
            <a:chExt cx="615419" cy="1824782"/>
          </a:xfrm>
        </p:grpSpPr>
        <p:sp>
          <p:nvSpPr>
            <p:cNvPr id="7" name="Rectangle 60">
              <a:extLst>
                <a:ext uri="{FF2B5EF4-FFF2-40B4-BE49-F238E27FC236}">
                  <a16:creationId xmlns:a16="http://schemas.microsoft.com/office/drawing/2014/main" id="{A411B253-3DC1-2C5B-EBF5-C63DAA274624}"/>
                </a:ext>
              </a:extLst>
            </p:cNvPr>
            <p:cNvSpPr/>
            <p:nvPr/>
          </p:nvSpPr>
          <p:spPr>
            <a:xfrm>
              <a:off x="4369354" y="616282"/>
              <a:ext cx="615419" cy="1818878"/>
            </a:xfrm>
            <a:prstGeom prst="rect">
              <a:avLst/>
            </a:prstGeom>
            <a:solidFill>
              <a:schemeClr val="bg1">
                <a:alpha val="1294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grpSp>
          <p:nvGrpSpPr>
            <p:cNvPr id="8" name="Group 50">
              <a:extLst>
                <a:ext uri="{FF2B5EF4-FFF2-40B4-BE49-F238E27FC236}">
                  <a16:creationId xmlns:a16="http://schemas.microsoft.com/office/drawing/2014/main" id="{8C64076B-5032-B807-64FA-AB6D944798FD}"/>
                </a:ext>
              </a:extLst>
            </p:cNvPr>
            <p:cNvGrpSpPr/>
            <p:nvPr/>
          </p:nvGrpSpPr>
          <p:grpSpPr>
            <a:xfrm>
              <a:off x="4482472" y="622186"/>
              <a:ext cx="373391" cy="1818878"/>
              <a:chOff x="7430624" y="36225"/>
              <a:chExt cx="1013108" cy="4935102"/>
            </a:xfrm>
          </p:grpSpPr>
          <p:pic>
            <p:nvPicPr>
              <p:cNvPr id="9" name="Picture 2" descr="Anterior and Posterior Views of Spine">
                <a:extLst>
                  <a:ext uri="{FF2B5EF4-FFF2-40B4-BE49-F238E27FC236}">
                    <a16:creationId xmlns:a16="http://schemas.microsoft.com/office/drawing/2014/main" id="{587C814A-1F28-D194-0DFD-813B42C5456A}"/>
                  </a:ext>
                </a:extLst>
              </p:cNvPr>
              <p:cNvPicPr>
                <a:picLocks noChangeAspect="1" noChangeArrowheads="1"/>
              </p:cNvPicPr>
              <p:nvPr/>
            </p:nvPicPr>
            <p:blipFill rotWithShape="1">
              <a:blip r:embed="rId5">
                <a:duotone>
                  <a:schemeClr val="accent5">
                    <a:shade val="45000"/>
                    <a:satMod val="135000"/>
                  </a:schemeClr>
                  <a:prstClr val="white"/>
                </a:duotone>
                <a:extLst>
                  <a:ext uri="{28A0092B-C50C-407E-A947-70E740481C1C}">
                    <a14:useLocalDpi xmlns:a14="http://schemas.microsoft.com/office/drawing/2010/main" val="0"/>
                  </a:ext>
                </a:extLst>
              </a:blip>
              <a:srcRect r="55292"/>
              <a:stretch/>
            </p:blipFill>
            <p:spPr bwMode="auto">
              <a:xfrm>
                <a:off x="7534609" y="668457"/>
                <a:ext cx="855910" cy="408345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49">
                <a:extLst>
                  <a:ext uri="{FF2B5EF4-FFF2-40B4-BE49-F238E27FC236}">
                    <a16:creationId xmlns:a16="http://schemas.microsoft.com/office/drawing/2014/main" id="{9725C1B5-E8E6-16B1-906C-AC681A6F5A0A}"/>
                  </a:ext>
                </a:extLst>
              </p:cNvPr>
              <p:cNvSpPr/>
              <p:nvPr/>
            </p:nvSpPr>
            <p:spPr>
              <a:xfrm>
                <a:off x="8331200" y="4356100"/>
                <a:ext cx="112532" cy="6152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1" name="Rectangle 52">
                <a:extLst>
                  <a:ext uri="{FF2B5EF4-FFF2-40B4-BE49-F238E27FC236}">
                    <a16:creationId xmlns:a16="http://schemas.microsoft.com/office/drawing/2014/main" id="{B9988192-E530-38DC-0CC4-8A616ADCC255}"/>
                  </a:ext>
                </a:extLst>
              </p:cNvPr>
              <p:cNvSpPr/>
              <p:nvPr/>
            </p:nvSpPr>
            <p:spPr>
              <a:xfrm>
                <a:off x="8246801" y="3095535"/>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2" name="Rectangle 53">
                <a:extLst>
                  <a:ext uri="{FF2B5EF4-FFF2-40B4-BE49-F238E27FC236}">
                    <a16:creationId xmlns:a16="http://schemas.microsoft.com/office/drawing/2014/main" id="{380A4870-0999-13ED-50F1-416001FCCAF4}"/>
                  </a:ext>
                </a:extLst>
              </p:cNvPr>
              <p:cNvSpPr/>
              <p:nvPr/>
            </p:nvSpPr>
            <p:spPr>
              <a:xfrm>
                <a:off x="8234262" y="100282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3" name="Rectangle 54">
                <a:extLst>
                  <a:ext uri="{FF2B5EF4-FFF2-40B4-BE49-F238E27FC236}">
                    <a16:creationId xmlns:a16="http://schemas.microsoft.com/office/drawing/2014/main" id="{24B436D1-187A-2E70-0CE4-07C8EBE4219E}"/>
                  </a:ext>
                </a:extLst>
              </p:cNvPr>
              <p:cNvSpPr/>
              <p:nvPr/>
            </p:nvSpPr>
            <p:spPr>
              <a:xfrm>
                <a:off x="8274934" y="240197"/>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4" name="Rectangle 55">
                <a:extLst>
                  <a:ext uri="{FF2B5EF4-FFF2-40B4-BE49-F238E27FC236}">
                    <a16:creationId xmlns:a16="http://schemas.microsoft.com/office/drawing/2014/main" id="{D1A07799-CF71-6905-60FF-336649519653}"/>
                  </a:ext>
                </a:extLst>
              </p:cNvPr>
              <p:cNvSpPr/>
              <p:nvPr/>
            </p:nvSpPr>
            <p:spPr>
              <a:xfrm>
                <a:off x="7483837" y="20125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5" name="Rectangle 56">
                <a:extLst>
                  <a:ext uri="{FF2B5EF4-FFF2-40B4-BE49-F238E27FC236}">
                    <a16:creationId xmlns:a16="http://schemas.microsoft.com/office/drawing/2014/main" id="{F6840572-9743-C2F0-7121-12DF562F1420}"/>
                  </a:ext>
                </a:extLst>
              </p:cNvPr>
              <p:cNvSpPr/>
              <p:nvPr/>
            </p:nvSpPr>
            <p:spPr>
              <a:xfrm>
                <a:off x="7430624" y="381592"/>
                <a:ext cx="341775" cy="813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6" name="Rectangle 57">
                <a:extLst>
                  <a:ext uri="{FF2B5EF4-FFF2-40B4-BE49-F238E27FC236}">
                    <a16:creationId xmlns:a16="http://schemas.microsoft.com/office/drawing/2014/main" id="{4003A8F1-F80E-6200-414F-9D7FC64B4761}"/>
                  </a:ext>
                </a:extLst>
              </p:cNvPr>
              <p:cNvSpPr/>
              <p:nvPr/>
            </p:nvSpPr>
            <p:spPr>
              <a:xfrm>
                <a:off x="7836043" y="36225"/>
                <a:ext cx="245132" cy="1273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grpSp>
      </p:grpSp>
      <p:sp>
        <p:nvSpPr>
          <p:cNvPr id="17" name="Rectangle 4">
            <a:extLst>
              <a:ext uri="{FF2B5EF4-FFF2-40B4-BE49-F238E27FC236}">
                <a16:creationId xmlns:a16="http://schemas.microsoft.com/office/drawing/2014/main" id="{036DF4CD-4EC1-C833-6CD8-8A331A89FDBA}"/>
              </a:ext>
            </a:extLst>
          </p:cNvPr>
          <p:cNvSpPr/>
          <p:nvPr/>
        </p:nvSpPr>
        <p:spPr>
          <a:xfrm>
            <a:off x="12751" y="1943712"/>
            <a:ext cx="1263487" cy="420115"/>
          </a:xfrm>
          <a:prstGeom prst="rect">
            <a:avLst/>
          </a:prstGeom>
        </p:spPr>
        <p:txBody>
          <a:bodyPr wrap="none">
            <a:spAutoFit/>
          </a:bodyPr>
          <a:lstStyle/>
          <a:p>
            <a:pPr algn="ctr" rtl="0"/>
            <a:r>
              <a:rPr lang="en-US" sz="2130" dirty="0">
                <a:solidFill>
                  <a:srgbClr val="4D799D"/>
                </a:solidFill>
                <a:latin typeface="Helvetica Neue Medium" panose="02000503000000020004" pitchFamily="2" charset="0"/>
                <a:ea typeface="Helvetica Neue Medium" panose="02000503000000020004" pitchFamily="2" charset="0"/>
                <a:cs typeface="Helvetica Neue Medium" panose="02000503000000020004" pitchFamily="2" charset="0"/>
              </a:rPr>
              <a:t>3x</a:t>
            </a:r>
            <a:r>
              <a:rPr lang="en-US" sz="2130" dirty="0">
                <a:solidFill>
                  <a:srgbClr val="4D799D"/>
                </a:solidFill>
                <a:latin typeface="Helvetica Neue Thin" panose="020B0403020202020204" pitchFamily="34" charset="0"/>
                <a:ea typeface="Helvetica Neue Thin" panose="020B0403020202020204" pitchFamily="34" charset="0"/>
              </a:rPr>
              <a:t>  Brain</a:t>
            </a:r>
          </a:p>
        </p:txBody>
      </p:sp>
      <p:sp>
        <p:nvSpPr>
          <p:cNvPr id="18" name="Rectangle 15">
            <a:extLst>
              <a:ext uri="{FF2B5EF4-FFF2-40B4-BE49-F238E27FC236}">
                <a16:creationId xmlns:a16="http://schemas.microsoft.com/office/drawing/2014/main" id="{378BB348-F9E0-E7B6-1897-078819DA6EC8}"/>
              </a:ext>
            </a:extLst>
          </p:cNvPr>
          <p:cNvSpPr/>
          <p:nvPr/>
        </p:nvSpPr>
        <p:spPr>
          <a:xfrm>
            <a:off x="267369" y="3338338"/>
            <a:ext cx="1141659" cy="748795"/>
          </a:xfrm>
          <a:prstGeom prst="rect">
            <a:avLst/>
          </a:prstGeom>
        </p:spPr>
        <p:txBody>
          <a:bodyPr wrap="none">
            <a:spAutoFit/>
          </a:bodyPr>
          <a:lstStyle/>
          <a:p>
            <a:pPr algn="ctr" rtl="0"/>
            <a:r>
              <a:rPr lang="en-US" sz="2133" dirty="0">
                <a:solidFill>
                  <a:srgbClr val="4D799D"/>
                </a:solidFill>
                <a:latin typeface="Helvetica Neue Thin" panose="020B0403020202020204" pitchFamily="34" charset="0"/>
                <a:ea typeface="Helvetica Neue Thin" panose="020B0403020202020204" pitchFamily="34" charset="0"/>
              </a:rPr>
              <a:t>Upright </a:t>
            </a:r>
          </a:p>
          <a:p>
            <a:pPr algn="ctr" rtl="0"/>
            <a:r>
              <a:rPr lang="en-US" sz="2133" dirty="0">
                <a:solidFill>
                  <a:srgbClr val="4D799D"/>
                </a:solidFill>
                <a:latin typeface="Helvetica Neue Thin" panose="020B0403020202020204" pitchFamily="34" charset="0"/>
                <a:ea typeface="Helvetica Neue Thin" panose="020B0403020202020204" pitchFamily="34" charset="0"/>
              </a:rPr>
              <a:t>walking</a:t>
            </a:r>
          </a:p>
        </p:txBody>
      </p:sp>
      <p:grpSp>
        <p:nvGrpSpPr>
          <p:cNvPr id="19" name="Group 28">
            <a:extLst>
              <a:ext uri="{FF2B5EF4-FFF2-40B4-BE49-F238E27FC236}">
                <a16:creationId xmlns:a16="http://schemas.microsoft.com/office/drawing/2014/main" id="{8803A503-4A2E-487A-41BC-13DBA2AA96E4}"/>
              </a:ext>
            </a:extLst>
          </p:cNvPr>
          <p:cNvGrpSpPr/>
          <p:nvPr/>
        </p:nvGrpSpPr>
        <p:grpSpPr>
          <a:xfrm>
            <a:off x="-27690" y="5286435"/>
            <a:ext cx="1508746" cy="753420"/>
            <a:chOff x="331755" y="2724841"/>
            <a:chExt cx="1131560" cy="565065"/>
          </a:xfrm>
        </p:grpSpPr>
        <p:sp>
          <p:nvSpPr>
            <p:cNvPr id="20" name="Rectangle 16">
              <a:extLst>
                <a:ext uri="{FF2B5EF4-FFF2-40B4-BE49-F238E27FC236}">
                  <a16:creationId xmlns:a16="http://schemas.microsoft.com/office/drawing/2014/main" id="{39BF4CF7-B725-04BD-7396-D60146DCF9E2}"/>
                </a:ext>
              </a:extLst>
            </p:cNvPr>
            <p:cNvSpPr/>
            <p:nvPr/>
          </p:nvSpPr>
          <p:spPr>
            <a:xfrm>
              <a:off x="331755" y="2724841"/>
              <a:ext cx="1131560" cy="315423"/>
            </a:xfrm>
            <a:prstGeom prst="rect">
              <a:avLst/>
            </a:prstGeom>
          </p:spPr>
          <p:txBody>
            <a:bodyPr wrap="none">
              <a:spAutoFit/>
            </a:bodyPr>
            <a:lstStyle/>
            <a:p>
              <a:pPr algn="ctr" rtl="0"/>
              <a:r>
                <a:rPr lang="en-US" sz="2133" dirty="0">
                  <a:solidFill>
                    <a:srgbClr val="4D799D"/>
                  </a:solidFill>
                  <a:latin typeface="Helvetica Neue Thin" panose="020B0403020202020204" pitchFamily="34" charset="0"/>
                  <a:ea typeface="Helvetica Neue Thin" panose="020B0403020202020204" pitchFamily="34" charset="0"/>
                </a:rPr>
                <a:t>Endurance</a:t>
              </a:r>
            </a:p>
          </p:txBody>
        </p:sp>
        <p:sp>
          <p:nvSpPr>
            <p:cNvPr id="21" name="TextBox 27">
              <a:extLst>
                <a:ext uri="{FF2B5EF4-FFF2-40B4-BE49-F238E27FC236}">
                  <a16:creationId xmlns:a16="http://schemas.microsoft.com/office/drawing/2014/main" id="{CE81BC29-2A24-37AC-A6F5-04E8D22ADCBF}"/>
                </a:ext>
              </a:extLst>
            </p:cNvPr>
            <p:cNvSpPr txBox="1"/>
            <p:nvPr/>
          </p:nvSpPr>
          <p:spPr>
            <a:xfrm>
              <a:off x="460847" y="2974483"/>
              <a:ext cx="873375" cy="315423"/>
            </a:xfrm>
            <a:prstGeom prst="rect">
              <a:avLst/>
            </a:prstGeom>
            <a:noFill/>
          </p:spPr>
          <p:txBody>
            <a:bodyPr wrap="square">
              <a:spAutoFit/>
            </a:bodyPr>
            <a:lstStyle/>
            <a:p>
              <a:pPr algn="ctr"/>
              <a:r>
                <a:rPr lang="en-US" sz="2133" i="1" dirty="0">
                  <a:solidFill>
                    <a:srgbClr val="4D799D"/>
                  </a:solidFill>
                  <a:latin typeface="Helvetica Neue Thin" panose="020B0403020202020204" pitchFamily="34" charset="0"/>
                  <a:ea typeface="Helvetica Neue Thin" panose="020B0403020202020204" pitchFamily="34" charset="0"/>
                </a:rPr>
                <a:t>running</a:t>
              </a:r>
              <a:endParaRPr lang="en-IL" sz="2133" i="1" dirty="0"/>
            </a:p>
          </p:txBody>
        </p:sp>
      </p:grpSp>
      <p:sp>
        <p:nvSpPr>
          <p:cNvPr id="23" name="Rectangle 18">
            <a:extLst>
              <a:ext uri="{FF2B5EF4-FFF2-40B4-BE49-F238E27FC236}">
                <a16:creationId xmlns:a16="http://schemas.microsoft.com/office/drawing/2014/main" id="{9CB6CE95-BCA1-5E02-E5FB-9A8D0ABEB092}"/>
              </a:ext>
            </a:extLst>
          </p:cNvPr>
          <p:cNvSpPr/>
          <p:nvPr/>
        </p:nvSpPr>
        <p:spPr>
          <a:xfrm>
            <a:off x="2828192" y="1858889"/>
            <a:ext cx="2230098" cy="707886"/>
          </a:xfrm>
          <a:prstGeom prst="rect">
            <a:avLst/>
          </a:prstGeom>
        </p:spPr>
        <p:txBody>
          <a:bodyPr wrap="non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Alzheimer's disease</a:t>
            </a:r>
          </a:p>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Schizophrenia</a:t>
            </a:r>
          </a:p>
        </p:txBody>
      </p:sp>
      <p:sp>
        <p:nvSpPr>
          <p:cNvPr id="24" name="Rectangle 19">
            <a:extLst>
              <a:ext uri="{FF2B5EF4-FFF2-40B4-BE49-F238E27FC236}">
                <a16:creationId xmlns:a16="http://schemas.microsoft.com/office/drawing/2014/main" id="{551361D0-81EA-439E-B4CC-6A80AA682A59}"/>
              </a:ext>
            </a:extLst>
          </p:cNvPr>
          <p:cNvSpPr/>
          <p:nvPr/>
        </p:nvSpPr>
        <p:spPr>
          <a:xfrm>
            <a:off x="2744935" y="5228605"/>
            <a:ext cx="2401940" cy="400110"/>
          </a:xfrm>
          <a:prstGeom prst="rect">
            <a:avLst/>
          </a:prstGeom>
        </p:spPr>
        <p:txBody>
          <a:bodyPr wrap="non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Myocardial infarction</a:t>
            </a:r>
          </a:p>
        </p:txBody>
      </p:sp>
      <p:sp>
        <p:nvSpPr>
          <p:cNvPr id="25" name="Rectangle 20">
            <a:extLst>
              <a:ext uri="{FF2B5EF4-FFF2-40B4-BE49-F238E27FC236}">
                <a16:creationId xmlns:a16="http://schemas.microsoft.com/office/drawing/2014/main" id="{C41D6282-BA3C-3BF5-60E0-2D14E4E8A494}"/>
              </a:ext>
            </a:extLst>
          </p:cNvPr>
          <p:cNvSpPr/>
          <p:nvPr/>
        </p:nvSpPr>
        <p:spPr>
          <a:xfrm>
            <a:off x="2759788" y="3176937"/>
            <a:ext cx="2331724" cy="707886"/>
          </a:xfrm>
          <a:prstGeom prst="rect">
            <a:avLst/>
          </a:prstGeom>
        </p:spPr>
        <p:txBody>
          <a:bodyPr wrap="squar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Chronic back pain</a:t>
            </a:r>
          </a:p>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scoliosis</a:t>
            </a:r>
          </a:p>
        </p:txBody>
      </p:sp>
      <p:pic>
        <p:nvPicPr>
          <p:cNvPr id="27" name="תמונה 26">
            <a:extLst>
              <a:ext uri="{FF2B5EF4-FFF2-40B4-BE49-F238E27FC236}">
                <a16:creationId xmlns:a16="http://schemas.microsoft.com/office/drawing/2014/main" id="{72BD2FF3-5CC3-9790-2BE8-80968D8836CF}"/>
              </a:ext>
            </a:extLst>
          </p:cNvPr>
          <p:cNvPicPr>
            <a:picLocks noChangeAspect="1"/>
          </p:cNvPicPr>
          <p:nvPr/>
        </p:nvPicPr>
        <p:blipFill>
          <a:blip r:embed="rId6"/>
          <a:stretch>
            <a:fillRect/>
          </a:stretch>
        </p:blipFill>
        <p:spPr>
          <a:xfrm>
            <a:off x="6440301" y="1662794"/>
            <a:ext cx="4584830" cy="3774380"/>
          </a:xfrm>
          <a:prstGeom prst="rect">
            <a:avLst/>
          </a:prstGeom>
        </p:spPr>
      </p:pic>
      <p:sp>
        <p:nvSpPr>
          <p:cNvPr id="3" name="מציין מיקום תוכן 2">
            <a:extLst>
              <a:ext uri="{FF2B5EF4-FFF2-40B4-BE49-F238E27FC236}">
                <a16:creationId xmlns:a16="http://schemas.microsoft.com/office/drawing/2014/main" id="{23F41A33-5C9B-C733-02E0-C4F60EBBC84B}"/>
              </a:ext>
            </a:extLst>
          </p:cNvPr>
          <p:cNvSpPr txBox="1">
            <a:spLocks/>
          </p:cNvSpPr>
          <p:nvPr/>
        </p:nvSpPr>
        <p:spPr>
          <a:xfrm>
            <a:off x="2421619" y="622350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More changes</a:t>
            </a:r>
          </a:p>
        </p:txBody>
      </p:sp>
      <p:sp>
        <p:nvSpPr>
          <p:cNvPr id="26" name="מציין מיקום תוכן 2">
            <a:extLst>
              <a:ext uri="{FF2B5EF4-FFF2-40B4-BE49-F238E27FC236}">
                <a16:creationId xmlns:a16="http://schemas.microsoft.com/office/drawing/2014/main" id="{1430F621-531F-E566-1E65-2F6E555319CE}"/>
              </a:ext>
            </a:extLst>
          </p:cNvPr>
          <p:cNvSpPr txBox="1">
            <a:spLocks/>
          </p:cNvSpPr>
          <p:nvPr/>
        </p:nvSpPr>
        <p:spPr>
          <a:xfrm>
            <a:off x="5296227" y="622350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Larger changes</a:t>
            </a:r>
          </a:p>
        </p:txBody>
      </p:sp>
      <p:sp>
        <p:nvSpPr>
          <p:cNvPr id="28" name="מציין מיקום תוכן 2">
            <a:extLst>
              <a:ext uri="{FF2B5EF4-FFF2-40B4-BE49-F238E27FC236}">
                <a16:creationId xmlns:a16="http://schemas.microsoft.com/office/drawing/2014/main" id="{8A58ADEF-501D-AF9C-DB58-AAF64AF5190E}"/>
              </a:ext>
            </a:extLst>
          </p:cNvPr>
          <p:cNvSpPr txBox="1">
            <a:spLocks/>
          </p:cNvSpPr>
          <p:nvPr/>
        </p:nvSpPr>
        <p:spPr>
          <a:xfrm>
            <a:off x="8170835" y="622350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Biased changes</a:t>
            </a:r>
          </a:p>
        </p:txBody>
      </p:sp>
      <p:sp>
        <p:nvSpPr>
          <p:cNvPr id="44" name="מציין מיקום תוכן 2">
            <a:extLst>
              <a:ext uri="{FF2B5EF4-FFF2-40B4-BE49-F238E27FC236}">
                <a16:creationId xmlns:a16="http://schemas.microsoft.com/office/drawing/2014/main" id="{2E2B1BD3-36CF-2B62-8392-1BB67B270550}"/>
              </a:ext>
            </a:extLst>
          </p:cNvPr>
          <p:cNvSpPr txBox="1">
            <a:spLocks/>
          </p:cNvSpPr>
          <p:nvPr/>
        </p:nvSpPr>
        <p:spPr>
          <a:xfrm>
            <a:off x="424673" y="133589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Adaptive change</a:t>
            </a:r>
          </a:p>
        </p:txBody>
      </p:sp>
      <p:sp>
        <p:nvSpPr>
          <p:cNvPr id="45" name="מציין מיקום תוכן 2">
            <a:extLst>
              <a:ext uri="{FF2B5EF4-FFF2-40B4-BE49-F238E27FC236}">
                <a16:creationId xmlns:a16="http://schemas.microsoft.com/office/drawing/2014/main" id="{1FF381BE-995B-9857-46D4-307185EAFFE6}"/>
              </a:ext>
            </a:extLst>
          </p:cNvPr>
          <p:cNvSpPr txBox="1">
            <a:spLocks/>
          </p:cNvSpPr>
          <p:nvPr/>
        </p:nvSpPr>
        <p:spPr>
          <a:xfrm>
            <a:off x="2889919" y="1335262"/>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dirty="0">
                <a:latin typeface="Calibri" panose="020F0502020204030204" pitchFamily="34" charset="0"/>
                <a:cs typeface="Calibri" panose="020F0502020204030204" pitchFamily="34" charset="0"/>
              </a:rPr>
              <a:t>Tradeoff</a:t>
            </a:r>
          </a:p>
        </p:txBody>
      </p:sp>
    </p:spTree>
    <p:extLst>
      <p:ext uri="{BB962C8B-B14F-4D97-AF65-F5344CB8AC3E}">
        <p14:creationId xmlns:p14="http://schemas.microsoft.com/office/powerpoint/2010/main" val="399279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3" grpId="0"/>
      <p:bldP spid="24" grpId="0"/>
      <p:bldP spid="25" grpId="0"/>
      <p:bldP spid="3" grpId="0"/>
      <p:bldP spid="26" grpId="0"/>
      <p:bldP spid="28" grpId="0"/>
      <p:bldP spid="44" grpId="0"/>
      <p:bldP spid="4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0F422-7A25-8760-B7AE-789998A77C3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8997AA8-45B9-CEF8-371D-CF57477B02DB}"/>
              </a:ext>
            </a:extLst>
          </p:cNvPr>
          <p:cNvSpPr>
            <a:spLocks noGrp="1"/>
          </p:cNvSpPr>
          <p:nvPr>
            <p:ph type="title"/>
          </p:nvPr>
        </p:nvSpPr>
        <p:spPr>
          <a:xfrm>
            <a:off x="838200" y="200526"/>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Percentage of differentially expressed genes</a:t>
            </a:r>
            <a:endParaRPr lang="he-IL" b="1" dirty="0">
              <a:latin typeface="Calibri" panose="020F0502020204030204" pitchFamily="34" charset="0"/>
              <a:cs typeface="Calibri" panose="020F0502020204030204" pitchFamily="34" charset="0"/>
            </a:endParaRPr>
          </a:p>
        </p:txBody>
      </p:sp>
      <p:pic>
        <p:nvPicPr>
          <p:cNvPr id="4" name="תמונה 3" descr="תמונה שמכילה טקסט, צילום מסך, תרשים, מספר&#10;&#10;תוכן שנוצר על-ידי בינה מלאכותית עשוי להיות שגוי.">
            <a:extLst>
              <a:ext uri="{FF2B5EF4-FFF2-40B4-BE49-F238E27FC236}">
                <a16:creationId xmlns:a16="http://schemas.microsoft.com/office/drawing/2014/main" id="{D0A283C7-5467-B6B3-378C-03960BDB7D41}"/>
              </a:ext>
            </a:extLst>
          </p:cNvPr>
          <p:cNvPicPr>
            <a:picLocks noChangeAspect="1"/>
          </p:cNvPicPr>
          <p:nvPr/>
        </p:nvPicPr>
        <p:blipFill>
          <a:blip r:embed="rId3">
            <a:extLst>
              <a:ext uri="{28A0092B-C50C-407E-A947-70E740481C1C}">
                <a14:useLocalDpi xmlns:a14="http://schemas.microsoft.com/office/drawing/2010/main" val="0"/>
              </a:ext>
            </a:extLst>
          </a:blip>
          <a:srcRect t="9051" b="5306"/>
          <a:stretch>
            <a:fillRect/>
          </a:stretch>
        </p:blipFill>
        <p:spPr>
          <a:xfrm>
            <a:off x="1227" y="2148841"/>
            <a:ext cx="6886579" cy="4423409"/>
          </a:xfrm>
          <a:prstGeom prst="rect">
            <a:avLst/>
          </a:prstGeom>
        </p:spPr>
      </p:pic>
      <p:pic>
        <p:nvPicPr>
          <p:cNvPr id="6" name="תמונה 5" descr="תמונה שמכילה טקסט, צילום מסך, תרשים, קו&#10;&#10;תוכן שנוצר על-ידי בינה מלאכותית עשוי להיות שגוי.">
            <a:extLst>
              <a:ext uri="{FF2B5EF4-FFF2-40B4-BE49-F238E27FC236}">
                <a16:creationId xmlns:a16="http://schemas.microsoft.com/office/drawing/2014/main" id="{966AA430-3394-9997-8B4D-BBFEF01DB84D}"/>
              </a:ext>
            </a:extLst>
          </p:cNvPr>
          <p:cNvPicPr>
            <a:picLocks noChangeAspect="1"/>
          </p:cNvPicPr>
          <p:nvPr/>
        </p:nvPicPr>
        <p:blipFill>
          <a:blip r:embed="rId4">
            <a:extLst>
              <a:ext uri="{28A0092B-C50C-407E-A947-70E740481C1C}">
                <a14:useLocalDpi xmlns:a14="http://schemas.microsoft.com/office/drawing/2010/main" val="0"/>
              </a:ext>
            </a:extLst>
          </a:blip>
          <a:srcRect t="8921" r="22057" b="5242"/>
          <a:stretch>
            <a:fillRect/>
          </a:stretch>
        </p:blipFill>
        <p:spPr>
          <a:xfrm>
            <a:off x="7210479" y="1981200"/>
            <a:ext cx="2652403" cy="2190750"/>
          </a:xfrm>
          <a:prstGeom prst="rect">
            <a:avLst/>
          </a:prstGeom>
        </p:spPr>
      </p:pic>
      <p:pic>
        <p:nvPicPr>
          <p:cNvPr id="8" name="תמונה 7" descr="תמונה שמכילה טקסט, צילום מסך, תרשים, מספר&#10;&#10;תוכן שנוצר על-ידי בינה מלאכותית עשוי להיות שגוי.">
            <a:extLst>
              <a:ext uri="{FF2B5EF4-FFF2-40B4-BE49-F238E27FC236}">
                <a16:creationId xmlns:a16="http://schemas.microsoft.com/office/drawing/2014/main" id="{9446D094-1DAA-4B6B-DFB7-0CC6BF2E2B04}"/>
              </a:ext>
            </a:extLst>
          </p:cNvPr>
          <p:cNvPicPr>
            <a:picLocks noChangeAspect="1"/>
          </p:cNvPicPr>
          <p:nvPr/>
        </p:nvPicPr>
        <p:blipFill>
          <a:blip r:embed="rId5">
            <a:extLst>
              <a:ext uri="{28A0092B-C50C-407E-A947-70E740481C1C}">
                <a14:useLocalDpi xmlns:a14="http://schemas.microsoft.com/office/drawing/2010/main" val="0"/>
              </a:ext>
            </a:extLst>
          </a:blip>
          <a:srcRect t="8938" r="22057" b="5225"/>
          <a:stretch>
            <a:fillRect/>
          </a:stretch>
        </p:blipFill>
        <p:spPr>
          <a:xfrm>
            <a:off x="5412097" y="4533900"/>
            <a:ext cx="2652403" cy="2190750"/>
          </a:xfrm>
          <a:prstGeom prst="rect">
            <a:avLst/>
          </a:prstGeom>
        </p:spPr>
      </p:pic>
      <p:pic>
        <p:nvPicPr>
          <p:cNvPr id="10" name="תמונה 9" descr="תמונה שמכילה טקסט, צילום מסך, תרשים, מספר&#10;&#10;תוכן שנוצר על-ידי בינה מלאכותית עשוי להיות שגוי.">
            <a:extLst>
              <a:ext uri="{FF2B5EF4-FFF2-40B4-BE49-F238E27FC236}">
                <a16:creationId xmlns:a16="http://schemas.microsoft.com/office/drawing/2014/main" id="{676BBA8F-9B94-9D2B-CA00-51562D173EF0}"/>
              </a:ext>
            </a:extLst>
          </p:cNvPr>
          <p:cNvPicPr>
            <a:picLocks noChangeAspect="1"/>
          </p:cNvPicPr>
          <p:nvPr/>
        </p:nvPicPr>
        <p:blipFill>
          <a:blip r:embed="rId6">
            <a:extLst>
              <a:ext uri="{28A0092B-C50C-407E-A947-70E740481C1C}">
                <a14:useLocalDpi xmlns:a14="http://schemas.microsoft.com/office/drawing/2010/main" val="0"/>
              </a:ext>
            </a:extLst>
          </a:blip>
          <a:srcRect t="8938" r="22057" b="5225"/>
          <a:stretch>
            <a:fillRect/>
          </a:stretch>
        </p:blipFill>
        <p:spPr>
          <a:xfrm>
            <a:off x="8788997" y="4533900"/>
            <a:ext cx="2652403" cy="2190750"/>
          </a:xfrm>
          <a:prstGeom prst="rect">
            <a:avLst/>
          </a:prstGeom>
        </p:spPr>
      </p:pic>
      <p:sp>
        <p:nvSpPr>
          <p:cNvPr id="3" name="כותרת משנה 2">
            <a:extLst>
              <a:ext uri="{FF2B5EF4-FFF2-40B4-BE49-F238E27FC236}">
                <a16:creationId xmlns:a16="http://schemas.microsoft.com/office/drawing/2014/main" id="{58F640AA-1E81-E97E-9D71-51CFE3BC5668}"/>
              </a:ext>
            </a:extLst>
          </p:cNvPr>
          <p:cNvSpPr txBox="1">
            <a:spLocks/>
          </p:cNvSpPr>
          <p:nvPr/>
        </p:nvSpPr>
        <p:spPr>
          <a:xfrm>
            <a:off x="990654" y="1526089"/>
            <a:ext cx="3739178" cy="674004"/>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dirty="0">
                <a:latin typeface="Calibri" panose="020F0502020204030204" pitchFamily="34" charset="0"/>
                <a:cs typeface="Calibri" panose="020F0502020204030204" pitchFamily="34" charset="0"/>
              </a:rPr>
              <a:t>Ovarian polycystic syndrome: cortical organoids</a:t>
            </a:r>
            <a:endParaRPr lang="he-IL"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971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F25CBC-AB41-AA22-45FB-70D0578B8C39}"/>
            </a:ext>
          </a:extLst>
        </p:cNvPr>
        <p:cNvGrpSpPr/>
        <p:nvPr/>
      </p:nvGrpSpPr>
      <p:grpSpPr>
        <a:xfrm>
          <a:off x="0" y="0"/>
          <a:ext cx="0" cy="0"/>
          <a:chOff x="0" y="0"/>
          <a:chExt cx="0" cy="0"/>
        </a:xfrm>
      </p:grpSpPr>
      <p:sp>
        <p:nvSpPr>
          <p:cNvPr id="4" name="כותרת 3">
            <a:extLst>
              <a:ext uri="{FF2B5EF4-FFF2-40B4-BE49-F238E27FC236}">
                <a16:creationId xmlns:a16="http://schemas.microsoft.com/office/drawing/2014/main" id="{BD2C603A-CEB4-C68C-009A-7344D3FCADB6}"/>
              </a:ext>
            </a:extLst>
          </p:cNvPr>
          <p:cNvSpPr>
            <a:spLocks noGrp="1"/>
          </p:cNvSpPr>
          <p:nvPr>
            <p:ph type="title"/>
          </p:nvPr>
        </p:nvSpPr>
        <p:spPr/>
        <p:txBody>
          <a:bodyPr/>
          <a:lstStyle/>
          <a:p>
            <a:endParaRPr lang="he-IL"/>
          </a:p>
        </p:txBody>
      </p:sp>
      <p:pic>
        <p:nvPicPr>
          <p:cNvPr id="6" name="תמונה 5" descr="תמונה שמכילה טקסט, כתב יד, צילום מסך, קו&#10;&#10;תוכן בינה מלאכותית גנרטיבית עשוי להיות שגוי.">
            <a:extLst>
              <a:ext uri="{FF2B5EF4-FFF2-40B4-BE49-F238E27FC236}">
                <a16:creationId xmlns:a16="http://schemas.microsoft.com/office/drawing/2014/main" id="{4FB2833A-B6AF-0F33-3460-0D6465D85B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45463"/>
            <a:ext cx="12192000" cy="6367074"/>
          </a:xfrm>
          <a:prstGeom prst="rect">
            <a:avLst/>
          </a:prstGeom>
        </p:spPr>
      </p:pic>
    </p:spTree>
    <p:extLst>
      <p:ext uri="{BB962C8B-B14F-4D97-AF65-F5344CB8AC3E}">
        <p14:creationId xmlns:p14="http://schemas.microsoft.com/office/powerpoint/2010/main" val="669330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4A770-E34D-C638-6454-970B09A2FEF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0BBFBBC-C1BD-351D-6106-6670334E95E5}"/>
              </a:ext>
            </a:extLst>
          </p:cNvPr>
          <p:cNvSpPr>
            <a:spLocks noGrp="1"/>
          </p:cNvSpPr>
          <p:nvPr>
            <p:ph type="title"/>
          </p:nvPr>
        </p:nvSpPr>
        <p:spPr>
          <a:xfrm>
            <a:off x="838200" y="191000"/>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Schizophrenia: fewer differentially expressed genes</a:t>
            </a:r>
            <a:endParaRPr lang="he-IL" b="1" dirty="0">
              <a:latin typeface="Calibri" panose="020F0502020204030204" pitchFamily="34" charset="0"/>
              <a:cs typeface="Calibri" panose="020F0502020204030204" pitchFamily="34" charset="0"/>
            </a:endParaRPr>
          </a:p>
        </p:txBody>
      </p:sp>
      <p:sp>
        <p:nvSpPr>
          <p:cNvPr id="11" name="כותרת משנה 2">
            <a:extLst>
              <a:ext uri="{FF2B5EF4-FFF2-40B4-BE49-F238E27FC236}">
                <a16:creationId xmlns:a16="http://schemas.microsoft.com/office/drawing/2014/main" id="{45CE8F93-661A-1508-66D4-1957A984F1E2}"/>
              </a:ext>
            </a:extLst>
          </p:cNvPr>
          <p:cNvSpPr txBox="1">
            <a:spLocks/>
          </p:cNvSpPr>
          <p:nvPr/>
        </p:nvSpPr>
        <p:spPr>
          <a:xfrm>
            <a:off x="1802629" y="1671128"/>
            <a:ext cx="3115915" cy="675526"/>
          </a:xfrm>
          <a:prstGeom prst="rect">
            <a:avLst/>
          </a:prstGeom>
        </p:spPr>
        <p:txBody>
          <a:bodyPr vert="horz" lIns="91440" tIns="45720" rIns="91440" bIns="45720" rtlCol="1">
            <a:normAutofit fontScale="92500" lnSpcReduction="2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dirty="0">
                <a:latin typeface="Calibri" panose="020F0502020204030204" pitchFamily="34" charset="0"/>
                <a:cs typeface="Calibri" panose="020F0502020204030204" pitchFamily="34" charset="0"/>
              </a:rPr>
              <a:t>Schizophrenia: </a:t>
            </a:r>
          </a:p>
          <a:p>
            <a:pPr marL="0" indent="0" algn="ctr" rtl="0">
              <a:buNone/>
            </a:pPr>
            <a:r>
              <a:rPr lang="en-US" sz="2000" dirty="0">
                <a:latin typeface="Calibri" panose="020F0502020204030204" pitchFamily="34" charset="0"/>
                <a:cs typeface="Calibri" panose="020F0502020204030204" pitchFamily="34" charset="0"/>
              </a:rPr>
              <a:t>Cortical Organoids (day 50)</a:t>
            </a:r>
            <a:endParaRPr lang="he-IL" sz="2000" dirty="0">
              <a:latin typeface="Calibri" panose="020F0502020204030204" pitchFamily="34" charset="0"/>
              <a:cs typeface="Calibri" panose="020F0502020204030204" pitchFamily="34" charset="0"/>
            </a:endParaRPr>
          </a:p>
        </p:txBody>
      </p:sp>
      <p:sp>
        <p:nvSpPr>
          <p:cNvPr id="12" name="כותרת משנה 2">
            <a:extLst>
              <a:ext uri="{FF2B5EF4-FFF2-40B4-BE49-F238E27FC236}">
                <a16:creationId xmlns:a16="http://schemas.microsoft.com/office/drawing/2014/main" id="{27F417EB-C7EF-633E-35A7-27F38DEED0A6}"/>
              </a:ext>
            </a:extLst>
          </p:cNvPr>
          <p:cNvSpPr txBox="1">
            <a:spLocks/>
          </p:cNvSpPr>
          <p:nvPr/>
        </p:nvSpPr>
        <p:spPr>
          <a:xfrm>
            <a:off x="5957959" y="1637790"/>
            <a:ext cx="3115915" cy="675526"/>
          </a:xfrm>
          <a:prstGeom prst="rect">
            <a:avLst/>
          </a:prstGeom>
        </p:spPr>
        <p:txBody>
          <a:bodyPr vert="horz" lIns="91440" tIns="45720" rIns="91440" bIns="45720" rtlCol="1">
            <a:normAutofit fontScale="92500" lnSpcReduction="2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dirty="0">
                <a:latin typeface="Calibri" panose="020F0502020204030204" pitchFamily="34" charset="0"/>
                <a:cs typeface="Calibri" panose="020F0502020204030204" pitchFamily="34" charset="0"/>
              </a:rPr>
              <a:t>Schizophrenia: </a:t>
            </a:r>
          </a:p>
          <a:p>
            <a:pPr marL="0" indent="0" algn="ctr" rtl="0">
              <a:buNone/>
            </a:pPr>
            <a:r>
              <a:rPr lang="en-US" sz="2000" dirty="0">
                <a:latin typeface="Calibri" panose="020F0502020204030204" pitchFamily="34" charset="0"/>
                <a:cs typeface="Calibri" panose="020F0502020204030204" pitchFamily="34" charset="0"/>
              </a:rPr>
              <a:t>Cortical Organoids (day 100)</a:t>
            </a:r>
            <a:endParaRPr lang="he-IL" sz="2000" dirty="0">
              <a:latin typeface="Calibri" panose="020F0502020204030204" pitchFamily="34" charset="0"/>
              <a:cs typeface="Calibri" panose="020F0502020204030204" pitchFamily="34" charset="0"/>
            </a:endParaRPr>
          </a:p>
        </p:txBody>
      </p:sp>
      <p:pic>
        <p:nvPicPr>
          <p:cNvPr id="4" name="תמונה 3" descr="תמונה שמכילה טקסט, צילום מסך, תרשים, מלבן&#10;&#10;תוכן שנוצר על-ידי בינה מלאכותית עשוי להיות שגוי.">
            <a:extLst>
              <a:ext uri="{FF2B5EF4-FFF2-40B4-BE49-F238E27FC236}">
                <a16:creationId xmlns:a16="http://schemas.microsoft.com/office/drawing/2014/main" id="{5F762A72-A710-A977-F734-AF635834FC52}"/>
              </a:ext>
            </a:extLst>
          </p:cNvPr>
          <p:cNvPicPr>
            <a:picLocks noChangeAspect="1"/>
          </p:cNvPicPr>
          <p:nvPr/>
        </p:nvPicPr>
        <p:blipFill>
          <a:blip r:embed="rId3">
            <a:extLst>
              <a:ext uri="{28A0092B-C50C-407E-A947-70E740481C1C}">
                <a14:useLocalDpi xmlns:a14="http://schemas.microsoft.com/office/drawing/2010/main" val="0"/>
              </a:ext>
            </a:extLst>
          </a:blip>
          <a:srcRect t="9419" b="5219"/>
          <a:stretch/>
        </p:blipFill>
        <p:spPr>
          <a:xfrm>
            <a:off x="302860" y="2438400"/>
            <a:ext cx="6497904" cy="4160108"/>
          </a:xfrm>
          <a:prstGeom prst="rect">
            <a:avLst/>
          </a:prstGeom>
        </p:spPr>
      </p:pic>
      <p:pic>
        <p:nvPicPr>
          <p:cNvPr id="8" name="תמונה 7" descr="תמונה שמכילה טקסט, צילום מסך, תרשים, קו&#10;&#10;תוכן שנוצר על-ידי בינה מלאכותית עשוי להיות שגוי.">
            <a:extLst>
              <a:ext uri="{FF2B5EF4-FFF2-40B4-BE49-F238E27FC236}">
                <a16:creationId xmlns:a16="http://schemas.microsoft.com/office/drawing/2014/main" id="{27965A7C-7943-3FEA-40BE-DF8F935E52E5}"/>
              </a:ext>
            </a:extLst>
          </p:cNvPr>
          <p:cNvPicPr>
            <a:picLocks noChangeAspect="1"/>
          </p:cNvPicPr>
          <p:nvPr/>
        </p:nvPicPr>
        <p:blipFill>
          <a:blip r:embed="rId4">
            <a:extLst>
              <a:ext uri="{28A0092B-C50C-407E-A947-70E740481C1C}">
                <a14:useLocalDpi xmlns:a14="http://schemas.microsoft.com/office/drawing/2010/main" val="0"/>
              </a:ext>
            </a:extLst>
          </a:blip>
          <a:srcRect t="9418" b="5139"/>
          <a:stretch/>
        </p:blipFill>
        <p:spPr>
          <a:xfrm>
            <a:off x="5391236" y="2434543"/>
            <a:ext cx="6497904" cy="4163965"/>
          </a:xfrm>
          <a:prstGeom prst="rect">
            <a:avLst/>
          </a:prstGeom>
        </p:spPr>
      </p:pic>
    </p:spTree>
    <p:extLst>
      <p:ext uri="{BB962C8B-B14F-4D97-AF65-F5344CB8AC3E}">
        <p14:creationId xmlns:p14="http://schemas.microsoft.com/office/powerpoint/2010/main" val="143880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202B8-0C79-E4A8-14B0-D577B1EFE17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82E8F72A-F438-179C-D5C9-D844C936730E}"/>
              </a:ext>
            </a:extLst>
          </p:cNvPr>
          <p:cNvSpPr>
            <a:spLocks noGrp="1"/>
          </p:cNvSpPr>
          <p:nvPr>
            <p:ph type="title"/>
          </p:nvPr>
        </p:nvSpPr>
        <p:spPr>
          <a:xfrm>
            <a:off x="838199" y="184255"/>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Schizophrenia-related genes are depleted of large expression changes</a:t>
            </a:r>
          </a:p>
        </p:txBody>
      </p:sp>
      <p:pic>
        <p:nvPicPr>
          <p:cNvPr id="4" name="תמונה 3" descr="תמונה שמכילה טקסט, תרשים, קו, מספר&#10;&#10;תוכן שנוצר על-ידי בינה מלאכותית עשוי להיות שגוי.">
            <a:extLst>
              <a:ext uri="{FF2B5EF4-FFF2-40B4-BE49-F238E27FC236}">
                <a16:creationId xmlns:a16="http://schemas.microsoft.com/office/drawing/2014/main" id="{6A6D8173-A990-1973-0A54-A31DFAA14F5F}"/>
              </a:ext>
            </a:extLst>
          </p:cNvPr>
          <p:cNvPicPr>
            <a:picLocks noChangeAspect="1"/>
          </p:cNvPicPr>
          <p:nvPr/>
        </p:nvPicPr>
        <p:blipFill>
          <a:blip r:embed="rId3">
            <a:extLst>
              <a:ext uri="{28A0092B-C50C-407E-A947-70E740481C1C}">
                <a14:useLocalDpi xmlns:a14="http://schemas.microsoft.com/office/drawing/2010/main" val="0"/>
              </a:ext>
            </a:extLst>
          </a:blip>
          <a:srcRect t="17857"/>
          <a:stretch/>
        </p:blipFill>
        <p:spPr>
          <a:xfrm>
            <a:off x="2012791" y="1690688"/>
            <a:ext cx="8166419" cy="4695687"/>
          </a:xfrm>
          <a:prstGeom prst="rect">
            <a:avLst/>
          </a:prstGeom>
        </p:spPr>
      </p:pic>
      <p:sp>
        <p:nvSpPr>
          <p:cNvPr id="5" name="כותרת משנה 2">
            <a:extLst>
              <a:ext uri="{FF2B5EF4-FFF2-40B4-BE49-F238E27FC236}">
                <a16:creationId xmlns:a16="http://schemas.microsoft.com/office/drawing/2014/main" id="{9024B717-0F94-52FB-A8DD-F4CBF620FEA6}"/>
              </a:ext>
            </a:extLst>
          </p:cNvPr>
          <p:cNvSpPr txBox="1">
            <a:spLocks/>
          </p:cNvSpPr>
          <p:nvPr/>
        </p:nvSpPr>
        <p:spPr>
          <a:xfrm>
            <a:off x="3700128" y="6242842"/>
            <a:ext cx="4791743"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800" dirty="0">
                <a:latin typeface="Calibri" panose="020F0502020204030204" pitchFamily="34" charset="0"/>
                <a:cs typeface="Calibri" panose="020F0502020204030204" pitchFamily="34" charset="0"/>
              </a:rPr>
              <a:t>Cortical Organoids (day 150)</a:t>
            </a:r>
            <a:endParaRPr lang="he-IL"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336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FF46-D2AF-29D9-A613-F00FCE8864A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9717386-446C-FCA1-3D55-AB8AAD20CBB4}"/>
              </a:ext>
            </a:extLst>
          </p:cNvPr>
          <p:cNvSpPr>
            <a:spLocks noGrp="1"/>
          </p:cNvSpPr>
          <p:nvPr>
            <p:ph type="title"/>
          </p:nvPr>
        </p:nvSpPr>
        <p:spPr>
          <a:xfrm>
            <a:off x="838200" y="260562"/>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Scoliosis: more differentially expressed genes</a:t>
            </a:r>
            <a:endParaRPr lang="he-IL" b="1" dirty="0">
              <a:latin typeface="Calibri" panose="020F0502020204030204" pitchFamily="34" charset="0"/>
              <a:cs typeface="Calibri" panose="020F0502020204030204" pitchFamily="34" charset="0"/>
            </a:endParaRPr>
          </a:p>
        </p:txBody>
      </p:sp>
      <p:pic>
        <p:nvPicPr>
          <p:cNvPr id="2050" name="Picture 2" descr="‪Scoliosis - Wikipedia‬‏">
            <a:extLst>
              <a:ext uri="{FF2B5EF4-FFF2-40B4-BE49-F238E27FC236}">
                <a16:creationId xmlns:a16="http://schemas.microsoft.com/office/drawing/2014/main" id="{75C72701-98FB-1A5A-17EA-188F754C9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940" y="1690688"/>
            <a:ext cx="2089327" cy="4178654"/>
          </a:xfrm>
          <a:prstGeom prst="rect">
            <a:avLst/>
          </a:prstGeom>
          <a:noFill/>
          <a:extLst>
            <a:ext uri="{909E8E84-426E-40DD-AFC4-6F175D3DCCD1}">
              <a14:hiddenFill xmlns:a14="http://schemas.microsoft.com/office/drawing/2010/main">
                <a:solidFill>
                  <a:srgbClr val="FFFFFF"/>
                </a:solidFill>
              </a14:hiddenFill>
            </a:ext>
          </a:extLst>
        </p:spPr>
      </p:pic>
      <p:sp>
        <p:nvSpPr>
          <p:cNvPr id="3" name="כותרת משנה 2">
            <a:extLst>
              <a:ext uri="{FF2B5EF4-FFF2-40B4-BE49-F238E27FC236}">
                <a16:creationId xmlns:a16="http://schemas.microsoft.com/office/drawing/2014/main" id="{4F090D66-24B5-A921-E9B6-B9725B99D7F2}"/>
              </a:ext>
            </a:extLst>
          </p:cNvPr>
          <p:cNvSpPr txBox="1">
            <a:spLocks/>
          </p:cNvSpPr>
          <p:nvPr/>
        </p:nvSpPr>
        <p:spPr>
          <a:xfrm>
            <a:off x="3903978" y="1902611"/>
            <a:ext cx="3115915" cy="675526"/>
          </a:xfrm>
          <a:prstGeom prst="rect">
            <a:avLst/>
          </a:prstGeom>
        </p:spPr>
        <p:txBody>
          <a:bodyPr vert="horz" lIns="91440" tIns="45720" rIns="91440" bIns="45720" rtlCol="1">
            <a:normAutofit fontScale="92500" lnSpcReduction="2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dirty="0">
                <a:latin typeface="Calibri" panose="020F0502020204030204" pitchFamily="34" charset="0"/>
                <a:cs typeface="Calibri" panose="020F0502020204030204" pitchFamily="34" charset="0"/>
              </a:rPr>
              <a:t>Scoliosis: </a:t>
            </a:r>
          </a:p>
          <a:p>
            <a:pPr marL="0" indent="0" algn="ctr" rtl="0">
              <a:buNone/>
            </a:pPr>
            <a:r>
              <a:rPr lang="en-US" sz="2000" dirty="0">
                <a:latin typeface="Calibri" panose="020F0502020204030204" pitchFamily="34" charset="0"/>
                <a:cs typeface="Calibri" panose="020F0502020204030204" pitchFamily="34" charset="0"/>
              </a:rPr>
              <a:t>CNCCs</a:t>
            </a:r>
            <a:endParaRPr lang="he-IL" sz="2000" dirty="0">
              <a:latin typeface="Calibri" panose="020F0502020204030204" pitchFamily="34" charset="0"/>
              <a:cs typeface="Calibri" panose="020F0502020204030204" pitchFamily="34" charset="0"/>
            </a:endParaRPr>
          </a:p>
        </p:txBody>
      </p:sp>
      <p:pic>
        <p:nvPicPr>
          <p:cNvPr id="8" name="מציין מיקום תוכן 7" descr="תמונה שמכילה טקסט, צילום מסך, תרשים, מלבן&#10;&#10;תוכן שנוצר על-ידי בינה מלאכותית עשוי להיות שגוי.">
            <a:extLst>
              <a:ext uri="{FF2B5EF4-FFF2-40B4-BE49-F238E27FC236}">
                <a16:creationId xmlns:a16="http://schemas.microsoft.com/office/drawing/2014/main" id="{3F20FC3F-DFD5-8AC9-DF18-399086BCB245}"/>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t="9056" b="5263"/>
          <a:stretch/>
        </p:blipFill>
        <p:spPr>
          <a:xfrm>
            <a:off x="3031823" y="2535583"/>
            <a:ext cx="5801784" cy="3728278"/>
          </a:xfrm>
        </p:spPr>
      </p:pic>
      <p:sp>
        <p:nvSpPr>
          <p:cNvPr id="6" name="כותרת משנה 2">
            <a:extLst>
              <a:ext uri="{FF2B5EF4-FFF2-40B4-BE49-F238E27FC236}">
                <a16:creationId xmlns:a16="http://schemas.microsoft.com/office/drawing/2014/main" id="{4B453BFF-B716-56DA-8531-B3F7D2A723AA}"/>
              </a:ext>
            </a:extLst>
          </p:cNvPr>
          <p:cNvSpPr txBox="1">
            <a:spLocks/>
          </p:cNvSpPr>
          <p:nvPr/>
        </p:nvSpPr>
        <p:spPr>
          <a:xfrm>
            <a:off x="7946206" y="3985410"/>
            <a:ext cx="3115915" cy="2197675"/>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dirty="0">
                <a:latin typeface="Calibri" panose="020F0502020204030204" pitchFamily="34" charset="0"/>
                <a:cs typeface="Calibri" panose="020F0502020204030204" pitchFamily="34" charset="0"/>
              </a:rPr>
              <a:t>Option 1: accelerated evolution</a:t>
            </a:r>
          </a:p>
          <a:p>
            <a:pPr marL="0" indent="0" algn="ctr" rtl="0">
              <a:buNone/>
            </a:pPr>
            <a:endParaRPr lang="en-US" sz="2000" dirty="0">
              <a:latin typeface="Calibri" panose="020F0502020204030204" pitchFamily="34" charset="0"/>
              <a:cs typeface="Calibri" panose="020F0502020204030204" pitchFamily="34" charset="0"/>
            </a:endParaRPr>
          </a:p>
          <a:p>
            <a:pPr marL="0" indent="0" algn="ctr" rtl="0">
              <a:buNone/>
            </a:pPr>
            <a:r>
              <a:rPr lang="en-US" sz="2000" dirty="0">
                <a:latin typeface="Calibri" panose="020F0502020204030204" pitchFamily="34" charset="0"/>
                <a:cs typeface="Calibri" panose="020F0502020204030204" pitchFamily="34" charset="0"/>
              </a:rPr>
              <a:t>Option 2: relaxation of negative selection</a:t>
            </a:r>
            <a:endParaRPr lang="he-IL"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0633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E1EF37-7CEB-E59E-7A1C-18986A96F9D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A655CAB-BDE6-9FEA-7505-EA7ADCEF9F88}"/>
              </a:ext>
            </a:extLst>
          </p:cNvPr>
          <p:cNvSpPr>
            <a:spLocks noGrp="1"/>
          </p:cNvSpPr>
          <p:nvPr>
            <p:ph type="title"/>
          </p:nvPr>
        </p:nvSpPr>
        <p:spPr>
          <a:xfrm>
            <a:off x="0" y="0"/>
            <a:ext cx="12192000" cy="1325563"/>
          </a:xfrm>
        </p:spPr>
        <p:txBody>
          <a:bodyPr>
            <a:normAutofit/>
          </a:bodyPr>
          <a:lstStyle/>
          <a:p>
            <a:pPr algn="ctr" rtl="0"/>
            <a:r>
              <a:rPr lang="en-US" sz="4000" dirty="0">
                <a:solidFill>
                  <a:srgbClr val="0070C0"/>
                </a:solidFill>
                <a:latin typeface="Comic Sans MS" panose="030F0702030302020204" pitchFamily="66" charset="0"/>
                <a:ea typeface="+mn-ea"/>
                <a:cs typeface="+mn-cs"/>
              </a:rPr>
              <a:t>Is the direction of regulation change important?</a:t>
            </a:r>
            <a:endParaRPr lang="he-IL" sz="4000" dirty="0"/>
          </a:p>
        </p:txBody>
      </p:sp>
      <p:sp>
        <p:nvSpPr>
          <p:cNvPr id="4" name="מציין מיקום תוכן 3">
            <a:extLst>
              <a:ext uri="{FF2B5EF4-FFF2-40B4-BE49-F238E27FC236}">
                <a16:creationId xmlns:a16="http://schemas.microsoft.com/office/drawing/2014/main" id="{3B13BDF8-5A60-B9B2-AAA4-283D16BD76D3}"/>
              </a:ext>
            </a:extLst>
          </p:cNvPr>
          <p:cNvSpPr>
            <a:spLocks noGrp="1"/>
          </p:cNvSpPr>
          <p:nvPr>
            <p:ph idx="1"/>
          </p:nvPr>
        </p:nvSpPr>
        <p:spPr/>
        <p:txBody>
          <a:bodyPr/>
          <a:lstStyle/>
          <a:p>
            <a:endParaRPr lang="he-IL"/>
          </a:p>
        </p:txBody>
      </p:sp>
      <p:pic>
        <p:nvPicPr>
          <p:cNvPr id="7" name="תמונה 6">
            <a:extLst>
              <a:ext uri="{FF2B5EF4-FFF2-40B4-BE49-F238E27FC236}">
                <a16:creationId xmlns:a16="http://schemas.microsoft.com/office/drawing/2014/main" id="{4ADB44DF-584D-9CF6-8604-21C0360A93B0}"/>
              </a:ext>
            </a:extLst>
          </p:cNvPr>
          <p:cNvPicPr>
            <a:picLocks noChangeAspect="1"/>
          </p:cNvPicPr>
          <p:nvPr/>
        </p:nvPicPr>
        <p:blipFill>
          <a:blip r:embed="rId3"/>
          <a:srcRect t="4637"/>
          <a:stretch>
            <a:fillRect/>
          </a:stretch>
        </p:blipFill>
        <p:spPr>
          <a:xfrm>
            <a:off x="0" y="1088314"/>
            <a:ext cx="12192000" cy="5769686"/>
          </a:xfrm>
          <a:prstGeom prst="rect">
            <a:avLst/>
          </a:prstGeom>
        </p:spPr>
      </p:pic>
    </p:spTree>
    <p:extLst>
      <p:ext uri="{BB962C8B-B14F-4D97-AF65-F5344CB8AC3E}">
        <p14:creationId xmlns:p14="http://schemas.microsoft.com/office/powerpoint/2010/main" val="1878991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29404-CC3A-C2A0-EFDF-0857846B8B1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756E622-2003-6092-A9E7-0344199F0E21}"/>
              </a:ext>
            </a:extLst>
          </p:cNvPr>
          <p:cNvSpPr>
            <a:spLocks noGrp="1"/>
          </p:cNvSpPr>
          <p:nvPr>
            <p:ph type="title"/>
          </p:nvPr>
        </p:nvSpPr>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Schizophrenia: positive selection for upregulation of genes</a:t>
            </a:r>
            <a:endParaRPr lang="he-IL" b="1" dirty="0">
              <a:latin typeface="Calibri" panose="020F0502020204030204" pitchFamily="34" charset="0"/>
              <a:cs typeface="Calibri" panose="020F0502020204030204" pitchFamily="34" charset="0"/>
            </a:endParaRPr>
          </a:p>
        </p:txBody>
      </p:sp>
      <p:sp>
        <p:nvSpPr>
          <p:cNvPr id="8" name="כותרת משנה 2">
            <a:extLst>
              <a:ext uri="{FF2B5EF4-FFF2-40B4-BE49-F238E27FC236}">
                <a16:creationId xmlns:a16="http://schemas.microsoft.com/office/drawing/2014/main" id="{DC977DCC-457B-BA9F-19AE-4A565F34A2F0}"/>
              </a:ext>
            </a:extLst>
          </p:cNvPr>
          <p:cNvSpPr txBox="1">
            <a:spLocks/>
          </p:cNvSpPr>
          <p:nvPr/>
        </p:nvSpPr>
        <p:spPr>
          <a:xfrm>
            <a:off x="8385745" y="2480046"/>
            <a:ext cx="2563912" cy="674004"/>
          </a:xfrm>
          <a:prstGeom prst="rect">
            <a:avLst/>
          </a:prstGeom>
        </p:spPr>
        <p:txBody>
          <a:bodyPr vert="horz" lIns="91440" tIns="45720" rIns="91440" bIns="45720" rtlCol="1">
            <a:normAutofit fontScale="77500" lnSpcReduction="2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dirty="0">
                <a:latin typeface="Calibri" panose="020F0502020204030204" pitchFamily="34" charset="0"/>
                <a:cs typeface="Calibri" panose="020F0502020204030204" pitchFamily="34" charset="0"/>
              </a:rPr>
              <a:t>Schizophrenia: </a:t>
            </a:r>
          </a:p>
          <a:p>
            <a:pPr marL="0" indent="0" algn="ctr" rtl="0">
              <a:buNone/>
            </a:pPr>
            <a:r>
              <a:rPr lang="en-US" sz="2000" dirty="0">
                <a:latin typeface="Calibri" panose="020F0502020204030204" pitchFamily="34" charset="0"/>
                <a:cs typeface="Calibri" panose="020F0502020204030204" pitchFamily="34" charset="0"/>
              </a:rPr>
              <a:t>Cortical Organoids (day 100)</a:t>
            </a:r>
            <a:endParaRPr lang="he-IL" sz="2000" dirty="0">
              <a:latin typeface="Calibri" panose="020F0502020204030204" pitchFamily="34" charset="0"/>
              <a:cs typeface="Calibri" panose="020F0502020204030204" pitchFamily="34" charset="0"/>
            </a:endParaRPr>
          </a:p>
        </p:txBody>
      </p:sp>
      <p:pic>
        <p:nvPicPr>
          <p:cNvPr id="14" name="תמונה 13" descr="תמונה שמכילה טקסט, צילום מסך, תרשים, מלבן&#10;&#10;תוכן שנוצר על-ידי בינה מלאכותית עשוי להיות שגוי.">
            <a:extLst>
              <a:ext uri="{FF2B5EF4-FFF2-40B4-BE49-F238E27FC236}">
                <a16:creationId xmlns:a16="http://schemas.microsoft.com/office/drawing/2014/main" id="{7212DFB9-EEF9-10A2-2ACF-7F6C1CD16CF6}"/>
              </a:ext>
            </a:extLst>
          </p:cNvPr>
          <p:cNvPicPr>
            <a:picLocks noChangeAspect="1"/>
          </p:cNvPicPr>
          <p:nvPr/>
        </p:nvPicPr>
        <p:blipFill>
          <a:blip r:embed="rId3">
            <a:extLst>
              <a:ext uri="{28A0092B-C50C-407E-A947-70E740481C1C}">
                <a14:useLocalDpi xmlns:a14="http://schemas.microsoft.com/office/drawing/2010/main" val="0"/>
              </a:ext>
            </a:extLst>
          </a:blip>
          <a:srcRect t="7885" b="4919"/>
          <a:stretch/>
        </p:blipFill>
        <p:spPr>
          <a:xfrm>
            <a:off x="2701077" y="3265459"/>
            <a:ext cx="5849261" cy="3570250"/>
          </a:xfrm>
          <a:prstGeom prst="rect">
            <a:avLst/>
          </a:prstGeom>
        </p:spPr>
      </p:pic>
      <p:sp>
        <p:nvSpPr>
          <p:cNvPr id="15" name="כותרת משנה 2">
            <a:extLst>
              <a:ext uri="{FF2B5EF4-FFF2-40B4-BE49-F238E27FC236}">
                <a16:creationId xmlns:a16="http://schemas.microsoft.com/office/drawing/2014/main" id="{D2CD4532-FD0D-7F2E-3A90-AAEC333023D5}"/>
              </a:ext>
            </a:extLst>
          </p:cNvPr>
          <p:cNvSpPr txBox="1">
            <a:spLocks/>
          </p:cNvSpPr>
          <p:nvPr/>
        </p:nvSpPr>
        <p:spPr>
          <a:xfrm>
            <a:off x="3429117" y="2480046"/>
            <a:ext cx="2563912" cy="674004"/>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dirty="0">
                <a:latin typeface="Calibri" panose="020F0502020204030204" pitchFamily="34" charset="0"/>
                <a:cs typeface="Calibri" panose="020F0502020204030204" pitchFamily="34" charset="0"/>
              </a:rPr>
              <a:t>Schizophrenia: </a:t>
            </a:r>
          </a:p>
          <a:p>
            <a:pPr marL="0" indent="0" algn="ctr" rtl="0">
              <a:buNone/>
            </a:pPr>
            <a:r>
              <a:rPr lang="en-US" sz="2000" dirty="0">
                <a:latin typeface="Calibri" panose="020F0502020204030204" pitchFamily="34" charset="0"/>
                <a:cs typeface="Calibri" panose="020F0502020204030204" pitchFamily="34" charset="0"/>
              </a:rPr>
              <a:t>Cortical Organoids (day 50)</a:t>
            </a:r>
            <a:endParaRPr lang="he-IL" sz="2000" dirty="0">
              <a:latin typeface="Calibri" panose="020F0502020204030204" pitchFamily="34" charset="0"/>
              <a:cs typeface="Calibri" panose="020F0502020204030204" pitchFamily="34" charset="0"/>
            </a:endParaRPr>
          </a:p>
        </p:txBody>
      </p:sp>
      <p:pic>
        <p:nvPicPr>
          <p:cNvPr id="19" name="מציין מיקום תוכן 18" descr="תמונה שמכילה טקסט, צילום מסך, תרשים, מלבן&#10;&#10;תוכן שנוצר על-ידי בינה מלאכותית עשוי להיות שגוי.">
            <a:extLst>
              <a:ext uri="{FF2B5EF4-FFF2-40B4-BE49-F238E27FC236}">
                <a16:creationId xmlns:a16="http://schemas.microsoft.com/office/drawing/2014/main" id="{30D5D67E-B3A9-0922-3FF7-70AAAAF580DF}"/>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t="7975" r="18270" b="5067"/>
          <a:stretch>
            <a:fillRect/>
          </a:stretch>
        </p:blipFill>
        <p:spPr>
          <a:xfrm>
            <a:off x="7398250" y="3265458"/>
            <a:ext cx="4793750" cy="3570250"/>
          </a:xfrm>
        </p:spPr>
      </p:pic>
      <p:pic>
        <p:nvPicPr>
          <p:cNvPr id="4" name="תמונה 3" descr="תמונה שמכילה טקסט, צילום מסך, תרשים, מלבן&#10;&#10;תוכן שנוצר על-ידי בינה מלאכותית עשוי להיות שגוי.">
            <a:extLst>
              <a:ext uri="{FF2B5EF4-FFF2-40B4-BE49-F238E27FC236}">
                <a16:creationId xmlns:a16="http://schemas.microsoft.com/office/drawing/2014/main" id="{3B24C113-A8CC-FFAB-ECA3-CCD603FFF6A6}"/>
              </a:ext>
            </a:extLst>
          </p:cNvPr>
          <p:cNvPicPr>
            <a:picLocks noChangeAspect="1"/>
          </p:cNvPicPr>
          <p:nvPr/>
        </p:nvPicPr>
        <p:blipFill>
          <a:blip r:embed="rId5">
            <a:extLst>
              <a:ext uri="{28A0092B-C50C-407E-A947-70E740481C1C}">
                <a14:useLocalDpi xmlns:a14="http://schemas.microsoft.com/office/drawing/2010/main" val="0"/>
              </a:ext>
            </a:extLst>
          </a:blip>
          <a:srcRect l="48898" t="11897" r="29375" b="9041"/>
          <a:stretch>
            <a:fillRect/>
          </a:stretch>
        </p:blipFill>
        <p:spPr>
          <a:xfrm>
            <a:off x="838199" y="3369732"/>
            <a:ext cx="1219201" cy="3327401"/>
          </a:xfrm>
          <a:prstGeom prst="rect">
            <a:avLst/>
          </a:prstGeom>
        </p:spPr>
      </p:pic>
      <p:pic>
        <p:nvPicPr>
          <p:cNvPr id="10" name="מציין מיקום תוכן 18" descr="תמונה שמכילה טקסט, צילום מסך, תרשים, מלבן&#10;&#10;תוכן שנוצר על-ידי בינה מלאכותית עשוי להיות שגוי.">
            <a:extLst>
              <a:ext uri="{FF2B5EF4-FFF2-40B4-BE49-F238E27FC236}">
                <a16:creationId xmlns:a16="http://schemas.microsoft.com/office/drawing/2014/main" id="{C53BB9E7-DB84-66B5-2FA9-11CB61CF7B03}"/>
              </a:ext>
            </a:extLst>
          </p:cNvPr>
          <p:cNvPicPr>
            <a:picLocks noChangeAspect="1"/>
          </p:cNvPicPr>
          <p:nvPr/>
        </p:nvPicPr>
        <p:blipFill>
          <a:blip r:embed="rId4">
            <a:extLst>
              <a:ext uri="{28A0092B-C50C-407E-A947-70E740481C1C}">
                <a14:useLocalDpi xmlns:a14="http://schemas.microsoft.com/office/drawing/2010/main" val="0"/>
              </a:ext>
            </a:extLst>
          </a:blip>
          <a:srcRect l="82929" t="12808" r="2001" b="81480"/>
          <a:stretch>
            <a:fillRect/>
          </a:stretch>
        </p:blipFill>
        <p:spPr>
          <a:xfrm>
            <a:off x="6392994" y="2620651"/>
            <a:ext cx="2010511" cy="533400"/>
          </a:xfrm>
          <a:prstGeom prst="rect">
            <a:avLst/>
          </a:prstGeom>
        </p:spPr>
      </p:pic>
      <p:cxnSp>
        <p:nvCxnSpPr>
          <p:cNvPr id="12" name="מחבר ישר 11">
            <a:extLst>
              <a:ext uri="{FF2B5EF4-FFF2-40B4-BE49-F238E27FC236}">
                <a16:creationId xmlns:a16="http://schemas.microsoft.com/office/drawing/2014/main" id="{9708F6DE-B9B5-9F46-2769-5C037504062C}"/>
              </a:ext>
            </a:extLst>
          </p:cNvPr>
          <p:cNvCxnSpPr/>
          <p:nvPr/>
        </p:nvCxnSpPr>
        <p:spPr>
          <a:xfrm flipV="1">
            <a:off x="1871133" y="3496733"/>
            <a:ext cx="1701800" cy="2133600"/>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cxnSp>
        <p:nvCxnSpPr>
          <p:cNvPr id="13" name="מחבר ישר 12">
            <a:extLst>
              <a:ext uri="{FF2B5EF4-FFF2-40B4-BE49-F238E27FC236}">
                <a16:creationId xmlns:a16="http://schemas.microsoft.com/office/drawing/2014/main" id="{F8E4C39E-4184-883D-40F1-86536F4CFE58}"/>
              </a:ext>
            </a:extLst>
          </p:cNvPr>
          <p:cNvCxnSpPr>
            <a:cxnSpLocks/>
          </p:cNvCxnSpPr>
          <p:nvPr/>
        </p:nvCxnSpPr>
        <p:spPr>
          <a:xfrm>
            <a:off x="1871133" y="6697133"/>
            <a:ext cx="1701800" cy="0"/>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40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5E87-9062-B969-69F5-21429AB3F5E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C8E7A2E-A310-103E-338E-AD08DA69FF8C}"/>
              </a:ext>
            </a:extLst>
          </p:cNvPr>
          <p:cNvSpPr>
            <a:spLocks noGrp="1"/>
          </p:cNvSpPr>
          <p:nvPr>
            <p:ph type="title"/>
          </p:nvPr>
        </p:nvSpPr>
        <p:spPr>
          <a:xfrm>
            <a:off x="838199" y="204351"/>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Schizophrenia-related genes are depleted of large negative expression changes</a:t>
            </a:r>
            <a:endParaRPr lang="he-IL" b="1" dirty="0">
              <a:latin typeface="Calibri" panose="020F0502020204030204" pitchFamily="34" charset="0"/>
              <a:cs typeface="Calibri" panose="020F0502020204030204" pitchFamily="34" charset="0"/>
            </a:endParaRPr>
          </a:p>
        </p:txBody>
      </p:sp>
      <p:sp>
        <p:nvSpPr>
          <p:cNvPr id="7" name="כותרת משנה 2">
            <a:extLst>
              <a:ext uri="{FF2B5EF4-FFF2-40B4-BE49-F238E27FC236}">
                <a16:creationId xmlns:a16="http://schemas.microsoft.com/office/drawing/2014/main" id="{09C103D6-B92D-524D-2C16-A9D003011AB2}"/>
              </a:ext>
            </a:extLst>
          </p:cNvPr>
          <p:cNvSpPr txBox="1">
            <a:spLocks/>
          </p:cNvSpPr>
          <p:nvPr/>
        </p:nvSpPr>
        <p:spPr>
          <a:xfrm>
            <a:off x="3700128" y="6242842"/>
            <a:ext cx="4791743"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800" b="1" i="1" dirty="0"/>
              <a:t>Cortical Organoids (day 100)</a:t>
            </a:r>
            <a:endParaRPr lang="he-IL" sz="1800" b="1" i="1" dirty="0"/>
          </a:p>
        </p:txBody>
      </p:sp>
      <p:pic>
        <p:nvPicPr>
          <p:cNvPr id="13" name="מציין מיקום תוכן 12" descr="תמונה שמכילה טקסט, תרשים, קו, עלילה&#10;&#10;תוכן שנוצר על-ידי בינה מלאכותית עשוי להיות שגוי.">
            <a:extLst>
              <a:ext uri="{FF2B5EF4-FFF2-40B4-BE49-F238E27FC236}">
                <a16:creationId xmlns:a16="http://schemas.microsoft.com/office/drawing/2014/main" id="{5B3E5D5F-A438-C4AA-837C-0A78B8E58BE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9444"/>
          <a:stretch/>
        </p:blipFill>
        <p:spPr>
          <a:xfrm>
            <a:off x="2118040" y="1690689"/>
            <a:ext cx="7955920" cy="4486274"/>
          </a:xfrm>
        </p:spPr>
      </p:pic>
    </p:spTree>
    <p:extLst>
      <p:ext uri="{BB962C8B-B14F-4D97-AF65-F5344CB8AC3E}">
        <p14:creationId xmlns:p14="http://schemas.microsoft.com/office/powerpoint/2010/main" val="3740476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60774-958C-1F4B-316E-65FA188FA7F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27FFC82-E50A-6ECE-894E-D8D547428F6A}"/>
              </a:ext>
            </a:extLst>
          </p:cNvPr>
          <p:cNvSpPr>
            <a:spLocks noGrp="1"/>
          </p:cNvSpPr>
          <p:nvPr>
            <p:ph type="title"/>
          </p:nvPr>
        </p:nvSpPr>
        <p:spPr>
          <a:xfrm>
            <a:off x="838200" y="168583"/>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Scoliosis: larger changes in downregulated genes</a:t>
            </a:r>
            <a:endParaRPr lang="he-IL" b="1" dirty="0">
              <a:latin typeface="Calibri" panose="020F0502020204030204" pitchFamily="34" charset="0"/>
              <a:cs typeface="Calibri" panose="020F0502020204030204" pitchFamily="34" charset="0"/>
            </a:endParaRPr>
          </a:p>
        </p:txBody>
      </p:sp>
      <p:pic>
        <p:nvPicPr>
          <p:cNvPr id="4" name="תמונה 3" descr="תמונה שמכילה טקסט, עלילה, תרשים, צילום מסך&#10;&#10;תוכן שנוצר על-ידי בינה מלאכותית עשוי להיות שגוי.">
            <a:extLst>
              <a:ext uri="{FF2B5EF4-FFF2-40B4-BE49-F238E27FC236}">
                <a16:creationId xmlns:a16="http://schemas.microsoft.com/office/drawing/2014/main" id="{2D0E4D38-FFD5-042B-4E63-8C9707CCADAE}"/>
              </a:ext>
            </a:extLst>
          </p:cNvPr>
          <p:cNvPicPr>
            <a:picLocks noChangeAspect="1"/>
          </p:cNvPicPr>
          <p:nvPr/>
        </p:nvPicPr>
        <p:blipFill>
          <a:blip r:embed="rId3">
            <a:extLst>
              <a:ext uri="{28A0092B-C50C-407E-A947-70E740481C1C}">
                <a14:useLocalDpi xmlns:a14="http://schemas.microsoft.com/office/drawing/2010/main" val="0"/>
              </a:ext>
            </a:extLst>
          </a:blip>
          <a:srcRect t="7573" b="7317"/>
          <a:stretch/>
        </p:blipFill>
        <p:spPr>
          <a:xfrm>
            <a:off x="6155852" y="2755540"/>
            <a:ext cx="5990090" cy="3058868"/>
          </a:xfrm>
          <a:prstGeom prst="rect">
            <a:avLst/>
          </a:prstGeom>
        </p:spPr>
      </p:pic>
      <p:sp>
        <p:nvSpPr>
          <p:cNvPr id="7" name="כותרת משנה 2">
            <a:extLst>
              <a:ext uri="{FF2B5EF4-FFF2-40B4-BE49-F238E27FC236}">
                <a16:creationId xmlns:a16="http://schemas.microsoft.com/office/drawing/2014/main" id="{C49D33BB-DD25-F2B9-0399-6204262C0290}"/>
              </a:ext>
            </a:extLst>
          </p:cNvPr>
          <p:cNvSpPr txBox="1">
            <a:spLocks/>
          </p:cNvSpPr>
          <p:nvPr/>
        </p:nvSpPr>
        <p:spPr>
          <a:xfrm>
            <a:off x="1614250" y="1766001"/>
            <a:ext cx="3115915" cy="675526"/>
          </a:xfrm>
          <a:prstGeom prst="rect">
            <a:avLst/>
          </a:prstGeom>
        </p:spPr>
        <p:txBody>
          <a:bodyPr vert="horz" lIns="91440" tIns="45720" rIns="91440" bIns="45720" rtlCol="1">
            <a:normAutofit fontScale="92500" lnSpcReduction="2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dirty="0">
                <a:latin typeface="Calibri" panose="020F0502020204030204" pitchFamily="34" charset="0"/>
                <a:cs typeface="Calibri" panose="020F0502020204030204" pitchFamily="34" charset="0"/>
              </a:rPr>
              <a:t>Scoliosis: </a:t>
            </a:r>
          </a:p>
          <a:p>
            <a:pPr marL="0" indent="0" algn="ctr" rtl="0">
              <a:buNone/>
            </a:pPr>
            <a:r>
              <a:rPr lang="en-US" sz="2000" dirty="0">
                <a:latin typeface="Calibri" panose="020F0502020204030204" pitchFamily="34" charset="0"/>
                <a:cs typeface="Calibri" panose="020F0502020204030204" pitchFamily="34" charset="0"/>
              </a:rPr>
              <a:t>Skeletal myocytes</a:t>
            </a:r>
            <a:endParaRPr lang="he-IL" sz="2000" dirty="0">
              <a:latin typeface="Calibri" panose="020F0502020204030204" pitchFamily="34" charset="0"/>
              <a:cs typeface="Calibri" panose="020F0502020204030204" pitchFamily="34" charset="0"/>
            </a:endParaRPr>
          </a:p>
        </p:txBody>
      </p:sp>
      <p:pic>
        <p:nvPicPr>
          <p:cNvPr id="9" name="תמונה 8" descr="תמונה שמכילה טקסט, תרשים, עלילה, צילום מסך&#10;&#10;תוכן שנוצר על-ידי בינה מלאכותית עשוי להיות שגוי.">
            <a:extLst>
              <a:ext uri="{FF2B5EF4-FFF2-40B4-BE49-F238E27FC236}">
                <a16:creationId xmlns:a16="http://schemas.microsoft.com/office/drawing/2014/main" id="{1D00F8A0-30DD-4031-F0AE-E649C61CC6F3}"/>
              </a:ext>
            </a:extLst>
          </p:cNvPr>
          <p:cNvPicPr>
            <a:picLocks noChangeAspect="1"/>
          </p:cNvPicPr>
          <p:nvPr/>
        </p:nvPicPr>
        <p:blipFill>
          <a:blip r:embed="rId4">
            <a:extLst>
              <a:ext uri="{28A0092B-C50C-407E-A947-70E740481C1C}">
                <a14:useLocalDpi xmlns:a14="http://schemas.microsoft.com/office/drawing/2010/main" val="0"/>
              </a:ext>
            </a:extLst>
          </a:blip>
          <a:srcRect t="7573" b="7317"/>
          <a:stretch/>
        </p:blipFill>
        <p:spPr>
          <a:xfrm>
            <a:off x="333812" y="2772728"/>
            <a:ext cx="5990090" cy="3058868"/>
          </a:xfrm>
          <a:prstGeom prst="rect">
            <a:avLst/>
          </a:prstGeom>
        </p:spPr>
      </p:pic>
      <p:sp>
        <p:nvSpPr>
          <p:cNvPr id="8" name="כותרת משנה 2">
            <a:extLst>
              <a:ext uri="{FF2B5EF4-FFF2-40B4-BE49-F238E27FC236}">
                <a16:creationId xmlns:a16="http://schemas.microsoft.com/office/drawing/2014/main" id="{79CC4FB9-2B51-D82B-FFE6-14485DD79110}"/>
              </a:ext>
            </a:extLst>
          </p:cNvPr>
          <p:cNvSpPr txBox="1">
            <a:spLocks/>
          </p:cNvSpPr>
          <p:nvPr/>
        </p:nvSpPr>
        <p:spPr>
          <a:xfrm>
            <a:off x="7715472" y="1766001"/>
            <a:ext cx="3115915" cy="675526"/>
          </a:xfrm>
          <a:prstGeom prst="rect">
            <a:avLst/>
          </a:prstGeom>
        </p:spPr>
        <p:txBody>
          <a:bodyPr vert="horz" lIns="91440" tIns="45720" rIns="91440" bIns="45720" rtlCol="1">
            <a:normAutofit fontScale="92500" lnSpcReduction="2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dirty="0">
                <a:latin typeface="Calibri" panose="020F0502020204030204" pitchFamily="34" charset="0"/>
                <a:cs typeface="Calibri" panose="020F0502020204030204" pitchFamily="34" charset="0"/>
              </a:rPr>
              <a:t>Scoliosis: </a:t>
            </a:r>
          </a:p>
          <a:p>
            <a:pPr marL="0" indent="0" algn="ctr" rtl="0">
              <a:buNone/>
            </a:pPr>
            <a:r>
              <a:rPr lang="en-US" sz="2000" dirty="0">
                <a:latin typeface="Calibri" panose="020F0502020204030204" pitchFamily="34" charset="0"/>
                <a:cs typeface="Calibri" panose="020F0502020204030204" pitchFamily="34" charset="0"/>
              </a:rPr>
              <a:t>Perichondral mesenchyme</a:t>
            </a:r>
            <a:endParaRPr lang="he-IL" sz="2000" dirty="0">
              <a:latin typeface="Calibri" panose="020F0502020204030204" pitchFamily="34" charset="0"/>
              <a:cs typeface="Calibri" panose="020F0502020204030204" pitchFamily="34" charset="0"/>
            </a:endParaRPr>
          </a:p>
        </p:txBody>
      </p:sp>
      <p:sp>
        <p:nvSpPr>
          <p:cNvPr id="13" name="תיבת טקסט 12">
            <a:extLst>
              <a:ext uri="{FF2B5EF4-FFF2-40B4-BE49-F238E27FC236}">
                <a16:creationId xmlns:a16="http://schemas.microsoft.com/office/drawing/2014/main" id="{BEB96380-8876-FD08-9026-B89324C18158}"/>
              </a:ext>
            </a:extLst>
          </p:cNvPr>
          <p:cNvSpPr txBox="1"/>
          <p:nvPr/>
        </p:nvSpPr>
        <p:spPr>
          <a:xfrm>
            <a:off x="2382981" y="5749636"/>
            <a:ext cx="2653146" cy="276999"/>
          </a:xfrm>
          <a:prstGeom prst="rect">
            <a:avLst/>
          </a:prstGeom>
          <a:noFill/>
        </p:spPr>
        <p:txBody>
          <a:bodyPr wrap="square" rtlCol="1">
            <a:spAutoFit/>
          </a:bodyPr>
          <a:lstStyle/>
          <a:p>
            <a:pPr algn="ctr"/>
            <a:r>
              <a:rPr lang="en-US" sz="1200" dirty="0"/>
              <a:t>Absolute log fold-change</a:t>
            </a:r>
          </a:p>
        </p:txBody>
      </p:sp>
      <p:sp>
        <p:nvSpPr>
          <p:cNvPr id="14" name="תיבת טקסט 13">
            <a:extLst>
              <a:ext uri="{FF2B5EF4-FFF2-40B4-BE49-F238E27FC236}">
                <a16:creationId xmlns:a16="http://schemas.microsoft.com/office/drawing/2014/main" id="{D18E0E9C-149C-6A21-968C-8E62927BB9B1}"/>
              </a:ext>
            </a:extLst>
          </p:cNvPr>
          <p:cNvSpPr txBox="1"/>
          <p:nvPr/>
        </p:nvSpPr>
        <p:spPr>
          <a:xfrm>
            <a:off x="8178241" y="5749635"/>
            <a:ext cx="2653146" cy="276999"/>
          </a:xfrm>
          <a:prstGeom prst="rect">
            <a:avLst/>
          </a:prstGeom>
          <a:noFill/>
        </p:spPr>
        <p:txBody>
          <a:bodyPr wrap="square" rtlCol="1">
            <a:spAutoFit/>
          </a:bodyPr>
          <a:lstStyle/>
          <a:p>
            <a:pPr algn="ctr"/>
            <a:r>
              <a:rPr lang="en-US" sz="1200" dirty="0"/>
              <a:t>Absolute log fold-change</a:t>
            </a:r>
            <a:endParaRPr lang="he-IL" sz="1200" dirty="0"/>
          </a:p>
        </p:txBody>
      </p:sp>
      <p:sp>
        <p:nvSpPr>
          <p:cNvPr id="15" name="תיבת טקסט 14">
            <a:extLst>
              <a:ext uri="{FF2B5EF4-FFF2-40B4-BE49-F238E27FC236}">
                <a16:creationId xmlns:a16="http://schemas.microsoft.com/office/drawing/2014/main" id="{D6987DFF-D395-6B19-C9FA-3C5AD44586C3}"/>
              </a:ext>
            </a:extLst>
          </p:cNvPr>
          <p:cNvSpPr txBox="1"/>
          <p:nvPr/>
        </p:nvSpPr>
        <p:spPr>
          <a:xfrm rot="16200000">
            <a:off x="-899612" y="3973419"/>
            <a:ext cx="2653146" cy="276999"/>
          </a:xfrm>
          <a:prstGeom prst="rect">
            <a:avLst/>
          </a:prstGeom>
          <a:solidFill>
            <a:schemeClr val="bg1"/>
          </a:solidFill>
        </p:spPr>
        <p:txBody>
          <a:bodyPr wrap="square" rtlCol="1">
            <a:spAutoFit/>
          </a:bodyPr>
          <a:lstStyle/>
          <a:p>
            <a:pPr algn="ctr"/>
            <a:r>
              <a:rPr lang="en-US" sz="1200" dirty="0"/>
              <a:t>Density</a:t>
            </a:r>
            <a:endParaRPr lang="he-IL" sz="1200" dirty="0"/>
          </a:p>
        </p:txBody>
      </p:sp>
      <p:sp>
        <p:nvSpPr>
          <p:cNvPr id="16" name="תיבת טקסט 15">
            <a:extLst>
              <a:ext uri="{FF2B5EF4-FFF2-40B4-BE49-F238E27FC236}">
                <a16:creationId xmlns:a16="http://schemas.microsoft.com/office/drawing/2014/main" id="{A87AA886-DFCC-64C8-7D58-6CDAD41F5131}"/>
              </a:ext>
            </a:extLst>
          </p:cNvPr>
          <p:cNvSpPr txBox="1"/>
          <p:nvPr/>
        </p:nvSpPr>
        <p:spPr>
          <a:xfrm rot="16200000">
            <a:off x="5026879" y="3973420"/>
            <a:ext cx="2653146" cy="276999"/>
          </a:xfrm>
          <a:prstGeom prst="rect">
            <a:avLst/>
          </a:prstGeom>
          <a:solidFill>
            <a:schemeClr val="bg1"/>
          </a:solidFill>
        </p:spPr>
        <p:txBody>
          <a:bodyPr wrap="square" rtlCol="1">
            <a:spAutoFit/>
          </a:bodyPr>
          <a:lstStyle/>
          <a:p>
            <a:pPr algn="ctr"/>
            <a:r>
              <a:rPr lang="en-US" sz="1200" dirty="0"/>
              <a:t>Density</a:t>
            </a:r>
            <a:endParaRPr lang="he-IL" sz="1200" dirty="0"/>
          </a:p>
        </p:txBody>
      </p:sp>
    </p:spTree>
    <p:extLst>
      <p:ext uri="{BB962C8B-B14F-4D97-AF65-F5344CB8AC3E}">
        <p14:creationId xmlns:p14="http://schemas.microsoft.com/office/powerpoint/2010/main" val="231223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3" grpId="0"/>
      <p:bldP spid="14" grpId="0"/>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30E00-D0CB-3646-D4D1-B04A475B808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3D3F8F5-186A-6761-13BA-335951760D01}"/>
              </a:ext>
            </a:extLst>
          </p:cNvPr>
          <p:cNvSpPr>
            <a:spLocks noGrp="1"/>
          </p:cNvSpPr>
          <p:nvPr>
            <p:ph type="title"/>
          </p:nvPr>
        </p:nvSpPr>
        <p:spPr>
          <a:xfrm>
            <a:off x="838200" y="112605"/>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Discussion</a:t>
            </a:r>
            <a:endParaRPr lang="he-IL" b="1" dirty="0">
              <a:latin typeface="Calibri" panose="020F0502020204030204" pitchFamily="34" charset="0"/>
              <a:cs typeface="Calibri" panose="020F0502020204030204" pitchFamily="34" charset="0"/>
            </a:endParaRPr>
          </a:p>
        </p:txBody>
      </p:sp>
      <p:grpSp>
        <p:nvGrpSpPr>
          <p:cNvPr id="1037" name="קבוצה 1036">
            <a:extLst>
              <a:ext uri="{FF2B5EF4-FFF2-40B4-BE49-F238E27FC236}">
                <a16:creationId xmlns:a16="http://schemas.microsoft.com/office/drawing/2014/main" id="{42A45C1B-ABA9-132C-09CC-A9641A7BD801}"/>
              </a:ext>
            </a:extLst>
          </p:cNvPr>
          <p:cNvGrpSpPr/>
          <p:nvPr/>
        </p:nvGrpSpPr>
        <p:grpSpPr>
          <a:xfrm>
            <a:off x="631441" y="2355925"/>
            <a:ext cx="4951777" cy="3853015"/>
            <a:chOff x="695988" y="2492958"/>
            <a:chExt cx="3932240" cy="3227940"/>
          </a:xfrm>
        </p:grpSpPr>
        <p:sp>
          <p:nvSpPr>
            <p:cNvPr id="8" name="Freeform 9">
              <a:extLst>
                <a:ext uri="{FF2B5EF4-FFF2-40B4-BE49-F238E27FC236}">
                  <a16:creationId xmlns:a16="http://schemas.microsoft.com/office/drawing/2014/main" id="{027F4B13-D51B-544C-9AF0-421E9C65295B}"/>
                </a:ext>
              </a:extLst>
            </p:cNvPr>
            <p:cNvSpPr/>
            <p:nvPr/>
          </p:nvSpPr>
          <p:spPr>
            <a:xfrm>
              <a:off x="1352459" y="3269611"/>
              <a:ext cx="2892385" cy="1341509"/>
            </a:xfrm>
            <a:custGeom>
              <a:avLst/>
              <a:gdLst>
                <a:gd name="connsiteX0" fmla="*/ 0 w 2646947"/>
                <a:gd name="connsiteY0" fmla="*/ 398234 h 1341509"/>
                <a:gd name="connsiteX1" fmla="*/ 125128 w 2646947"/>
                <a:gd name="connsiteY1" fmla="*/ 369358 h 1341509"/>
                <a:gd name="connsiteX2" fmla="*/ 182880 w 2646947"/>
                <a:gd name="connsiteY2" fmla="*/ 350107 h 1341509"/>
                <a:gd name="connsiteX3" fmla="*/ 269507 w 2646947"/>
                <a:gd name="connsiteY3" fmla="*/ 311606 h 1341509"/>
                <a:gd name="connsiteX4" fmla="*/ 433137 w 2646947"/>
                <a:gd name="connsiteY4" fmla="*/ 292356 h 1341509"/>
                <a:gd name="connsiteX5" fmla="*/ 500513 w 2646947"/>
                <a:gd name="connsiteY5" fmla="*/ 273105 h 1341509"/>
                <a:gd name="connsiteX6" fmla="*/ 577516 w 2646947"/>
                <a:gd name="connsiteY6" fmla="*/ 253855 h 1341509"/>
                <a:gd name="connsiteX7" fmla="*/ 616017 w 2646947"/>
                <a:gd name="connsiteY7" fmla="*/ 244229 h 1341509"/>
                <a:gd name="connsiteX8" fmla="*/ 644892 w 2646947"/>
                <a:gd name="connsiteY8" fmla="*/ 234604 h 1341509"/>
                <a:gd name="connsiteX9" fmla="*/ 741145 w 2646947"/>
                <a:gd name="connsiteY9" fmla="*/ 215354 h 1341509"/>
                <a:gd name="connsiteX10" fmla="*/ 827772 w 2646947"/>
                <a:gd name="connsiteY10" fmla="*/ 196103 h 1341509"/>
                <a:gd name="connsiteX11" fmla="*/ 885524 w 2646947"/>
                <a:gd name="connsiteY11" fmla="*/ 176853 h 1341509"/>
                <a:gd name="connsiteX12" fmla="*/ 914400 w 2646947"/>
                <a:gd name="connsiteY12" fmla="*/ 167227 h 1341509"/>
                <a:gd name="connsiteX13" fmla="*/ 1001027 w 2646947"/>
                <a:gd name="connsiteY13" fmla="*/ 147977 h 1341509"/>
                <a:gd name="connsiteX14" fmla="*/ 1039528 w 2646947"/>
                <a:gd name="connsiteY14" fmla="*/ 138352 h 1341509"/>
                <a:gd name="connsiteX15" fmla="*/ 1212783 w 2646947"/>
                <a:gd name="connsiteY15" fmla="*/ 99851 h 1341509"/>
                <a:gd name="connsiteX16" fmla="*/ 1386038 w 2646947"/>
                <a:gd name="connsiteY16" fmla="*/ 42099 h 1341509"/>
                <a:gd name="connsiteX17" fmla="*/ 1414913 w 2646947"/>
                <a:gd name="connsiteY17" fmla="*/ 32474 h 1341509"/>
                <a:gd name="connsiteX18" fmla="*/ 1443789 w 2646947"/>
                <a:gd name="connsiteY18" fmla="*/ 22848 h 1341509"/>
                <a:gd name="connsiteX19" fmla="*/ 1617044 w 2646947"/>
                <a:gd name="connsiteY19" fmla="*/ 13223 h 1341509"/>
                <a:gd name="connsiteX20" fmla="*/ 1771048 w 2646947"/>
                <a:gd name="connsiteY20" fmla="*/ 13223 h 1341509"/>
                <a:gd name="connsiteX21" fmla="*/ 1799924 w 2646947"/>
                <a:gd name="connsiteY21" fmla="*/ 32474 h 1341509"/>
                <a:gd name="connsiteX22" fmla="*/ 1828800 w 2646947"/>
                <a:gd name="connsiteY22" fmla="*/ 42099 h 1341509"/>
                <a:gd name="connsiteX23" fmla="*/ 1915427 w 2646947"/>
                <a:gd name="connsiteY23" fmla="*/ 109476 h 1341509"/>
                <a:gd name="connsiteX24" fmla="*/ 1934678 w 2646947"/>
                <a:gd name="connsiteY24" fmla="*/ 138352 h 1341509"/>
                <a:gd name="connsiteX25" fmla="*/ 2002054 w 2646947"/>
                <a:gd name="connsiteY25" fmla="*/ 224979 h 1341509"/>
                <a:gd name="connsiteX26" fmla="*/ 2021305 w 2646947"/>
                <a:gd name="connsiteY26" fmla="*/ 253855 h 1341509"/>
                <a:gd name="connsiteX27" fmla="*/ 2040556 w 2646947"/>
                <a:gd name="connsiteY27" fmla="*/ 311606 h 1341509"/>
                <a:gd name="connsiteX28" fmla="*/ 2050181 w 2646947"/>
                <a:gd name="connsiteY28" fmla="*/ 340482 h 1341509"/>
                <a:gd name="connsiteX29" fmla="*/ 2069431 w 2646947"/>
                <a:gd name="connsiteY29" fmla="*/ 369358 h 1341509"/>
                <a:gd name="connsiteX30" fmla="*/ 2088682 w 2646947"/>
                <a:gd name="connsiteY30" fmla="*/ 436735 h 1341509"/>
                <a:gd name="connsiteX31" fmla="*/ 2107932 w 2646947"/>
                <a:gd name="connsiteY31" fmla="*/ 475236 h 1341509"/>
                <a:gd name="connsiteX32" fmla="*/ 2117558 w 2646947"/>
                <a:gd name="connsiteY32" fmla="*/ 504112 h 1341509"/>
                <a:gd name="connsiteX33" fmla="*/ 2136808 w 2646947"/>
                <a:gd name="connsiteY33" fmla="*/ 552238 h 1341509"/>
                <a:gd name="connsiteX34" fmla="*/ 2175309 w 2646947"/>
                <a:gd name="connsiteY34" fmla="*/ 629240 h 1341509"/>
                <a:gd name="connsiteX35" fmla="*/ 2204185 w 2646947"/>
                <a:gd name="connsiteY35" fmla="*/ 696617 h 1341509"/>
                <a:gd name="connsiteX36" fmla="*/ 2233061 w 2646947"/>
                <a:gd name="connsiteY36" fmla="*/ 802495 h 1341509"/>
                <a:gd name="connsiteX37" fmla="*/ 2252311 w 2646947"/>
                <a:gd name="connsiteY37" fmla="*/ 850621 h 1341509"/>
                <a:gd name="connsiteX38" fmla="*/ 2261937 w 2646947"/>
                <a:gd name="connsiteY38" fmla="*/ 898747 h 1341509"/>
                <a:gd name="connsiteX39" fmla="*/ 2281187 w 2646947"/>
                <a:gd name="connsiteY39" fmla="*/ 946874 h 1341509"/>
                <a:gd name="connsiteX40" fmla="*/ 2290812 w 2646947"/>
                <a:gd name="connsiteY40" fmla="*/ 975749 h 1341509"/>
                <a:gd name="connsiteX41" fmla="*/ 2310063 w 2646947"/>
                <a:gd name="connsiteY41" fmla="*/ 1004625 h 1341509"/>
                <a:gd name="connsiteX42" fmla="*/ 2319688 w 2646947"/>
                <a:gd name="connsiteY42" fmla="*/ 1033501 h 1341509"/>
                <a:gd name="connsiteX43" fmla="*/ 2338939 w 2646947"/>
                <a:gd name="connsiteY43" fmla="*/ 1062377 h 1341509"/>
                <a:gd name="connsiteX44" fmla="*/ 2377440 w 2646947"/>
                <a:gd name="connsiteY44" fmla="*/ 1149004 h 1341509"/>
                <a:gd name="connsiteX45" fmla="*/ 2425566 w 2646947"/>
                <a:gd name="connsiteY45" fmla="*/ 1235632 h 1341509"/>
                <a:gd name="connsiteX46" fmla="*/ 2473692 w 2646947"/>
                <a:gd name="connsiteY46" fmla="*/ 1283758 h 1341509"/>
                <a:gd name="connsiteX47" fmla="*/ 2531444 w 2646947"/>
                <a:gd name="connsiteY47" fmla="*/ 1303008 h 1341509"/>
                <a:gd name="connsiteX48" fmla="*/ 2618071 w 2646947"/>
                <a:gd name="connsiteY48" fmla="*/ 1331884 h 1341509"/>
                <a:gd name="connsiteX49" fmla="*/ 2646947 w 2646947"/>
                <a:gd name="connsiteY49" fmla="*/ 1341509 h 134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646947" h="1341509">
                  <a:moveTo>
                    <a:pt x="0" y="398234"/>
                  </a:moveTo>
                  <a:cubicBezTo>
                    <a:pt x="87466" y="385738"/>
                    <a:pt x="45853" y="395782"/>
                    <a:pt x="125128" y="369358"/>
                  </a:cubicBezTo>
                  <a:cubicBezTo>
                    <a:pt x="125133" y="369356"/>
                    <a:pt x="182876" y="350110"/>
                    <a:pt x="182880" y="350107"/>
                  </a:cubicBezTo>
                  <a:cubicBezTo>
                    <a:pt x="212142" y="330600"/>
                    <a:pt x="229721" y="315223"/>
                    <a:pt x="269507" y="311606"/>
                  </a:cubicBezTo>
                  <a:cubicBezTo>
                    <a:pt x="343382" y="304890"/>
                    <a:pt x="368757" y="305232"/>
                    <a:pt x="433137" y="292356"/>
                  </a:cubicBezTo>
                  <a:cubicBezTo>
                    <a:pt x="493278" y="280328"/>
                    <a:pt x="450041" y="286870"/>
                    <a:pt x="500513" y="273105"/>
                  </a:cubicBezTo>
                  <a:cubicBezTo>
                    <a:pt x="526038" y="266144"/>
                    <a:pt x="551848" y="260272"/>
                    <a:pt x="577516" y="253855"/>
                  </a:cubicBezTo>
                  <a:cubicBezTo>
                    <a:pt x="590350" y="250647"/>
                    <a:pt x="603467" y="248412"/>
                    <a:pt x="616017" y="244229"/>
                  </a:cubicBezTo>
                  <a:cubicBezTo>
                    <a:pt x="625642" y="241021"/>
                    <a:pt x="635137" y="237391"/>
                    <a:pt x="644892" y="234604"/>
                  </a:cubicBezTo>
                  <a:cubicBezTo>
                    <a:pt x="689584" y="221835"/>
                    <a:pt x="689143" y="224809"/>
                    <a:pt x="741145" y="215354"/>
                  </a:cubicBezTo>
                  <a:cubicBezTo>
                    <a:pt x="764385" y="211128"/>
                    <a:pt x="804011" y="203231"/>
                    <a:pt x="827772" y="196103"/>
                  </a:cubicBezTo>
                  <a:cubicBezTo>
                    <a:pt x="847208" y="190272"/>
                    <a:pt x="866273" y="183270"/>
                    <a:pt x="885524" y="176853"/>
                  </a:cubicBezTo>
                  <a:cubicBezTo>
                    <a:pt x="895149" y="173645"/>
                    <a:pt x="904557" y="169688"/>
                    <a:pt x="914400" y="167227"/>
                  </a:cubicBezTo>
                  <a:cubicBezTo>
                    <a:pt x="1008296" y="143754"/>
                    <a:pt x="891051" y="172416"/>
                    <a:pt x="1001027" y="147977"/>
                  </a:cubicBezTo>
                  <a:cubicBezTo>
                    <a:pt x="1013941" y="145107"/>
                    <a:pt x="1026593" y="141124"/>
                    <a:pt x="1039528" y="138352"/>
                  </a:cubicBezTo>
                  <a:cubicBezTo>
                    <a:pt x="1082232" y="129201"/>
                    <a:pt x="1168316" y="114674"/>
                    <a:pt x="1212783" y="99851"/>
                  </a:cubicBezTo>
                  <a:lnTo>
                    <a:pt x="1386038" y="42099"/>
                  </a:lnTo>
                  <a:lnTo>
                    <a:pt x="1414913" y="32474"/>
                  </a:lnTo>
                  <a:cubicBezTo>
                    <a:pt x="1424538" y="29265"/>
                    <a:pt x="1433659" y="23411"/>
                    <a:pt x="1443789" y="22848"/>
                  </a:cubicBezTo>
                  <a:lnTo>
                    <a:pt x="1617044" y="13223"/>
                  </a:lnTo>
                  <a:cubicBezTo>
                    <a:pt x="1681602" y="-2916"/>
                    <a:pt x="1675726" y="-5841"/>
                    <a:pt x="1771048" y="13223"/>
                  </a:cubicBezTo>
                  <a:cubicBezTo>
                    <a:pt x="1782392" y="15492"/>
                    <a:pt x="1789577" y="27301"/>
                    <a:pt x="1799924" y="32474"/>
                  </a:cubicBezTo>
                  <a:cubicBezTo>
                    <a:pt x="1808999" y="37011"/>
                    <a:pt x="1819931" y="37172"/>
                    <a:pt x="1828800" y="42099"/>
                  </a:cubicBezTo>
                  <a:cubicBezTo>
                    <a:pt x="1862106" y="60602"/>
                    <a:pt x="1891237" y="80449"/>
                    <a:pt x="1915427" y="109476"/>
                  </a:cubicBezTo>
                  <a:cubicBezTo>
                    <a:pt x="1922833" y="118363"/>
                    <a:pt x="1927272" y="129465"/>
                    <a:pt x="1934678" y="138352"/>
                  </a:cubicBezTo>
                  <a:cubicBezTo>
                    <a:pt x="2010070" y="228822"/>
                    <a:pt x="1904744" y="79015"/>
                    <a:pt x="2002054" y="224979"/>
                  </a:cubicBezTo>
                  <a:lnTo>
                    <a:pt x="2021305" y="253855"/>
                  </a:lnTo>
                  <a:lnTo>
                    <a:pt x="2040556" y="311606"/>
                  </a:lnTo>
                  <a:cubicBezTo>
                    <a:pt x="2043764" y="321231"/>
                    <a:pt x="2044553" y="332040"/>
                    <a:pt x="2050181" y="340482"/>
                  </a:cubicBezTo>
                  <a:cubicBezTo>
                    <a:pt x="2056598" y="350107"/>
                    <a:pt x="2064258" y="359011"/>
                    <a:pt x="2069431" y="369358"/>
                  </a:cubicBezTo>
                  <a:cubicBezTo>
                    <a:pt x="2081070" y="392636"/>
                    <a:pt x="2079426" y="412052"/>
                    <a:pt x="2088682" y="436735"/>
                  </a:cubicBezTo>
                  <a:cubicBezTo>
                    <a:pt x="2093720" y="450170"/>
                    <a:pt x="2102280" y="462048"/>
                    <a:pt x="2107932" y="475236"/>
                  </a:cubicBezTo>
                  <a:cubicBezTo>
                    <a:pt x="2111929" y="484562"/>
                    <a:pt x="2113995" y="494612"/>
                    <a:pt x="2117558" y="504112"/>
                  </a:cubicBezTo>
                  <a:cubicBezTo>
                    <a:pt x="2123625" y="520290"/>
                    <a:pt x="2129568" y="536551"/>
                    <a:pt x="2136808" y="552238"/>
                  </a:cubicBezTo>
                  <a:cubicBezTo>
                    <a:pt x="2148834" y="578294"/>
                    <a:pt x="2166235" y="602016"/>
                    <a:pt x="2175309" y="629240"/>
                  </a:cubicBezTo>
                  <a:cubicBezTo>
                    <a:pt x="2189471" y="671728"/>
                    <a:pt x="2180396" y="649041"/>
                    <a:pt x="2204185" y="696617"/>
                  </a:cubicBezTo>
                  <a:cubicBezTo>
                    <a:pt x="2213852" y="744954"/>
                    <a:pt x="2213520" y="753642"/>
                    <a:pt x="2233061" y="802495"/>
                  </a:cubicBezTo>
                  <a:cubicBezTo>
                    <a:pt x="2239478" y="818537"/>
                    <a:pt x="2247346" y="834072"/>
                    <a:pt x="2252311" y="850621"/>
                  </a:cubicBezTo>
                  <a:cubicBezTo>
                    <a:pt x="2257012" y="866291"/>
                    <a:pt x="2257236" y="883077"/>
                    <a:pt x="2261937" y="898747"/>
                  </a:cubicBezTo>
                  <a:cubicBezTo>
                    <a:pt x="2266902" y="915296"/>
                    <a:pt x="2275120" y="930696"/>
                    <a:pt x="2281187" y="946874"/>
                  </a:cubicBezTo>
                  <a:cubicBezTo>
                    <a:pt x="2284749" y="956374"/>
                    <a:pt x="2286275" y="966674"/>
                    <a:pt x="2290812" y="975749"/>
                  </a:cubicBezTo>
                  <a:cubicBezTo>
                    <a:pt x="2295986" y="986096"/>
                    <a:pt x="2303646" y="995000"/>
                    <a:pt x="2310063" y="1004625"/>
                  </a:cubicBezTo>
                  <a:cubicBezTo>
                    <a:pt x="2313271" y="1014250"/>
                    <a:pt x="2315151" y="1024426"/>
                    <a:pt x="2319688" y="1033501"/>
                  </a:cubicBezTo>
                  <a:cubicBezTo>
                    <a:pt x="2324861" y="1043848"/>
                    <a:pt x="2334241" y="1051806"/>
                    <a:pt x="2338939" y="1062377"/>
                  </a:cubicBezTo>
                  <a:cubicBezTo>
                    <a:pt x="2384756" y="1165466"/>
                    <a:pt x="2333872" y="1083654"/>
                    <a:pt x="2377440" y="1149004"/>
                  </a:cubicBezTo>
                  <a:cubicBezTo>
                    <a:pt x="2394381" y="1199828"/>
                    <a:pt x="2381438" y="1169441"/>
                    <a:pt x="2425566" y="1235632"/>
                  </a:cubicBezTo>
                  <a:cubicBezTo>
                    <a:pt x="2443126" y="1261972"/>
                    <a:pt x="2443300" y="1270250"/>
                    <a:pt x="2473692" y="1283758"/>
                  </a:cubicBezTo>
                  <a:cubicBezTo>
                    <a:pt x="2492235" y="1291999"/>
                    <a:pt x="2512193" y="1296591"/>
                    <a:pt x="2531444" y="1303008"/>
                  </a:cubicBezTo>
                  <a:lnTo>
                    <a:pt x="2618071" y="1331884"/>
                  </a:lnTo>
                  <a:lnTo>
                    <a:pt x="2646947" y="134150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9" name="Oval 10">
              <a:extLst>
                <a:ext uri="{FF2B5EF4-FFF2-40B4-BE49-F238E27FC236}">
                  <a16:creationId xmlns:a16="http://schemas.microsoft.com/office/drawing/2014/main" id="{AE8B7834-7E07-80A7-C130-3004CB8C4CB5}"/>
                </a:ext>
              </a:extLst>
            </p:cNvPr>
            <p:cNvSpPr/>
            <p:nvPr/>
          </p:nvSpPr>
          <p:spPr>
            <a:xfrm>
              <a:off x="3009856" y="2913785"/>
              <a:ext cx="356135" cy="356135"/>
            </a:xfrm>
            <a:prstGeom prst="ellipse">
              <a:avLst/>
            </a:prstGeom>
            <a:solidFill>
              <a:srgbClr val="4898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10" name="Oval 11">
              <a:extLst>
                <a:ext uri="{FF2B5EF4-FFF2-40B4-BE49-F238E27FC236}">
                  <a16:creationId xmlns:a16="http://schemas.microsoft.com/office/drawing/2014/main" id="{407F7F3C-E992-7185-C89F-BE2514BA8742}"/>
                </a:ext>
              </a:extLst>
            </p:cNvPr>
            <p:cNvSpPr/>
            <p:nvPr/>
          </p:nvSpPr>
          <p:spPr>
            <a:xfrm>
              <a:off x="1448709" y="3250361"/>
              <a:ext cx="356135" cy="356135"/>
            </a:xfrm>
            <a:prstGeom prst="ellipse">
              <a:avLst/>
            </a:prstGeom>
            <a:solidFill>
              <a:srgbClr val="4898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11" name="Oval 12">
              <a:extLst>
                <a:ext uri="{FF2B5EF4-FFF2-40B4-BE49-F238E27FC236}">
                  <a16:creationId xmlns:a16="http://schemas.microsoft.com/office/drawing/2014/main" id="{D43EBC20-C036-2F0C-2AD1-50CA24DEDCB7}"/>
                </a:ext>
              </a:extLst>
            </p:cNvPr>
            <p:cNvSpPr/>
            <p:nvPr/>
          </p:nvSpPr>
          <p:spPr>
            <a:xfrm>
              <a:off x="4033094" y="4245359"/>
              <a:ext cx="356135" cy="356135"/>
            </a:xfrm>
            <a:prstGeom prst="ellipse">
              <a:avLst/>
            </a:prstGeom>
            <a:solidFill>
              <a:srgbClr val="B12E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pic>
          <p:nvPicPr>
            <p:cNvPr id="12" name="Picture 13">
              <a:extLst>
                <a:ext uri="{FF2B5EF4-FFF2-40B4-BE49-F238E27FC236}">
                  <a16:creationId xmlns:a16="http://schemas.microsoft.com/office/drawing/2014/main" id="{B51DC060-CEFF-4C0D-6AA7-D6772ACFEB77}"/>
                </a:ext>
              </a:extLst>
            </p:cNvPr>
            <p:cNvPicPr>
              <a:picLocks noChangeAspect="1"/>
            </p:cNvPicPr>
            <p:nvPr/>
          </p:nvPicPr>
          <p:blipFill>
            <a:blip r:embed="rId3">
              <a:duotone>
                <a:schemeClr val="accent3">
                  <a:shade val="45000"/>
                  <a:satMod val="135000"/>
                </a:schemeClr>
                <a:prstClr val="white"/>
              </a:duotone>
            </a:blip>
            <a:stretch>
              <a:fillRect/>
            </a:stretch>
          </p:blipFill>
          <p:spPr>
            <a:xfrm flipH="1">
              <a:off x="3032065" y="2492958"/>
              <a:ext cx="431506" cy="450268"/>
            </a:xfrm>
            <a:prstGeom prst="rect">
              <a:avLst/>
            </a:prstGeom>
          </p:spPr>
        </p:pic>
        <p:pic>
          <p:nvPicPr>
            <p:cNvPr id="13" name="Picture 14">
              <a:extLst>
                <a:ext uri="{FF2B5EF4-FFF2-40B4-BE49-F238E27FC236}">
                  <a16:creationId xmlns:a16="http://schemas.microsoft.com/office/drawing/2014/main" id="{735BF2FC-4A01-39EE-2732-B22F6AE59E16}"/>
                </a:ext>
              </a:extLst>
            </p:cNvPr>
            <p:cNvPicPr>
              <a:picLocks noChangeAspect="1"/>
            </p:cNvPicPr>
            <p:nvPr/>
          </p:nvPicPr>
          <p:blipFill>
            <a:blip r:embed="rId4">
              <a:lum bright="20000" contrast="-40000"/>
            </a:blip>
            <a:stretch>
              <a:fillRect/>
            </a:stretch>
          </p:blipFill>
          <p:spPr>
            <a:xfrm flipH="1">
              <a:off x="1404606" y="2846711"/>
              <a:ext cx="405839" cy="460790"/>
            </a:xfrm>
            <a:prstGeom prst="rect">
              <a:avLst/>
            </a:prstGeom>
          </p:spPr>
        </p:pic>
        <p:pic>
          <p:nvPicPr>
            <p:cNvPr id="14" name="Picture 15">
              <a:extLst>
                <a:ext uri="{FF2B5EF4-FFF2-40B4-BE49-F238E27FC236}">
                  <a16:creationId xmlns:a16="http://schemas.microsoft.com/office/drawing/2014/main" id="{2F52F414-A43C-1458-F3F2-E2FE45C1FCC7}"/>
                </a:ext>
              </a:extLst>
            </p:cNvPr>
            <p:cNvPicPr>
              <a:picLocks noChangeAspect="1"/>
            </p:cNvPicPr>
            <p:nvPr/>
          </p:nvPicPr>
          <p:blipFill>
            <a:blip r:embed="rId3">
              <a:duotone>
                <a:schemeClr val="accent3">
                  <a:shade val="45000"/>
                  <a:satMod val="135000"/>
                </a:schemeClr>
                <a:prstClr val="white"/>
              </a:duotone>
            </a:blip>
            <a:stretch>
              <a:fillRect/>
            </a:stretch>
          </p:blipFill>
          <p:spPr>
            <a:xfrm flipH="1">
              <a:off x="4072451" y="3816921"/>
              <a:ext cx="431506" cy="450268"/>
            </a:xfrm>
            <a:prstGeom prst="rect">
              <a:avLst/>
            </a:prstGeom>
          </p:spPr>
        </p:pic>
        <p:sp>
          <p:nvSpPr>
            <p:cNvPr id="15" name="Rectangle 19">
              <a:extLst>
                <a:ext uri="{FF2B5EF4-FFF2-40B4-BE49-F238E27FC236}">
                  <a16:creationId xmlns:a16="http://schemas.microsoft.com/office/drawing/2014/main" id="{38549BE4-B8BF-265C-5792-182D7034792F}"/>
                </a:ext>
              </a:extLst>
            </p:cNvPr>
            <p:cNvSpPr/>
            <p:nvPr/>
          </p:nvSpPr>
          <p:spPr>
            <a:xfrm>
              <a:off x="3966641" y="3589894"/>
              <a:ext cx="601447" cy="276999"/>
            </a:xfrm>
            <a:prstGeom prst="rect">
              <a:avLst/>
            </a:prstGeom>
          </p:spPr>
          <p:txBody>
            <a:bodyPr wrap="non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sz="12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Disease</a:t>
              </a:r>
            </a:p>
          </p:txBody>
        </p:sp>
        <p:grpSp>
          <p:nvGrpSpPr>
            <p:cNvPr id="16" name="Group 21">
              <a:extLst>
                <a:ext uri="{FF2B5EF4-FFF2-40B4-BE49-F238E27FC236}">
                  <a16:creationId xmlns:a16="http://schemas.microsoft.com/office/drawing/2014/main" id="{3487D7B8-5EC3-55F9-874E-C995A4C7618B}"/>
                </a:ext>
              </a:extLst>
            </p:cNvPr>
            <p:cNvGrpSpPr/>
            <p:nvPr/>
          </p:nvGrpSpPr>
          <p:grpSpPr>
            <a:xfrm>
              <a:off x="1846164" y="3044787"/>
              <a:ext cx="1124072" cy="410927"/>
              <a:chOff x="1905441" y="3332926"/>
              <a:chExt cx="1124072" cy="410927"/>
            </a:xfrm>
          </p:grpSpPr>
          <p:cxnSp>
            <p:nvCxnSpPr>
              <p:cNvPr id="1034" name="Straight Arrow Connector 17">
                <a:extLst>
                  <a:ext uri="{FF2B5EF4-FFF2-40B4-BE49-F238E27FC236}">
                    <a16:creationId xmlns:a16="http://schemas.microsoft.com/office/drawing/2014/main" id="{E9E7634C-36BB-D4DA-DBE2-DB8CB9E504F5}"/>
                  </a:ext>
                </a:extLst>
              </p:cNvPr>
              <p:cNvCxnSpPr>
                <a:cxnSpLocks/>
              </p:cNvCxnSpPr>
              <p:nvPr/>
            </p:nvCxnSpPr>
            <p:spPr>
              <a:xfrm flipV="1">
                <a:off x="1923450" y="3456303"/>
                <a:ext cx="1106063" cy="287550"/>
              </a:xfrm>
              <a:prstGeom prst="straightConnector1">
                <a:avLst/>
              </a:prstGeom>
              <a:ln>
                <a:solidFill>
                  <a:srgbClr val="4898BD"/>
                </a:solidFill>
                <a:tailEnd type="triangle"/>
              </a:ln>
            </p:spPr>
            <p:style>
              <a:lnRef idx="1">
                <a:schemeClr val="accent1"/>
              </a:lnRef>
              <a:fillRef idx="0">
                <a:schemeClr val="accent1"/>
              </a:fillRef>
              <a:effectRef idx="0">
                <a:schemeClr val="accent1"/>
              </a:effectRef>
              <a:fontRef idx="minor">
                <a:schemeClr val="tx1"/>
              </a:fontRef>
            </p:style>
          </p:cxnSp>
          <p:sp>
            <p:nvSpPr>
              <p:cNvPr id="1035" name="Rectangle 20">
                <a:extLst>
                  <a:ext uri="{FF2B5EF4-FFF2-40B4-BE49-F238E27FC236}">
                    <a16:creationId xmlns:a16="http://schemas.microsoft.com/office/drawing/2014/main" id="{78EFAA55-8E5C-74C6-FAAF-587BFA3E3FB8}"/>
                  </a:ext>
                </a:extLst>
              </p:cNvPr>
              <p:cNvSpPr/>
              <p:nvPr/>
            </p:nvSpPr>
            <p:spPr>
              <a:xfrm rot="20681911">
                <a:off x="1905441" y="3332926"/>
                <a:ext cx="1083951" cy="276999"/>
              </a:xfrm>
              <a:prstGeom prst="rect">
                <a:avLst/>
              </a:prstGeom>
            </p:spPr>
            <p:txBody>
              <a:bodyPr wrap="non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sz="1200" dirty="0">
                    <a:solidFill>
                      <a:srgbClr val="4898BD"/>
                    </a:solidFill>
                    <a:latin typeface="Avenir Next Condensed" panose="020B0506020202020204" pitchFamily="34" charset="0"/>
                    <a:ea typeface="Helvetica Neue Medium" panose="02000503000000020004" pitchFamily="2" charset="0"/>
                    <a:cs typeface="Helvetica Neue Medium" panose="02000503000000020004" pitchFamily="2" charset="0"/>
                  </a:rPr>
                  <a:t>Adaptive change</a:t>
                </a:r>
              </a:p>
            </p:txBody>
          </p:sp>
        </p:grpSp>
        <p:cxnSp>
          <p:nvCxnSpPr>
            <p:cNvPr id="17" name="Straight Arrow Connector 23">
              <a:extLst>
                <a:ext uri="{FF2B5EF4-FFF2-40B4-BE49-F238E27FC236}">
                  <a16:creationId xmlns:a16="http://schemas.microsoft.com/office/drawing/2014/main" id="{0E2E8932-340B-F21B-80B9-4061B2DAF085}"/>
                </a:ext>
              </a:extLst>
            </p:cNvPr>
            <p:cNvCxnSpPr>
              <a:cxnSpLocks/>
            </p:cNvCxnSpPr>
            <p:nvPr/>
          </p:nvCxnSpPr>
          <p:spPr>
            <a:xfrm>
              <a:off x="3595437" y="3289432"/>
              <a:ext cx="304333" cy="702652"/>
            </a:xfrm>
            <a:prstGeom prst="straightConnector1">
              <a:avLst/>
            </a:prstGeom>
            <a:ln>
              <a:solidFill>
                <a:srgbClr val="B12E31"/>
              </a:solidFill>
              <a:tailEnd type="triangle"/>
            </a:ln>
          </p:spPr>
          <p:style>
            <a:lnRef idx="1">
              <a:schemeClr val="accent1"/>
            </a:lnRef>
            <a:fillRef idx="0">
              <a:schemeClr val="accent1"/>
            </a:fillRef>
            <a:effectRef idx="0">
              <a:schemeClr val="accent1"/>
            </a:effectRef>
            <a:fontRef idx="minor">
              <a:schemeClr val="tx1"/>
            </a:fontRef>
          </p:style>
        </p:cxnSp>
        <p:grpSp>
          <p:nvGrpSpPr>
            <p:cNvPr id="18" name="Group 3">
              <a:extLst>
                <a:ext uri="{FF2B5EF4-FFF2-40B4-BE49-F238E27FC236}">
                  <a16:creationId xmlns:a16="http://schemas.microsoft.com/office/drawing/2014/main" id="{D106FB1C-014A-4BED-34B3-E55CD13E8ED2}"/>
                </a:ext>
              </a:extLst>
            </p:cNvPr>
            <p:cNvGrpSpPr/>
            <p:nvPr/>
          </p:nvGrpSpPr>
          <p:grpSpPr>
            <a:xfrm>
              <a:off x="1510486" y="4984342"/>
              <a:ext cx="335693" cy="153583"/>
              <a:chOff x="964222" y="2625872"/>
              <a:chExt cx="2041451" cy="684035"/>
            </a:xfrm>
          </p:grpSpPr>
          <p:sp>
            <p:nvSpPr>
              <p:cNvPr id="1032" name="Freeform 4">
                <a:extLst>
                  <a:ext uri="{FF2B5EF4-FFF2-40B4-BE49-F238E27FC236}">
                    <a16:creationId xmlns:a16="http://schemas.microsoft.com/office/drawing/2014/main" id="{CB96149F-E865-9015-DBD5-B40FD39DAE43}"/>
                  </a:ext>
                </a:extLst>
              </p:cNvPr>
              <p:cNvSpPr/>
              <p:nvPr/>
            </p:nvSpPr>
            <p:spPr>
              <a:xfrm>
                <a:off x="964222" y="2863339"/>
                <a:ext cx="2041451" cy="446568"/>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33" name="Freeform 5">
                <a:extLst>
                  <a:ext uri="{FF2B5EF4-FFF2-40B4-BE49-F238E27FC236}">
                    <a16:creationId xmlns:a16="http://schemas.microsoft.com/office/drawing/2014/main" id="{25A5CD62-8B08-B16D-B293-045D356EDD2A}"/>
                  </a:ext>
                </a:extLst>
              </p:cNvPr>
              <p:cNvSpPr/>
              <p:nvPr/>
            </p:nvSpPr>
            <p:spPr>
              <a:xfrm>
                <a:off x="964222" y="2625872"/>
                <a:ext cx="2041451" cy="446568"/>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dirty="0"/>
              </a:p>
            </p:txBody>
          </p:sp>
        </p:grpSp>
        <p:cxnSp>
          <p:nvCxnSpPr>
            <p:cNvPr id="19" name="Straight Arrow Connector 7">
              <a:extLst>
                <a:ext uri="{FF2B5EF4-FFF2-40B4-BE49-F238E27FC236}">
                  <a16:creationId xmlns:a16="http://schemas.microsoft.com/office/drawing/2014/main" id="{DAEC7C7A-ABE6-529A-559A-4E92340296A2}"/>
                </a:ext>
              </a:extLst>
            </p:cNvPr>
            <p:cNvCxnSpPr>
              <a:cxnSpLocks/>
            </p:cNvCxnSpPr>
            <p:nvPr/>
          </p:nvCxnSpPr>
          <p:spPr>
            <a:xfrm flipV="1">
              <a:off x="1038006" y="2617871"/>
              <a:ext cx="0" cy="2253132"/>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27">
              <a:extLst>
                <a:ext uri="{FF2B5EF4-FFF2-40B4-BE49-F238E27FC236}">
                  <a16:creationId xmlns:a16="http://schemas.microsoft.com/office/drawing/2014/main" id="{AA5750AA-F319-9F9C-77AA-D21E19C3CF71}"/>
                </a:ext>
              </a:extLst>
            </p:cNvPr>
            <p:cNvCxnSpPr>
              <a:cxnSpLocks/>
            </p:cNvCxnSpPr>
            <p:nvPr/>
          </p:nvCxnSpPr>
          <p:spPr>
            <a:xfrm>
              <a:off x="1038006" y="4871003"/>
              <a:ext cx="3590222"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1" name="Group 44">
              <a:extLst>
                <a:ext uri="{FF2B5EF4-FFF2-40B4-BE49-F238E27FC236}">
                  <a16:creationId xmlns:a16="http://schemas.microsoft.com/office/drawing/2014/main" id="{99BD29F9-A471-E244-E49B-B24DE21FC913}"/>
                </a:ext>
              </a:extLst>
            </p:cNvPr>
            <p:cNvGrpSpPr/>
            <p:nvPr/>
          </p:nvGrpSpPr>
          <p:grpSpPr>
            <a:xfrm>
              <a:off x="2920508" y="4981767"/>
              <a:ext cx="340108" cy="263510"/>
              <a:chOff x="3037536" y="4442132"/>
              <a:chExt cx="340108" cy="263510"/>
            </a:xfrm>
          </p:grpSpPr>
          <p:grpSp>
            <p:nvGrpSpPr>
              <p:cNvPr id="1025" name="Group 29">
                <a:extLst>
                  <a:ext uri="{FF2B5EF4-FFF2-40B4-BE49-F238E27FC236}">
                    <a16:creationId xmlns:a16="http://schemas.microsoft.com/office/drawing/2014/main" id="{E79D78EF-EDDE-9015-702D-B212F850D4DC}"/>
                  </a:ext>
                </a:extLst>
              </p:cNvPr>
              <p:cNvGrpSpPr/>
              <p:nvPr/>
            </p:nvGrpSpPr>
            <p:grpSpPr>
              <a:xfrm>
                <a:off x="3037536" y="4442132"/>
                <a:ext cx="335693" cy="153583"/>
                <a:chOff x="964222" y="2625878"/>
                <a:chExt cx="2041451" cy="684033"/>
              </a:xfrm>
            </p:grpSpPr>
            <p:sp>
              <p:nvSpPr>
                <p:cNvPr id="1030" name="Freeform 30">
                  <a:extLst>
                    <a:ext uri="{FF2B5EF4-FFF2-40B4-BE49-F238E27FC236}">
                      <a16:creationId xmlns:a16="http://schemas.microsoft.com/office/drawing/2014/main" id="{0549B43F-6874-5595-AB25-CBCE92612757}"/>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31" name="Freeform 31">
                  <a:extLst>
                    <a:ext uri="{FF2B5EF4-FFF2-40B4-BE49-F238E27FC236}">
                      <a16:creationId xmlns:a16="http://schemas.microsoft.com/office/drawing/2014/main" id="{78FFD6E5-5D5C-2F6C-B6F8-BA18FFC7EC32}"/>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1027" name="Group 32">
                <a:extLst>
                  <a:ext uri="{FF2B5EF4-FFF2-40B4-BE49-F238E27FC236}">
                    <a16:creationId xmlns:a16="http://schemas.microsoft.com/office/drawing/2014/main" id="{2896B75C-BE36-050B-E1A4-31099079736D}"/>
                  </a:ext>
                </a:extLst>
              </p:cNvPr>
              <p:cNvGrpSpPr/>
              <p:nvPr/>
            </p:nvGrpSpPr>
            <p:grpSpPr>
              <a:xfrm>
                <a:off x="3041951" y="4552059"/>
                <a:ext cx="335693" cy="153583"/>
                <a:chOff x="964222" y="2625878"/>
                <a:chExt cx="2041451" cy="684033"/>
              </a:xfrm>
            </p:grpSpPr>
            <p:sp>
              <p:nvSpPr>
                <p:cNvPr id="1028" name="Freeform 33">
                  <a:extLst>
                    <a:ext uri="{FF2B5EF4-FFF2-40B4-BE49-F238E27FC236}">
                      <a16:creationId xmlns:a16="http://schemas.microsoft.com/office/drawing/2014/main" id="{B7E79E32-3227-4D0B-952C-9B384709EEF4}"/>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29" name="Freeform 34">
                  <a:extLst>
                    <a:ext uri="{FF2B5EF4-FFF2-40B4-BE49-F238E27FC236}">
                      <a16:creationId xmlns:a16="http://schemas.microsoft.com/office/drawing/2014/main" id="{0C1D762F-7E06-75B1-E864-B1D5F4255563}"/>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grpSp>
          <p:nvGrpSpPr>
            <p:cNvPr id="22" name="Group 45">
              <a:extLst>
                <a:ext uri="{FF2B5EF4-FFF2-40B4-BE49-F238E27FC236}">
                  <a16:creationId xmlns:a16="http://schemas.microsoft.com/office/drawing/2014/main" id="{1CF0DCB2-3341-FE49-4553-270A4526D62C}"/>
                </a:ext>
              </a:extLst>
            </p:cNvPr>
            <p:cNvGrpSpPr/>
            <p:nvPr/>
          </p:nvGrpSpPr>
          <p:grpSpPr>
            <a:xfrm>
              <a:off x="1511096" y="4941025"/>
              <a:ext cx="2931160" cy="448413"/>
              <a:chOff x="1368243" y="4401390"/>
              <a:chExt cx="2931160" cy="448413"/>
            </a:xfrm>
          </p:grpSpPr>
          <p:grpSp>
            <p:nvGrpSpPr>
              <p:cNvPr id="24" name="Group 35">
                <a:extLst>
                  <a:ext uri="{FF2B5EF4-FFF2-40B4-BE49-F238E27FC236}">
                    <a16:creationId xmlns:a16="http://schemas.microsoft.com/office/drawing/2014/main" id="{BCE04FD5-6FD1-B01E-D73E-D6677AA10251}"/>
                  </a:ext>
                </a:extLst>
              </p:cNvPr>
              <p:cNvGrpSpPr/>
              <p:nvPr/>
            </p:nvGrpSpPr>
            <p:grpSpPr>
              <a:xfrm>
                <a:off x="3963710" y="4401390"/>
                <a:ext cx="335693" cy="153583"/>
                <a:chOff x="964222" y="2625878"/>
                <a:chExt cx="2041451" cy="684033"/>
              </a:xfrm>
            </p:grpSpPr>
            <p:sp>
              <p:nvSpPr>
                <p:cNvPr id="31" name="Freeform 36">
                  <a:extLst>
                    <a:ext uri="{FF2B5EF4-FFF2-40B4-BE49-F238E27FC236}">
                      <a16:creationId xmlns:a16="http://schemas.microsoft.com/office/drawing/2014/main" id="{1B277BD6-D433-827F-0385-DA75E956CBDF}"/>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24" name="Freeform 37">
                  <a:extLst>
                    <a:ext uri="{FF2B5EF4-FFF2-40B4-BE49-F238E27FC236}">
                      <a16:creationId xmlns:a16="http://schemas.microsoft.com/office/drawing/2014/main" id="{A704C8E0-22FC-87F3-B4FD-DDF51DD6C3CF}"/>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25" name="Group 38">
                <a:extLst>
                  <a:ext uri="{FF2B5EF4-FFF2-40B4-BE49-F238E27FC236}">
                    <a16:creationId xmlns:a16="http://schemas.microsoft.com/office/drawing/2014/main" id="{ECD8CA22-B651-0850-9026-0479F68C72B1}"/>
                  </a:ext>
                </a:extLst>
              </p:cNvPr>
              <p:cNvGrpSpPr/>
              <p:nvPr/>
            </p:nvGrpSpPr>
            <p:grpSpPr>
              <a:xfrm>
                <a:off x="1371437" y="4570670"/>
                <a:ext cx="335695" cy="153582"/>
                <a:chOff x="-14859213" y="2876247"/>
                <a:chExt cx="2041463" cy="684029"/>
              </a:xfrm>
            </p:grpSpPr>
            <p:sp>
              <p:nvSpPr>
                <p:cNvPr id="29" name="Freeform 39">
                  <a:extLst>
                    <a:ext uri="{FF2B5EF4-FFF2-40B4-BE49-F238E27FC236}">
                      <a16:creationId xmlns:a16="http://schemas.microsoft.com/office/drawing/2014/main" id="{CA802ACF-E8E8-A538-E0BF-D17A0224E67F}"/>
                    </a:ext>
                  </a:extLst>
                </p:cNvPr>
                <p:cNvSpPr/>
                <p:nvPr/>
              </p:nvSpPr>
              <p:spPr>
                <a:xfrm>
                  <a:off x="-14859199" y="3113709"/>
                  <a:ext cx="2041449"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30" name="Freeform 40">
                  <a:extLst>
                    <a:ext uri="{FF2B5EF4-FFF2-40B4-BE49-F238E27FC236}">
                      <a16:creationId xmlns:a16="http://schemas.microsoft.com/office/drawing/2014/main" id="{53A5743D-CA61-E2E7-6DEC-80E7FB67BB47}"/>
                    </a:ext>
                  </a:extLst>
                </p:cNvPr>
                <p:cNvSpPr/>
                <p:nvPr/>
              </p:nvSpPr>
              <p:spPr>
                <a:xfrm>
                  <a:off x="-14859213" y="2876247"/>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26" name="Group 41">
                <a:extLst>
                  <a:ext uri="{FF2B5EF4-FFF2-40B4-BE49-F238E27FC236}">
                    <a16:creationId xmlns:a16="http://schemas.microsoft.com/office/drawing/2014/main" id="{BA545031-BB6A-FC0A-3084-1DF0D83A5EED}"/>
                  </a:ext>
                </a:extLst>
              </p:cNvPr>
              <p:cNvGrpSpPr/>
              <p:nvPr/>
            </p:nvGrpSpPr>
            <p:grpSpPr>
              <a:xfrm>
                <a:off x="1368243" y="4696221"/>
                <a:ext cx="335694" cy="153582"/>
                <a:chOff x="-14859213" y="2876247"/>
                <a:chExt cx="2041459" cy="684029"/>
              </a:xfrm>
            </p:grpSpPr>
            <p:sp>
              <p:nvSpPr>
                <p:cNvPr id="27" name="Freeform 42">
                  <a:extLst>
                    <a:ext uri="{FF2B5EF4-FFF2-40B4-BE49-F238E27FC236}">
                      <a16:creationId xmlns:a16="http://schemas.microsoft.com/office/drawing/2014/main" id="{8BE7811B-1FB3-9DD6-2514-77B29B4CCBE2}"/>
                    </a:ext>
                  </a:extLst>
                </p:cNvPr>
                <p:cNvSpPr/>
                <p:nvPr/>
              </p:nvSpPr>
              <p:spPr>
                <a:xfrm>
                  <a:off x="-14859203" y="3113709"/>
                  <a:ext cx="2041449"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28" name="Freeform 43">
                  <a:extLst>
                    <a:ext uri="{FF2B5EF4-FFF2-40B4-BE49-F238E27FC236}">
                      <a16:creationId xmlns:a16="http://schemas.microsoft.com/office/drawing/2014/main" id="{31287F21-E80A-6EBF-B8F0-20B4D90A6014}"/>
                    </a:ext>
                  </a:extLst>
                </p:cNvPr>
                <p:cNvSpPr/>
                <p:nvPr/>
              </p:nvSpPr>
              <p:spPr>
                <a:xfrm>
                  <a:off x="-14859213" y="2876247"/>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sp>
          <p:nvSpPr>
            <p:cNvPr id="23" name="TextBox 46">
              <a:extLst>
                <a:ext uri="{FF2B5EF4-FFF2-40B4-BE49-F238E27FC236}">
                  <a16:creationId xmlns:a16="http://schemas.microsoft.com/office/drawing/2014/main" id="{C6D2840A-2E2B-F9F8-56B6-C5D6CAB35CA0}"/>
                </a:ext>
              </a:extLst>
            </p:cNvPr>
            <p:cNvSpPr txBox="1"/>
            <p:nvPr/>
          </p:nvSpPr>
          <p:spPr>
            <a:xfrm rot="16200000">
              <a:off x="12284" y="3620834"/>
              <a:ext cx="1675186" cy="307777"/>
            </a:xfrm>
            <a:prstGeom prst="rect">
              <a:avLst/>
            </a:prstGeom>
            <a:noFill/>
          </p:spPr>
          <p:txBody>
            <a:bodyPr wrap="squar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defTabSz="914400" eaLnBrk="1" latinLnBrk="0" hangingPunct="1"/>
              <a:r>
                <a:rPr lang="en-US" sz="1400" dirty="0">
                  <a:solidFill>
                    <a:schemeClr val="tx1">
                      <a:lumMod val="85000"/>
                      <a:lumOff val="1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Fitness</a:t>
              </a:r>
              <a:endParaRPr lang="en-US" sz="1100" dirty="0">
                <a:solidFill>
                  <a:schemeClr val="tx1">
                    <a:lumMod val="65000"/>
                    <a:lumOff val="3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1036" name="TextBox 28">
              <a:extLst>
                <a:ext uri="{FF2B5EF4-FFF2-40B4-BE49-F238E27FC236}">
                  <a16:creationId xmlns:a16="http://schemas.microsoft.com/office/drawing/2014/main" id="{029E95AC-ADE3-F28E-4539-FDABFA0F67DF}"/>
                </a:ext>
              </a:extLst>
            </p:cNvPr>
            <p:cNvSpPr txBox="1"/>
            <p:nvPr/>
          </p:nvSpPr>
          <p:spPr>
            <a:xfrm>
              <a:off x="1788385" y="5413121"/>
              <a:ext cx="1675186" cy="307777"/>
            </a:xfrm>
            <a:prstGeom prst="rect">
              <a:avLst/>
            </a:prstGeom>
            <a:noFill/>
          </p:spPr>
          <p:txBody>
            <a:bodyPr wrap="squar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defTabSz="914400" eaLnBrk="1" latinLnBrk="0" hangingPunct="1"/>
              <a:r>
                <a:rPr lang="en-US" sz="1400" dirty="0">
                  <a:solidFill>
                    <a:schemeClr val="tx1">
                      <a:lumMod val="85000"/>
                      <a:lumOff val="1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Gene expression</a:t>
              </a:r>
              <a:endParaRPr lang="en-US" sz="1100" dirty="0">
                <a:solidFill>
                  <a:schemeClr val="tx1">
                    <a:lumMod val="65000"/>
                    <a:lumOff val="3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sp>
        <p:nvSpPr>
          <p:cNvPr id="1039" name="כותרת משנה 2">
            <a:extLst>
              <a:ext uri="{FF2B5EF4-FFF2-40B4-BE49-F238E27FC236}">
                <a16:creationId xmlns:a16="http://schemas.microsoft.com/office/drawing/2014/main" id="{8DE84968-E6BA-FAC6-C470-4E4C4A5FAED1}"/>
              </a:ext>
            </a:extLst>
          </p:cNvPr>
          <p:cNvSpPr txBox="1">
            <a:spLocks/>
          </p:cNvSpPr>
          <p:nvPr/>
        </p:nvSpPr>
        <p:spPr>
          <a:xfrm>
            <a:off x="911172" y="1359744"/>
            <a:ext cx="3838925"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dirty="0">
                <a:latin typeface="Calibri" panose="020F0502020204030204" pitchFamily="34" charset="0"/>
                <a:cs typeface="Calibri" panose="020F0502020204030204" pitchFamily="34" charset="0"/>
              </a:rPr>
              <a:t>Cliffedge theory in scoliosis</a:t>
            </a:r>
            <a:endParaRPr lang="he-IL" sz="2000" dirty="0">
              <a:latin typeface="Calibri" panose="020F0502020204030204" pitchFamily="34" charset="0"/>
              <a:cs typeface="Calibri" panose="020F0502020204030204" pitchFamily="34" charset="0"/>
            </a:endParaRPr>
          </a:p>
        </p:txBody>
      </p:sp>
      <p:grpSp>
        <p:nvGrpSpPr>
          <p:cNvPr id="1040" name="קבוצה 1039">
            <a:extLst>
              <a:ext uri="{FF2B5EF4-FFF2-40B4-BE49-F238E27FC236}">
                <a16:creationId xmlns:a16="http://schemas.microsoft.com/office/drawing/2014/main" id="{2F003D73-098E-94CF-EB98-6E3322DB12B6}"/>
              </a:ext>
            </a:extLst>
          </p:cNvPr>
          <p:cNvGrpSpPr/>
          <p:nvPr/>
        </p:nvGrpSpPr>
        <p:grpSpPr>
          <a:xfrm>
            <a:off x="6402023" y="2456451"/>
            <a:ext cx="4951777" cy="3853015"/>
            <a:chOff x="695988" y="2492958"/>
            <a:chExt cx="3932240" cy="3227940"/>
          </a:xfrm>
        </p:grpSpPr>
        <p:sp>
          <p:nvSpPr>
            <p:cNvPr id="1041" name="Freeform 9">
              <a:extLst>
                <a:ext uri="{FF2B5EF4-FFF2-40B4-BE49-F238E27FC236}">
                  <a16:creationId xmlns:a16="http://schemas.microsoft.com/office/drawing/2014/main" id="{D62199CA-D53E-BFC9-ADE0-D7E41EBDB135}"/>
                </a:ext>
              </a:extLst>
            </p:cNvPr>
            <p:cNvSpPr/>
            <p:nvPr/>
          </p:nvSpPr>
          <p:spPr>
            <a:xfrm>
              <a:off x="1352459" y="3269611"/>
              <a:ext cx="2892385" cy="1341509"/>
            </a:xfrm>
            <a:custGeom>
              <a:avLst/>
              <a:gdLst>
                <a:gd name="connsiteX0" fmla="*/ 0 w 2646947"/>
                <a:gd name="connsiteY0" fmla="*/ 398234 h 1341509"/>
                <a:gd name="connsiteX1" fmla="*/ 125128 w 2646947"/>
                <a:gd name="connsiteY1" fmla="*/ 369358 h 1341509"/>
                <a:gd name="connsiteX2" fmla="*/ 182880 w 2646947"/>
                <a:gd name="connsiteY2" fmla="*/ 350107 h 1341509"/>
                <a:gd name="connsiteX3" fmla="*/ 269507 w 2646947"/>
                <a:gd name="connsiteY3" fmla="*/ 311606 h 1341509"/>
                <a:gd name="connsiteX4" fmla="*/ 433137 w 2646947"/>
                <a:gd name="connsiteY4" fmla="*/ 292356 h 1341509"/>
                <a:gd name="connsiteX5" fmla="*/ 500513 w 2646947"/>
                <a:gd name="connsiteY5" fmla="*/ 273105 h 1341509"/>
                <a:gd name="connsiteX6" fmla="*/ 577516 w 2646947"/>
                <a:gd name="connsiteY6" fmla="*/ 253855 h 1341509"/>
                <a:gd name="connsiteX7" fmla="*/ 616017 w 2646947"/>
                <a:gd name="connsiteY7" fmla="*/ 244229 h 1341509"/>
                <a:gd name="connsiteX8" fmla="*/ 644892 w 2646947"/>
                <a:gd name="connsiteY8" fmla="*/ 234604 h 1341509"/>
                <a:gd name="connsiteX9" fmla="*/ 741145 w 2646947"/>
                <a:gd name="connsiteY9" fmla="*/ 215354 h 1341509"/>
                <a:gd name="connsiteX10" fmla="*/ 827772 w 2646947"/>
                <a:gd name="connsiteY10" fmla="*/ 196103 h 1341509"/>
                <a:gd name="connsiteX11" fmla="*/ 885524 w 2646947"/>
                <a:gd name="connsiteY11" fmla="*/ 176853 h 1341509"/>
                <a:gd name="connsiteX12" fmla="*/ 914400 w 2646947"/>
                <a:gd name="connsiteY12" fmla="*/ 167227 h 1341509"/>
                <a:gd name="connsiteX13" fmla="*/ 1001027 w 2646947"/>
                <a:gd name="connsiteY13" fmla="*/ 147977 h 1341509"/>
                <a:gd name="connsiteX14" fmla="*/ 1039528 w 2646947"/>
                <a:gd name="connsiteY14" fmla="*/ 138352 h 1341509"/>
                <a:gd name="connsiteX15" fmla="*/ 1212783 w 2646947"/>
                <a:gd name="connsiteY15" fmla="*/ 99851 h 1341509"/>
                <a:gd name="connsiteX16" fmla="*/ 1386038 w 2646947"/>
                <a:gd name="connsiteY16" fmla="*/ 42099 h 1341509"/>
                <a:gd name="connsiteX17" fmla="*/ 1414913 w 2646947"/>
                <a:gd name="connsiteY17" fmla="*/ 32474 h 1341509"/>
                <a:gd name="connsiteX18" fmla="*/ 1443789 w 2646947"/>
                <a:gd name="connsiteY18" fmla="*/ 22848 h 1341509"/>
                <a:gd name="connsiteX19" fmla="*/ 1617044 w 2646947"/>
                <a:gd name="connsiteY19" fmla="*/ 13223 h 1341509"/>
                <a:gd name="connsiteX20" fmla="*/ 1771048 w 2646947"/>
                <a:gd name="connsiteY20" fmla="*/ 13223 h 1341509"/>
                <a:gd name="connsiteX21" fmla="*/ 1799924 w 2646947"/>
                <a:gd name="connsiteY21" fmla="*/ 32474 h 1341509"/>
                <a:gd name="connsiteX22" fmla="*/ 1828800 w 2646947"/>
                <a:gd name="connsiteY22" fmla="*/ 42099 h 1341509"/>
                <a:gd name="connsiteX23" fmla="*/ 1915427 w 2646947"/>
                <a:gd name="connsiteY23" fmla="*/ 109476 h 1341509"/>
                <a:gd name="connsiteX24" fmla="*/ 1934678 w 2646947"/>
                <a:gd name="connsiteY24" fmla="*/ 138352 h 1341509"/>
                <a:gd name="connsiteX25" fmla="*/ 2002054 w 2646947"/>
                <a:gd name="connsiteY25" fmla="*/ 224979 h 1341509"/>
                <a:gd name="connsiteX26" fmla="*/ 2021305 w 2646947"/>
                <a:gd name="connsiteY26" fmla="*/ 253855 h 1341509"/>
                <a:gd name="connsiteX27" fmla="*/ 2040556 w 2646947"/>
                <a:gd name="connsiteY27" fmla="*/ 311606 h 1341509"/>
                <a:gd name="connsiteX28" fmla="*/ 2050181 w 2646947"/>
                <a:gd name="connsiteY28" fmla="*/ 340482 h 1341509"/>
                <a:gd name="connsiteX29" fmla="*/ 2069431 w 2646947"/>
                <a:gd name="connsiteY29" fmla="*/ 369358 h 1341509"/>
                <a:gd name="connsiteX30" fmla="*/ 2088682 w 2646947"/>
                <a:gd name="connsiteY30" fmla="*/ 436735 h 1341509"/>
                <a:gd name="connsiteX31" fmla="*/ 2107932 w 2646947"/>
                <a:gd name="connsiteY31" fmla="*/ 475236 h 1341509"/>
                <a:gd name="connsiteX32" fmla="*/ 2117558 w 2646947"/>
                <a:gd name="connsiteY32" fmla="*/ 504112 h 1341509"/>
                <a:gd name="connsiteX33" fmla="*/ 2136808 w 2646947"/>
                <a:gd name="connsiteY33" fmla="*/ 552238 h 1341509"/>
                <a:gd name="connsiteX34" fmla="*/ 2175309 w 2646947"/>
                <a:gd name="connsiteY34" fmla="*/ 629240 h 1341509"/>
                <a:gd name="connsiteX35" fmla="*/ 2204185 w 2646947"/>
                <a:gd name="connsiteY35" fmla="*/ 696617 h 1341509"/>
                <a:gd name="connsiteX36" fmla="*/ 2233061 w 2646947"/>
                <a:gd name="connsiteY36" fmla="*/ 802495 h 1341509"/>
                <a:gd name="connsiteX37" fmla="*/ 2252311 w 2646947"/>
                <a:gd name="connsiteY37" fmla="*/ 850621 h 1341509"/>
                <a:gd name="connsiteX38" fmla="*/ 2261937 w 2646947"/>
                <a:gd name="connsiteY38" fmla="*/ 898747 h 1341509"/>
                <a:gd name="connsiteX39" fmla="*/ 2281187 w 2646947"/>
                <a:gd name="connsiteY39" fmla="*/ 946874 h 1341509"/>
                <a:gd name="connsiteX40" fmla="*/ 2290812 w 2646947"/>
                <a:gd name="connsiteY40" fmla="*/ 975749 h 1341509"/>
                <a:gd name="connsiteX41" fmla="*/ 2310063 w 2646947"/>
                <a:gd name="connsiteY41" fmla="*/ 1004625 h 1341509"/>
                <a:gd name="connsiteX42" fmla="*/ 2319688 w 2646947"/>
                <a:gd name="connsiteY42" fmla="*/ 1033501 h 1341509"/>
                <a:gd name="connsiteX43" fmla="*/ 2338939 w 2646947"/>
                <a:gd name="connsiteY43" fmla="*/ 1062377 h 1341509"/>
                <a:gd name="connsiteX44" fmla="*/ 2377440 w 2646947"/>
                <a:gd name="connsiteY44" fmla="*/ 1149004 h 1341509"/>
                <a:gd name="connsiteX45" fmla="*/ 2425566 w 2646947"/>
                <a:gd name="connsiteY45" fmla="*/ 1235632 h 1341509"/>
                <a:gd name="connsiteX46" fmla="*/ 2473692 w 2646947"/>
                <a:gd name="connsiteY46" fmla="*/ 1283758 h 1341509"/>
                <a:gd name="connsiteX47" fmla="*/ 2531444 w 2646947"/>
                <a:gd name="connsiteY47" fmla="*/ 1303008 h 1341509"/>
                <a:gd name="connsiteX48" fmla="*/ 2618071 w 2646947"/>
                <a:gd name="connsiteY48" fmla="*/ 1331884 h 1341509"/>
                <a:gd name="connsiteX49" fmla="*/ 2646947 w 2646947"/>
                <a:gd name="connsiteY49" fmla="*/ 1341509 h 134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646947" h="1341509">
                  <a:moveTo>
                    <a:pt x="0" y="398234"/>
                  </a:moveTo>
                  <a:cubicBezTo>
                    <a:pt x="87466" y="385738"/>
                    <a:pt x="45853" y="395782"/>
                    <a:pt x="125128" y="369358"/>
                  </a:cubicBezTo>
                  <a:cubicBezTo>
                    <a:pt x="125133" y="369356"/>
                    <a:pt x="182876" y="350110"/>
                    <a:pt x="182880" y="350107"/>
                  </a:cubicBezTo>
                  <a:cubicBezTo>
                    <a:pt x="212142" y="330600"/>
                    <a:pt x="229721" y="315223"/>
                    <a:pt x="269507" y="311606"/>
                  </a:cubicBezTo>
                  <a:cubicBezTo>
                    <a:pt x="343382" y="304890"/>
                    <a:pt x="368757" y="305232"/>
                    <a:pt x="433137" y="292356"/>
                  </a:cubicBezTo>
                  <a:cubicBezTo>
                    <a:pt x="493278" y="280328"/>
                    <a:pt x="450041" y="286870"/>
                    <a:pt x="500513" y="273105"/>
                  </a:cubicBezTo>
                  <a:cubicBezTo>
                    <a:pt x="526038" y="266144"/>
                    <a:pt x="551848" y="260272"/>
                    <a:pt x="577516" y="253855"/>
                  </a:cubicBezTo>
                  <a:cubicBezTo>
                    <a:pt x="590350" y="250647"/>
                    <a:pt x="603467" y="248412"/>
                    <a:pt x="616017" y="244229"/>
                  </a:cubicBezTo>
                  <a:cubicBezTo>
                    <a:pt x="625642" y="241021"/>
                    <a:pt x="635137" y="237391"/>
                    <a:pt x="644892" y="234604"/>
                  </a:cubicBezTo>
                  <a:cubicBezTo>
                    <a:pt x="689584" y="221835"/>
                    <a:pt x="689143" y="224809"/>
                    <a:pt x="741145" y="215354"/>
                  </a:cubicBezTo>
                  <a:cubicBezTo>
                    <a:pt x="764385" y="211128"/>
                    <a:pt x="804011" y="203231"/>
                    <a:pt x="827772" y="196103"/>
                  </a:cubicBezTo>
                  <a:cubicBezTo>
                    <a:pt x="847208" y="190272"/>
                    <a:pt x="866273" y="183270"/>
                    <a:pt x="885524" y="176853"/>
                  </a:cubicBezTo>
                  <a:cubicBezTo>
                    <a:pt x="895149" y="173645"/>
                    <a:pt x="904557" y="169688"/>
                    <a:pt x="914400" y="167227"/>
                  </a:cubicBezTo>
                  <a:cubicBezTo>
                    <a:pt x="1008296" y="143754"/>
                    <a:pt x="891051" y="172416"/>
                    <a:pt x="1001027" y="147977"/>
                  </a:cubicBezTo>
                  <a:cubicBezTo>
                    <a:pt x="1013941" y="145107"/>
                    <a:pt x="1026593" y="141124"/>
                    <a:pt x="1039528" y="138352"/>
                  </a:cubicBezTo>
                  <a:cubicBezTo>
                    <a:pt x="1082232" y="129201"/>
                    <a:pt x="1168316" y="114674"/>
                    <a:pt x="1212783" y="99851"/>
                  </a:cubicBezTo>
                  <a:lnTo>
                    <a:pt x="1386038" y="42099"/>
                  </a:lnTo>
                  <a:lnTo>
                    <a:pt x="1414913" y="32474"/>
                  </a:lnTo>
                  <a:cubicBezTo>
                    <a:pt x="1424538" y="29265"/>
                    <a:pt x="1433659" y="23411"/>
                    <a:pt x="1443789" y="22848"/>
                  </a:cubicBezTo>
                  <a:lnTo>
                    <a:pt x="1617044" y="13223"/>
                  </a:lnTo>
                  <a:cubicBezTo>
                    <a:pt x="1681602" y="-2916"/>
                    <a:pt x="1675726" y="-5841"/>
                    <a:pt x="1771048" y="13223"/>
                  </a:cubicBezTo>
                  <a:cubicBezTo>
                    <a:pt x="1782392" y="15492"/>
                    <a:pt x="1789577" y="27301"/>
                    <a:pt x="1799924" y="32474"/>
                  </a:cubicBezTo>
                  <a:cubicBezTo>
                    <a:pt x="1808999" y="37011"/>
                    <a:pt x="1819931" y="37172"/>
                    <a:pt x="1828800" y="42099"/>
                  </a:cubicBezTo>
                  <a:cubicBezTo>
                    <a:pt x="1862106" y="60602"/>
                    <a:pt x="1891237" y="80449"/>
                    <a:pt x="1915427" y="109476"/>
                  </a:cubicBezTo>
                  <a:cubicBezTo>
                    <a:pt x="1922833" y="118363"/>
                    <a:pt x="1927272" y="129465"/>
                    <a:pt x="1934678" y="138352"/>
                  </a:cubicBezTo>
                  <a:cubicBezTo>
                    <a:pt x="2010070" y="228822"/>
                    <a:pt x="1904744" y="79015"/>
                    <a:pt x="2002054" y="224979"/>
                  </a:cubicBezTo>
                  <a:lnTo>
                    <a:pt x="2021305" y="253855"/>
                  </a:lnTo>
                  <a:lnTo>
                    <a:pt x="2040556" y="311606"/>
                  </a:lnTo>
                  <a:cubicBezTo>
                    <a:pt x="2043764" y="321231"/>
                    <a:pt x="2044553" y="332040"/>
                    <a:pt x="2050181" y="340482"/>
                  </a:cubicBezTo>
                  <a:cubicBezTo>
                    <a:pt x="2056598" y="350107"/>
                    <a:pt x="2064258" y="359011"/>
                    <a:pt x="2069431" y="369358"/>
                  </a:cubicBezTo>
                  <a:cubicBezTo>
                    <a:pt x="2081070" y="392636"/>
                    <a:pt x="2079426" y="412052"/>
                    <a:pt x="2088682" y="436735"/>
                  </a:cubicBezTo>
                  <a:cubicBezTo>
                    <a:pt x="2093720" y="450170"/>
                    <a:pt x="2102280" y="462048"/>
                    <a:pt x="2107932" y="475236"/>
                  </a:cubicBezTo>
                  <a:cubicBezTo>
                    <a:pt x="2111929" y="484562"/>
                    <a:pt x="2113995" y="494612"/>
                    <a:pt x="2117558" y="504112"/>
                  </a:cubicBezTo>
                  <a:cubicBezTo>
                    <a:pt x="2123625" y="520290"/>
                    <a:pt x="2129568" y="536551"/>
                    <a:pt x="2136808" y="552238"/>
                  </a:cubicBezTo>
                  <a:cubicBezTo>
                    <a:pt x="2148834" y="578294"/>
                    <a:pt x="2166235" y="602016"/>
                    <a:pt x="2175309" y="629240"/>
                  </a:cubicBezTo>
                  <a:cubicBezTo>
                    <a:pt x="2189471" y="671728"/>
                    <a:pt x="2180396" y="649041"/>
                    <a:pt x="2204185" y="696617"/>
                  </a:cubicBezTo>
                  <a:cubicBezTo>
                    <a:pt x="2213852" y="744954"/>
                    <a:pt x="2213520" y="753642"/>
                    <a:pt x="2233061" y="802495"/>
                  </a:cubicBezTo>
                  <a:cubicBezTo>
                    <a:pt x="2239478" y="818537"/>
                    <a:pt x="2247346" y="834072"/>
                    <a:pt x="2252311" y="850621"/>
                  </a:cubicBezTo>
                  <a:cubicBezTo>
                    <a:pt x="2257012" y="866291"/>
                    <a:pt x="2257236" y="883077"/>
                    <a:pt x="2261937" y="898747"/>
                  </a:cubicBezTo>
                  <a:cubicBezTo>
                    <a:pt x="2266902" y="915296"/>
                    <a:pt x="2275120" y="930696"/>
                    <a:pt x="2281187" y="946874"/>
                  </a:cubicBezTo>
                  <a:cubicBezTo>
                    <a:pt x="2284749" y="956374"/>
                    <a:pt x="2286275" y="966674"/>
                    <a:pt x="2290812" y="975749"/>
                  </a:cubicBezTo>
                  <a:cubicBezTo>
                    <a:pt x="2295986" y="986096"/>
                    <a:pt x="2303646" y="995000"/>
                    <a:pt x="2310063" y="1004625"/>
                  </a:cubicBezTo>
                  <a:cubicBezTo>
                    <a:pt x="2313271" y="1014250"/>
                    <a:pt x="2315151" y="1024426"/>
                    <a:pt x="2319688" y="1033501"/>
                  </a:cubicBezTo>
                  <a:cubicBezTo>
                    <a:pt x="2324861" y="1043848"/>
                    <a:pt x="2334241" y="1051806"/>
                    <a:pt x="2338939" y="1062377"/>
                  </a:cubicBezTo>
                  <a:cubicBezTo>
                    <a:pt x="2384756" y="1165466"/>
                    <a:pt x="2333872" y="1083654"/>
                    <a:pt x="2377440" y="1149004"/>
                  </a:cubicBezTo>
                  <a:cubicBezTo>
                    <a:pt x="2394381" y="1199828"/>
                    <a:pt x="2381438" y="1169441"/>
                    <a:pt x="2425566" y="1235632"/>
                  </a:cubicBezTo>
                  <a:cubicBezTo>
                    <a:pt x="2443126" y="1261972"/>
                    <a:pt x="2443300" y="1270250"/>
                    <a:pt x="2473692" y="1283758"/>
                  </a:cubicBezTo>
                  <a:cubicBezTo>
                    <a:pt x="2492235" y="1291999"/>
                    <a:pt x="2512193" y="1296591"/>
                    <a:pt x="2531444" y="1303008"/>
                  </a:cubicBezTo>
                  <a:lnTo>
                    <a:pt x="2618071" y="1331884"/>
                  </a:lnTo>
                  <a:lnTo>
                    <a:pt x="2646947" y="134150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1042" name="Oval 10">
              <a:extLst>
                <a:ext uri="{FF2B5EF4-FFF2-40B4-BE49-F238E27FC236}">
                  <a16:creationId xmlns:a16="http://schemas.microsoft.com/office/drawing/2014/main" id="{F1089D31-0466-E191-7D76-C05C9FD9BC1A}"/>
                </a:ext>
              </a:extLst>
            </p:cNvPr>
            <p:cNvSpPr/>
            <p:nvPr/>
          </p:nvSpPr>
          <p:spPr>
            <a:xfrm>
              <a:off x="3009856" y="2913785"/>
              <a:ext cx="356135" cy="356135"/>
            </a:xfrm>
            <a:prstGeom prst="ellipse">
              <a:avLst/>
            </a:prstGeom>
            <a:solidFill>
              <a:srgbClr val="4898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1043" name="Oval 11">
              <a:extLst>
                <a:ext uri="{FF2B5EF4-FFF2-40B4-BE49-F238E27FC236}">
                  <a16:creationId xmlns:a16="http://schemas.microsoft.com/office/drawing/2014/main" id="{5D973F34-F0C3-BFAA-7561-927D9A0C4E8A}"/>
                </a:ext>
              </a:extLst>
            </p:cNvPr>
            <p:cNvSpPr/>
            <p:nvPr/>
          </p:nvSpPr>
          <p:spPr>
            <a:xfrm>
              <a:off x="1448709" y="3250361"/>
              <a:ext cx="356135" cy="356135"/>
            </a:xfrm>
            <a:prstGeom prst="ellipse">
              <a:avLst/>
            </a:prstGeom>
            <a:solidFill>
              <a:srgbClr val="4898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1044" name="Oval 12">
              <a:extLst>
                <a:ext uri="{FF2B5EF4-FFF2-40B4-BE49-F238E27FC236}">
                  <a16:creationId xmlns:a16="http://schemas.microsoft.com/office/drawing/2014/main" id="{92C26F5F-275C-1B5F-C921-F4568A155D5C}"/>
                </a:ext>
              </a:extLst>
            </p:cNvPr>
            <p:cNvSpPr/>
            <p:nvPr/>
          </p:nvSpPr>
          <p:spPr>
            <a:xfrm>
              <a:off x="4033094" y="4245359"/>
              <a:ext cx="356135" cy="356135"/>
            </a:xfrm>
            <a:prstGeom prst="ellipse">
              <a:avLst/>
            </a:prstGeom>
            <a:solidFill>
              <a:srgbClr val="B12E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pic>
          <p:nvPicPr>
            <p:cNvPr id="1045" name="Picture 13">
              <a:extLst>
                <a:ext uri="{FF2B5EF4-FFF2-40B4-BE49-F238E27FC236}">
                  <a16:creationId xmlns:a16="http://schemas.microsoft.com/office/drawing/2014/main" id="{A774386B-195D-BDDF-1289-7F76E7716C88}"/>
                </a:ext>
              </a:extLst>
            </p:cNvPr>
            <p:cNvPicPr>
              <a:picLocks noChangeAspect="1"/>
            </p:cNvPicPr>
            <p:nvPr/>
          </p:nvPicPr>
          <p:blipFill>
            <a:blip r:embed="rId3">
              <a:duotone>
                <a:schemeClr val="accent3">
                  <a:shade val="45000"/>
                  <a:satMod val="135000"/>
                </a:schemeClr>
                <a:prstClr val="white"/>
              </a:duotone>
            </a:blip>
            <a:stretch>
              <a:fillRect/>
            </a:stretch>
          </p:blipFill>
          <p:spPr>
            <a:xfrm flipH="1">
              <a:off x="3032065" y="2492958"/>
              <a:ext cx="431506" cy="450268"/>
            </a:xfrm>
            <a:prstGeom prst="rect">
              <a:avLst/>
            </a:prstGeom>
          </p:spPr>
        </p:pic>
        <p:pic>
          <p:nvPicPr>
            <p:cNvPr id="1046" name="Picture 14">
              <a:extLst>
                <a:ext uri="{FF2B5EF4-FFF2-40B4-BE49-F238E27FC236}">
                  <a16:creationId xmlns:a16="http://schemas.microsoft.com/office/drawing/2014/main" id="{45FA2A80-28B6-4EAB-DB19-B00042DB8A24}"/>
                </a:ext>
              </a:extLst>
            </p:cNvPr>
            <p:cNvPicPr>
              <a:picLocks noChangeAspect="1"/>
            </p:cNvPicPr>
            <p:nvPr/>
          </p:nvPicPr>
          <p:blipFill>
            <a:blip r:embed="rId4">
              <a:lum bright="20000" contrast="-40000"/>
            </a:blip>
            <a:stretch>
              <a:fillRect/>
            </a:stretch>
          </p:blipFill>
          <p:spPr>
            <a:xfrm flipH="1">
              <a:off x="1404606" y="2846711"/>
              <a:ext cx="405839" cy="460790"/>
            </a:xfrm>
            <a:prstGeom prst="rect">
              <a:avLst/>
            </a:prstGeom>
          </p:spPr>
        </p:pic>
        <p:pic>
          <p:nvPicPr>
            <p:cNvPr id="1047" name="Picture 15">
              <a:extLst>
                <a:ext uri="{FF2B5EF4-FFF2-40B4-BE49-F238E27FC236}">
                  <a16:creationId xmlns:a16="http://schemas.microsoft.com/office/drawing/2014/main" id="{B01F9BDE-947E-114D-B9E0-8027048D4578}"/>
                </a:ext>
              </a:extLst>
            </p:cNvPr>
            <p:cNvPicPr>
              <a:picLocks noChangeAspect="1"/>
            </p:cNvPicPr>
            <p:nvPr/>
          </p:nvPicPr>
          <p:blipFill>
            <a:blip r:embed="rId3">
              <a:duotone>
                <a:schemeClr val="accent3">
                  <a:shade val="45000"/>
                  <a:satMod val="135000"/>
                </a:schemeClr>
                <a:prstClr val="white"/>
              </a:duotone>
            </a:blip>
            <a:stretch>
              <a:fillRect/>
            </a:stretch>
          </p:blipFill>
          <p:spPr>
            <a:xfrm flipH="1">
              <a:off x="4072451" y="3816921"/>
              <a:ext cx="431506" cy="450268"/>
            </a:xfrm>
            <a:prstGeom prst="rect">
              <a:avLst/>
            </a:prstGeom>
          </p:spPr>
        </p:pic>
        <p:sp>
          <p:nvSpPr>
            <p:cNvPr id="1048" name="Rectangle 19">
              <a:extLst>
                <a:ext uri="{FF2B5EF4-FFF2-40B4-BE49-F238E27FC236}">
                  <a16:creationId xmlns:a16="http://schemas.microsoft.com/office/drawing/2014/main" id="{C8E66F24-B213-9C41-0944-F3D17FB6D98B}"/>
                </a:ext>
              </a:extLst>
            </p:cNvPr>
            <p:cNvSpPr/>
            <p:nvPr/>
          </p:nvSpPr>
          <p:spPr>
            <a:xfrm>
              <a:off x="3966641" y="3589894"/>
              <a:ext cx="601447" cy="276999"/>
            </a:xfrm>
            <a:prstGeom prst="rect">
              <a:avLst/>
            </a:prstGeom>
          </p:spPr>
          <p:txBody>
            <a:bodyPr wrap="non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sz="12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Disease</a:t>
              </a:r>
            </a:p>
          </p:txBody>
        </p:sp>
        <p:grpSp>
          <p:nvGrpSpPr>
            <p:cNvPr id="1049" name="Group 21">
              <a:extLst>
                <a:ext uri="{FF2B5EF4-FFF2-40B4-BE49-F238E27FC236}">
                  <a16:creationId xmlns:a16="http://schemas.microsoft.com/office/drawing/2014/main" id="{0EB748E7-76E9-E325-C664-D2E79CFF8BB5}"/>
                </a:ext>
              </a:extLst>
            </p:cNvPr>
            <p:cNvGrpSpPr/>
            <p:nvPr/>
          </p:nvGrpSpPr>
          <p:grpSpPr>
            <a:xfrm>
              <a:off x="1846164" y="3044787"/>
              <a:ext cx="1124072" cy="410927"/>
              <a:chOff x="1905441" y="3332926"/>
              <a:chExt cx="1124072" cy="410927"/>
            </a:xfrm>
          </p:grpSpPr>
          <p:cxnSp>
            <p:nvCxnSpPr>
              <p:cNvPr id="1075" name="Straight Arrow Connector 17">
                <a:extLst>
                  <a:ext uri="{FF2B5EF4-FFF2-40B4-BE49-F238E27FC236}">
                    <a16:creationId xmlns:a16="http://schemas.microsoft.com/office/drawing/2014/main" id="{36852886-12FF-FA72-20F1-34C09DCA66E7}"/>
                  </a:ext>
                </a:extLst>
              </p:cNvPr>
              <p:cNvCxnSpPr>
                <a:cxnSpLocks/>
              </p:cNvCxnSpPr>
              <p:nvPr/>
            </p:nvCxnSpPr>
            <p:spPr>
              <a:xfrm flipV="1">
                <a:off x="1923450" y="3456303"/>
                <a:ext cx="1106063" cy="287550"/>
              </a:xfrm>
              <a:prstGeom prst="straightConnector1">
                <a:avLst/>
              </a:prstGeom>
              <a:ln>
                <a:solidFill>
                  <a:srgbClr val="4898BD"/>
                </a:solidFill>
                <a:tailEnd type="triangle"/>
              </a:ln>
            </p:spPr>
            <p:style>
              <a:lnRef idx="1">
                <a:schemeClr val="accent1"/>
              </a:lnRef>
              <a:fillRef idx="0">
                <a:schemeClr val="accent1"/>
              </a:fillRef>
              <a:effectRef idx="0">
                <a:schemeClr val="accent1"/>
              </a:effectRef>
              <a:fontRef idx="minor">
                <a:schemeClr val="tx1"/>
              </a:fontRef>
            </p:style>
          </p:cxnSp>
          <p:sp>
            <p:nvSpPr>
              <p:cNvPr id="1076" name="Rectangle 20">
                <a:extLst>
                  <a:ext uri="{FF2B5EF4-FFF2-40B4-BE49-F238E27FC236}">
                    <a16:creationId xmlns:a16="http://schemas.microsoft.com/office/drawing/2014/main" id="{A634F267-C82D-EEC1-030B-F609F477CCD2}"/>
                  </a:ext>
                </a:extLst>
              </p:cNvPr>
              <p:cNvSpPr/>
              <p:nvPr/>
            </p:nvSpPr>
            <p:spPr>
              <a:xfrm rot="20681911">
                <a:off x="1905441" y="3332926"/>
                <a:ext cx="1083951" cy="276999"/>
              </a:xfrm>
              <a:prstGeom prst="rect">
                <a:avLst/>
              </a:prstGeom>
            </p:spPr>
            <p:txBody>
              <a:bodyPr wrap="non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sz="1200" dirty="0">
                    <a:solidFill>
                      <a:srgbClr val="4898BD"/>
                    </a:solidFill>
                    <a:latin typeface="Avenir Next Condensed" panose="020B0506020202020204" pitchFamily="34" charset="0"/>
                    <a:ea typeface="Helvetica Neue Medium" panose="02000503000000020004" pitchFamily="2" charset="0"/>
                    <a:cs typeface="Helvetica Neue Medium" panose="02000503000000020004" pitchFamily="2" charset="0"/>
                  </a:rPr>
                  <a:t>Adaptive change</a:t>
                </a:r>
              </a:p>
            </p:txBody>
          </p:sp>
        </p:grpSp>
        <p:cxnSp>
          <p:nvCxnSpPr>
            <p:cNvPr id="1050" name="Straight Arrow Connector 23">
              <a:extLst>
                <a:ext uri="{FF2B5EF4-FFF2-40B4-BE49-F238E27FC236}">
                  <a16:creationId xmlns:a16="http://schemas.microsoft.com/office/drawing/2014/main" id="{2AAA6BB1-E541-C217-5A7B-104C9693FECE}"/>
                </a:ext>
              </a:extLst>
            </p:cNvPr>
            <p:cNvCxnSpPr>
              <a:cxnSpLocks/>
            </p:cNvCxnSpPr>
            <p:nvPr/>
          </p:nvCxnSpPr>
          <p:spPr>
            <a:xfrm>
              <a:off x="3595437" y="3289432"/>
              <a:ext cx="304333" cy="702652"/>
            </a:xfrm>
            <a:prstGeom prst="straightConnector1">
              <a:avLst/>
            </a:prstGeom>
            <a:ln>
              <a:solidFill>
                <a:srgbClr val="B12E31"/>
              </a:solidFill>
              <a:tailEnd type="triangle"/>
            </a:ln>
          </p:spPr>
          <p:style>
            <a:lnRef idx="1">
              <a:schemeClr val="accent1"/>
            </a:lnRef>
            <a:fillRef idx="0">
              <a:schemeClr val="accent1"/>
            </a:fillRef>
            <a:effectRef idx="0">
              <a:schemeClr val="accent1"/>
            </a:effectRef>
            <a:fontRef idx="minor">
              <a:schemeClr val="tx1"/>
            </a:fontRef>
          </p:style>
        </p:cxnSp>
        <p:grpSp>
          <p:nvGrpSpPr>
            <p:cNvPr id="1051" name="Group 3">
              <a:extLst>
                <a:ext uri="{FF2B5EF4-FFF2-40B4-BE49-F238E27FC236}">
                  <a16:creationId xmlns:a16="http://schemas.microsoft.com/office/drawing/2014/main" id="{05F23C1F-D159-5FD2-4815-34B0569357C4}"/>
                </a:ext>
              </a:extLst>
            </p:cNvPr>
            <p:cNvGrpSpPr/>
            <p:nvPr/>
          </p:nvGrpSpPr>
          <p:grpSpPr>
            <a:xfrm>
              <a:off x="1510486" y="4984342"/>
              <a:ext cx="335693" cy="153583"/>
              <a:chOff x="964222" y="2625872"/>
              <a:chExt cx="2041451" cy="684035"/>
            </a:xfrm>
          </p:grpSpPr>
          <p:sp>
            <p:nvSpPr>
              <p:cNvPr id="1073" name="Freeform 4">
                <a:extLst>
                  <a:ext uri="{FF2B5EF4-FFF2-40B4-BE49-F238E27FC236}">
                    <a16:creationId xmlns:a16="http://schemas.microsoft.com/office/drawing/2014/main" id="{DF246660-051F-2C9F-7AC3-F7AF64F96B30}"/>
                  </a:ext>
                </a:extLst>
              </p:cNvPr>
              <p:cNvSpPr/>
              <p:nvPr/>
            </p:nvSpPr>
            <p:spPr>
              <a:xfrm>
                <a:off x="964222" y="2863339"/>
                <a:ext cx="2041451" cy="446568"/>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74" name="Freeform 5">
                <a:extLst>
                  <a:ext uri="{FF2B5EF4-FFF2-40B4-BE49-F238E27FC236}">
                    <a16:creationId xmlns:a16="http://schemas.microsoft.com/office/drawing/2014/main" id="{F36661C6-7B66-6386-DE95-314B09116E71}"/>
                  </a:ext>
                </a:extLst>
              </p:cNvPr>
              <p:cNvSpPr/>
              <p:nvPr/>
            </p:nvSpPr>
            <p:spPr>
              <a:xfrm>
                <a:off x="964222" y="2625872"/>
                <a:ext cx="2041451" cy="446568"/>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dirty="0"/>
              </a:p>
            </p:txBody>
          </p:sp>
        </p:grpSp>
        <p:cxnSp>
          <p:nvCxnSpPr>
            <p:cNvPr id="1052" name="Straight Arrow Connector 7">
              <a:extLst>
                <a:ext uri="{FF2B5EF4-FFF2-40B4-BE49-F238E27FC236}">
                  <a16:creationId xmlns:a16="http://schemas.microsoft.com/office/drawing/2014/main" id="{3901D441-E342-3B4A-EE0F-9C8D9FFE5379}"/>
                </a:ext>
              </a:extLst>
            </p:cNvPr>
            <p:cNvCxnSpPr>
              <a:cxnSpLocks/>
            </p:cNvCxnSpPr>
            <p:nvPr/>
          </p:nvCxnSpPr>
          <p:spPr>
            <a:xfrm flipV="1">
              <a:off x="1038006" y="2617871"/>
              <a:ext cx="0" cy="2253132"/>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3" name="Straight Arrow Connector 27">
              <a:extLst>
                <a:ext uri="{FF2B5EF4-FFF2-40B4-BE49-F238E27FC236}">
                  <a16:creationId xmlns:a16="http://schemas.microsoft.com/office/drawing/2014/main" id="{5E659E7C-E622-EE5F-821F-F475A35F8C71}"/>
                </a:ext>
              </a:extLst>
            </p:cNvPr>
            <p:cNvCxnSpPr>
              <a:cxnSpLocks/>
            </p:cNvCxnSpPr>
            <p:nvPr/>
          </p:nvCxnSpPr>
          <p:spPr>
            <a:xfrm>
              <a:off x="1038006" y="4871003"/>
              <a:ext cx="3590222"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054" name="Group 44">
              <a:extLst>
                <a:ext uri="{FF2B5EF4-FFF2-40B4-BE49-F238E27FC236}">
                  <a16:creationId xmlns:a16="http://schemas.microsoft.com/office/drawing/2014/main" id="{936112DE-0543-2508-B0C1-41C4243D877A}"/>
                </a:ext>
              </a:extLst>
            </p:cNvPr>
            <p:cNvGrpSpPr/>
            <p:nvPr/>
          </p:nvGrpSpPr>
          <p:grpSpPr>
            <a:xfrm>
              <a:off x="2920508" y="4981767"/>
              <a:ext cx="340108" cy="263510"/>
              <a:chOff x="3037536" y="4442132"/>
              <a:chExt cx="340108" cy="263510"/>
            </a:xfrm>
          </p:grpSpPr>
          <p:grpSp>
            <p:nvGrpSpPr>
              <p:cNvPr id="1067" name="Group 29">
                <a:extLst>
                  <a:ext uri="{FF2B5EF4-FFF2-40B4-BE49-F238E27FC236}">
                    <a16:creationId xmlns:a16="http://schemas.microsoft.com/office/drawing/2014/main" id="{87A5C9BF-92E7-8380-CCF5-97A4FBC7C25F}"/>
                  </a:ext>
                </a:extLst>
              </p:cNvPr>
              <p:cNvGrpSpPr/>
              <p:nvPr/>
            </p:nvGrpSpPr>
            <p:grpSpPr>
              <a:xfrm>
                <a:off x="3037536" y="4442132"/>
                <a:ext cx="335693" cy="153583"/>
                <a:chOff x="964222" y="2625878"/>
                <a:chExt cx="2041451" cy="684033"/>
              </a:xfrm>
            </p:grpSpPr>
            <p:sp>
              <p:nvSpPr>
                <p:cNvPr id="1071" name="Freeform 30">
                  <a:extLst>
                    <a:ext uri="{FF2B5EF4-FFF2-40B4-BE49-F238E27FC236}">
                      <a16:creationId xmlns:a16="http://schemas.microsoft.com/office/drawing/2014/main" id="{0B2DE4CE-3531-9171-BBAA-CA18FAB9EE01}"/>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72" name="Freeform 31">
                  <a:extLst>
                    <a:ext uri="{FF2B5EF4-FFF2-40B4-BE49-F238E27FC236}">
                      <a16:creationId xmlns:a16="http://schemas.microsoft.com/office/drawing/2014/main" id="{EDCB4D4D-55CC-E05A-98BE-1BA5721CC634}"/>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1068" name="Group 32">
                <a:extLst>
                  <a:ext uri="{FF2B5EF4-FFF2-40B4-BE49-F238E27FC236}">
                    <a16:creationId xmlns:a16="http://schemas.microsoft.com/office/drawing/2014/main" id="{ADFE499B-AD5E-23E9-5759-E981505B563B}"/>
                  </a:ext>
                </a:extLst>
              </p:cNvPr>
              <p:cNvGrpSpPr/>
              <p:nvPr/>
            </p:nvGrpSpPr>
            <p:grpSpPr>
              <a:xfrm>
                <a:off x="3041951" y="4552059"/>
                <a:ext cx="335693" cy="153583"/>
                <a:chOff x="964222" y="2625878"/>
                <a:chExt cx="2041451" cy="684033"/>
              </a:xfrm>
            </p:grpSpPr>
            <p:sp>
              <p:nvSpPr>
                <p:cNvPr id="1069" name="Freeform 33">
                  <a:extLst>
                    <a:ext uri="{FF2B5EF4-FFF2-40B4-BE49-F238E27FC236}">
                      <a16:creationId xmlns:a16="http://schemas.microsoft.com/office/drawing/2014/main" id="{4316D3C7-FDE2-602F-0CE8-2FB86E0E3378}"/>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70" name="Freeform 34">
                  <a:extLst>
                    <a:ext uri="{FF2B5EF4-FFF2-40B4-BE49-F238E27FC236}">
                      <a16:creationId xmlns:a16="http://schemas.microsoft.com/office/drawing/2014/main" id="{E29323FD-DF26-5EC8-8393-4A157DB783DF}"/>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grpSp>
          <p:nvGrpSpPr>
            <p:cNvPr id="1055" name="Group 45">
              <a:extLst>
                <a:ext uri="{FF2B5EF4-FFF2-40B4-BE49-F238E27FC236}">
                  <a16:creationId xmlns:a16="http://schemas.microsoft.com/office/drawing/2014/main" id="{27D0D9C1-EFFC-74C3-FC22-F0725BC8A180}"/>
                </a:ext>
              </a:extLst>
            </p:cNvPr>
            <p:cNvGrpSpPr/>
            <p:nvPr/>
          </p:nvGrpSpPr>
          <p:grpSpPr>
            <a:xfrm>
              <a:off x="4103365" y="4941025"/>
              <a:ext cx="338891" cy="396065"/>
              <a:chOff x="3960512" y="4401390"/>
              <a:chExt cx="338891" cy="396065"/>
            </a:xfrm>
          </p:grpSpPr>
          <p:grpSp>
            <p:nvGrpSpPr>
              <p:cNvPr id="1058" name="Group 35">
                <a:extLst>
                  <a:ext uri="{FF2B5EF4-FFF2-40B4-BE49-F238E27FC236}">
                    <a16:creationId xmlns:a16="http://schemas.microsoft.com/office/drawing/2014/main" id="{BCFCB6BA-7011-A296-822B-543A70DCA004}"/>
                  </a:ext>
                </a:extLst>
              </p:cNvPr>
              <p:cNvGrpSpPr/>
              <p:nvPr/>
            </p:nvGrpSpPr>
            <p:grpSpPr>
              <a:xfrm>
                <a:off x="3963710" y="4401390"/>
                <a:ext cx="335693" cy="153583"/>
                <a:chOff x="964222" y="2625878"/>
                <a:chExt cx="2041451" cy="684033"/>
              </a:xfrm>
            </p:grpSpPr>
            <p:sp>
              <p:nvSpPr>
                <p:cNvPr id="1065" name="Freeform 36">
                  <a:extLst>
                    <a:ext uri="{FF2B5EF4-FFF2-40B4-BE49-F238E27FC236}">
                      <a16:creationId xmlns:a16="http://schemas.microsoft.com/office/drawing/2014/main" id="{11FD63E8-3303-73F5-C01F-B80F264CE2C3}"/>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66" name="Freeform 37">
                  <a:extLst>
                    <a:ext uri="{FF2B5EF4-FFF2-40B4-BE49-F238E27FC236}">
                      <a16:creationId xmlns:a16="http://schemas.microsoft.com/office/drawing/2014/main" id="{3AEF6993-B677-5E5B-6AEF-5D2496D996A9}"/>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1059" name="Group 38">
                <a:extLst>
                  <a:ext uri="{FF2B5EF4-FFF2-40B4-BE49-F238E27FC236}">
                    <a16:creationId xmlns:a16="http://schemas.microsoft.com/office/drawing/2014/main" id="{46E8F2C5-5F31-698B-E8BA-B4E8467C6AF2}"/>
                  </a:ext>
                </a:extLst>
              </p:cNvPr>
              <p:cNvGrpSpPr/>
              <p:nvPr/>
            </p:nvGrpSpPr>
            <p:grpSpPr>
              <a:xfrm>
                <a:off x="3963707" y="4518322"/>
                <a:ext cx="335696" cy="153581"/>
                <a:chOff x="905166" y="2643086"/>
                <a:chExt cx="2041467" cy="684022"/>
              </a:xfrm>
            </p:grpSpPr>
            <p:sp>
              <p:nvSpPr>
                <p:cNvPr id="1063" name="Freeform 39">
                  <a:extLst>
                    <a:ext uri="{FF2B5EF4-FFF2-40B4-BE49-F238E27FC236}">
                      <a16:creationId xmlns:a16="http://schemas.microsoft.com/office/drawing/2014/main" id="{4E17FBCF-CC21-134C-D2F4-8F3E89EC3869}"/>
                    </a:ext>
                  </a:extLst>
                </p:cNvPr>
                <p:cNvSpPr/>
                <p:nvPr/>
              </p:nvSpPr>
              <p:spPr>
                <a:xfrm>
                  <a:off x="905184" y="2880541"/>
                  <a:ext cx="2041449"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64" name="Freeform 40">
                  <a:extLst>
                    <a:ext uri="{FF2B5EF4-FFF2-40B4-BE49-F238E27FC236}">
                      <a16:creationId xmlns:a16="http://schemas.microsoft.com/office/drawing/2014/main" id="{4070FAF9-B644-15A5-D852-3F1128D7AFD6}"/>
                    </a:ext>
                  </a:extLst>
                </p:cNvPr>
                <p:cNvSpPr/>
                <p:nvPr/>
              </p:nvSpPr>
              <p:spPr>
                <a:xfrm>
                  <a:off x="905166" y="2643086"/>
                  <a:ext cx="2041453" cy="446565"/>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1060" name="Group 41">
                <a:extLst>
                  <a:ext uri="{FF2B5EF4-FFF2-40B4-BE49-F238E27FC236}">
                    <a16:creationId xmlns:a16="http://schemas.microsoft.com/office/drawing/2014/main" id="{48539139-25C1-8ED4-456D-5BDB0084FFCA}"/>
                  </a:ext>
                </a:extLst>
              </p:cNvPr>
              <p:cNvGrpSpPr/>
              <p:nvPr/>
            </p:nvGrpSpPr>
            <p:grpSpPr>
              <a:xfrm>
                <a:off x="3960512" y="4643873"/>
                <a:ext cx="335696" cy="153582"/>
                <a:chOff x="905172" y="2643086"/>
                <a:chExt cx="2041469" cy="684026"/>
              </a:xfrm>
            </p:grpSpPr>
            <p:sp>
              <p:nvSpPr>
                <p:cNvPr id="1061" name="Freeform 42">
                  <a:extLst>
                    <a:ext uri="{FF2B5EF4-FFF2-40B4-BE49-F238E27FC236}">
                      <a16:creationId xmlns:a16="http://schemas.microsoft.com/office/drawing/2014/main" id="{AE2C8C16-A481-5015-2D10-7C87A1003540}"/>
                    </a:ext>
                  </a:extLst>
                </p:cNvPr>
                <p:cNvSpPr/>
                <p:nvPr/>
              </p:nvSpPr>
              <p:spPr>
                <a:xfrm>
                  <a:off x="905194" y="2880545"/>
                  <a:ext cx="2041447"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62" name="Freeform 43">
                  <a:extLst>
                    <a:ext uri="{FF2B5EF4-FFF2-40B4-BE49-F238E27FC236}">
                      <a16:creationId xmlns:a16="http://schemas.microsoft.com/office/drawing/2014/main" id="{3872D219-2CE1-1106-7ED7-05D9E3CD9720}"/>
                    </a:ext>
                  </a:extLst>
                </p:cNvPr>
                <p:cNvSpPr/>
                <p:nvPr/>
              </p:nvSpPr>
              <p:spPr>
                <a:xfrm>
                  <a:off x="905172" y="2643086"/>
                  <a:ext cx="2041449" cy="446565"/>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sp>
          <p:nvSpPr>
            <p:cNvPr id="1056" name="TextBox 46">
              <a:extLst>
                <a:ext uri="{FF2B5EF4-FFF2-40B4-BE49-F238E27FC236}">
                  <a16:creationId xmlns:a16="http://schemas.microsoft.com/office/drawing/2014/main" id="{C7C9D5D6-3455-B71A-26DC-222900E56862}"/>
                </a:ext>
              </a:extLst>
            </p:cNvPr>
            <p:cNvSpPr txBox="1"/>
            <p:nvPr/>
          </p:nvSpPr>
          <p:spPr>
            <a:xfrm rot="16200000">
              <a:off x="12284" y="3620834"/>
              <a:ext cx="1675186" cy="307777"/>
            </a:xfrm>
            <a:prstGeom prst="rect">
              <a:avLst/>
            </a:prstGeom>
            <a:noFill/>
          </p:spPr>
          <p:txBody>
            <a:bodyPr wrap="squar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defTabSz="914400" eaLnBrk="1" latinLnBrk="0" hangingPunct="1"/>
              <a:r>
                <a:rPr lang="en-US" sz="1400" dirty="0">
                  <a:solidFill>
                    <a:schemeClr val="tx1">
                      <a:lumMod val="85000"/>
                      <a:lumOff val="1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Fitness</a:t>
              </a:r>
              <a:endParaRPr lang="en-US" sz="1100" dirty="0">
                <a:solidFill>
                  <a:schemeClr val="tx1">
                    <a:lumMod val="65000"/>
                    <a:lumOff val="3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1057" name="TextBox 28">
              <a:extLst>
                <a:ext uri="{FF2B5EF4-FFF2-40B4-BE49-F238E27FC236}">
                  <a16:creationId xmlns:a16="http://schemas.microsoft.com/office/drawing/2014/main" id="{EBF96B84-503C-8129-ED9C-EA87BA8DE3FE}"/>
                </a:ext>
              </a:extLst>
            </p:cNvPr>
            <p:cNvSpPr txBox="1"/>
            <p:nvPr/>
          </p:nvSpPr>
          <p:spPr>
            <a:xfrm>
              <a:off x="1788385" y="5413121"/>
              <a:ext cx="1675186" cy="307777"/>
            </a:xfrm>
            <a:prstGeom prst="rect">
              <a:avLst/>
            </a:prstGeom>
            <a:noFill/>
          </p:spPr>
          <p:txBody>
            <a:bodyPr wrap="squar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defTabSz="914400" eaLnBrk="1" latinLnBrk="0" hangingPunct="1"/>
              <a:r>
                <a:rPr lang="en-US" sz="1400" dirty="0">
                  <a:solidFill>
                    <a:schemeClr val="tx1">
                      <a:lumMod val="85000"/>
                      <a:lumOff val="1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Gene expression</a:t>
              </a:r>
              <a:endParaRPr lang="en-US" sz="1100" dirty="0">
                <a:solidFill>
                  <a:schemeClr val="tx1">
                    <a:lumMod val="65000"/>
                    <a:lumOff val="3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sp>
        <p:nvSpPr>
          <p:cNvPr id="1078" name="כותרת משנה 2">
            <a:extLst>
              <a:ext uri="{FF2B5EF4-FFF2-40B4-BE49-F238E27FC236}">
                <a16:creationId xmlns:a16="http://schemas.microsoft.com/office/drawing/2014/main" id="{0FAF7BC5-B8F2-18FE-8F80-7CFBE5031805}"/>
              </a:ext>
            </a:extLst>
          </p:cNvPr>
          <p:cNvSpPr txBox="1">
            <a:spLocks/>
          </p:cNvSpPr>
          <p:nvPr/>
        </p:nvSpPr>
        <p:spPr>
          <a:xfrm>
            <a:off x="6681754" y="1460270"/>
            <a:ext cx="4515554"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dirty="0">
                <a:latin typeface="Calibri" panose="020F0502020204030204" pitchFamily="34" charset="0"/>
                <a:cs typeface="Calibri" panose="020F0502020204030204" pitchFamily="34" charset="0"/>
              </a:rPr>
              <a:t>Cliffedge theory in schizophrenia</a:t>
            </a:r>
            <a:endParaRPr lang="he-IL" sz="2000" dirty="0">
              <a:latin typeface="Calibri" panose="020F0502020204030204" pitchFamily="34" charset="0"/>
              <a:cs typeface="Calibri" panose="020F0502020204030204" pitchFamily="34" charset="0"/>
            </a:endParaRPr>
          </a:p>
        </p:txBody>
      </p:sp>
      <p:pic>
        <p:nvPicPr>
          <p:cNvPr id="3" name="מציין מיקום תוכן 5" descr="תמונה שמכילה טקסט, תרשים, קו, עלילה&#10;&#10;תוכן שנוצר על-ידי בינה מלאכותית עשוי להיות שגוי.">
            <a:extLst>
              <a:ext uri="{FF2B5EF4-FFF2-40B4-BE49-F238E27FC236}">
                <a16:creationId xmlns:a16="http://schemas.microsoft.com/office/drawing/2014/main" id="{9C65C91F-0579-36C3-C305-8961FE348510}"/>
              </a:ext>
            </a:extLst>
          </p:cNvPr>
          <p:cNvPicPr>
            <a:picLocks noChangeAspect="1"/>
          </p:cNvPicPr>
          <p:nvPr/>
        </p:nvPicPr>
        <p:blipFill>
          <a:blip r:embed="rId5">
            <a:extLst>
              <a:ext uri="{28A0092B-C50C-407E-A947-70E740481C1C}">
                <a14:useLocalDpi xmlns:a14="http://schemas.microsoft.com/office/drawing/2010/main" val="0"/>
              </a:ext>
            </a:extLst>
          </a:blip>
          <a:srcRect t="19926"/>
          <a:stretch/>
        </p:blipFill>
        <p:spPr>
          <a:xfrm>
            <a:off x="7853817" y="1932977"/>
            <a:ext cx="1462005" cy="819478"/>
          </a:xfrm>
          <a:prstGeom prst="rect">
            <a:avLst/>
          </a:prstGeom>
        </p:spPr>
      </p:pic>
      <p:pic>
        <p:nvPicPr>
          <p:cNvPr id="6" name="תמונה 5" descr="תמונה שמכילה טקסט, עלילה, תרשים, צילום מסך&#10;&#10;תוכן שנוצר על-ידי בינה מלאכותית עשוי להיות שגוי.">
            <a:extLst>
              <a:ext uri="{FF2B5EF4-FFF2-40B4-BE49-F238E27FC236}">
                <a16:creationId xmlns:a16="http://schemas.microsoft.com/office/drawing/2014/main" id="{5F5B9DD3-9F01-21ED-CE4F-75699AE77881}"/>
              </a:ext>
            </a:extLst>
          </p:cNvPr>
          <p:cNvPicPr>
            <a:picLocks noChangeAspect="1"/>
          </p:cNvPicPr>
          <p:nvPr/>
        </p:nvPicPr>
        <p:blipFill>
          <a:blip r:embed="rId6">
            <a:extLst>
              <a:ext uri="{28A0092B-C50C-407E-A947-70E740481C1C}">
                <a14:useLocalDpi xmlns:a14="http://schemas.microsoft.com/office/drawing/2010/main" val="0"/>
              </a:ext>
            </a:extLst>
          </a:blip>
          <a:srcRect t="7573" b="7317"/>
          <a:stretch/>
        </p:blipFill>
        <p:spPr>
          <a:xfrm>
            <a:off x="1785600" y="1846663"/>
            <a:ext cx="1647127" cy="841113"/>
          </a:xfrm>
          <a:prstGeom prst="rect">
            <a:avLst/>
          </a:prstGeom>
        </p:spPr>
      </p:pic>
    </p:spTree>
    <p:extLst>
      <p:ext uri="{BB962C8B-B14F-4D97-AF65-F5344CB8AC3E}">
        <p14:creationId xmlns:p14="http://schemas.microsoft.com/office/powerpoint/2010/main" val="168964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7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 grpId="0"/>
      <p:bldP spid="107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5978A-BD54-489B-8D07-AB54F92CBFF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1C842496-9895-827A-A6AC-B388E0EF8285}"/>
              </a:ext>
            </a:extLst>
          </p:cNvPr>
          <p:cNvSpPr>
            <a:spLocks noGrp="1"/>
          </p:cNvSpPr>
          <p:nvPr>
            <p:ph type="title"/>
          </p:nvPr>
        </p:nvSpPr>
        <p:spPr>
          <a:xfrm>
            <a:off x="838200" y="212611"/>
            <a:ext cx="10515600" cy="1325563"/>
          </a:xfrm>
        </p:spPr>
        <p:txBody>
          <a:bodyPr>
            <a:normAutofit/>
          </a:bodyPr>
          <a:lstStyle/>
          <a:p>
            <a:pPr algn="ctr" rtl="0"/>
            <a:r>
              <a:rPr lang="en-US" b="1" dirty="0">
                <a:solidFill>
                  <a:srgbClr val="0070C0"/>
                </a:solidFill>
                <a:latin typeface="Calibri" panose="020F0502020204030204" pitchFamily="34" charset="0"/>
                <a:ea typeface="+mn-ea"/>
                <a:cs typeface="Calibri" panose="020F0502020204030204" pitchFamily="34" charset="0"/>
              </a:rPr>
              <a:t>To be continued: Future directions</a:t>
            </a:r>
            <a:endParaRPr lang="he-IL" b="1" dirty="0">
              <a:latin typeface="Calibri" panose="020F0502020204030204" pitchFamily="34" charset="0"/>
              <a:cs typeface="Calibri" panose="020F0502020204030204" pitchFamily="34" charset="0"/>
            </a:endParaRPr>
          </a:p>
        </p:txBody>
      </p:sp>
      <p:sp>
        <p:nvSpPr>
          <p:cNvPr id="3" name="מציין מיקום תוכן 2">
            <a:extLst>
              <a:ext uri="{FF2B5EF4-FFF2-40B4-BE49-F238E27FC236}">
                <a16:creationId xmlns:a16="http://schemas.microsoft.com/office/drawing/2014/main" id="{11B82077-B3E9-D58F-FB9E-6FE7FB0196A5}"/>
              </a:ext>
            </a:extLst>
          </p:cNvPr>
          <p:cNvSpPr>
            <a:spLocks noGrp="1"/>
          </p:cNvSpPr>
          <p:nvPr>
            <p:ph idx="1"/>
          </p:nvPr>
        </p:nvSpPr>
        <p:spPr>
          <a:xfrm>
            <a:off x="1094698" y="1720272"/>
            <a:ext cx="9965188" cy="4351338"/>
          </a:xfrm>
        </p:spPr>
        <p:txBody>
          <a:bodyPr>
            <a:normAutofit/>
          </a:bodyPr>
          <a:lstStyle/>
          <a:p>
            <a:pPr algn="l" rtl="0"/>
            <a:r>
              <a:rPr lang="en-US" dirty="0">
                <a:latin typeface="Calibri" panose="020F0502020204030204" pitchFamily="34" charset="0"/>
                <a:cs typeface="Calibri" panose="020F0502020204030204" pitchFamily="34" charset="0"/>
              </a:rPr>
              <a:t>Understand disease mechanisms: look into the function of differentially expressed disease-related genes</a:t>
            </a:r>
          </a:p>
          <a:p>
            <a:pPr marL="0" indent="0" algn="l" rtl="0">
              <a:buNone/>
            </a:pPr>
            <a:endParaRPr lang="en-US" dirty="0">
              <a:latin typeface="Calibri" panose="020F0502020204030204" pitchFamily="34" charset="0"/>
              <a:cs typeface="Calibri" panose="020F0502020204030204" pitchFamily="34" charset="0"/>
            </a:endParaRPr>
          </a:p>
          <a:p>
            <a:pPr algn="l" rtl="0"/>
            <a:r>
              <a:rPr lang="en-US" dirty="0">
                <a:latin typeface="Calibri" panose="020F0502020204030204" pitchFamily="34" charset="0"/>
                <a:cs typeface="Calibri" panose="020F0502020204030204" pitchFamily="34" charset="0"/>
              </a:rPr>
              <a:t>Look for the tradeoff: what was the adaptive change?</a:t>
            </a:r>
          </a:p>
          <a:p>
            <a:pPr algn="l" rtl="0"/>
            <a:endParaRPr lang="en-US" dirty="0">
              <a:latin typeface="Calibri" panose="020F0502020204030204" pitchFamily="34" charset="0"/>
              <a:cs typeface="Calibri" panose="020F0502020204030204" pitchFamily="34" charset="0"/>
            </a:endParaRPr>
          </a:p>
          <a:p>
            <a:pPr algn="l" rtl="0"/>
            <a:r>
              <a:rPr lang="en-US" dirty="0">
                <a:latin typeface="Calibri" panose="020F0502020204030204" pitchFamily="34" charset="0"/>
                <a:cs typeface="Calibri" panose="020F0502020204030204" pitchFamily="34" charset="0"/>
              </a:rPr>
              <a:t>Are these evolutionary patterns conserved? Look for similar patterns in other organisms</a:t>
            </a:r>
          </a:p>
          <a:p>
            <a:pPr algn="l" rtl="0"/>
            <a:endParaRPr lang="en-US" dirty="0">
              <a:latin typeface="Calibri" panose="020F0502020204030204" pitchFamily="34" charset="0"/>
              <a:cs typeface="Calibri" panose="020F0502020204030204" pitchFamily="34" charset="0"/>
            </a:endParaRPr>
          </a:p>
        </p:txBody>
      </p:sp>
      <p:pic>
        <p:nvPicPr>
          <p:cNvPr id="3074" name="Picture 2" descr="‪441,900+ Person Shadow Stock Photos, Pictures &amp; Royalty-Free Images -  iStock | Person shadow on wall, Business person shadow, Person shadow from  above‬‏">
            <a:extLst>
              <a:ext uri="{FF2B5EF4-FFF2-40B4-BE49-F238E27FC236}">
                <a16:creationId xmlns:a16="http://schemas.microsoft.com/office/drawing/2014/main" id="{EA08C125-4B75-929A-BFB6-77E94B6935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57" y="1690688"/>
            <a:ext cx="893433" cy="89343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441,900+ Person Shadow Stock Photos, Pictures &amp; Royalty-Free Images -  iStock | Person shadow on wall, Business person shadow, Person shadow from  above‬‏">
            <a:extLst>
              <a:ext uri="{FF2B5EF4-FFF2-40B4-BE49-F238E27FC236}">
                <a16:creationId xmlns:a16="http://schemas.microsoft.com/office/drawing/2014/main" id="{7989B5DA-6C6C-1BCC-9ECE-8B3089735A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069" y="3016251"/>
            <a:ext cx="893433" cy="89343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441,900+ Person Shadow Stock Photos, Pictures &amp; Royalty-Free Images -  iStock | Person shadow on wall, Business person shadow, Person shadow from  above‬‏">
            <a:extLst>
              <a:ext uri="{FF2B5EF4-FFF2-40B4-BE49-F238E27FC236}">
                <a16:creationId xmlns:a16="http://schemas.microsoft.com/office/drawing/2014/main" id="{4EB7492B-6193-8A88-C005-557B9923D1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068" y="4273879"/>
            <a:ext cx="893433" cy="893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6847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5964CBE2-084A-47DF-A704-CF5F6217B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מלבן 2">
            <a:extLst>
              <a:ext uri="{FF2B5EF4-FFF2-40B4-BE49-F238E27FC236}">
                <a16:creationId xmlns:a16="http://schemas.microsoft.com/office/drawing/2014/main" id="{54E37224-50DC-881A-EA88-5598FAB839C4}"/>
              </a:ext>
            </a:extLst>
          </p:cNvPr>
          <p:cNvSpPr/>
          <p:nvPr/>
        </p:nvSpPr>
        <p:spPr>
          <a:xfrm>
            <a:off x="838199" y="1174819"/>
            <a:ext cx="4826795" cy="2858363"/>
          </a:xfrm>
          <a:prstGeom prst="rect">
            <a:avLst/>
          </a:prstGeom>
        </p:spPr>
        <p:txBody>
          <a:bodyPr lIns="91440" tIns="45720" rIns="91440" bIns="45720">
            <a:normAutofit/>
          </a:bodyPr>
          <a:lstStyle/>
          <a:p>
            <a:pPr algn="l">
              <a:spcAft>
                <a:spcPts val="600"/>
              </a:spcAft>
            </a:pPr>
            <a:r>
              <a:rPr lang="en-US" sz="7200" b="1" cap="none" spc="50" dirty="0">
                <a:ln w="9525" cmpd="sng">
                  <a:solidFill>
                    <a:schemeClr val="accent1"/>
                  </a:solidFill>
                  <a:prstDash val="solid"/>
                </a:ln>
                <a:solidFill>
                  <a:schemeClr val="bg1"/>
                </a:solidFill>
                <a:effectLst>
                  <a:glow rad="38100">
                    <a:schemeClr val="accent1">
                      <a:alpha val="40000"/>
                    </a:schemeClr>
                  </a:glow>
                </a:effectLst>
                <a:latin typeface="Calibri" panose="020F0502020204030204" pitchFamily="34" charset="0"/>
                <a:cs typeface="Calibri" panose="020F0502020204030204" pitchFamily="34" charset="0"/>
              </a:rPr>
              <a:t>Thanks for listening!</a:t>
            </a:r>
            <a:endParaRPr lang="he-IL" sz="7200" b="1" cap="none" spc="50" dirty="0">
              <a:ln w="9525" cmpd="sng">
                <a:solidFill>
                  <a:schemeClr val="accent1"/>
                </a:solidFill>
                <a:prstDash val="solid"/>
              </a:ln>
              <a:solidFill>
                <a:schemeClr val="bg1"/>
              </a:solidFill>
              <a:effectLst>
                <a:glow rad="38100">
                  <a:schemeClr val="accent1">
                    <a:alpha val="40000"/>
                  </a:schemeClr>
                </a:glow>
              </a:effectLst>
              <a:latin typeface="Calibri" panose="020F0502020204030204" pitchFamily="34" charset="0"/>
              <a:cs typeface="Calibri" panose="020F0502020204030204" pitchFamily="34" charset="0"/>
            </a:endParaRPr>
          </a:p>
        </p:txBody>
      </p:sp>
      <p:pic>
        <p:nvPicPr>
          <p:cNvPr id="3074" name="Picture 2" descr="‪The chimpanzee who sees sounds | Nature‬‏">
            <a:extLst>
              <a:ext uri="{FF2B5EF4-FFF2-40B4-BE49-F238E27FC236}">
                <a16:creationId xmlns:a16="http://schemas.microsoft.com/office/drawing/2014/main" id="{EDDD4C1D-1687-CB09-3260-61A9674BFE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079" r="10555" b="2"/>
          <a:stretch>
            <a:fillRect/>
          </a:stretch>
        </p:blipFill>
        <p:spPr bwMode="auto">
          <a:xfrm>
            <a:off x="6096000" y="841375"/>
            <a:ext cx="5260975" cy="4707593"/>
          </a:xfrm>
          <a:custGeom>
            <a:avLst/>
            <a:gdLst/>
            <a:ahLst/>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noFill/>
          <a:effectLst>
            <a:outerShdw blurRad="381000" dist="152400" dir="5400000" algn="t" rotWithShape="0">
              <a:prstClr val="black">
                <a:alpha val="10000"/>
              </a:prstClr>
            </a:outerShdw>
          </a:effectLst>
          <a:extLst>
            <a:ext uri="{909E8E84-426E-40DD-AFC4-6F175D3DCCD1}">
              <a14:hiddenFill xmlns:a14="http://schemas.microsoft.com/office/drawing/2010/main">
                <a:solidFill>
                  <a:srgbClr val="FFFFFF"/>
                </a:solidFill>
              </a14:hiddenFill>
            </a:ext>
          </a:extLst>
        </p:spPr>
      </p:pic>
      <p:sp>
        <p:nvSpPr>
          <p:cNvPr id="3081" name="Freeform: Shape 3080">
            <a:extLst>
              <a:ext uri="{FF2B5EF4-FFF2-40B4-BE49-F238E27FC236}">
                <a16:creationId xmlns:a16="http://schemas.microsoft.com/office/drawing/2014/main" id="{686A5CBB-E03B-4019-8BCD-78975D39E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83" name="Freeform: Shape 3082">
            <a:extLst>
              <a:ext uri="{FF2B5EF4-FFF2-40B4-BE49-F238E27FC236}">
                <a16:creationId xmlns:a16="http://schemas.microsoft.com/office/drawing/2014/main" id="{94993204-9792-4E61-A83C-73D4379E2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54569302"/>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9052</TotalTime>
  <Words>2083</Words>
  <Application>Microsoft Macintosh PowerPoint</Application>
  <PresentationFormat>מסך רחב</PresentationFormat>
  <Paragraphs>211</Paragraphs>
  <Slides>20</Slides>
  <Notes>19</Notes>
  <HiddenSlides>3</HiddenSlides>
  <MMClips>0</MMClips>
  <ScaleCrop>false</ScaleCrop>
  <HeadingPairs>
    <vt:vector size="6" baseType="variant">
      <vt:variant>
        <vt:lpstr>גופנים בשימוש</vt:lpstr>
      </vt:variant>
      <vt:variant>
        <vt:i4>9</vt:i4>
      </vt:variant>
      <vt:variant>
        <vt:lpstr>ערכת נושא</vt:lpstr>
      </vt:variant>
      <vt:variant>
        <vt:i4>1</vt:i4>
      </vt:variant>
      <vt:variant>
        <vt:lpstr>כותרות שקופיות</vt:lpstr>
      </vt:variant>
      <vt:variant>
        <vt:i4>20</vt:i4>
      </vt:variant>
    </vt:vector>
  </HeadingPairs>
  <TitlesOfParts>
    <vt:vector size="30" baseType="lpstr">
      <vt:lpstr>Aptos</vt:lpstr>
      <vt:lpstr>Aptos Display</vt:lpstr>
      <vt:lpstr>Arial</vt:lpstr>
      <vt:lpstr>Avenir Next Condensed</vt:lpstr>
      <vt:lpstr>Calibri</vt:lpstr>
      <vt:lpstr>Comic Sans MS</vt:lpstr>
      <vt:lpstr>Helvetica Neue Light</vt:lpstr>
      <vt:lpstr>Helvetica Neue Medium</vt:lpstr>
      <vt:lpstr>Helvetica Neue Thin</vt:lpstr>
      <vt:lpstr>ערכת נושא Office</vt:lpstr>
      <vt:lpstr>The evolution of human-specific diseases</vt:lpstr>
      <vt:lpstr>The origin of human-specific diseases</vt:lpstr>
      <vt:lpstr>Regulatory changes: the immediate suspect</vt:lpstr>
      <vt:lpstr>The origin of human-specific diseases</vt:lpstr>
      <vt:lpstr>Which diseases can we study using the hybrid system?</vt:lpstr>
      <vt:lpstr>Identifying disease-associated genes</vt:lpstr>
      <vt:lpstr>Identifying disease-associated genes</vt:lpstr>
      <vt:lpstr>What are we looking for?</vt:lpstr>
      <vt:lpstr>Percentage of differentially expressed genes</vt:lpstr>
      <vt:lpstr>מצגת של PowerPoint‏</vt:lpstr>
      <vt:lpstr>Schizophrenia: fewer differentially expressed genes</vt:lpstr>
      <vt:lpstr>Schizophrenia-related genes are depleted of large expression changes</vt:lpstr>
      <vt:lpstr>Scoliosis: more differentially expressed genes</vt:lpstr>
      <vt:lpstr>Is the direction of regulation change important?</vt:lpstr>
      <vt:lpstr>Schizophrenia: positive selection for upregulation of genes</vt:lpstr>
      <vt:lpstr>Schizophrenia-related genes are depleted of large negative expression changes</vt:lpstr>
      <vt:lpstr>Scoliosis: larger changes in downregulated genes</vt:lpstr>
      <vt:lpstr>Discussion</vt:lpstr>
      <vt:lpstr>To be continued: Future directions</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Sarit Moses</dc:creator>
  <cp:lastModifiedBy>Gil Sasson</cp:lastModifiedBy>
  <cp:revision>39</cp:revision>
  <dcterms:created xsi:type="dcterms:W3CDTF">2025-06-29T11:13:21Z</dcterms:created>
  <dcterms:modified xsi:type="dcterms:W3CDTF">2025-07-25T10:02:57Z</dcterms:modified>
</cp:coreProperties>
</file>